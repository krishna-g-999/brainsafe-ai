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random split</c:v>
                </c:pt>
              </c:strCache>
            </c:strRef>
          </c:tx>
          <c:spPr>
            <a:solidFill>
              <a:srgbClr val="1F3A5F"/>
            </a:solidFill>
            <a:ln>
              <a:noFill/>
            </a:ln>
          </c:spPr>
          <c:cat>
            <c:strRef>
              <c:f>Sheet1!$A$2:$A$9</c:f>
              <c:strCache>
                <c:ptCount val="8"/>
                <c:pt idx="0">
                  <c:v>BBB</c:v>
                </c:pt>
                <c:pt idx="1">
                  <c:v>AChE</c:v>
                </c:pt>
                <c:pt idx="2">
                  <c:v>BChE</c:v>
                </c:pt>
                <c:pt idx="3">
                  <c:v>BACE1</c:v>
                </c:pt>
                <c:pt idx="4">
                  <c:v>GSK-3β</c:v>
                </c:pt>
                <c:pt idx="5">
                  <c:v>MAO-A</c:v>
                </c:pt>
                <c:pt idx="6">
                  <c:v>MAO-B</c:v>
                </c:pt>
                <c:pt idx="7">
                  <c:v>hERG</c:v>
                </c:pt>
              </c:strCache>
            </c:strRef>
          </c:cat>
          <c:val>
            <c:numRef>
              <c:f>Sheet1!$B$2:$B$9</c:f>
              <c:numCache>
                <c:formatCode>General</c:formatCode>
                <c:ptCount val="8"/>
                <c:pt idx="0">
                  <c:v>0.4898</c:v>
                </c:pt>
                <c:pt idx="1">
                  <c:v>0.4941</c:v>
                </c:pt>
                <c:pt idx="2">
                  <c:v>0.4982</c:v>
                </c:pt>
                <c:pt idx="3">
                  <c:v>0.4877</c:v>
                </c:pt>
                <c:pt idx="4">
                  <c:v>0.52</c:v>
                </c:pt>
                <c:pt idx="5">
                  <c:v>0.4892</c:v>
                </c:pt>
                <c:pt idx="6">
                  <c:v>0.5015</c:v>
                </c:pt>
                <c:pt idx="7">
                  <c:v>0.4868</c:v>
                </c:pt>
              </c:numCache>
            </c:numRef>
          </c:val>
        </c:ser>
        <c:ser>
          <c:idx val="1"/>
          <c:order val="1"/>
          <c:tx>
            <c:strRef>
              <c:f>Sheet1!$C$1</c:f>
              <c:strCache>
                <c:ptCount val="1"/>
                <c:pt idx="0">
                  <c:v>scaffold split</c:v>
                </c:pt>
              </c:strCache>
            </c:strRef>
          </c:tx>
          <c:spPr>
            <a:solidFill>
              <a:srgbClr val="1C7293"/>
            </a:solidFill>
            <a:ln>
              <a:noFill/>
            </a:ln>
          </c:spPr>
          <c:cat>
            <c:strRef>
              <c:f>Sheet1!$A$2:$A$9</c:f>
              <c:strCache>
                <c:ptCount val="8"/>
                <c:pt idx="0">
                  <c:v>BBB</c:v>
                </c:pt>
                <c:pt idx="1">
                  <c:v>AChE</c:v>
                </c:pt>
                <c:pt idx="2">
                  <c:v>BChE</c:v>
                </c:pt>
                <c:pt idx="3">
                  <c:v>BACE1</c:v>
                </c:pt>
                <c:pt idx="4">
                  <c:v>GSK-3β</c:v>
                </c:pt>
                <c:pt idx="5">
                  <c:v>MAO-A</c:v>
                </c:pt>
                <c:pt idx="6">
                  <c:v>MAO-B</c:v>
                </c:pt>
                <c:pt idx="7">
                  <c:v>hERG</c:v>
                </c:pt>
              </c:strCache>
            </c:strRef>
          </c:cat>
          <c:val>
            <c:numRef>
              <c:f>Sheet1!$C$2:$C$9</c:f>
              <c:numCache>
                <c:formatCode>General</c:formatCode>
                <c:ptCount val="8"/>
                <c:pt idx="0">
                  <c:v>0.4917</c:v>
                </c:pt>
                <c:pt idx="1">
                  <c:v>0.5071</c:v>
                </c:pt>
                <c:pt idx="2">
                  <c:v>0.5199</c:v>
                </c:pt>
                <c:pt idx="3">
                  <c:v>0.483</c:v>
                </c:pt>
                <c:pt idx="4">
                  <c:v>0.5175</c:v>
                </c:pt>
                <c:pt idx="5">
                  <c:v>0.5109</c:v>
                </c:pt>
                <c:pt idx="6">
                  <c:v>0.4918</c:v>
                </c:pt>
                <c:pt idx="7">
                  <c:v>0.4988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latin typeface="Calibri"/>
              </a:defRPr>
            </a:pPr>
          </a:p>
        </c:txPr>
        <c:crossAx val="-2113994440"/>
        <c:crosses val="autoZero"/>
        <c:auto val="1"/>
        <c:lblAlgn val="ctr"/>
        <c:lblOffset val="100"/>
        <c:noMultiLvlLbl val="0"/>
      </c:catAx>
      <c:valAx>
        <c:axId val="-2113994440"/>
        <c:scaling>
          <c:max val="0.56"/>
          <c:min val="0.44"/>
        </c:scaling>
        <c:delete val="0"/>
        <c:axPos val="l"/>
        <c:majorGridlines>
          <c:spPr>
            <a:ln>
              <a:solidFill>
                <a:srgbClr val="E2E8F0"/>
              </a:solidFill>
            </a:ln>
          </c:spPr>
        </c:majorGridlines>
        <c:majorTickMark val="out"/>
        <c:minorTickMark val="none"/>
        <c:tickLblPos val="nextTo"/>
        <c:txPr>
          <a:bodyPr/>
          <a:lstStyle/>
          <a:p>
            <a:pPr>
              <a:defRPr sz="1000">
                <a:latin typeface="Calibri"/>
              </a:defRPr>
            </a:pPr>
          </a:p>
        </c:txPr>
        <c:crossAx val="-2068027336"/>
        <c:crosses val="autoZero"/>
      </c:valAx>
    </c:plotArea>
    <c:legend>
      <c:legendPos val="t"/>
      <c:overlay val="0"/>
      <c:txPr>
        <a:bodyPr/>
        <a:lstStyle/>
        <a:p>
          <a:pPr>
            <a:defRPr sz="11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suite is the strongest evidence in the thesis, and it is strongest where it refuted something. Lead with that, not with the four that survived.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this is not just more validation: validation measures a component you already believe in. This states the claim you would most like to be true and tries to break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fingerprint matters: it means a verdict cannot silently come to describe a different graph from the one it was computed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payment is a commit, not a claim. If challenged on whether the refutations were acted on, the git history answers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this. A panel that once called glucose an ion-channel binder is a better story told first than found.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best argument for running a falsification suite at all. Its most valuable output was not one of its nine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in-domain row: 0.12 is the worst of the three and higher than the 0.075 measured on the non-CNS library, whose compounds are also in domain. Overlapping intervals, so a direction rather than a finding, but it points the other 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already carries the target-class half of this caveat. The scaffold half is missing and belongs beside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that the report's own triple is corroborated, not reproduced: it records no seed, and a permutation null is a random quantity, so nobody can recover its exact numbers. The fix is for the report to cite the artefact.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Items 3 and 4 are the ones to volunteer. Item 4 is user-visible, which makes it the most serious of the six even though every discrepancy in it is small.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second item. Naming the missing hypothesis before a referee does is worth more than any of the four that survived.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591056"/>
            <a:ext cx="11057839" cy="457200"/>
          </a:xfrm>
          <a:prstGeom prst="rect">
            <a:avLst/>
          </a:prstGeom>
          <a:noFill/>
        </p:spPr>
        <p:txBody>
          <a:bodyPr wrap="square" lIns="0" rIns="0" tIns="0" bIns="0" anchor="t">
            <a:spAutoFit/>
          </a:bodyPr>
          <a:lstStyle/>
          <a:p>
            <a:pPr algn="l">
              <a:spcAft>
                <a:spcPts val="600"/>
              </a:spcAft>
            </a:pPr>
            <a:r>
              <a:rPr sz="1600" b="1" i="0">
                <a:solidFill>
                  <a:srgbClr val="1C7293"/>
                </a:solidFill>
                <a:latin typeface="Calibri"/>
              </a:rPr>
              <a:t>Chapter 9</a:t>
            </a:r>
          </a:p>
        </p:txBody>
      </p:sp>
      <p:sp>
        <p:nvSpPr>
          <p:cNvPr id="3" name="TextBox 2"/>
          <p:cNvSpPr txBox="1"/>
          <p:nvPr/>
        </p:nvSpPr>
        <p:spPr>
          <a:xfrm>
            <a:off x="566928" y="1993392"/>
            <a:ext cx="10143439" cy="1463040"/>
          </a:xfrm>
          <a:prstGeom prst="rect">
            <a:avLst/>
          </a:prstGeom>
          <a:noFill/>
        </p:spPr>
        <p:txBody>
          <a:bodyPr wrap="square" lIns="0" rIns="0" tIns="0" bIns="0" anchor="t">
            <a:spAutoFit/>
          </a:bodyPr>
          <a:lstStyle/>
          <a:p>
            <a:pPr algn="l">
              <a:lnSpc>
                <a:spcPct val="108000"/>
              </a:lnSpc>
              <a:spcAft>
                <a:spcPts val="600"/>
              </a:spcAft>
            </a:pPr>
            <a:r>
              <a:rPr sz="4200" b="1" i="0">
                <a:solidFill>
                  <a:srgbClr val="FFFFFF"/>
                </a:solidFill>
                <a:latin typeface="Cambria"/>
              </a:rPr>
              <a:t>The falsification suite,
and what it cost</a:t>
            </a:r>
          </a:p>
        </p:txBody>
      </p:sp>
      <p:sp>
        <p:nvSpPr>
          <p:cNvPr id="4" name="TextBox 3"/>
          <p:cNvSpPr txBox="1"/>
          <p:nvPr/>
        </p:nvSpPr>
        <p:spPr>
          <a:xfrm>
            <a:off x="566928" y="3840480"/>
            <a:ext cx="9594799" cy="1005840"/>
          </a:xfrm>
          <a:prstGeom prst="rect">
            <a:avLst/>
          </a:prstGeom>
          <a:noFill/>
        </p:spPr>
        <p:txBody>
          <a:bodyPr wrap="square" lIns="0" rIns="0" tIns="0" bIns="0" anchor="t">
            <a:spAutoFit/>
          </a:bodyPr>
          <a:lstStyle/>
          <a:p>
            <a:pPr algn="l">
              <a:lnSpc>
                <a:spcPct val="134000"/>
              </a:lnSpc>
              <a:spcAft>
                <a:spcPts val="600"/>
              </a:spcAft>
            </a:pPr>
            <a:r>
              <a:rPr sz="1700" b="0" i="0">
                <a:solidFill>
                  <a:srgbClr val="D7DFEA"/>
                </a:solidFill>
                <a:latin typeface="Calibri"/>
              </a:rPr>
              <a:t>Nine hypotheses stated so they could fail, each paired with a null model capable of producing the same apparent success by accident. Four did fail.</a:t>
            </a:r>
          </a:p>
        </p:txBody>
      </p:sp>
      <p:sp>
        <p:nvSpPr>
          <p:cNvPr id="5" name="TextBox 4"/>
          <p:cNvSpPr txBox="1"/>
          <p:nvPr/>
        </p:nvSpPr>
        <p:spPr>
          <a:xfrm>
            <a:off x="566928" y="5257800"/>
            <a:ext cx="11057839" cy="457200"/>
          </a:xfrm>
          <a:prstGeom prst="rect">
            <a:avLst/>
          </a:prstGeom>
          <a:noFill/>
        </p:spPr>
        <p:txBody>
          <a:bodyPr wrap="square" lIns="0" rIns="0" tIns="0" bIns="0" anchor="t">
            <a:spAutoFit/>
          </a:bodyPr>
          <a:lstStyle/>
          <a:p>
            <a:pPr algn="l">
              <a:spcAft>
                <a:spcPts val="600"/>
              </a:spcAft>
            </a:pPr>
            <a:r>
              <a:rPr sz="1400" b="0" i="1">
                <a:solidFill>
                  <a:srgbClr val="D98324"/>
                </a:solidFill>
                <a:latin typeface="Calibri"/>
              </a:rPr>
              <a:t>Every result so far has been produced by people who wanted the tool to work, including me.</a:t>
            </a:r>
          </a:p>
        </p:txBody>
      </p:sp>
      <p:sp>
        <p:nvSpPr>
          <p:cNvPr id="6" name="TextBox 5"/>
          <p:cNvSpPr txBox="1"/>
          <p:nvPr/>
        </p:nvSpPr>
        <p:spPr>
          <a:xfrm>
            <a:off x="566928" y="5650992"/>
            <a:ext cx="11057839" cy="365760"/>
          </a:xfrm>
          <a:prstGeom prst="rect">
            <a:avLst/>
          </a:prstGeom>
          <a:noFill/>
        </p:spPr>
        <p:txBody>
          <a:bodyPr wrap="square" lIns="0" rIns="0" tIns="0" bIns="0" anchor="t">
            <a:spAutoFit/>
          </a:bodyPr>
          <a:lstStyle/>
          <a:p>
            <a:pPr algn="l">
              <a:spcAft>
                <a:spcPts val="600"/>
              </a:spcAft>
            </a:pPr>
            <a:r>
              <a:rPr sz="1200" b="0" i="0">
                <a:solidFill>
                  <a:srgbClr val="5F6B7A"/>
                </a:solidFill>
                <a:latin typeface="Calibri"/>
              </a:rPr>
              <a:t>inversion/PLAN.md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makes a test capable of failing</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Four constraints, all of them stated before any result was seen</a:t>
            </a:r>
          </a:p>
        </p:txBody>
      </p:sp>
      <p:sp>
        <p:nvSpPr>
          <p:cNvPr id="5" name="Rounded Rectangle 4"/>
          <p:cNvSpPr/>
          <p:nvPr/>
        </p:nvSpPr>
        <p:spPr>
          <a:xfrm>
            <a:off x="566928" y="1554480"/>
            <a:ext cx="11057839" cy="96926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68096" y="1828800"/>
            <a:ext cx="347472" cy="34747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7" name="TextBox 6"/>
          <p:cNvSpPr txBox="1"/>
          <p:nvPr/>
        </p:nvSpPr>
        <p:spPr>
          <a:xfrm>
            <a:off x="1298448" y="1664208"/>
            <a:ext cx="3931920" cy="731520"/>
          </a:xfrm>
          <a:prstGeom prst="rect">
            <a:avLst/>
          </a:prstGeom>
          <a:noFill/>
        </p:spPr>
        <p:txBody>
          <a:bodyPr wrap="square" lIns="0" rIns="0" tIns="0" bIns="0" anchor="t">
            <a:spAutoFit/>
          </a:bodyPr>
          <a:lstStyle/>
          <a:p>
            <a:pPr algn="l">
              <a:lnSpc>
                <a:spcPct val="116000"/>
              </a:lnSpc>
              <a:spcAft>
                <a:spcPts val="600"/>
              </a:spcAft>
            </a:pPr>
            <a:r>
              <a:rPr sz="1400" b="1" i="0">
                <a:solidFill>
                  <a:srgbClr val="1F3A5F"/>
                </a:solidFill>
                <a:latin typeface="Calibri"/>
              </a:rPr>
              <a:t>A null that could succeed by accident</a:t>
            </a:r>
          </a:p>
        </p:txBody>
      </p:sp>
      <p:sp>
        <p:nvSpPr>
          <p:cNvPr id="8" name="TextBox 7"/>
          <p:cNvSpPr txBox="1"/>
          <p:nvPr/>
        </p:nvSpPr>
        <p:spPr>
          <a:xfrm>
            <a:off x="5413248" y="1664208"/>
            <a:ext cx="5937199" cy="82296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79 per cent top-3 accuracy sounds decisive until one asks what always naming the three commonest conditions scores. It scores 0.5508.</a:t>
            </a:r>
          </a:p>
        </p:txBody>
      </p:sp>
      <p:sp>
        <p:nvSpPr>
          <p:cNvPr id="9" name="Rounded Rectangle 8"/>
          <p:cNvSpPr/>
          <p:nvPr/>
        </p:nvSpPr>
        <p:spPr>
          <a:xfrm>
            <a:off x="566928" y="2633472"/>
            <a:ext cx="11057839" cy="96926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68096" y="2907792"/>
            <a:ext cx="347472" cy="34747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1" name="TextBox 10"/>
          <p:cNvSpPr txBox="1"/>
          <p:nvPr/>
        </p:nvSpPr>
        <p:spPr>
          <a:xfrm>
            <a:off x="1298448" y="2743200"/>
            <a:ext cx="3931920" cy="731520"/>
          </a:xfrm>
          <a:prstGeom prst="rect">
            <a:avLst/>
          </a:prstGeom>
          <a:noFill/>
        </p:spPr>
        <p:txBody>
          <a:bodyPr wrap="square" lIns="0" rIns="0" tIns="0" bIns="0" anchor="t">
            <a:spAutoFit/>
          </a:bodyPr>
          <a:lstStyle/>
          <a:p>
            <a:pPr algn="l">
              <a:lnSpc>
                <a:spcPct val="116000"/>
              </a:lnSpc>
              <a:spcAft>
                <a:spcPts val="600"/>
              </a:spcAft>
            </a:pPr>
            <a:r>
              <a:rPr sz="1400" b="1" i="0">
                <a:solidFill>
                  <a:srgbClr val="1F3A5F"/>
                </a:solidFill>
                <a:latin typeface="Calibri"/>
              </a:rPr>
              <a:t>Read-only</a:t>
            </a:r>
          </a:p>
        </p:txBody>
      </p:sp>
      <p:sp>
        <p:nvSpPr>
          <p:cNvPr id="12" name="TextBox 11"/>
          <p:cNvSpPr txBox="1"/>
          <p:nvPr/>
        </p:nvSpPr>
        <p:spPr>
          <a:xfrm>
            <a:off x="5413248" y="2743200"/>
            <a:ext cx="5937199" cy="82296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No model, dataset or threshold was changed to obtain any number. Acting on a finding is a separate commit, so a wording change cannot be mistaken for evidence.</a:t>
            </a:r>
          </a:p>
        </p:txBody>
      </p:sp>
      <p:sp>
        <p:nvSpPr>
          <p:cNvPr id="13" name="Rounded Rectangle 12"/>
          <p:cNvSpPr/>
          <p:nvPr/>
        </p:nvSpPr>
        <p:spPr>
          <a:xfrm>
            <a:off x="566928" y="3712464"/>
            <a:ext cx="11057839" cy="96926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68096" y="3986784"/>
            <a:ext cx="347472" cy="34747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5" name="TextBox 14"/>
          <p:cNvSpPr txBox="1"/>
          <p:nvPr/>
        </p:nvSpPr>
        <p:spPr>
          <a:xfrm>
            <a:off x="1298448" y="3822191"/>
            <a:ext cx="3931920" cy="731520"/>
          </a:xfrm>
          <a:prstGeom prst="rect">
            <a:avLst/>
          </a:prstGeom>
          <a:noFill/>
        </p:spPr>
        <p:txBody>
          <a:bodyPr wrap="square" lIns="0" rIns="0" tIns="0" bIns="0" anchor="t">
            <a:spAutoFit/>
          </a:bodyPr>
          <a:lstStyle/>
          <a:p>
            <a:pPr algn="l">
              <a:lnSpc>
                <a:spcPct val="116000"/>
              </a:lnSpc>
              <a:spcAft>
                <a:spcPts val="600"/>
              </a:spcAft>
            </a:pPr>
            <a:r>
              <a:rPr sz="1400" b="1" i="0">
                <a:solidFill>
                  <a:srgbClr val="1F3A5F"/>
                </a:solidFill>
                <a:latin typeface="Calibri"/>
              </a:rPr>
              <a:t>Filed under inversion/, not results/</a:t>
            </a:r>
          </a:p>
        </p:txBody>
      </p:sp>
      <p:sp>
        <p:nvSpPr>
          <p:cNvPr id="16" name="TextBox 15"/>
          <p:cNvSpPr txBox="1"/>
          <p:nvPr/>
        </p:nvSpPr>
        <p:spPr>
          <a:xfrm>
            <a:off x="5413248" y="3822191"/>
            <a:ext cx="5937199" cy="82296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A falsification cannot be found where a validation would be and quoted as one.</a:t>
            </a:r>
          </a:p>
        </p:txBody>
      </p:sp>
      <p:sp>
        <p:nvSpPr>
          <p:cNvPr id="17" name="Rounded Rectangle 16"/>
          <p:cNvSpPr/>
          <p:nvPr/>
        </p:nvSpPr>
        <p:spPr>
          <a:xfrm>
            <a:off x="566928" y="4791456"/>
            <a:ext cx="11057839" cy="96926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68096" y="5065776"/>
            <a:ext cx="347472" cy="34747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9" name="TextBox 18"/>
          <p:cNvSpPr txBox="1"/>
          <p:nvPr/>
        </p:nvSpPr>
        <p:spPr>
          <a:xfrm>
            <a:off x="1298448" y="4901183"/>
            <a:ext cx="3931920" cy="731520"/>
          </a:xfrm>
          <a:prstGeom prst="rect">
            <a:avLst/>
          </a:prstGeom>
          <a:noFill/>
        </p:spPr>
        <p:txBody>
          <a:bodyPr wrap="square" lIns="0" rIns="0" tIns="0" bIns="0" anchor="t">
            <a:spAutoFit/>
          </a:bodyPr>
          <a:lstStyle/>
          <a:p>
            <a:pPr algn="l">
              <a:lnSpc>
                <a:spcPct val="116000"/>
              </a:lnSpc>
              <a:spcAft>
                <a:spcPts val="600"/>
              </a:spcAft>
            </a:pPr>
            <a:r>
              <a:rPr sz="1400" b="1" i="0">
                <a:solidFill>
                  <a:srgbClr val="1F3A5F"/>
                </a:solidFill>
                <a:latin typeface="Calibri"/>
              </a:rPr>
              <a:t>Scored on models_rf/holdout/</a:t>
            </a:r>
          </a:p>
        </p:txBody>
      </p:sp>
      <p:sp>
        <p:nvSpPr>
          <p:cNvPr id="20" name="TextBox 19"/>
          <p:cNvSpPr txBox="1"/>
          <p:nvPr/>
        </p:nvSpPr>
        <p:spPr>
          <a:xfrm>
            <a:off x="5413248" y="4901183"/>
            <a:ext cx="5937199" cy="82296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Where predictive power is at issue, the scaffold-hold-out twins score compounds they never saw.</a:t>
            </a:r>
          </a:p>
        </p:txBody>
      </p:sp>
      <p:sp>
        <p:nvSpPr>
          <p:cNvPr id="21" name="TextBox 20"/>
          <p:cNvSpPr txBox="1"/>
          <p:nvPr/>
        </p:nvSpPr>
        <p:spPr>
          <a:xfrm>
            <a:off x="566928" y="5888736"/>
            <a:ext cx="11057839" cy="420624"/>
          </a:xfrm>
          <a:prstGeom prst="rect">
            <a:avLst/>
          </a:prstGeom>
          <a:noFill/>
        </p:spPr>
        <p:txBody>
          <a:bodyPr wrap="square" lIns="0" rIns="0" tIns="0" bIns="0" anchor="t">
            <a:spAutoFit/>
          </a:bodyPr>
          <a:lstStyle/>
          <a:p>
            <a:pPr algn="l">
              <a:spcAft>
                <a:spcPts val="600"/>
              </a:spcAft>
            </a:pPr>
            <a:r>
              <a:rPr sz="1350" b="0" i="1">
                <a:solidFill>
                  <a:srgbClr val="D98324"/>
                </a:solidFill>
                <a:latin typeface="Calibri"/>
              </a:rPr>
              <a:t>The first does the work: it asks what would look like success before the answer is known.</a:t>
            </a:r>
          </a:p>
        </p:txBody>
      </p:sp>
      <p:sp>
        <p:nvSpPr>
          <p:cNvPr id="22" name="TextBox 21"/>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inversion/PLAN.md; inversion/results/H1_disease_layer.csv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Nine hypotheses, four refuted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Graph under test fingerprinted at SHA-256 25cae8c8..., 16 conditions, 51 targets</a:t>
            </a:r>
          </a:p>
        </p:txBody>
      </p:sp>
      <p:sp>
        <p:nvSpPr>
          <p:cNvPr id="5" name="TextBox 4"/>
          <p:cNvSpPr txBox="1"/>
          <p:nvPr/>
        </p:nvSpPr>
        <p:spPr>
          <a:xfrm>
            <a:off x="841247" y="1645920"/>
            <a:ext cx="6949440" cy="274320"/>
          </a:xfrm>
          <a:prstGeom prst="rect">
            <a:avLst/>
          </a:prstGeom>
          <a:noFill/>
        </p:spPr>
        <p:txBody>
          <a:bodyPr wrap="square" lIns="0" rIns="0" tIns="0" bIns="0" anchor="t">
            <a:spAutoFit/>
          </a:bodyPr>
          <a:lstStyle/>
          <a:p>
            <a:pPr algn="l">
              <a:spcAft>
                <a:spcPts val="0"/>
              </a:spcAft>
            </a:pPr>
            <a:r>
              <a:rPr sz="1100" b="1" i="0">
                <a:solidFill>
                  <a:srgbClr val="5F6B7A"/>
                </a:solidFill>
                <a:latin typeface="Calibri"/>
              </a:rPr>
              <a:t>hypothesis</a:t>
            </a:r>
          </a:p>
        </p:txBody>
      </p:sp>
      <p:sp>
        <p:nvSpPr>
          <p:cNvPr id="6" name="TextBox 5"/>
          <p:cNvSpPr txBox="1"/>
          <p:nvPr/>
        </p:nvSpPr>
        <p:spPr>
          <a:xfrm>
            <a:off x="7973567" y="1645920"/>
            <a:ext cx="1920240" cy="274320"/>
          </a:xfrm>
          <a:prstGeom prst="rect">
            <a:avLst/>
          </a:prstGeom>
          <a:noFill/>
        </p:spPr>
        <p:txBody>
          <a:bodyPr wrap="square" lIns="0" rIns="0" tIns="0" bIns="0" anchor="t">
            <a:spAutoFit/>
          </a:bodyPr>
          <a:lstStyle/>
          <a:p>
            <a:pPr algn="l">
              <a:spcAft>
                <a:spcPts val="0"/>
              </a:spcAft>
            </a:pPr>
            <a:r>
              <a:rPr sz="1100" b="1" i="0">
                <a:solidFill>
                  <a:srgbClr val="5F6B7A"/>
                </a:solidFill>
                <a:latin typeface="Calibri"/>
              </a:rPr>
              <a:t>verdict</a:t>
            </a:r>
          </a:p>
        </p:txBody>
      </p:sp>
      <p:sp>
        <p:nvSpPr>
          <p:cNvPr id="7" name="TextBox 6"/>
          <p:cNvSpPr txBox="1"/>
          <p:nvPr/>
        </p:nvSpPr>
        <p:spPr>
          <a:xfrm>
            <a:off x="10213848" y="1645920"/>
            <a:ext cx="1463040" cy="274320"/>
          </a:xfrm>
          <a:prstGeom prst="rect">
            <a:avLst/>
          </a:prstGeom>
          <a:noFill/>
        </p:spPr>
        <p:txBody>
          <a:bodyPr wrap="square" lIns="0" rIns="0" tIns="0" bIns="0" anchor="t">
            <a:spAutoFit/>
          </a:bodyPr>
          <a:lstStyle/>
          <a:p>
            <a:pPr algn="l">
              <a:spcAft>
                <a:spcPts val="0"/>
              </a:spcAft>
            </a:pPr>
            <a:r>
              <a:rPr sz="1100" b="1" i="0">
                <a:solidFill>
                  <a:srgbClr val="5F6B7A"/>
                </a:solidFill>
                <a:latin typeface="Calibri"/>
              </a:rPr>
              <a:t>argued in</a:t>
            </a:r>
          </a:p>
        </p:txBody>
      </p:sp>
      <p:sp>
        <p:nvSpPr>
          <p:cNvPr id="8" name="Rounded Rectangle 7"/>
          <p:cNvSpPr/>
          <p:nvPr/>
        </p:nvSpPr>
        <p:spPr>
          <a:xfrm>
            <a:off x="566928" y="1874520"/>
            <a:ext cx="11057839" cy="40233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1938528"/>
            <a:ext cx="6949440" cy="32918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The disease score is informative</a:t>
            </a:r>
          </a:p>
        </p:txBody>
      </p:sp>
      <p:sp>
        <p:nvSpPr>
          <p:cNvPr id="10" name="TextBox 9"/>
          <p:cNvSpPr txBox="1"/>
          <p:nvPr/>
        </p:nvSpPr>
        <p:spPr>
          <a:xfrm>
            <a:off x="7973567" y="1938528"/>
            <a:ext cx="2103120" cy="329184"/>
          </a:xfrm>
          <a:prstGeom prst="rect">
            <a:avLst/>
          </a:prstGeom>
          <a:noFill/>
        </p:spPr>
        <p:txBody>
          <a:bodyPr wrap="square" lIns="0" rIns="0" tIns="0" bIns="0" anchor="t">
            <a:spAutoFit/>
          </a:bodyPr>
          <a:lstStyle/>
          <a:p>
            <a:pPr algn="l">
              <a:spcAft>
                <a:spcPts val="600"/>
              </a:spcAft>
            </a:pPr>
            <a:r>
              <a:rPr sz="1150" b="1" i="0">
                <a:solidFill>
                  <a:srgbClr val="1C7293"/>
                </a:solidFill>
                <a:latin typeface="Calibri"/>
              </a:rPr>
              <a:t>SUPPORTED</a:t>
            </a:r>
          </a:p>
        </p:txBody>
      </p:sp>
      <p:sp>
        <p:nvSpPr>
          <p:cNvPr id="11" name="TextBox 10"/>
          <p:cNvSpPr txBox="1"/>
          <p:nvPr/>
        </p:nvSpPr>
        <p:spPr>
          <a:xfrm>
            <a:off x="10213848" y="1938528"/>
            <a:ext cx="1463040" cy="329184"/>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7.7</a:t>
            </a:r>
          </a:p>
        </p:txBody>
      </p:sp>
      <p:sp>
        <p:nvSpPr>
          <p:cNvPr id="12" name="Rounded Rectangle 11"/>
          <p:cNvSpPr/>
          <p:nvPr/>
        </p:nvSpPr>
        <p:spPr>
          <a:xfrm>
            <a:off x="566928" y="2313432"/>
            <a:ext cx="11057839" cy="40233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1247" y="2377440"/>
            <a:ext cx="6949440" cy="329184"/>
          </a:xfrm>
          <a:prstGeom prst="rect">
            <a:avLst/>
          </a:prstGeom>
          <a:noFill/>
        </p:spPr>
        <p:txBody>
          <a:bodyPr wrap="square" lIns="0" rIns="0" tIns="0" bIns="0" anchor="t">
            <a:spAutoFit/>
          </a:bodyPr>
          <a:lstStyle/>
          <a:p>
            <a:pPr algn="l">
              <a:spcAft>
                <a:spcPts val="600"/>
              </a:spcAft>
            </a:pPr>
            <a:r>
              <a:rPr sz="1200" b="1" i="0">
                <a:solidFill>
                  <a:srgbClr val="0F1A2E"/>
                </a:solidFill>
                <a:latin typeface="Calibri"/>
              </a:rPr>
              <a:t>The curated edge weights add value</a:t>
            </a:r>
          </a:p>
        </p:txBody>
      </p:sp>
      <p:sp>
        <p:nvSpPr>
          <p:cNvPr id="14" name="TextBox 13"/>
          <p:cNvSpPr txBox="1"/>
          <p:nvPr/>
        </p:nvSpPr>
        <p:spPr>
          <a:xfrm>
            <a:off x="7973567" y="2377440"/>
            <a:ext cx="2103120" cy="329184"/>
          </a:xfrm>
          <a:prstGeom prst="rect">
            <a:avLst/>
          </a:prstGeom>
          <a:noFill/>
        </p:spPr>
        <p:txBody>
          <a:bodyPr wrap="square" lIns="0" rIns="0" tIns="0" bIns="0" anchor="t">
            <a:spAutoFit/>
          </a:bodyPr>
          <a:lstStyle/>
          <a:p>
            <a:pPr algn="l">
              <a:spcAft>
                <a:spcPts val="600"/>
              </a:spcAft>
            </a:pPr>
            <a:r>
              <a:rPr sz="1150" b="1" i="0">
                <a:solidFill>
                  <a:srgbClr val="9E2A2B"/>
                </a:solidFill>
                <a:latin typeface="Calibri"/>
              </a:rPr>
              <a:t>REFUTED</a:t>
            </a:r>
          </a:p>
        </p:txBody>
      </p:sp>
      <p:sp>
        <p:nvSpPr>
          <p:cNvPr id="15" name="TextBox 14"/>
          <p:cNvSpPr txBox="1"/>
          <p:nvPr/>
        </p:nvSpPr>
        <p:spPr>
          <a:xfrm>
            <a:off x="10213848" y="2377440"/>
            <a:ext cx="1463040" cy="329184"/>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7.6</a:t>
            </a:r>
          </a:p>
        </p:txBody>
      </p:sp>
      <p:sp>
        <p:nvSpPr>
          <p:cNvPr id="16" name="Rounded Rectangle 15"/>
          <p:cNvSpPr/>
          <p:nvPr/>
        </p:nvSpPr>
        <p:spPr>
          <a:xfrm>
            <a:off x="566928" y="2752344"/>
            <a:ext cx="11057839" cy="40233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41247" y="2816352"/>
            <a:ext cx="6949440" cy="329184"/>
          </a:xfrm>
          <a:prstGeom prst="rect">
            <a:avLst/>
          </a:prstGeom>
          <a:noFill/>
        </p:spPr>
        <p:txBody>
          <a:bodyPr wrap="square" lIns="0" rIns="0" tIns="0" bIns="0" anchor="t">
            <a:spAutoFit/>
          </a:bodyPr>
          <a:lstStyle/>
          <a:p>
            <a:pPr algn="l">
              <a:spcAft>
                <a:spcPts val="600"/>
              </a:spcAft>
            </a:pPr>
            <a:r>
              <a:rPr sz="1200" b="1" i="0">
                <a:solidFill>
                  <a:srgbClr val="0F1A2E"/>
                </a:solidFill>
                <a:latin typeface="Calibri"/>
              </a:rPr>
              <a:t>BBB gating discriminates between diseases</a:t>
            </a:r>
          </a:p>
        </p:txBody>
      </p:sp>
      <p:sp>
        <p:nvSpPr>
          <p:cNvPr id="18" name="TextBox 17"/>
          <p:cNvSpPr txBox="1"/>
          <p:nvPr/>
        </p:nvSpPr>
        <p:spPr>
          <a:xfrm>
            <a:off x="7973567" y="2816352"/>
            <a:ext cx="2103120" cy="329184"/>
          </a:xfrm>
          <a:prstGeom prst="rect">
            <a:avLst/>
          </a:prstGeom>
          <a:noFill/>
        </p:spPr>
        <p:txBody>
          <a:bodyPr wrap="square" lIns="0" rIns="0" tIns="0" bIns="0" anchor="t">
            <a:spAutoFit/>
          </a:bodyPr>
          <a:lstStyle/>
          <a:p>
            <a:pPr algn="l">
              <a:spcAft>
                <a:spcPts val="600"/>
              </a:spcAft>
            </a:pPr>
            <a:r>
              <a:rPr sz="1150" b="1" i="0">
                <a:solidFill>
                  <a:srgbClr val="9E2A2B"/>
                </a:solidFill>
                <a:latin typeface="Calibri"/>
              </a:rPr>
              <a:t>REFUTED (by construction)</a:t>
            </a:r>
          </a:p>
        </p:txBody>
      </p:sp>
      <p:sp>
        <p:nvSpPr>
          <p:cNvPr id="19" name="TextBox 18"/>
          <p:cNvSpPr txBox="1"/>
          <p:nvPr/>
        </p:nvSpPr>
        <p:spPr>
          <a:xfrm>
            <a:off x="10213848" y="2816352"/>
            <a:ext cx="1463040" cy="329184"/>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7.5</a:t>
            </a:r>
          </a:p>
        </p:txBody>
      </p:sp>
      <p:sp>
        <p:nvSpPr>
          <p:cNvPr id="20" name="Rounded Rectangle 19"/>
          <p:cNvSpPr/>
          <p:nvPr/>
        </p:nvSpPr>
        <p:spPr>
          <a:xfrm>
            <a:off x="566928" y="3191256"/>
            <a:ext cx="11057839" cy="40233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41247" y="3255264"/>
            <a:ext cx="6949440" cy="32918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Specificity transfers to novel chemistry</a:t>
            </a:r>
          </a:p>
        </p:txBody>
      </p:sp>
      <p:sp>
        <p:nvSpPr>
          <p:cNvPr id="22" name="TextBox 21"/>
          <p:cNvSpPr txBox="1"/>
          <p:nvPr/>
        </p:nvSpPr>
        <p:spPr>
          <a:xfrm>
            <a:off x="7973567" y="3255264"/>
            <a:ext cx="2103120" cy="329184"/>
          </a:xfrm>
          <a:prstGeom prst="rect">
            <a:avLst/>
          </a:prstGeom>
          <a:noFill/>
        </p:spPr>
        <p:txBody>
          <a:bodyPr wrap="square" lIns="0" rIns="0" tIns="0" bIns="0" anchor="t">
            <a:spAutoFit/>
          </a:bodyPr>
          <a:lstStyle/>
          <a:p>
            <a:pPr algn="l">
              <a:spcAft>
                <a:spcPts val="600"/>
              </a:spcAft>
            </a:pPr>
            <a:r>
              <a:rPr sz="1150" b="1" i="0">
                <a:solidFill>
                  <a:srgbClr val="1C7293"/>
                </a:solidFill>
                <a:latin typeface="Calibri"/>
              </a:rPr>
              <a:t>SUPPORTED</a:t>
            </a:r>
          </a:p>
        </p:txBody>
      </p:sp>
      <p:sp>
        <p:nvSpPr>
          <p:cNvPr id="23" name="TextBox 22"/>
          <p:cNvSpPr txBox="1"/>
          <p:nvPr/>
        </p:nvSpPr>
        <p:spPr>
          <a:xfrm>
            <a:off x="10213848" y="3255264"/>
            <a:ext cx="1463040" cy="329184"/>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9.6</a:t>
            </a:r>
          </a:p>
        </p:txBody>
      </p:sp>
      <p:sp>
        <p:nvSpPr>
          <p:cNvPr id="24" name="Rounded Rectangle 23"/>
          <p:cNvSpPr/>
          <p:nvPr/>
        </p:nvSpPr>
        <p:spPr>
          <a:xfrm>
            <a:off x="566928" y="3630168"/>
            <a:ext cx="11057839" cy="40233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1247" y="3694176"/>
            <a:ext cx="6949440" cy="32918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Read-across beats a frequency baseline</a:t>
            </a:r>
          </a:p>
        </p:txBody>
      </p:sp>
      <p:sp>
        <p:nvSpPr>
          <p:cNvPr id="26" name="TextBox 25"/>
          <p:cNvSpPr txBox="1"/>
          <p:nvPr/>
        </p:nvSpPr>
        <p:spPr>
          <a:xfrm>
            <a:off x="7973567" y="3694176"/>
            <a:ext cx="2103120" cy="329184"/>
          </a:xfrm>
          <a:prstGeom prst="rect">
            <a:avLst/>
          </a:prstGeom>
          <a:noFill/>
        </p:spPr>
        <p:txBody>
          <a:bodyPr wrap="square" lIns="0" rIns="0" tIns="0" bIns="0" anchor="t">
            <a:spAutoFit/>
          </a:bodyPr>
          <a:lstStyle/>
          <a:p>
            <a:pPr algn="l">
              <a:spcAft>
                <a:spcPts val="600"/>
              </a:spcAft>
            </a:pPr>
            <a:r>
              <a:rPr sz="1150" b="1" i="0">
                <a:solidFill>
                  <a:srgbClr val="1C7293"/>
                </a:solidFill>
                <a:latin typeface="Calibri"/>
              </a:rPr>
              <a:t>SUPPORTED</a:t>
            </a:r>
          </a:p>
        </p:txBody>
      </p:sp>
      <p:sp>
        <p:nvSpPr>
          <p:cNvPr id="27" name="TextBox 26"/>
          <p:cNvSpPr txBox="1"/>
          <p:nvPr/>
        </p:nvSpPr>
        <p:spPr>
          <a:xfrm>
            <a:off x="10213848" y="3694176"/>
            <a:ext cx="1463040" cy="329184"/>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9.6</a:t>
            </a:r>
          </a:p>
        </p:txBody>
      </p:sp>
      <p:sp>
        <p:nvSpPr>
          <p:cNvPr id="28" name="Rounded Rectangle 27"/>
          <p:cNvSpPr/>
          <p:nvPr/>
        </p:nvSpPr>
        <p:spPr>
          <a:xfrm>
            <a:off x="566928" y="4069079"/>
            <a:ext cx="11057839" cy="40233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1247" y="4133087"/>
            <a:ext cx="6949440" cy="32918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The disease scores match real clinical indications</a:t>
            </a:r>
          </a:p>
        </p:txBody>
      </p:sp>
      <p:sp>
        <p:nvSpPr>
          <p:cNvPr id="30" name="TextBox 29"/>
          <p:cNvSpPr txBox="1"/>
          <p:nvPr/>
        </p:nvSpPr>
        <p:spPr>
          <a:xfrm>
            <a:off x="7973567" y="4133087"/>
            <a:ext cx="2103120" cy="329184"/>
          </a:xfrm>
          <a:prstGeom prst="rect">
            <a:avLst/>
          </a:prstGeom>
          <a:noFill/>
        </p:spPr>
        <p:txBody>
          <a:bodyPr wrap="square" lIns="0" rIns="0" tIns="0" bIns="0" anchor="t">
            <a:spAutoFit/>
          </a:bodyPr>
          <a:lstStyle/>
          <a:p>
            <a:pPr algn="l">
              <a:spcAft>
                <a:spcPts val="600"/>
              </a:spcAft>
            </a:pPr>
            <a:r>
              <a:rPr sz="1150" b="1" i="0">
                <a:solidFill>
                  <a:srgbClr val="D98324"/>
                </a:solidFill>
                <a:latin typeface="Calibri"/>
              </a:rPr>
              <a:t>WEAKENED</a:t>
            </a:r>
          </a:p>
        </p:txBody>
      </p:sp>
      <p:sp>
        <p:nvSpPr>
          <p:cNvPr id="31" name="TextBox 30"/>
          <p:cNvSpPr txBox="1"/>
          <p:nvPr/>
        </p:nvSpPr>
        <p:spPr>
          <a:xfrm>
            <a:off x="10213848" y="4133087"/>
            <a:ext cx="1463040" cy="329184"/>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7.7</a:t>
            </a:r>
          </a:p>
        </p:txBody>
      </p:sp>
      <p:sp>
        <p:nvSpPr>
          <p:cNvPr id="32" name="Rounded Rectangle 31"/>
          <p:cNvSpPr/>
          <p:nvPr/>
        </p:nvSpPr>
        <p:spPr>
          <a:xfrm>
            <a:off x="566928" y="4507992"/>
            <a:ext cx="11057839" cy="40233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1247" y="4572000"/>
            <a:ext cx="6949440" cy="329184"/>
          </a:xfrm>
          <a:prstGeom prst="rect">
            <a:avLst/>
          </a:prstGeom>
          <a:noFill/>
        </p:spPr>
        <p:txBody>
          <a:bodyPr wrap="square" lIns="0" rIns="0" tIns="0" bIns="0" anchor="t">
            <a:spAutoFit/>
          </a:bodyPr>
          <a:lstStyle/>
          <a:p>
            <a:pPr algn="l">
              <a:spcAft>
                <a:spcPts val="600"/>
              </a:spcAft>
            </a:pPr>
            <a:r>
              <a:rPr sz="1200" b="1" i="0">
                <a:solidFill>
                  <a:srgbClr val="0F1A2E"/>
                </a:solidFill>
                <a:latin typeface="Calibri"/>
              </a:rPr>
              <a:t>Some panel targets are non-discriminative and explain the silent antiepileptics</a:t>
            </a:r>
          </a:p>
        </p:txBody>
      </p:sp>
      <p:sp>
        <p:nvSpPr>
          <p:cNvPr id="34" name="TextBox 33"/>
          <p:cNvSpPr txBox="1"/>
          <p:nvPr/>
        </p:nvSpPr>
        <p:spPr>
          <a:xfrm>
            <a:off x="7973567" y="4572000"/>
            <a:ext cx="2103120" cy="329184"/>
          </a:xfrm>
          <a:prstGeom prst="rect">
            <a:avLst/>
          </a:prstGeom>
          <a:noFill/>
        </p:spPr>
        <p:txBody>
          <a:bodyPr wrap="square" lIns="0" rIns="0" tIns="0" bIns="0" anchor="t">
            <a:spAutoFit/>
          </a:bodyPr>
          <a:lstStyle/>
          <a:p>
            <a:pPr algn="l">
              <a:spcAft>
                <a:spcPts val="600"/>
              </a:spcAft>
            </a:pPr>
            <a:r>
              <a:rPr sz="1150" b="1" i="0">
                <a:solidFill>
                  <a:srgbClr val="9E2A2B"/>
                </a:solidFill>
                <a:latin typeface="Calibri"/>
              </a:rPr>
              <a:t>REFUTED</a:t>
            </a:r>
          </a:p>
        </p:txBody>
      </p:sp>
      <p:sp>
        <p:nvSpPr>
          <p:cNvPr id="35" name="TextBox 34"/>
          <p:cNvSpPr txBox="1"/>
          <p:nvPr/>
        </p:nvSpPr>
        <p:spPr>
          <a:xfrm>
            <a:off x="10213848" y="4572000"/>
            <a:ext cx="1463040" cy="329184"/>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5.9</a:t>
            </a:r>
          </a:p>
        </p:txBody>
      </p:sp>
      <p:sp>
        <p:nvSpPr>
          <p:cNvPr id="36" name="Rounded Rectangle 35"/>
          <p:cNvSpPr/>
          <p:nvPr/>
        </p:nvSpPr>
        <p:spPr>
          <a:xfrm>
            <a:off x="566928" y="4946904"/>
            <a:ext cx="11057839" cy="40233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1247" y="5010912"/>
            <a:ext cx="6949440" cy="329184"/>
          </a:xfrm>
          <a:prstGeom prst="rect">
            <a:avLst/>
          </a:prstGeom>
          <a:noFill/>
        </p:spPr>
        <p:txBody>
          <a:bodyPr wrap="square" lIns="0" rIns="0" tIns="0" bIns="0" anchor="t">
            <a:spAutoFit/>
          </a:bodyPr>
          <a:lstStyle/>
          <a:p>
            <a:pPr algn="l">
              <a:spcAft>
                <a:spcPts val="600"/>
              </a:spcAft>
            </a:pPr>
            <a:r>
              <a:rPr sz="1200" b="1" i="0">
                <a:solidFill>
                  <a:srgbClr val="0F1A2E"/>
                </a:solidFill>
                <a:latin typeface="Calibri"/>
              </a:rPr>
              <a:t>Engaged targets are independent observations</a:t>
            </a:r>
          </a:p>
        </p:txBody>
      </p:sp>
      <p:sp>
        <p:nvSpPr>
          <p:cNvPr id="38" name="TextBox 37"/>
          <p:cNvSpPr txBox="1"/>
          <p:nvPr/>
        </p:nvSpPr>
        <p:spPr>
          <a:xfrm>
            <a:off x="7973567" y="5010912"/>
            <a:ext cx="2103120" cy="329184"/>
          </a:xfrm>
          <a:prstGeom prst="rect">
            <a:avLst/>
          </a:prstGeom>
          <a:noFill/>
        </p:spPr>
        <p:txBody>
          <a:bodyPr wrap="square" lIns="0" rIns="0" tIns="0" bIns="0" anchor="t">
            <a:spAutoFit/>
          </a:bodyPr>
          <a:lstStyle/>
          <a:p>
            <a:pPr algn="l">
              <a:spcAft>
                <a:spcPts val="600"/>
              </a:spcAft>
            </a:pPr>
            <a:r>
              <a:rPr sz="1150" b="1" i="0">
                <a:solidFill>
                  <a:srgbClr val="9E2A2B"/>
                </a:solidFill>
                <a:latin typeface="Calibri"/>
              </a:rPr>
              <a:t>REFUTED</a:t>
            </a:r>
          </a:p>
        </p:txBody>
      </p:sp>
      <p:sp>
        <p:nvSpPr>
          <p:cNvPr id="39" name="TextBox 38"/>
          <p:cNvSpPr txBox="1"/>
          <p:nvPr/>
        </p:nvSpPr>
        <p:spPr>
          <a:xfrm>
            <a:off x="10213848" y="5010912"/>
            <a:ext cx="1463040" cy="329184"/>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7.4, 7.8</a:t>
            </a:r>
          </a:p>
        </p:txBody>
      </p:sp>
      <p:sp>
        <p:nvSpPr>
          <p:cNvPr id="40" name="Rounded Rectangle 39"/>
          <p:cNvSpPr/>
          <p:nvPr/>
        </p:nvSpPr>
        <p:spPr>
          <a:xfrm>
            <a:off x="566928" y="5385816"/>
            <a:ext cx="11057839" cy="40233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41247" y="5449824"/>
            <a:ext cx="6949440" cy="32918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The disease layer discriminates between compounds, not just between base rates</a:t>
            </a:r>
          </a:p>
        </p:txBody>
      </p:sp>
      <p:sp>
        <p:nvSpPr>
          <p:cNvPr id="42" name="TextBox 41"/>
          <p:cNvSpPr txBox="1"/>
          <p:nvPr/>
        </p:nvSpPr>
        <p:spPr>
          <a:xfrm>
            <a:off x="7973567" y="5449824"/>
            <a:ext cx="2103120" cy="329184"/>
          </a:xfrm>
          <a:prstGeom prst="rect">
            <a:avLst/>
          </a:prstGeom>
          <a:noFill/>
        </p:spPr>
        <p:txBody>
          <a:bodyPr wrap="square" lIns="0" rIns="0" tIns="0" bIns="0" anchor="t">
            <a:spAutoFit/>
          </a:bodyPr>
          <a:lstStyle/>
          <a:p>
            <a:pPr algn="l">
              <a:spcAft>
                <a:spcPts val="600"/>
              </a:spcAft>
            </a:pPr>
            <a:r>
              <a:rPr sz="1150" b="1" i="0">
                <a:solidFill>
                  <a:srgbClr val="1C7293"/>
                </a:solidFill>
                <a:latin typeface="Calibri"/>
              </a:rPr>
              <a:t>SUPPORTED</a:t>
            </a:r>
          </a:p>
        </p:txBody>
      </p:sp>
      <p:sp>
        <p:nvSpPr>
          <p:cNvPr id="43" name="TextBox 42"/>
          <p:cNvSpPr txBox="1"/>
          <p:nvPr/>
        </p:nvSpPr>
        <p:spPr>
          <a:xfrm>
            <a:off x="10213848" y="5449824"/>
            <a:ext cx="1463040" cy="329184"/>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7.7</a:t>
            </a:r>
          </a:p>
        </p:txBody>
      </p:sp>
      <p:sp>
        <p:nvSpPr>
          <p:cNvPr id="44" name="TextBox 43"/>
          <p:cNvSpPr txBox="1"/>
          <p:nvPr/>
        </p:nvSpPr>
        <p:spPr>
          <a:xfrm>
            <a:off x="566928" y="5870448"/>
            <a:ext cx="11057839" cy="420624"/>
          </a:xfrm>
          <a:prstGeom prst="rect">
            <a:avLst/>
          </a:prstGeom>
          <a:noFill/>
        </p:spPr>
        <p:txBody>
          <a:bodyPr wrap="square" lIns="0" rIns="0" tIns="0" bIns="0" anchor="t">
            <a:spAutoFit/>
          </a:bodyPr>
          <a:lstStyle/>
          <a:p>
            <a:pPr algn="l">
              <a:spcAft>
                <a:spcPts val="600"/>
              </a:spcAft>
            </a:pPr>
            <a:r>
              <a:rPr sz="1250" b="0" i="1">
                <a:solidFill>
                  <a:srgbClr val="1F3A5F"/>
                </a:solidFill>
                <a:latin typeface="Calibri"/>
              </a:rPr>
              <a:t>Seven are argued elsewhere. This chapter takes what the refutations cost, what the suite found that nothing else did, and where its verdicts are weaker than they read.</a:t>
            </a:r>
          </a:p>
        </p:txBody>
      </p:sp>
      <p:sp>
        <p:nvSpPr>
          <p:cNvPr id="45" name="TextBox 4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inversion/results/VERDICTS.csv; inversion/results/GRAPH_FINGERPRINT.json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the refutations cost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falsification suite is worth what the project paid for it</a:t>
            </a:r>
          </a:p>
        </p:txBody>
      </p:sp>
      <p:sp>
        <p:nvSpPr>
          <p:cNvPr id="5" name="Rounded Rectangle 4"/>
          <p:cNvSpPr/>
          <p:nvPr/>
        </p:nvSpPr>
        <p:spPr>
          <a:xfrm>
            <a:off x="566928" y="1517904"/>
            <a:ext cx="11057839" cy="822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04672" y="1737360"/>
            <a:ext cx="640080" cy="365760"/>
          </a:xfrm>
          <a:prstGeom prst="rect">
            <a:avLst/>
          </a:prstGeom>
          <a:noFill/>
        </p:spPr>
        <p:txBody>
          <a:bodyPr wrap="square" lIns="0" rIns="0" tIns="0" bIns="0" anchor="t">
            <a:spAutoFit/>
          </a:bodyPr>
          <a:lstStyle/>
          <a:p>
            <a:pPr algn="l">
              <a:spcAft>
                <a:spcPts val="600"/>
              </a:spcAft>
            </a:pPr>
            <a:r>
              <a:rPr sz="1500" b="1" i="0">
                <a:solidFill>
                  <a:srgbClr val="9E2A2B"/>
                </a:solidFill>
                <a:latin typeface="Cambria"/>
              </a:rPr>
              <a:t>H2</a:t>
            </a:r>
          </a:p>
        </p:txBody>
      </p:sp>
      <p:sp>
        <p:nvSpPr>
          <p:cNvPr id="7" name="TextBox 6"/>
          <p:cNvSpPr txBox="1"/>
          <p:nvPr/>
        </p:nvSpPr>
        <p:spPr>
          <a:xfrm>
            <a:off x="1527048" y="1609344"/>
            <a:ext cx="3566160" cy="731520"/>
          </a:xfrm>
          <a:prstGeom prst="rect">
            <a:avLst/>
          </a:prstGeom>
          <a:noFill/>
        </p:spPr>
        <p:txBody>
          <a:bodyPr wrap="square" lIns="0" rIns="0" tIns="0" bIns="0" anchor="t">
            <a:spAutoFit/>
          </a:bodyPr>
          <a:lstStyle/>
          <a:p>
            <a:pPr algn="l">
              <a:lnSpc>
                <a:spcPct val="116000"/>
              </a:lnSpc>
              <a:spcAft>
                <a:spcPts val="600"/>
              </a:spcAft>
            </a:pPr>
            <a:r>
              <a:rPr sz="1300" b="1" i="0">
                <a:solidFill>
                  <a:srgbClr val="0F1A2E"/>
                </a:solidFill>
                <a:latin typeface="Calibri"/>
              </a:rPr>
              <a:t>The knowledge graph was re-described</a:t>
            </a:r>
          </a:p>
        </p:txBody>
      </p:sp>
      <p:sp>
        <p:nvSpPr>
          <p:cNvPr id="8" name="TextBox 7"/>
          <p:cNvSpPr txBox="1"/>
          <p:nvPr/>
        </p:nvSpPr>
        <p:spPr>
          <a:xfrm>
            <a:off x="5276088" y="1609344"/>
            <a:ext cx="6092647" cy="822960"/>
          </a:xfrm>
          <a:prstGeom prst="rect">
            <a:avLst/>
          </a:prstGeom>
          <a:noFill/>
        </p:spPr>
        <p:txBody>
          <a:bodyPr wrap="square" lIns="0" rIns="0" tIns="0" bIns="0" anchor="t">
            <a:spAutoFit/>
          </a:bodyPr>
          <a:lstStyle/>
          <a:p>
            <a:pPr algn="l">
              <a:lnSpc>
                <a:spcPct val="122000"/>
              </a:lnSpc>
              <a:spcAft>
                <a:spcPts val="600"/>
              </a:spcAft>
            </a:pPr>
            <a:r>
              <a:rPr sz="1180" b="0" i="0">
                <a:solidFill>
                  <a:srgbClr val="0F1A2E"/>
                </a:solidFill>
                <a:latin typeface="Calibri"/>
              </a:rPr>
              <a:t>Curated weights 0.7901, uniform 0.7897, permuted 0.7874. Spread 0.0027. Relabelled in the source, the interface and the manuscript as a mechanistic prior, not tuned parameters.</a:t>
            </a:r>
          </a:p>
        </p:txBody>
      </p:sp>
      <p:sp>
        <p:nvSpPr>
          <p:cNvPr id="9" name="Rounded Rectangle 8"/>
          <p:cNvSpPr/>
          <p:nvPr/>
        </p:nvSpPr>
        <p:spPr>
          <a:xfrm>
            <a:off x="566928" y="2423160"/>
            <a:ext cx="11057839" cy="822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04672" y="2642616"/>
            <a:ext cx="640080" cy="365760"/>
          </a:xfrm>
          <a:prstGeom prst="rect">
            <a:avLst/>
          </a:prstGeom>
          <a:noFill/>
        </p:spPr>
        <p:txBody>
          <a:bodyPr wrap="square" lIns="0" rIns="0" tIns="0" bIns="0" anchor="t">
            <a:spAutoFit/>
          </a:bodyPr>
          <a:lstStyle/>
          <a:p>
            <a:pPr algn="l">
              <a:spcAft>
                <a:spcPts val="600"/>
              </a:spcAft>
            </a:pPr>
            <a:r>
              <a:rPr sz="1500" b="1" i="0">
                <a:solidFill>
                  <a:srgbClr val="9E2A2B"/>
                </a:solidFill>
                <a:latin typeface="Cambria"/>
              </a:rPr>
              <a:t>H3</a:t>
            </a:r>
          </a:p>
        </p:txBody>
      </p:sp>
      <p:sp>
        <p:nvSpPr>
          <p:cNvPr id="11" name="TextBox 10"/>
          <p:cNvSpPr txBox="1"/>
          <p:nvPr/>
        </p:nvSpPr>
        <p:spPr>
          <a:xfrm>
            <a:off x="1527048" y="2514600"/>
            <a:ext cx="3566160" cy="731520"/>
          </a:xfrm>
          <a:prstGeom prst="rect">
            <a:avLst/>
          </a:prstGeom>
          <a:noFill/>
        </p:spPr>
        <p:txBody>
          <a:bodyPr wrap="square" lIns="0" rIns="0" tIns="0" bIns="0" anchor="t">
            <a:spAutoFit/>
          </a:bodyPr>
          <a:lstStyle/>
          <a:p>
            <a:pPr algn="l">
              <a:lnSpc>
                <a:spcPct val="116000"/>
              </a:lnSpc>
              <a:spcAft>
                <a:spcPts val="600"/>
              </a:spcAft>
            </a:pPr>
            <a:r>
              <a:rPr sz="1300" b="1" i="0">
                <a:solidFill>
                  <a:srgbClr val="0F1A2E"/>
                </a:solidFill>
                <a:latin typeface="Calibri"/>
              </a:rPr>
              <a:t>A design claim became a filter claim</a:t>
            </a:r>
          </a:p>
        </p:txBody>
      </p:sp>
      <p:sp>
        <p:nvSpPr>
          <p:cNvPr id="12" name="TextBox 11"/>
          <p:cNvSpPr txBox="1"/>
          <p:nvPr/>
        </p:nvSpPr>
        <p:spPr>
          <a:xfrm>
            <a:off x="5276088" y="2514600"/>
            <a:ext cx="6092647" cy="822960"/>
          </a:xfrm>
          <a:prstGeom prst="rect">
            <a:avLst/>
          </a:prstGeom>
          <a:noFill/>
        </p:spPr>
        <p:txBody>
          <a:bodyPr wrap="square" lIns="0" rIns="0" tIns="0" bIns="0" anchor="t">
            <a:spAutoFit/>
          </a:bodyPr>
          <a:lstStyle/>
          <a:p>
            <a:pPr algn="l">
              <a:lnSpc>
                <a:spcPct val="122000"/>
              </a:lnSpc>
              <a:spcAft>
                <a:spcPts val="600"/>
              </a:spcAft>
            </a:pPr>
            <a:r>
              <a:rPr sz="1180" b="0" i="0">
                <a:solidFill>
                  <a:srgbClr val="0F1A2E"/>
                </a:solidFill>
                <a:latin typeface="Calibri"/>
              </a:rPr>
              <a:t>The gate multiplies 14 conditions by the same factor, so it is rank-invariant among them and cannot sharpen a disease call. Wording corrected everywhere.</a:t>
            </a:r>
          </a:p>
        </p:txBody>
      </p:sp>
      <p:sp>
        <p:nvSpPr>
          <p:cNvPr id="13" name="Rounded Rectangle 12"/>
          <p:cNvSpPr/>
          <p:nvPr/>
        </p:nvSpPr>
        <p:spPr>
          <a:xfrm>
            <a:off x="566928" y="3328415"/>
            <a:ext cx="11057839" cy="822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 y="3547872"/>
            <a:ext cx="640080" cy="365760"/>
          </a:xfrm>
          <a:prstGeom prst="rect">
            <a:avLst/>
          </a:prstGeom>
          <a:noFill/>
        </p:spPr>
        <p:txBody>
          <a:bodyPr wrap="square" lIns="0" rIns="0" tIns="0" bIns="0" anchor="t">
            <a:spAutoFit/>
          </a:bodyPr>
          <a:lstStyle/>
          <a:p>
            <a:pPr algn="l">
              <a:spcAft>
                <a:spcPts val="600"/>
              </a:spcAft>
            </a:pPr>
            <a:r>
              <a:rPr sz="1500" b="1" i="0">
                <a:solidFill>
                  <a:srgbClr val="9E2A2B"/>
                </a:solidFill>
                <a:latin typeface="Cambria"/>
              </a:rPr>
              <a:t>H7</a:t>
            </a:r>
          </a:p>
        </p:txBody>
      </p:sp>
      <p:sp>
        <p:nvSpPr>
          <p:cNvPr id="15" name="TextBox 14"/>
          <p:cNvSpPr txBox="1"/>
          <p:nvPr/>
        </p:nvSpPr>
        <p:spPr>
          <a:xfrm>
            <a:off x="1527048" y="3419856"/>
            <a:ext cx="3566160" cy="731520"/>
          </a:xfrm>
          <a:prstGeom prst="rect">
            <a:avLst/>
          </a:prstGeom>
          <a:noFill/>
        </p:spPr>
        <p:txBody>
          <a:bodyPr wrap="square" lIns="0" rIns="0" tIns="0" bIns="0" anchor="t">
            <a:spAutoFit/>
          </a:bodyPr>
          <a:lstStyle/>
          <a:p>
            <a:pPr algn="l">
              <a:lnSpc>
                <a:spcPct val="116000"/>
              </a:lnSpc>
              <a:spcAft>
                <a:spcPts val="600"/>
              </a:spcAft>
            </a:pPr>
            <a:r>
              <a:rPr sz="1300" b="1" i="0">
                <a:solidFill>
                  <a:srgbClr val="0F1A2E"/>
                </a:solidFill>
                <a:latin typeface="Calibri"/>
              </a:rPr>
              <a:t>Four endpoints were withdrawn</a:t>
            </a:r>
          </a:p>
        </p:txBody>
      </p:sp>
      <p:sp>
        <p:nvSpPr>
          <p:cNvPr id="16" name="TextBox 15"/>
          <p:cNvSpPr txBox="1"/>
          <p:nvPr/>
        </p:nvSpPr>
        <p:spPr>
          <a:xfrm>
            <a:off x="5276088" y="3419856"/>
            <a:ext cx="6092647" cy="822960"/>
          </a:xfrm>
          <a:prstGeom prst="rect">
            <a:avLst/>
          </a:prstGeom>
          <a:noFill/>
        </p:spPr>
        <p:txBody>
          <a:bodyPr wrap="square" lIns="0" rIns="0" tIns="0" bIns="0" anchor="t">
            <a:spAutoFit/>
          </a:bodyPr>
          <a:lstStyle/>
          <a:p>
            <a:pPr algn="l">
              <a:lnSpc>
                <a:spcPct val="122000"/>
              </a:lnSpc>
              <a:spcAft>
                <a:spcPts val="600"/>
              </a:spcAft>
            </a:pPr>
            <a:r>
              <a:rPr sz="1180" b="0" i="0">
                <a:solidFill>
                  <a:srgbClr val="0F1A2E"/>
                </a:solidFill>
                <a:latin typeface="Calibri"/>
              </a:rPr>
              <a:t>An audit of the served models found four failures, three of them firing on molecules that are not drugs. Panel now 47 deployed.</a:t>
            </a:r>
          </a:p>
        </p:txBody>
      </p:sp>
      <p:sp>
        <p:nvSpPr>
          <p:cNvPr id="17" name="Rounded Rectangle 16"/>
          <p:cNvSpPr/>
          <p:nvPr/>
        </p:nvSpPr>
        <p:spPr>
          <a:xfrm>
            <a:off x="566928" y="4233672"/>
            <a:ext cx="11057839" cy="822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 y="4453128"/>
            <a:ext cx="640080" cy="365760"/>
          </a:xfrm>
          <a:prstGeom prst="rect">
            <a:avLst/>
          </a:prstGeom>
          <a:noFill/>
        </p:spPr>
        <p:txBody>
          <a:bodyPr wrap="square" lIns="0" rIns="0" tIns="0" bIns="0" anchor="t">
            <a:spAutoFit/>
          </a:bodyPr>
          <a:lstStyle/>
          <a:p>
            <a:pPr algn="l">
              <a:spcAft>
                <a:spcPts val="600"/>
              </a:spcAft>
            </a:pPr>
            <a:r>
              <a:rPr sz="1500" b="1" i="0">
                <a:solidFill>
                  <a:srgbClr val="9E2A2B"/>
                </a:solidFill>
                <a:latin typeface="Cambria"/>
              </a:rPr>
              <a:t>H8</a:t>
            </a:r>
          </a:p>
        </p:txBody>
      </p:sp>
      <p:sp>
        <p:nvSpPr>
          <p:cNvPr id="19" name="TextBox 18"/>
          <p:cNvSpPr txBox="1"/>
          <p:nvPr/>
        </p:nvSpPr>
        <p:spPr>
          <a:xfrm>
            <a:off x="1527048" y="4325112"/>
            <a:ext cx="3566160" cy="731520"/>
          </a:xfrm>
          <a:prstGeom prst="rect">
            <a:avLst/>
          </a:prstGeom>
          <a:noFill/>
        </p:spPr>
        <p:txBody>
          <a:bodyPr wrap="square" lIns="0" rIns="0" tIns="0" bIns="0" anchor="t">
            <a:spAutoFit/>
          </a:bodyPr>
          <a:lstStyle/>
          <a:p>
            <a:pPr algn="l">
              <a:lnSpc>
                <a:spcPct val="116000"/>
              </a:lnSpc>
              <a:spcAft>
                <a:spcPts val="600"/>
              </a:spcAft>
            </a:pPr>
            <a:r>
              <a:rPr sz="1300" b="1" i="0">
                <a:solidFill>
                  <a:srgbClr val="0F1A2E"/>
                </a:solidFill>
                <a:latin typeface="Calibri"/>
              </a:rPr>
              <a:t>The interface changed</a:t>
            </a:r>
          </a:p>
        </p:txBody>
      </p:sp>
      <p:sp>
        <p:nvSpPr>
          <p:cNvPr id="20" name="TextBox 19"/>
          <p:cNvSpPr txBox="1"/>
          <p:nvPr/>
        </p:nvSpPr>
        <p:spPr>
          <a:xfrm>
            <a:off x="5276088" y="4325112"/>
            <a:ext cx="6092647" cy="822960"/>
          </a:xfrm>
          <a:prstGeom prst="rect">
            <a:avLst/>
          </a:prstGeom>
          <a:noFill/>
        </p:spPr>
        <p:txBody>
          <a:bodyPr wrap="square" lIns="0" rIns="0" tIns="0" bIns="0" anchor="t">
            <a:spAutoFit/>
          </a:bodyPr>
          <a:lstStyle/>
          <a:p>
            <a:pPr algn="l">
              <a:lnSpc>
                <a:spcPct val="122000"/>
              </a:lnSpc>
              <a:spcAft>
                <a:spcPts val="600"/>
              </a:spcAft>
            </a:pPr>
            <a:r>
              <a:rPr sz="1180" b="0" i="0">
                <a:solidFill>
                  <a:srgbClr val="0F1A2E"/>
                </a:solidFill>
                <a:latin typeface="Calibri"/>
              </a:rPr>
              <a:t>37 targets fire across approved drugs but span 16 independent directions. Engaged targets are now grouped by homology family with the measured correlation quoted.</a:t>
            </a:r>
          </a:p>
        </p:txBody>
      </p:sp>
      <p:sp>
        <p:nvSpPr>
          <p:cNvPr id="21" name="Rounded Rectangle 20"/>
          <p:cNvSpPr/>
          <p:nvPr/>
        </p:nvSpPr>
        <p:spPr>
          <a:xfrm>
            <a:off x="566928" y="5138928"/>
            <a:ext cx="11057839" cy="822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04672" y="5358384"/>
            <a:ext cx="640080" cy="365760"/>
          </a:xfrm>
          <a:prstGeom prst="rect">
            <a:avLst/>
          </a:prstGeom>
          <a:noFill/>
        </p:spPr>
        <p:txBody>
          <a:bodyPr wrap="square" lIns="0" rIns="0" tIns="0" bIns="0" anchor="t">
            <a:spAutoFit/>
          </a:bodyPr>
          <a:lstStyle/>
          <a:p>
            <a:pPr algn="l">
              <a:spcAft>
                <a:spcPts val="600"/>
              </a:spcAft>
            </a:pPr>
            <a:r>
              <a:rPr sz="1500" b="1" i="0">
                <a:solidFill>
                  <a:srgbClr val="1C7293"/>
                </a:solidFill>
                <a:latin typeface="Cambria"/>
              </a:rPr>
              <a:t>H1</a:t>
            </a:r>
          </a:p>
        </p:txBody>
      </p:sp>
      <p:sp>
        <p:nvSpPr>
          <p:cNvPr id="23" name="TextBox 22"/>
          <p:cNvSpPr txBox="1"/>
          <p:nvPr/>
        </p:nvSpPr>
        <p:spPr>
          <a:xfrm>
            <a:off x="1527048" y="5230368"/>
            <a:ext cx="3566160" cy="731520"/>
          </a:xfrm>
          <a:prstGeom prst="rect">
            <a:avLst/>
          </a:prstGeom>
          <a:noFill/>
        </p:spPr>
        <p:txBody>
          <a:bodyPr wrap="square" lIns="0" rIns="0" tIns="0" bIns="0" anchor="t">
            <a:spAutoFit/>
          </a:bodyPr>
          <a:lstStyle/>
          <a:p>
            <a:pPr algn="l">
              <a:lnSpc>
                <a:spcPct val="116000"/>
              </a:lnSpc>
              <a:spcAft>
                <a:spcPts val="600"/>
              </a:spcAft>
            </a:pPr>
            <a:r>
              <a:rPr sz="1300" b="1" i="0">
                <a:solidFill>
                  <a:srgbClr val="0F1A2E"/>
                </a:solidFill>
                <a:latin typeface="Calibri"/>
              </a:rPr>
              <a:t>The suite tightened its own null</a:t>
            </a:r>
          </a:p>
        </p:txBody>
      </p:sp>
      <p:sp>
        <p:nvSpPr>
          <p:cNvPr id="24" name="TextBox 23"/>
          <p:cNvSpPr txBox="1"/>
          <p:nvPr/>
        </p:nvSpPr>
        <p:spPr>
          <a:xfrm>
            <a:off x="5276088" y="5230368"/>
            <a:ext cx="6092647" cy="822960"/>
          </a:xfrm>
          <a:prstGeom prst="rect">
            <a:avLst/>
          </a:prstGeom>
          <a:noFill/>
        </p:spPr>
        <p:txBody>
          <a:bodyPr wrap="square" lIns="0" rIns="0" tIns="0" bIns="0" anchor="t">
            <a:spAutoFit/>
          </a:bodyPr>
          <a:lstStyle/>
          <a:p>
            <a:pPr algn="l">
              <a:lnSpc>
                <a:spcPct val="122000"/>
              </a:lnSpc>
              <a:spcAft>
                <a:spcPts val="600"/>
              </a:spcAft>
            </a:pPr>
            <a:r>
              <a:rPr sz="1180" b="0" i="0">
                <a:solidFill>
                  <a:srgbClr val="0F1A2E"/>
                </a:solidFill>
                <a:latin typeface="Calibri"/>
              </a:rPr>
              <a:t>Restricted to compounds no other panel model was trained on: 16,690 held-out entries down to 7,008. It lowered the headline.</a:t>
            </a:r>
          </a:p>
        </p:txBody>
      </p:sp>
      <p:sp>
        <p:nvSpPr>
          <p:cNvPr id="25" name="TextBox 24"/>
          <p:cNvSpPr txBox="1"/>
          <p:nvPr/>
        </p:nvSpPr>
        <p:spPr>
          <a:xfrm>
            <a:off x="566928" y="5888736"/>
            <a:ext cx="11057839" cy="420624"/>
          </a:xfrm>
          <a:prstGeom prst="rect">
            <a:avLst/>
          </a:prstGeom>
          <a:noFill/>
        </p:spPr>
        <p:txBody>
          <a:bodyPr wrap="square" lIns="0" rIns="0" tIns="0" bIns="0" anchor="t">
            <a:spAutoFit/>
          </a:bodyPr>
          <a:lstStyle/>
          <a:p>
            <a:pPr algn="l">
              <a:spcAft>
                <a:spcPts val="600"/>
              </a:spcAft>
            </a:pPr>
            <a:r>
              <a:rPr sz="1250" b="0" i="1">
                <a:solidFill>
                  <a:srgbClr val="1C7293"/>
                </a:solidFill>
                <a:latin typeface="Calibri"/>
              </a:rPr>
              <a:t>The last is the one to notice. A suite that tightens its own null after the null has already been passed is behaving correctly.</a:t>
            </a:r>
          </a:p>
        </p:txBody>
      </p:sp>
      <p:sp>
        <p:nvSpPr>
          <p:cNvPr id="26" name="TextBox 25"/>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commits f40b5d7, 8bb402b, 7fa7203, da82d80, a3d184f; inversion/results/*.csv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786384"/>
            <a:ext cx="10058400" cy="45720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What a direct audit of the served models found</a:t>
            </a:r>
          </a:p>
        </p:txBody>
      </p:sp>
      <p:sp>
        <p:nvSpPr>
          <p:cNvPr id="3" name="TextBox 2"/>
          <p:cNvSpPr txBox="1"/>
          <p:nvPr/>
        </p:nvSpPr>
        <p:spPr>
          <a:xfrm>
            <a:off x="566928" y="1188720"/>
            <a:ext cx="10698480" cy="548640"/>
          </a:xfrm>
          <a:prstGeom prst="rect">
            <a:avLst/>
          </a:prstGeom>
          <a:noFill/>
        </p:spPr>
        <p:txBody>
          <a:bodyPr wrap="square" lIns="0" rIns="0" tIns="0" bIns="0" anchor="t">
            <a:spAutoFit/>
          </a:bodyPr>
          <a:lstStyle/>
          <a:p>
            <a:pPr algn="l">
              <a:lnSpc>
                <a:spcPct val="128000"/>
              </a:lnSpc>
              <a:spcAft>
                <a:spcPts val="600"/>
              </a:spcAft>
            </a:pPr>
            <a:r>
              <a:rPr sz="1400" b="0" i="0">
                <a:solidFill>
                  <a:srgbClr val="D7DFEA"/>
                </a:solidFill>
                <a:latin typeface="Calibri"/>
              </a:rPr>
              <a:t>H7 asked why approved antiepileptics were silent. Following that line produced an audit of what the deployed models fire on, and the answer for four of them was: sugar.</a:t>
            </a:r>
          </a:p>
        </p:txBody>
      </p:sp>
      <p:sp>
        <p:nvSpPr>
          <p:cNvPr id="4" name="TextBox 3"/>
          <p:cNvSpPr txBox="1"/>
          <p:nvPr/>
        </p:nvSpPr>
        <p:spPr>
          <a:xfrm>
            <a:off x="841247" y="2084831"/>
            <a:ext cx="237744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endpoint</a:t>
            </a:r>
          </a:p>
        </p:txBody>
      </p:sp>
      <p:sp>
        <p:nvSpPr>
          <p:cNvPr id="5" name="TextBox 4"/>
          <p:cNvSpPr txBox="1"/>
          <p:nvPr/>
        </p:nvSpPr>
        <p:spPr>
          <a:xfrm>
            <a:off x="3401568" y="2084831"/>
            <a:ext cx="182880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FPR on random chemistry</a:t>
            </a:r>
          </a:p>
        </p:txBody>
      </p:sp>
      <p:sp>
        <p:nvSpPr>
          <p:cNvPr id="6" name="TextBox 5"/>
          <p:cNvSpPr txBox="1"/>
          <p:nvPr/>
        </p:nvSpPr>
        <p:spPr>
          <a:xfrm>
            <a:off x="5687568" y="2084831"/>
            <a:ext cx="566928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trivial molecules called binders</a:t>
            </a:r>
          </a:p>
        </p:txBody>
      </p:sp>
      <p:sp>
        <p:nvSpPr>
          <p:cNvPr id="7" name="TextBox 6"/>
          <p:cNvSpPr txBox="1"/>
          <p:nvPr/>
        </p:nvSpPr>
        <p:spPr>
          <a:xfrm>
            <a:off x="841247" y="2450592"/>
            <a:ext cx="2377440" cy="384048"/>
          </a:xfrm>
          <a:prstGeom prst="rect">
            <a:avLst/>
          </a:prstGeom>
          <a:noFill/>
        </p:spPr>
        <p:txBody>
          <a:bodyPr wrap="square" lIns="0" rIns="0" tIns="0" bIns="0" anchor="t">
            <a:spAutoFit/>
          </a:bodyPr>
          <a:lstStyle/>
          <a:p>
            <a:pPr algn="l">
              <a:spcAft>
                <a:spcPts val="600"/>
              </a:spcAft>
            </a:pPr>
            <a:r>
              <a:rPr sz="1400" b="1" i="0">
                <a:solidFill>
                  <a:srgbClr val="FFFFFF"/>
                </a:solidFill>
                <a:latin typeface="Calibri"/>
              </a:rPr>
              <a:t>Nav1.1</a:t>
            </a:r>
          </a:p>
        </p:txBody>
      </p:sp>
      <p:sp>
        <p:nvSpPr>
          <p:cNvPr id="8" name="TextBox 7"/>
          <p:cNvSpPr txBox="1"/>
          <p:nvPr/>
        </p:nvSpPr>
        <p:spPr>
          <a:xfrm>
            <a:off x="3401568" y="2450592"/>
            <a:ext cx="1828800" cy="384048"/>
          </a:xfrm>
          <a:prstGeom prst="rect">
            <a:avLst/>
          </a:prstGeom>
          <a:noFill/>
        </p:spPr>
        <p:txBody>
          <a:bodyPr wrap="square" lIns="0" rIns="0" tIns="0" bIns="0" anchor="t">
            <a:spAutoFit/>
          </a:bodyPr>
          <a:lstStyle/>
          <a:p>
            <a:pPr algn="l">
              <a:spcAft>
                <a:spcPts val="600"/>
              </a:spcAft>
            </a:pPr>
            <a:r>
              <a:rPr sz="1400" b="1" i="0">
                <a:solidFill>
                  <a:srgbClr val="9E2A2B"/>
                </a:solidFill>
                <a:latin typeface="Calibri"/>
              </a:rPr>
              <a:t>0.0800</a:t>
            </a:r>
          </a:p>
        </p:txBody>
      </p:sp>
      <p:sp>
        <p:nvSpPr>
          <p:cNvPr id="9" name="TextBox 8"/>
          <p:cNvSpPr txBox="1"/>
          <p:nvPr/>
        </p:nvSpPr>
        <p:spPr>
          <a:xfrm>
            <a:off x="5687568" y="2450592"/>
            <a:ext cx="5669280" cy="384048"/>
          </a:xfrm>
          <a:prstGeom prst="rect">
            <a:avLst/>
          </a:prstGeom>
          <a:noFill/>
        </p:spPr>
        <p:txBody>
          <a:bodyPr wrap="square" lIns="0" rIns="0" tIns="0" bIns="0" anchor="t">
            <a:spAutoFit/>
          </a:bodyPr>
          <a:lstStyle/>
          <a:p>
            <a:pPr algn="l">
              <a:spcAft>
                <a:spcPts val="600"/>
              </a:spcAft>
            </a:pPr>
            <a:r>
              <a:rPr sz="1250" b="0" i="0">
                <a:solidFill>
                  <a:srgbClr val="D7DFEA"/>
                </a:solidFill>
                <a:latin typeface="Calibri"/>
              </a:rPr>
              <a:t>glucose, urea, glycine, lactate, atenolol</a:t>
            </a:r>
          </a:p>
        </p:txBody>
      </p:sp>
      <p:sp>
        <p:nvSpPr>
          <p:cNvPr id="10" name="TextBox 9"/>
          <p:cNvSpPr txBox="1"/>
          <p:nvPr/>
        </p:nvSpPr>
        <p:spPr>
          <a:xfrm>
            <a:off x="841247" y="3017520"/>
            <a:ext cx="2377440" cy="384048"/>
          </a:xfrm>
          <a:prstGeom prst="rect">
            <a:avLst/>
          </a:prstGeom>
          <a:noFill/>
        </p:spPr>
        <p:txBody>
          <a:bodyPr wrap="square" lIns="0" rIns="0" tIns="0" bIns="0" anchor="t">
            <a:spAutoFit/>
          </a:bodyPr>
          <a:lstStyle/>
          <a:p>
            <a:pPr algn="l">
              <a:spcAft>
                <a:spcPts val="600"/>
              </a:spcAft>
            </a:pPr>
            <a:r>
              <a:rPr sz="1400" b="1" i="0">
                <a:solidFill>
                  <a:srgbClr val="FFFFFF"/>
                </a:solidFill>
                <a:latin typeface="Calibri"/>
              </a:rPr>
              <a:t>GluA2</a:t>
            </a:r>
          </a:p>
        </p:txBody>
      </p:sp>
      <p:sp>
        <p:nvSpPr>
          <p:cNvPr id="11" name="TextBox 10"/>
          <p:cNvSpPr txBox="1"/>
          <p:nvPr/>
        </p:nvSpPr>
        <p:spPr>
          <a:xfrm>
            <a:off x="3401568" y="3017520"/>
            <a:ext cx="1828800" cy="384048"/>
          </a:xfrm>
          <a:prstGeom prst="rect">
            <a:avLst/>
          </a:prstGeom>
          <a:noFill/>
        </p:spPr>
        <p:txBody>
          <a:bodyPr wrap="square" lIns="0" rIns="0" tIns="0" bIns="0" anchor="t">
            <a:spAutoFit/>
          </a:bodyPr>
          <a:lstStyle/>
          <a:p>
            <a:pPr algn="l">
              <a:spcAft>
                <a:spcPts val="600"/>
              </a:spcAft>
            </a:pPr>
            <a:r>
              <a:rPr sz="1400" b="1" i="0">
                <a:solidFill>
                  <a:srgbClr val="9E2A2B"/>
                </a:solidFill>
                <a:latin typeface="Calibri"/>
              </a:rPr>
              <a:t>0.0717</a:t>
            </a:r>
          </a:p>
        </p:txBody>
      </p:sp>
      <p:sp>
        <p:nvSpPr>
          <p:cNvPr id="12" name="TextBox 11"/>
          <p:cNvSpPr txBox="1"/>
          <p:nvPr/>
        </p:nvSpPr>
        <p:spPr>
          <a:xfrm>
            <a:off x="5687568" y="3017520"/>
            <a:ext cx="5669280" cy="384048"/>
          </a:xfrm>
          <a:prstGeom prst="rect">
            <a:avLst/>
          </a:prstGeom>
          <a:noFill/>
        </p:spPr>
        <p:txBody>
          <a:bodyPr wrap="square" lIns="0" rIns="0" tIns="0" bIns="0" anchor="t">
            <a:spAutoFit/>
          </a:bodyPr>
          <a:lstStyle/>
          <a:p>
            <a:pPr algn="l">
              <a:spcAft>
                <a:spcPts val="600"/>
              </a:spcAft>
            </a:pPr>
            <a:r>
              <a:rPr sz="1250" b="0" i="0">
                <a:solidFill>
                  <a:srgbClr val="D7DFEA"/>
                </a:solidFill>
                <a:latin typeface="Calibri"/>
              </a:rPr>
              <a:t>glucose, atenolol</a:t>
            </a:r>
          </a:p>
        </p:txBody>
      </p:sp>
      <p:sp>
        <p:nvSpPr>
          <p:cNvPr id="13" name="TextBox 12"/>
          <p:cNvSpPr txBox="1"/>
          <p:nvPr/>
        </p:nvSpPr>
        <p:spPr>
          <a:xfrm>
            <a:off x="841247" y="3584448"/>
            <a:ext cx="2377440" cy="384048"/>
          </a:xfrm>
          <a:prstGeom prst="rect">
            <a:avLst/>
          </a:prstGeom>
          <a:noFill/>
        </p:spPr>
        <p:txBody>
          <a:bodyPr wrap="square" lIns="0" rIns="0" tIns="0" bIns="0" anchor="t">
            <a:spAutoFit/>
          </a:bodyPr>
          <a:lstStyle/>
          <a:p>
            <a:pPr algn="l">
              <a:spcAft>
                <a:spcPts val="600"/>
              </a:spcAft>
            </a:pPr>
            <a:r>
              <a:rPr sz="1400" b="1" i="0">
                <a:solidFill>
                  <a:srgbClr val="FFFFFF"/>
                </a:solidFill>
                <a:latin typeface="Calibri"/>
              </a:rPr>
              <a:t>NRF2</a:t>
            </a:r>
          </a:p>
        </p:txBody>
      </p:sp>
      <p:sp>
        <p:nvSpPr>
          <p:cNvPr id="14" name="TextBox 13"/>
          <p:cNvSpPr txBox="1"/>
          <p:nvPr/>
        </p:nvSpPr>
        <p:spPr>
          <a:xfrm>
            <a:off x="3401568" y="3584448"/>
            <a:ext cx="1828800" cy="384048"/>
          </a:xfrm>
          <a:prstGeom prst="rect">
            <a:avLst/>
          </a:prstGeom>
          <a:noFill/>
        </p:spPr>
        <p:txBody>
          <a:bodyPr wrap="square" lIns="0" rIns="0" tIns="0" bIns="0" anchor="t">
            <a:spAutoFit/>
          </a:bodyPr>
          <a:lstStyle/>
          <a:p>
            <a:pPr algn="l">
              <a:spcAft>
                <a:spcPts val="600"/>
              </a:spcAft>
            </a:pPr>
            <a:r>
              <a:rPr sz="1400" b="1" i="0">
                <a:solidFill>
                  <a:srgbClr val="9E2A2B"/>
                </a:solidFill>
                <a:latin typeface="Calibri"/>
              </a:rPr>
              <a:t>0.0567</a:t>
            </a:r>
          </a:p>
        </p:txBody>
      </p:sp>
      <p:sp>
        <p:nvSpPr>
          <p:cNvPr id="15" name="TextBox 14"/>
          <p:cNvSpPr txBox="1"/>
          <p:nvPr/>
        </p:nvSpPr>
        <p:spPr>
          <a:xfrm>
            <a:off x="5687568" y="3584448"/>
            <a:ext cx="5669280" cy="384048"/>
          </a:xfrm>
          <a:prstGeom prst="rect">
            <a:avLst/>
          </a:prstGeom>
          <a:noFill/>
        </p:spPr>
        <p:txBody>
          <a:bodyPr wrap="square" lIns="0" rIns="0" tIns="0" bIns="0" anchor="t">
            <a:spAutoFit/>
          </a:bodyPr>
          <a:lstStyle/>
          <a:p>
            <a:pPr algn="l">
              <a:spcAft>
                <a:spcPts val="600"/>
              </a:spcAft>
            </a:pPr>
            <a:r>
              <a:rPr sz="1250" b="0" i="1">
                <a:solidFill>
                  <a:srgbClr val="5F6B7A"/>
                </a:solidFill>
                <a:latin typeface="Calibri"/>
              </a:rPr>
              <a:t>none, but above the 5 per cent target</a:t>
            </a:r>
          </a:p>
        </p:txBody>
      </p:sp>
      <p:sp>
        <p:nvSpPr>
          <p:cNvPr id="16" name="TextBox 15"/>
          <p:cNvSpPr txBox="1"/>
          <p:nvPr/>
        </p:nvSpPr>
        <p:spPr>
          <a:xfrm>
            <a:off x="841247" y="4151376"/>
            <a:ext cx="2377440" cy="384048"/>
          </a:xfrm>
          <a:prstGeom prst="rect">
            <a:avLst/>
          </a:prstGeom>
          <a:noFill/>
        </p:spPr>
        <p:txBody>
          <a:bodyPr wrap="square" lIns="0" rIns="0" tIns="0" bIns="0" anchor="t">
            <a:spAutoFit/>
          </a:bodyPr>
          <a:lstStyle/>
          <a:p>
            <a:pPr algn="l">
              <a:spcAft>
                <a:spcPts val="600"/>
              </a:spcAft>
            </a:pPr>
            <a:r>
              <a:rPr sz="1400" b="1" i="0">
                <a:solidFill>
                  <a:srgbClr val="FFFFFF"/>
                </a:solidFill>
                <a:latin typeface="Calibri"/>
              </a:rPr>
              <a:t>NF-κB1</a:t>
            </a:r>
          </a:p>
        </p:txBody>
      </p:sp>
      <p:sp>
        <p:nvSpPr>
          <p:cNvPr id="17" name="TextBox 16"/>
          <p:cNvSpPr txBox="1"/>
          <p:nvPr/>
        </p:nvSpPr>
        <p:spPr>
          <a:xfrm>
            <a:off x="3401568" y="4151376"/>
            <a:ext cx="1828800" cy="384048"/>
          </a:xfrm>
          <a:prstGeom prst="rect">
            <a:avLst/>
          </a:prstGeom>
          <a:noFill/>
        </p:spPr>
        <p:txBody>
          <a:bodyPr wrap="square" lIns="0" rIns="0" tIns="0" bIns="0" anchor="t">
            <a:spAutoFit/>
          </a:bodyPr>
          <a:lstStyle/>
          <a:p>
            <a:pPr algn="l">
              <a:spcAft>
                <a:spcPts val="600"/>
              </a:spcAft>
            </a:pPr>
            <a:r>
              <a:rPr sz="1400" b="1" i="0">
                <a:solidFill>
                  <a:srgbClr val="9E2A2B"/>
                </a:solidFill>
                <a:latin typeface="Calibri"/>
              </a:rPr>
              <a:t>0.0267</a:t>
            </a:r>
          </a:p>
        </p:txBody>
      </p:sp>
      <p:sp>
        <p:nvSpPr>
          <p:cNvPr id="18" name="TextBox 17"/>
          <p:cNvSpPr txBox="1"/>
          <p:nvPr/>
        </p:nvSpPr>
        <p:spPr>
          <a:xfrm>
            <a:off x="5687568" y="4151376"/>
            <a:ext cx="5669280" cy="384048"/>
          </a:xfrm>
          <a:prstGeom prst="rect">
            <a:avLst/>
          </a:prstGeom>
          <a:noFill/>
        </p:spPr>
        <p:txBody>
          <a:bodyPr wrap="square" lIns="0" rIns="0" tIns="0" bIns="0" anchor="t">
            <a:spAutoFit/>
          </a:bodyPr>
          <a:lstStyle/>
          <a:p>
            <a:pPr algn="l">
              <a:spcAft>
                <a:spcPts val="600"/>
              </a:spcAft>
            </a:pPr>
            <a:r>
              <a:rPr sz="1250" b="0" i="0">
                <a:solidFill>
                  <a:srgbClr val="D7DFEA"/>
                </a:solidFill>
                <a:latin typeface="Calibri"/>
              </a:rPr>
              <a:t>glucose, urea, acetate, glycine, lactate</a:t>
            </a:r>
          </a:p>
        </p:txBody>
      </p:sp>
      <p:sp>
        <p:nvSpPr>
          <p:cNvPr id="19" name="TextBox 18"/>
          <p:cNvSpPr txBox="1"/>
          <p:nvPr/>
        </p:nvSpPr>
        <p:spPr>
          <a:xfrm>
            <a:off x="566928" y="4937760"/>
            <a:ext cx="10698480" cy="822960"/>
          </a:xfrm>
          <a:prstGeom prst="rect">
            <a:avLst/>
          </a:prstGeom>
          <a:noFill/>
        </p:spPr>
        <p:txBody>
          <a:bodyPr wrap="square" lIns="0" rIns="0" tIns="0" bIns="0" anchor="t">
            <a:spAutoFit/>
          </a:bodyPr>
          <a:lstStyle/>
          <a:p>
            <a:pPr algn="l">
              <a:lnSpc>
                <a:spcPct val="128000"/>
              </a:lnSpc>
              <a:spcAft>
                <a:spcPts val="600"/>
              </a:spcAft>
            </a:pPr>
            <a:r>
              <a:rPr sz="1350" b="0" i="0">
                <a:solidFill>
                  <a:srgbClr val="FFFFFF"/>
                </a:solidFill>
                <a:latin typeface="Calibri"/>
              </a:rPr>
              <a:t>All four were withdrawn, with NR3C1, which passed this audit and was withdrawn on other grounds. Nothing about the models changed. What changed is that the project stopped serving endpoints it could not defend.</a:t>
            </a:r>
          </a:p>
        </p:txBody>
      </p:sp>
      <p:sp>
        <p:nvSpPr>
          <p:cNvPr id="20" name="TextBox 19"/>
          <p:cNvSpPr txBox="1"/>
          <p:nvPr/>
        </p:nvSpPr>
        <p:spPr>
          <a:xfrm>
            <a:off x="566928" y="5897880"/>
            <a:ext cx="10698480" cy="457200"/>
          </a:xfrm>
          <a:prstGeom prst="rect">
            <a:avLst/>
          </a:prstGeom>
          <a:noFill/>
        </p:spPr>
        <p:txBody>
          <a:bodyPr wrap="square" lIns="0" rIns="0" tIns="0" bIns="0" anchor="t">
            <a:spAutoFit/>
          </a:bodyPr>
          <a:lstStyle/>
          <a:p>
            <a:pPr algn="l">
              <a:spcAft>
                <a:spcPts val="600"/>
              </a:spcAft>
            </a:pPr>
            <a:r>
              <a:rPr sz="1300" b="0" i="1">
                <a:solidFill>
                  <a:srgbClr val="D98324"/>
                </a:solidFill>
                <a:latin typeface="Calibri"/>
              </a:rPr>
              <a:t>The audit exists because a hypothesis was written to embarrass the tool, and it worked.</a:t>
            </a:r>
          </a:p>
        </p:txBody>
      </p:sp>
      <p:sp>
        <p:nvSpPr>
          <p:cNvPr id="21" name="TextBox 20"/>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results/deployed_specificity_audit.csv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result the suite bought, by accident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H7 measured the quantity Chapter 5 would later find had been published wrongly</a:t>
            </a:r>
          </a:p>
        </p:txBody>
      </p:sp>
      <p:sp>
        <p:nvSpPr>
          <p:cNvPr id="5" name="TextBox 4"/>
          <p:cNvSpPr txBox="1"/>
          <p:nvPr/>
        </p:nvSpPr>
        <p:spPr>
          <a:xfrm>
            <a:off x="566928" y="1572768"/>
            <a:ext cx="5074920" cy="1371600"/>
          </a:xfrm>
          <a:prstGeom prst="rect">
            <a:avLst/>
          </a:prstGeom>
          <a:noFill/>
        </p:spPr>
        <p:txBody>
          <a:bodyPr wrap="square" lIns="0" rIns="0" tIns="0" bIns="0" anchor="t">
            <a:spAutoFit/>
          </a:bodyPr>
          <a:lstStyle/>
          <a:p>
            <a:pPr algn="l">
              <a:lnSpc>
                <a:spcPct val="130000"/>
              </a:lnSpc>
              <a:spcAft>
                <a:spcPts val="600"/>
              </a:spcAft>
            </a:pPr>
            <a:r>
              <a:rPr sz="1300" b="0" i="0">
                <a:solidFill>
                  <a:srgbClr val="0F1A2E"/>
                </a:solidFill>
                <a:latin typeface="Calibri"/>
              </a:rPr>
              <a:t>H7 asked whether the silent antiepileptics meant the models could not rank. They can: across 37 testable targets the AUROC against 600 random PubChem structures runs from 0.9174 to 0.9996, median 0.9888. The explanation is refuted.</a:t>
            </a:r>
          </a:p>
        </p:txBody>
      </p:sp>
      <p:sp>
        <p:nvSpPr>
          <p:cNvPr id="6" name="TextBox 5"/>
          <p:cNvSpPr txBox="1"/>
          <p:nvPr/>
        </p:nvSpPr>
        <p:spPr>
          <a:xfrm>
            <a:off x="566928" y="3017520"/>
            <a:ext cx="5074920" cy="1463040"/>
          </a:xfrm>
          <a:prstGeom prst="rect">
            <a:avLst/>
          </a:prstGeom>
          <a:noFill/>
        </p:spPr>
        <p:txBody>
          <a:bodyPr wrap="square" lIns="0" rIns="0" tIns="0" bIns="0" anchor="t">
            <a:spAutoFit/>
          </a:bodyPr>
          <a:lstStyle/>
          <a:p>
            <a:pPr algn="l">
              <a:lnSpc>
                <a:spcPct val="130000"/>
              </a:lnSpc>
              <a:spcAft>
                <a:spcPts val="600"/>
              </a:spcAft>
            </a:pPr>
            <a:r>
              <a:rPr sz="1300" b="1" i="0">
                <a:solidFill>
                  <a:srgbClr val="1F3A5F"/>
                </a:solidFill>
                <a:latin typeface="Calibri"/>
              </a:rPr>
              <a:t>What the same table recorded incidentally was deployed sensitivity, and nothing compared it against the registry for three weeks.</a:t>
            </a:r>
          </a:p>
        </p:txBody>
      </p:sp>
      <p:sp>
        <p:nvSpPr>
          <p:cNvPr id="7" name="Rounded Rectangle 6"/>
          <p:cNvSpPr/>
          <p:nvPr/>
        </p:nvSpPr>
        <p:spPr>
          <a:xfrm>
            <a:off x="6099048" y="1572768"/>
            <a:ext cx="5525719" cy="19202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391656" y="1755648"/>
            <a:ext cx="4937760" cy="310896"/>
          </a:xfrm>
          <a:prstGeom prst="rect">
            <a:avLst/>
          </a:prstGeom>
          <a:noFill/>
        </p:spPr>
        <p:txBody>
          <a:bodyPr wrap="square" lIns="0" rIns="0" tIns="0" bIns="0" anchor="t">
            <a:spAutoFit/>
          </a:bodyPr>
          <a:lstStyle/>
          <a:p>
            <a:pPr algn="l">
              <a:spcAft>
                <a:spcPts val="600"/>
              </a:spcAft>
            </a:pPr>
            <a:r>
              <a:rPr sz="1200" b="1" i="0">
                <a:solidFill>
                  <a:srgbClr val="5F6B7A"/>
                </a:solidFill>
                <a:latin typeface="Calibri"/>
              </a:rPr>
              <a:t>Deployed sensitivity, panel mean</a:t>
            </a:r>
          </a:p>
        </p:txBody>
      </p:sp>
      <p:sp>
        <p:nvSpPr>
          <p:cNvPr id="9" name="TextBox 8"/>
          <p:cNvSpPr txBox="1"/>
          <p:nvPr/>
        </p:nvSpPr>
        <p:spPr>
          <a:xfrm>
            <a:off x="6391656" y="2139696"/>
            <a:ext cx="3291840" cy="329184"/>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Published in the registry</a:t>
            </a:r>
          </a:p>
        </p:txBody>
      </p:sp>
      <p:sp>
        <p:nvSpPr>
          <p:cNvPr id="10" name="TextBox 9"/>
          <p:cNvSpPr txBox="1"/>
          <p:nvPr/>
        </p:nvSpPr>
        <p:spPr>
          <a:xfrm>
            <a:off x="9848088" y="2139696"/>
            <a:ext cx="1371600" cy="329184"/>
          </a:xfrm>
          <a:prstGeom prst="rect">
            <a:avLst/>
          </a:prstGeom>
          <a:noFill/>
        </p:spPr>
        <p:txBody>
          <a:bodyPr wrap="square" lIns="0" rIns="0" tIns="0" bIns="0" anchor="t">
            <a:spAutoFit/>
          </a:bodyPr>
          <a:lstStyle/>
          <a:p>
            <a:pPr algn="r">
              <a:spcAft>
                <a:spcPts val="600"/>
              </a:spcAft>
            </a:pPr>
            <a:r>
              <a:rPr sz="1350" b="1" i="0">
                <a:solidFill>
                  <a:srgbClr val="9E2A2B"/>
                </a:solidFill>
                <a:latin typeface="Calibri"/>
              </a:rPr>
              <a:t>0.8983</a:t>
            </a:r>
          </a:p>
        </p:txBody>
      </p:sp>
      <p:sp>
        <p:nvSpPr>
          <p:cNvPr id="11" name="TextBox 10"/>
          <p:cNvSpPr txBox="1"/>
          <p:nvPr/>
        </p:nvSpPr>
        <p:spPr>
          <a:xfrm>
            <a:off x="6391656" y="2551176"/>
            <a:ext cx="3291840" cy="329184"/>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H7, held out vs random PubChem</a:t>
            </a:r>
          </a:p>
        </p:txBody>
      </p:sp>
      <p:sp>
        <p:nvSpPr>
          <p:cNvPr id="12" name="TextBox 11"/>
          <p:cNvSpPr txBox="1"/>
          <p:nvPr/>
        </p:nvSpPr>
        <p:spPr>
          <a:xfrm>
            <a:off x="9848088" y="2551176"/>
            <a:ext cx="1371600" cy="329184"/>
          </a:xfrm>
          <a:prstGeom prst="rect">
            <a:avLst/>
          </a:prstGeom>
          <a:noFill/>
        </p:spPr>
        <p:txBody>
          <a:bodyPr wrap="square" lIns="0" rIns="0" tIns="0" bIns="0" anchor="t">
            <a:spAutoFit/>
          </a:bodyPr>
          <a:lstStyle/>
          <a:p>
            <a:pPr algn="r">
              <a:spcAft>
                <a:spcPts val="600"/>
              </a:spcAft>
            </a:pPr>
            <a:r>
              <a:rPr sz="1350" b="1" i="0">
                <a:solidFill>
                  <a:srgbClr val="1C7293"/>
                </a:solidFill>
                <a:latin typeface="Calibri"/>
              </a:rPr>
              <a:t>0.7331</a:t>
            </a:r>
          </a:p>
        </p:txBody>
      </p:sp>
      <p:sp>
        <p:nvSpPr>
          <p:cNvPr id="13" name="TextBox 12"/>
          <p:cNvSpPr txBox="1"/>
          <p:nvPr/>
        </p:nvSpPr>
        <p:spPr>
          <a:xfrm>
            <a:off x="6391656" y="2962656"/>
            <a:ext cx="3291840" cy="329184"/>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Chapter 5 audit, held out</a:t>
            </a:r>
          </a:p>
        </p:txBody>
      </p:sp>
      <p:sp>
        <p:nvSpPr>
          <p:cNvPr id="14" name="TextBox 13"/>
          <p:cNvSpPr txBox="1"/>
          <p:nvPr/>
        </p:nvSpPr>
        <p:spPr>
          <a:xfrm>
            <a:off x="9848088" y="2962656"/>
            <a:ext cx="1371600" cy="329184"/>
          </a:xfrm>
          <a:prstGeom prst="rect">
            <a:avLst/>
          </a:prstGeom>
          <a:noFill/>
        </p:spPr>
        <p:txBody>
          <a:bodyPr wrap="square" lIns="0" rIns="0" tIns="0" bIns="0" anchor="t">
            <a:spAutoFit/>
          </a:bodyPr>
          <a:lstStyle/>
          <a:p>
            <a:pPr algn="r">
              <a:spcAft>
                <a:spcPts val="600"/>
              </a:spcAft>
            </a:pPr>
            <a:r>
              <a:rPr sz="1350" b="1" i="0">
                <a:solidFill>
                  <a:srgbClr val="1C7293"/>
                </a:solidFill>
                <a:latin typeface="Calibri"/>
              </a:rPr>
              <a:t>0.7638</a:t>
            </a:r>
          </a:p>
        </p:txBody>
      </p:sp>
      <p:sp>
        <p:nvSpPr>
          <p:cNvPr id="15" name="TextBox 14"/>
          <p:cNvSpPr txBox="1"/>
          <p:nvPr/>
        </p:nvSpPr>
        <p:spPr>
          <a:xfrm>
            <a:off x="6391656" y="3346704"/>
            <a:ext cx="4937760" cy="274320"/>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
            </a:r>
          </a:p>
        </p:txBody>
      </p:sp>
      <p:sp>
        <p:nvSpPr>
          <p:cNvPr id="16" name="Rounded Rectangle 15"/>
          <p:cNvSpPr/>
          <p:nvPr/>
        </p:nvSpPr>
        <p:spPr>
          <a:xfrm>
            <a:off x="6099048" y="3657600"/>
            <a:ext cx="5525719" cy="148132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91656" y="3840480"/>
            <a:ext cx="4937760" cy="118872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Two constructions sharing nothing landed 0.031 apart, and the figure they agreed on was not the published one. H7 names six targets under 0.50; the audit names six; five are the same.</a:t>
            </a:r>
          </a:p>
        </p:txBody>
      </p:sp>
      <p:sp>
        <p:nvSpPr>
          <p:cNvPr id="18" name="TextBox 17"/>
          <p:cNvSpPr txBox="1"/>
          <p:nvPr/>
        </p:nvSpPr>
        <p:spPr>
          <a:xfrm>
            <a:off x="566928" y="4069080"/>
            <a:ext cx="5074920" cy="1554480"/>
          </a:xfrm>
          <a:prstGeom prst="rect">
            <a:avLst/>
          </a:prstGeom>
          <a:noFill/>
        </p:spPr>
        <p:txBody>
          <a:bodyPr wrap="square" lIns="0" rIns="0" tIns="0" bIns="0" anchor="t">
            <a:spAutoFit/>
          </a:bodyPr>
          <a:lstStyle/>
          <a:p>
            <a:pPr algn="l">
              <a:lnSpc>
                <a:spcPct val="130000"/>
              </a:lnSpc>
              <a:spcAft>
                <a:spcPts val="600"/>
              </a:spcAft>
            </a:pPr>
            <a:r>
              <a:rPr sz="1300" b="0" i="1">
                <a:solidFill>
                  <a:srgbClr val="D98324"/>
                </a:solidFill>
                <a:latin typeface="Calibri"/>
              </a:rPr>
              <a:t>The lesson is about reading, not measuring. The evidence sat in a committed file, in a report the project wrote itself. Nothing compared it with the registry, because nothing had been built to.</a:t>
            </a:r>
          </a:p>
        </p:txBody>
      </p:sp>
      <p:sp>
        <p:nvSpPr>
          <p:cNvPr id="19" name="TextBox 1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inversion/results/H7_target_discrimination.csv; models_rf/binder_modes.json; results/tables/sensitivity_reconciliation.csv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H4 is supported by a rule that ignores its own interval</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One false positive in 61 compounds</a:t>
            </a:r>
          </a:p>
        </p:txBody>
      </p:sp>
      <p:sp>
        <p:nvSpPr>
          <p:cNvPr id="5" name="TextBox 4"/>
          <p:cNvSpPr txBox="1"/>
          <p:nvPr/>
        </p:nvSpPr>
        <p:spPr>
          <a:xfrm>
            <a:off x="841247" y="1700784"/>
            <a:ext cx="310896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stratum</a:t>
            </a:r>
          </a:p>
        </p:txBody>
      </p:sp>
      <p:sp>
        <p:nvSpPr>
          <p:cNvPr id="6" name="TextBox 5"/>
          <p:cNvSpPr txBox="1"/>
          <p:nvPr/>
        </p:nvSpPr>
        <p:spPr>
          <a:xfrm>
            <a:off x="4224528" y="1700784"/>
            <a:ext cx="17373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n</a:t>
            </a:r>
          </a:p>
        </p:txBody>
      </p:sp>
      <p:sp>
        <p:nvSpPr>
          <p:cNvPr id="7" name="TextBox 6"/>
          <p:cNvSpPr txBox="1"/>
          <p:nvPr/>
        </p:nvSpPr>
        <p:spPr>
          <a:xfrm>
            <a:off x="6099048" y="1700784"/>
            <a:ext cx="17373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false-positive rate</a:t>
            </a:r>
          </a:p>
        </p:txBody>
      </p:sp>
      <p:sp>
        <p:nvSpPr>
          <p:cNvPr id="8" name="TextBox 7"/>
          <p:cNvSpPr txBox="1"/>
          <p:nvPr/>
        </p:nvSpPr>
        <p:spPr>
          <a:xfrm>
            <a:off x="7973567" y="1700784"/>
            <a:ext cx="17373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95% interval</a:t>
            </a:r>
          </a:p>
        </p:txBody>
      </p:sp>
      <p:sp>
        <p:nvSpPr>
          <p:cNvPr id="9" name="Rounded Rectangle 8"/>
          <p:cNvSpPr/>
          <p:nvPr/>
        </p:nvSpPr>
        <p:spPr>
          <a:xfrm>
            <a:off x="566928" y="1947672"/>
            <a:ext cx="9509760" cy="51206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029968"/>
            <a:ext cx="3291840" cy="384048"/>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in domain (T&gt;=0.5)</a:t>
            </a:r>
          </a:p>
        </p:txBody>
      </p:sp>
      <p:sp>
        <p:nvSpPr>
          <p:cNvPr id="11" name="TextBox 10"/>
          <p:cNvSpPr txBox="1"/>
          <p:nvPr/>
        </p:nvSpPr>
        <p:spPr>
          <a:xfrm>
            <a:off x="4224528" y="202996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75</a:t>
            </a:r>
          </a:p>
        </p:txBody>
      </p:sp>
      <p:sp>
        <p:nvSpPr>
          <p:cNvPr id="12" name="TextBox 11"/>
          <p:cNvSpPr txBox="1"/>
          <p:nvPr/>
        </p:nvSpPr>
        <p:spPr>
          <a:xfrm>
            <a:off x="6099048" y="202996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0.1200</a:t>
            </a:r>
          </a:p>
        </p:txBody>
      </p:sp>
      <p:sp>
        <p:nvSpPr>
          <p:cNvPr id="13" name="TextBox 12"/>
          <p:cNvSpPr txBox="1"/>
          <p:nvPr/>
        </p:nvSpPr>
        <p:spPr>
          <a:xfrm>
            <a:off x="7973567" y="202996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0.0644 to 0.2126</a:t>
            </a:r>
          </a:p>
        </p:txBody>
      </p:sp>
      <p:sp>
        <p:nvSpPr>
          <p:cNvPr id="14" name="Rounded Rectangle 13"/>
          <p:cNvSpPr/>
          <p:nvPr/>
        </p:nvSpPr>
        <p:spPr>
          <a:xfrm>
            <a:off x="566928" y="2496312"/>
            <a:ext cx="9509760" cy="51206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7" y="2578608"/>
            <a:ext cx="3291840" cy="384048"/>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near domain (0.3-0.5)</a:t>
            </a:r>
          </a:p>
        </p:txBody>
      </p:sp>
      <p:sp>
        <p:nvSpPr>
          <p:cNvPr id="16" name="TextBox 15"/>
          <p:cNvSpPr txBox="1"/>
          <p:nvPr/>
        </p:nvSpPr>
        <p:spPr>
          <a:xfrm>
            <a:off x="4224528" y="257860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464</a:t>
            </a:r>
          </a:p>
        </p:txBody>
      </p:sp>
      <p:sp>
        <p:nvSpPr>
          <p:cNvPr id="17" name="TextBox 16"/>
          <p:cNvSpPr txBox="1"/>
          <p:nvPr/>
        </p:nvSpPr>
        <p:spPr>
          <a:xfrm>
            <a:off x="6099048" y="257860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0.0711</a:t>
            </a:r>
          </a:p>
        </p:txBody>
      </p:sp>
      <p:sp>
        <p:nvSpPr>
          <p:cNvPr id="18" name="TextBox 17"/>
          <p:cNvSpPr txBox="1"/>
          <p:nvPr/>
        </p:nvSpPr>
        <p:spPr>
          <a:xfrm>
            <a:off x="7973567" y="257860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0.0511 to 0.0982</a:t>
            </a:r>
          </a:p>
        </p:txBody>
      </p:sp>
      <p:sp>
        <p:nvSpPr>
          <p:cNvPr id="19" name="Rounded Rectangle 18"/>
          <p:cNvSpPr/>
          <p:nvPr/>
        </p:nvSpPr>
        <p:spPr>
          <a:xfrm>
            <a:off x="566928" y="3044952"/>
            <a:ext cx="9509760" cy="51206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3127248"/>
            <a:ext cx="3291840" cy="384048"/>
          </a:xfrm>
          <a:prstGeom prst="rect">
            <a:avLst/>
          </a:prstGeom>
          <a:noFill/>
        </p:spPr>
        <p:txBody>
          <a:bodyPr wrap="square" lIns="0" rIns="0" tIns="0" bIns="0" anchor="t">
            <a:spAutoFit/>
          </a:bodyPr>
          <a:lstStyle/>
          <a:p>
            <a:pPr algn="l">
              <a:spcAft>
                <a:spcPts val="600"/>
              </a:spcAft>
            </a:pPr>
            <a:r>
              <a:rPr sz="1250" b="1" i="0">
                <a:solidFill>
                  <a:srgbClr val="9E2A2B"/>
                </a:solidFill>
                <a:latin typeface="Calibri"/>
              </a:rPr>
              <a:t>distant (T&lt;0.3)</a:t>
            </a:r>
          </a:p>
        </p:txBody>
      </p:sp>
      <p:sp>
        <p:nvSpPr>
          <p:cNvPr id="21" name="TextBox 20"/>
          <p:cNvSpPr txBox="1"/>
          <p:nvPr/>
        </p:nvSpPr>
        <p:spPr>
          <a:xfrm>
            <a:off x="4224528" y="3127248"/>
            <a:ext cx="1737360" cy="384048"/>
          </a:xfrm>
          <a:prstGeom prst="rect">
            <a:avLst/>
          </a:prstGeom>
          <a:noFill/>
        </p:spPr>
        <p:txBody>
          <a:bodyPr wrap="square" lIns="0" rIns="0" tIns="0" bIns="0" anchor="t">
            <a:spAutoFit/>
          </a:bodyPr>
          <a:lstStyle/>
          <a:p>
            <a:pPr algn="r">
              <a:spcAft>
                <a:spcPts val="600"/>
              </a:spcAft>
            </a:pPr>
            <a:r>
              <a:rPr sz="1250" b="1" i="0">
                <a:solidFill>
                  <a:srgbClr val="9E2A2B"/>
                </a:solidFill>
                <a:latin typeface="Calibri"/>
              </a:rPr>
              <a:t>61</a:t>
            </a:r>
          </a:p>
        </p:txBody>
      </p:sp>
      <p:sp>
        <p:nvSpPr>
          <p:cNvPr id="22" name="TextBox 21"/>
          <p:cNvSpPr txBox="1"/>
          <p:nvPr/>
        </p:nvSpPr>
        <p:spPr>
          <a:xfrm>
            <a:off x="6099048" y="3127248"/>
            <a:ext cx="1737360" cy="384048"/>
          </a:xfrm>
          <a:prstGeom prst="rect">
            <a:avLst/>
          </a:prstGeom>
          <a:noFill/>
        </p:spPr>
        <p:txBody>
          <a:bodyPr wrap="square" lIns="0" rIns="0" tIns="0" bIns="0" anchor="t">
            <a:spAutoFit/>
          </a:bodyPr>
          <a:lstStyle/>
          <a:p>
            <a:pPr algn="r">
              <a:spcAft>
                <a:spcPts val="600"/>
              </a:spcAft>
            </a:pPr>
            <a:r>
              <a:rPr sz="1250" b="1" i="0">
                <a:solidFill>
                  <a:srgbClr val="9E2A2B"/>
                </a:solidFill>
                <a:latin typeface="Calibri"/>
              </a:rPr>
              <a:t>0.0164</a:t>
            </a:r>
          </a:p>
        </p:txBody>
      </p:sp>
      <p:sp>
        <p:nvSpPr>
          <p:cNvPr id="23" name="TextBox 22"/>
          <p:cNvSpPr txBox="1"/>
          <p:nvPr/>
        </p:nvSpPr>
        <p:spPr>
          <a:xfrm>
            <a:off x="7973567" y="3127248"/>
            <a:ext cx="1737360" cy="384048"/>
          </a:xfrm>
          <a:prstGeom prst="rect">
            <a:avLst/>
          </a:prstGeom>
          <a:noFill/>
        </p:spPr>
        <p:txBody>
          <a:bodyPr wrap="square" lIns="0" rIns="0" tIns="0" bIns="0" anchor="t">
            <a:spAutoFit/>
          </a:bodyPr>
          <a:lstStyle/>
          <a:p>
            <a:pPr algn="r">
              <a:spcAft>
                <a:spcPts val="600"/>
              </a:spcAft>
            </a:pPr>
            <a:r>
              <a:rPr sz="1250" b="1" i="0">
                <a:solidFill>
                  <a:srgbClr val="9E2A2B"/>
                </a:solidFill>
                <a:latin typeface="Calibri"/>
              </a:rPr>
              <a:t>0.0029 to 0.0872</a:t>
            </a:r>
          </a:p>
        </p:txBody>
      </p:sp>
      <p:sp>
        <p:nvSpPr>
          <p:cNvPr id="24" name="Rounded Rectangle 23"/>
          <p:cNvSpPr/>
          <p:nvPr/>
        </p:nvSpPr>
        <p:spPr>
          <a:xfrm>
            <a:off x="566928" y="3593592"/>
            <a:ext cx="9509760" cy="51206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1247" y="3675888"/>
            <a:ext cx="3291840" cy="384048"/>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ALL</a:t>
            </a:r>
          </a:p>
        </p:txBody>
      </p:sp>
      <p:sp>
        <p:nvSpPr>
          <p:cNvPr id="26" name="TextBox 25"/>
          <p:cNvSpPr txBox="1"/>
          <p:nvPr/>
        </p:nvSpPr>
        <p:spPr>
          <a:xfrm>
            <a:off x="4224528" y="367588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600</a:t>
            </a:r>
          </a:p>
        </p:txBody>
      </p:sp>
      <p:sp>
        <p:nvSpPr>
          <p:cNvPr id="27" name="TextBox 26"/>
          <p:cNvSpPr txBox="1"/>
          <p:nvPr/>
        </p:nvSpPr>
        <p:spPr>
          <a:xfrm>
            <a:off x="6099048" y="367588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0.0717</a:t>
            </a:r>
          </a:p>
        </p:txBody>
      </p:sp>
      <p:sp>
        <p:nvSpPr>
          <p:cNvPr id="28" name="TextBox 27"/>
          <p:cNvSpPr txBox="1"/>
          <p:nvPr/>
        </p:nvSpPr>
        <p:spPr>
          <a:xfrm>
            <a:off x="7973567" y="367588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0.0536 to 0.0951</a:t>
            </a:r>
          </a:p>
        </p:txBody>
      </p:sp>
      <p:sp>
        <p:nvSpPr>
          <p:cNvPr id="29" name="Rounded Rectangle 28"/>
          <p:cNvSpPr/>
          <p:nvPr/>
        </p:nvSpPr>
        <p:spPr>
          <a:xfrm>
            <a:off x="566928" y="4142232"/>
            <a:ext cx="9509760" cy="51206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4224528"/>
            <a:ext cx="3291840" cy="384048"/>
          </a:xfrm>
          <a:prstGeom prst="rect">
            <a:avLst/>
          </a:prstGeom>
          <a:noFill/>
        </p:spPr>
        <p:txBody>
          <a:bodyPr wrap="square" lIns="0" rIns="0" tIns="0" bIns="0" anchor="t">
            <a:spAutoFit/>
          </a:bodyPr>
          <a:lstStyle/>
          <a:p>
            <a:pPr algn="l">
              <a:spcAft>
                <a:spcPts val="600"/>
              </a:spcAft>
            </a:pPr>
            <a:r>
              <a:rPr sz="1250" b="0" i="1">
                <a:solidFill>
                  <a:srgbClr val="1F3A5F"/>
                </a:solidFill>
                <a:latin typeface="Calibri"/>
              </a:rPr>
              <a:t>comparator: library chemistry</a:t>
            </a:r>
          </a:p>
        </p:txBody>
      </p:sp>
      <p:sp>
        <p:nvSpPr>
          <p:cNvPr id="31" name="TextBox 30"/>
          <p:cNvSpPr txBox="1"/>
          <p:nvPr/>
        </p:nvSpPr>
        <p:spPr>
          <a:xfrm>
            <a:off x="4224528" y="422452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1,000</a:t>
            </a:r>
          </a:p>
        </p:txBody>
      </p:sp>
      <p:sp>
        <p:nvSpPr>
          <p:cNvPr id="32" name="TextBox 31"/>
          <p:cNvSpPr txBox="1"/>
          <p:nvPr/>
        </p:nvSpPr>
        <p:spPr>
          <a:xfrm>
            <a:off x="6099048" y="4224528"/>
            <a:ext cx="1737360" cy="384048"/>
          </a:xfrm>
          <a:prstGeom prst="rect">
            <a:avLst/>
          </a:prstGeom>
          <a:noFill/>
        </p:spPr>
        <p:txBody>
          <a:bodyPr wrap="square" lIns="0" rIns="0" tIns="0" bIns="0" anchor="t">
            <a:spAutoFit/>
          </a:bodyPr>
          <a:lstStyle/>
          <a:p>
            <a:pPr algn="r">
              <a:spcAft>
                <a:spcPts val="600"/>
              </a:spcAft>
            </a:pPr>
            <a:r>
              <a:rPr sz="1250" b="1" i="0">
                <a:solidFill>
                  <a:srgbClr val="1F3A5F"/>
                </a:solidFill>
                <a:latin typeface="Calibri"/>
              </a:rPr>
              <a:t>0.0750</a:t>
            </a:r>
          </a:p>
        </p:txBody>
      </p:sp>
      <p:sp>
        <p:nvSpPr>
          <p:cNvPr id="33" name="TextBox 32"/>
          <p:cNvSpPr txBox="1"/>
          <p:nvPr/>
        </p:nvSpPr>
        <p:spPr>
          <a:xfrm>
            <a:off x="7973567" y="4224528"/>
            <a:ext cx="1737360" cy="384048"/>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0.0603 to 0.0930</a:t>
            </a:r>
          </a:p>
        </p:txBody>
      </p:sp>
      <p:sp>
        <p:nvSpPr>
          <p:cNvPr id="34" name="Rounded Rectangle 33"/>
          <p:cNvSpPr/>
          <p:nvPr/>
        </p:nvSpPr>
        <p:spPr>
          <a:xfrm>
            <a:off x="10277855" y="1645920"/>
            <a:ext cx="1346911" cy="19202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479024" y="1792224"/>
            <a:ext cx="944575" cy="420624"/>
          </a:xfrm>
          <a:prstGeom prst="rect">
            <a:avLst/>
          </a:prstGeom>
          <a:noFill/>
        </p:spPr>
        <p:txBody>
          <a:bodyPr wrap="square" lIns="0" rIns="0" tIns="0" bIns="0" anchor="t">
            <a:spAutoFit/>
          </a:bodyPr>
          <a:lstStyle/>
          <a:p>
            <a:pPr algn="l">
              <a:lnSpc>
                <a:spcPct val="110000"/>
              </a:lnSpc>
              <a:spcAft>
                <a:spcPts val="600"/>
              </a:spcAft>
            </a:pPr>
            <a:r>
              <a:rPr sz="1150" b="1" i="0">
                <a:solidFill>
                  <a:srgbClr val="5F6B7A"/>
                </a:solidFill>
                <a:latin typeface="Calibri"/>
              </a:rPr>
              <a:t>Fisher exact,
two-sided</a:t>
            </a:r>
          </a:p>
        </p:txBody>
      </p:sp>
      <p:sp>
        <p:nvSpPr>
          <p:cNvPr id="36" name="TextBox 35"/>
          <p:cNvSpPr txBox="1"/>
          <p:nvPr/>
        </p:nvSpPr>
        <p:spPr>
          <a:xfrm>
            <a:off x="10479024" y="2359152"/>
            <a:ext cx="868680" cy="274320"/>
          </a:xfrm>
          <a:prstGeom prst="rect">
            <a:avLst/>
          </a:prstGeom>
          <a:noFill/>
        </p:spPr>
        <p:txBody>
          <a:bodyPr wrap="square" lIns="0" rIns="0" tIns="0" bIns="0" anchor="t">
            <a:spAutoFit/>
          </a:bodyPr>
          <a:lstStyle/>
          <a:p>
            <a:pPr algn="l">
              <a:spcAft>
                <a:spcPts val="600"/>
              </a:spcAft>
            </a:pPr>
            <a:r>
              <a:rPr sz="1050" b="0" i="0">
                <a:solidFill>
                  <a:srgbClr val="0F1A2E"/>
                </a:solidFill>
                <a:latin typeface="Calibri"/>
              </a:rPr>
              <a:t>vs library</a:t>
            </a:r>
          </a:p>
        </p:txBody>
      </p:sp>
      <p:sp>
        <p:nvSpPr>
          <p:cNvPr id="37" name="TextBox 36"/>
          <p:cNvSpPr txBox="1"/>
          <p:nvPr/>
        </p:nvSpPr>
        <p:spPr>
          <a:xfrm>
            <a:off x="11356847" y="2359152"/>
            <a:ext cx="658368" cy="274320"/>
          </a:xfrm>
          <a:prstGeom prst="rect">
            <a:avLst/>
          </a:prstGeom>
          <a:noFill/>
        </p:spPr>
        <p:txBody>
          <a:bodyPr wrap="square" lIns="0" rIns="0" tIns="0" bIns="0" anchor="t">
            <a:spAutoFit/>
          </a:bodyPr>
          <a:lstStyle/>
          <a:p>
            <a:pPr algn="r">
              <a:spcAft>
                <a:spcPts val="600"/>
              </a:spcAft>
            </a:pPr>
            <a:r>
              <a:rPr sz="1050" b="0" i="0">
                <a:solidFill>
                  <a:srgbClr val="5F6B7A"/>
                </a:solidFill>
                <a:latin typeface="Calibri"/>
              </a:rPr>
              <a:t>0.119</a:t>
            </a:r>
          </a:p>
        </p:txBody>
      </p:sp>
      <p:sp>
        <p:nvSpPr>
          <p:cNvPr id="38" name="TextBox 37"/>
          <p:cNvSpPr txBox="1"/>
          <p:nvPr/>
        </p:nvSpPr>
        <p:spPr>
          <a:xfrm>
            <a:off x="10479024" y="2670048"/>
            <a:ext cx="868680" cy="274320"/>
          </a:xfrm>
          <a:prstGeom prst="rect">
            <a:avLst/>
          </a:prstGeom>
          <a:noFill/>
        </p:spPr>
        <p:txBody>
          <a:bodyPr wrap="square" lIns="0" rIns="0" tIns="0" bIns="0" anchor="t">
            <a:spAutoFit/>
          </a:bodyPr>
          <a:lstStyle/>
          <a:p>
            <a:pPr algn="l">
              <a:spcAft>
                <a:spcPts val="600"/>
              </a:spcAft>
            </a:pPr>
            <a:r>
              <a:rPr sz="1050" b="0" i="0">
                <a:solidFill>
                  <a:srgbClr val="0F1A2E"/>
                </a:solidFill>
                <a:latin typeface="Calibri"/>
              </a:rPr>
              <a:t>vs near</a:t>
            </a:r>
          </a:p>
        </p:txBody>
      </p:sp>
      <p:sp>
        <p:nvSpPr>
          <p:cNvPr id="39" name="TextBox 38"/>
          <p:cNvSpPr txBox="1"/>
          <p:nvPr/>
        </p:nvSpPr>
        <p:spPr>
          <a:xfrm>
            <a:off x="11356847" y="2670048"/>
            <a:ext cx="658368" cy="274320"/>
          </a:xfrm>
          <a:prstGeom prst="rect">
            <a:avLst/>
          </a:prstGeom>
          <a:noFill/>
        </p:spPr>
        <p:txBody>
          <a:bodyPr wrap="square" lIns="0" rIns="0" tIns="0" bIns="0" anchor="t">
            <a:spAutoFit/>
          </a:bodyPr>
          <a:lstStyle/>
          <a:p>
            <a:pPr algn="r">
              <a:spcAft>
                <a:spcPts val="600"/>
              </a:spcAft>
            </a:pPr>
            <a:r>
              <a:rPr sz="1050" b="0" i="0">
                <a:solidFill>
                  <a:srgbClr val="5F6B7A"/>
                </a:solidFill>
                <a:latin typeface="Calibri"/>
              </a:rPr>
              <a:t>0.161</a:t>
            </a:r>
          </a:p>
        </p:txBody>
      </p:sp>
      <p:sp>
        <p:nvSpPr>
          <p:cNvPr id="40" name="TextBox 39"/>
          <p:cNvSpPr txBox="1"/>
          <p:nvPr/>
        </p:nvSpPr>
        <p:spPr>
          <a:xfrm>
            <a:off x="10479024" y="2980944"/>
            <a:ext cx="868680" cy="274320"/>
          </a:xfrm>
          <a:prstGeom prst="rect">
            <a:avLst/>
          </a:prstGeom>
          <a:noFill/>
        </p:spPr>
        <p:txBody>
          <a:bodyPr wrap="square" lIns="0" rIns="0" tIns="0" bIns="0" anchor="t">
            <a:spAutoFit/>
          </a:bodyPr>
          <a:lstStyle/>
          <a:p>
            <a:pPr algn="l">
              <a:spcAft>
                <a:spcPts val="600"/>
              </a:spcAft>
            </a:pPr>
            <a:r>
              <a:rPr sz="1050" b="0" i="0">
                <a:solidFill>
                  <a:srgbClr val="0F1A2E"/>
                </a:solidFill>
                <a:latin typeface="Calibri"/>
              </a:rPr>
              <a:t>vs in domain</a:t>
            </a:r>
          </a:p>
        </p:txBody>
      </p:sp>
      <p:sp>
        <p:nvSpPr>
          <p:cNvPr id="41" name="TextBox 40"/>
          <p:cNvSpPr txBox="1"/>
          <p:nvPr/>
        </p:nvSpPr>
        <p:spPr>
          <a:xfrm>
            <a:off x="11356847" y="2980944"/>
            <a:ext cx="658368" cy="274320"/>
          </a:xfrm>
          <a:prstGeom prst="rect">
            <a:avLst/>
          </a:prstGeom>
          <a:noFill/>
        </p:spPr>
        <p:txBody>
          <a:bodyPr wrap="square" lIns="0" rIns="0" tIns="0" bIns="0" anchor="t">
            <a:spAutoFit/>
          </a:bodyPr>
          <a:lstStyle/>
          <a:p>
            <a:pPr algn="r">
              <a:spcAft>
                <a:spcPts val="600"/>
              </a:spcAft>
            </a:pPr>
            <a:r>
              <a:rPr sz="1050" b="1" i="0">
                <a:solidFill>
                  <a:srgbClr val="1C7293"/>
                </a:solidFill>
                <a:latin typeface="Calibri"/>
              </a:rPr>
              <a:t>0.023</a:t>
            </a:r>
          </a:p>
        </p:txBody>
      </p:sp>
      <p:sp>
        <p:nvSpPr>
          <p:cNvPr id="42" name="TextBox 41"/>
          <p:cNvSpPr txBox="1"/>
          <p:nvPr/>
        </p:nvSpPr>
        <p:spPr>
          <a:xfrm>
            <a:off x="10479024" y="3291839"/>
            <a:ext cx="868680" cy="274320"/>
          </a:xfrm>
          <a:prstGeom prst="rect">
            <a:avLst/>
          </a:prstGeom>
          <a:noFill/>
        </p:spPr>
        <p:txBody>
          <a:bodyPr wrap="square" lIns="0" rIns="0" tIns="0" bIns="0" anchor="t">
            <a:spAutoFit/>
          </a:bodyPr>
          <a:lstStyle/>
          <a:p>
            <a:pPr algn="l">
              <a:spcAft>
                <a:spcPts val="600"/>
              </a:spcAft>
            </a:pPr>
            <a:r>
              <a:rPr sz="1050" b="0" i="0">
                <a:solidFill>
                  <a:srgbClr val="0F1A2E"/>
                </a:solidFill>
                <a:latin typeface="Calibri"/>
              </a:rPr>
              <a:t>3-way χ²</a:t>
            </a:r>
          </a:p>
        </p:txBody>
      </p:sp>
      <p:sp>
        <p:nvSpPr>
          <p:cNvPr id="43" name="TextBox 42"/>
          <p:cNvSpPr txBox="1"/>
          <p:nvPr/>
        </p:nvSpPr>
        <p:spPr>
          <a:xfrm>
            <a:off x="11356847" y="3291839"/>
            <a:ext cx="658368" cy="274320"/>
          </a:xfrm>
          <a:prstGeom prst="rect">
            <a:avLst/>
          </a:prstGeom>
          <a:noFill/>
        </p:spPr>
        <p:txBody>
          <a:bodyPr wrap="square" lIns="0" rIns="0" tIns="0" bIns="0" anchor="t">
            <a:spAutoFit/>
          </a:bodyPr>
          <a:lstStyle/>
          <a:p>
            <a:pPr algn="r">
              <a:spcAft>
                <a:spcPts val="600"/>
              </a:spcAft>
            </a:pPr>
            <a:r>
              <a:rPr sz="1050" b="0" i="0">
                <a:solidFill>
                  <a:srgbClr val="5F6B7A"/>
                </a:solidFill>
                <a:latin typeface="Calibri"/>
              </a:rPr>
              <a:t>0.066</a:t>
            </a:r>
          </a:p>
        </p:txBody>
      </p:sp>
      <p:sp>
        <p:nvSpPr>
          <p:cNvPr id="44" name="TextBox 43"/>
          <p:cNvSpPr txBox="1"/>
          <p:nvPr/>
        </p:nvSpPr>
        <p:spPr>
          <a:xfrm>
            <a:off x="566928" y="4754880"/>
            <a:ext cx="11057839" cy="1051560"/>
          </a:xfrm>
          <a:prstGeom prst="rect">
            <a:avLst/>
          </a:prstGeom>
          <a:noFill/>
        </p:spPr>
        <p:txBody>
          <a:bodyPr wrap="square" lIns="0" rIns="0" tIns="0" bIns="0" anchor="t">
            <a:spAutoFit/>
          </a:bodyPr>
          <a:lstStyle/>
          <a:p>
            <a:pPr algn="l">
              <a:lnSpc>
                <a:spcPct val="128000"/>
              </a:lnSpc>
              <a:spcAft>
                <a:spcPts val="600"/>
              </a:spcAft>
            </a:pPr>
            <a:r>
              <a:rPr sz="1350" b="1" i="0">
                <a:solidFill>
                  <a:srgbClr val="9E2A2B"/>
                </a:solidFill>
                <a:latin typeface="Calibri"/>
              </a:rPr>
              <a:t>The distant stratum's 95 per cent interval contains the comparator it is being compared against. The verdict rule is a point-estimate comparison: SUPPORTED if the rate is at most 1.5 times the reference.</a:t>
            </a:r>
          </a:p>
        </p:txBody>
      </p:sp>
      <p:sp>
        <p:nvSpPr>
          <p:cNvPr id="45" name="TextBox 44"/>
          <p:cNvSpPr txBox="1"/>
          <p:nvPr/>
        </p:nvSpPr>
        <p:spPr>
          <a:xfrm>
            <a:off x="566928" y="5532120"/>
            <a:ext cx="11057839" cy="914400"/>
          </a:xfrm>
          <a:prstGeom prst="rect">
            <a:avLst/>
          </a:prstGeom>
          <a:noFill/>
        </p:spPr>
        <p:txBody>
          <a:bodyPr wrap="square" lIns="0" rIns="0" tIns="0" bIns="0" anchor="t">
            <a:spAutoFit/>
          </a:bodyPr>
          <a:lstStyle/>
          <a:p>
            <a:pPr algn="l">
              <a:lnSpc>
                <a:spcPct val="128000"/>
              </a:lnSpc>
              <a:spcAft>
                <a:spcPts val="600"/>
              </a:spcAft>
            </a:pPr>
            <a:r>
              <a:rPr sz="1300" b="0" i="0">
                <a:solidFill>
                  <a:srgbClr val="0F1A2E"/>
                </a:solidFill>
                <a:latin typeface="Calibri"/>
              </a:rPr>
              <a:t>The defensible claim is the narrower one, and it is still worth having. Specificity does not degrade outside the training neighbourhood, which is exactly what the null predicted it would do. That it improves is not established on 61 compounds.</a:t>
            </a:r>
          </a:p>
        </p:txBody>
      </p:sp>
      <p:sp>
        <p:nvSpPr>
          <p:cNvPr id="46" name="TextBox 45"/>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inversion/results/H4_distant_specificity.csv; results/tables/noncns_specificity_summary.csv; Fisher tests computed for this chapter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H5 beats a null the evaluation set caps near 0.09</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Read-across is measured in its deployment regime, and only there</a:t>
            </a:r>
          </a:p>
        </p:txBody>
      </p:sp>
      <p:sp>
        <p:nvSpPr>
          <p:cNvPr id="5" name="TextBox 4"/>
          <p:cNvSpPr txBox="1"/>
          <p:nvPr/>
        </p:nvSpPr>
        <p:spPr>
          <a:xfrm>
            <a:off x="566928" y="1645920"/>
            <a:ext cx="2743200" cy="603504"/>
          </a:xfrm>
          <a:prstGeom prst="rect">
            <a:avLst/>
          </a:prstGeom>
          <a:noFill/>
        </p:spPr>
        <p:txBody>
          <a:bodyPr wrap="square" lIns="0" rIns="0" tIns="0" bIns="0" anchor="t">
            <a:spAutoFit/>
          </a:bodyPr>
          <a:lstStyle/>
          <a:p>
            <a:pPr algn="l">
              <a:spcAft>
                <a:spcPts val="600"/>
              </a:spcAft>
            </a:pPr>
            <a:r>
              <a:rPr sz="3618" b="1" i="0">
                <a:solidFill>
                  <a:srgbClr val="1C7293"/>
                </a:solidFill>
                <a:latin typeface="Cambria"/>
              </a:rPr>
              <a:t>0.9726</a:t>
            </a:r>
          </a:p>
        </p:txBody>
      </p:sp>
      <p:sp>
        <p:nvSpPr>
          <p:cNvPr id="6" name="TextBox 5"/>
          <p:cNvSpPr txBox="1"/>
          <p:nvPr/>
        </p:nvSpPr>
        <p:spPr>
          <a:xfrm>
            <a:off x="566928" y="2286000"/>
            <a:ext cx="27432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read-across recall, top-3 of five weighted neighbours</a:t>
            </a:r>
          </a:p>
        </p:txBody>
      </p:sp>
      <p:sp>
        <p:nvSpPr>
          <p:cNvPr id="7" name="TextBox 6"/>
          <p:cNvSpPr txBox="1"/>
          <p:nvPr/>
        </p:nvSpPr>
        <p:spPr>
          <a:xfrm>
            <a:off x="3630168" y="1645920"/>
            <a:ext cx="2743200" cy="603504"/>
          </a:xfrm>
          <a:prstGeom prst="rect">
            <a:avLst/>
          </a:prstGeom>
          <a:noFill/>
        </p:spPr>
        <p:txBody>
          <a:bodyPr wrap="square" lIns="0" rIns="0" tIns="0" bIns="0" anchor="t">
            <a:spAutoFit/>
          </a:bodyPr>
          <a:lstStyle/>
          <a:p>
            <a:pPr algn="l">
              <a:spcAft>
                <a:spcPts val="600"/>
              </a:spcAft>
            </a:pPr>
            <a:r>
              <a:rPr sz="3618" b="1" i="0">
                <a:solidFill>
                  <a:srgbClr val="5F6B7A"/>
                </a:solidFill>
                <a:latin typeface="Cambria"/>
              </a:rPr>
              <a:t>0.0587</a:t>
            </a:r>
          </a:p>
        </p:txBody>
      </p:sp>
      <p:sp>
        <p:nvSpPr>
          <p:cNvPr id="8" name="TextBox 7"/>
          <p:cNvSpPr txBox="1"/>
          <p:nvPr/>
        </p:nvSpPr>
        <p:spPr>
          <a:xfrm>
            <a:off x="3630168" y="2286000"/>
            <a:ext cx="27432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frequency baseline: always answer with the three commonest index targets</a:t>
            </a:r>
          </a:p>
        </p:txBody>
      </p:sp>
      <p:sp>
        <p:nvSpPr>
          <p:cNvPr id="9" name="TextBox 8"/>
          <p:cNvSpPr txBox="1"/>
          <p:nvPr/>
        </p:nvSpPr>
        <p:spPr>
          <a:xfrm>
            <a:off x="6693408" y="1645920"/>
            <a:ext cx="2743200" cy="603504"/>
          </a:xfrm>
          <a:prstGeom prst="rect">
            <a:avLst/>
          </a:prstGeom>
          <a:noFill/>
        </p:spPr>
        <p:txBody>
          <a:bodyPr wrap="square" lIns="0" rIns="0" tIns="0" bIns="0" anchor="t">
            <a:spAutoFit/>
          </a:bodyPr>
          <a:lstStyle/>
          <a:p>
            <a:pPr algn="l">
              <a:spcAft>
                <a:spcPts val="600"/>
              </a:spcAft>
            </a:pPr>
            <a:r>
              <a:rPr sz="4000" b="1" i="0">
                <a:solidFill>
                  <a:srgbClr val="1F3A5F"/>
                </a:solidFill>
                <a:latin typeface="Cambria"/>
              </a:rPr>
              <a:t>4,092</a:t>
            </a:r>
          </a:p>
        </p:txBody>
      </p:sp>
      <p:sp>
        <p:nvSpPr>
          <p:cNvPr id="10" name="TextBox 9"/>
          <p:cNvSpPr txBox="1"/>
          <p:nvPr/>
        </p:nvSpPr>
        <p:spPr>
          <a:xfrm>
            <a:off x="6693408" y="2286000"/>
            <a:ext cx="27432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held-out compounds across 41 targets</a:t>
            </a:r>
          </a:p>
        </p:txBody>
      </p:sp>
      <p:sp>
        <p:nvSpPr>
          <p:cNvPr id="11" name="TextBox 10"/>
          <p:cNvSpPr txBox="1"/>
          <p:nvPr/>
        </p:nvSpPr>
        <p:spPr>
          <a:xfrm>
            <a:off x="9756648" y="1645920"/>
            <a:ext cx="1828800" cy="603504"/>
          </a:xfrm>
          <a:prstGeom prst="rect">
            <a:avLst/>
          </a:prstGeom>
          <a:noFill/>
        </p:spPr>
        <p:txBody>
          <a:bodyPr wrap="square" lIns="0" rIns="0" tIns="0" bIns="0" anchor="t">
            <a:spAutoFit/>
          </a:bodyPr>
          <a:lstStyle/>
          <a:p>
            <a:pPr algn="l">
              <a:spcAft>
                <a:spcPts val="600"/>
              </a:spcAft>
            </a:pPr>
            <a:r>
              <a:rPr sz="4000" b="1" i="0">
                <a:solidFill>
                  <a:srgbClr val="D98324"/>
                </a:solidFill>
                <a:latin typeface="Cambria"/>
              </a:rPr>
              <a:t>0.088</a:t>
            </a:r>
          </a:p>
        </p:txBody>
      </p:sp>
      <p:sp>
        <p:nvSpPr>
          <p:cNvPr id="12" name="TextBox 11"/>
          <p:cNvSpPr txBox="1"/>
          <p:nvPr/>
        </p:nvSpPr>
        <p:spPr>
          <a:xfrm>
            <a:off x="9756648" y="2286000"/>
            <a:ext cx="18288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ceiling the null cannot exceed</a:t>
            </a:r>
          </a:p>
        </p:txBody>
      </p:sp>
      <p:sp>
        <p:nvSpPr>
          <p:cNvPr id="13" name="Rounded Rectangle 12"/>
          <p:cNvSpPr/>
          <p:nvPr/>
        </p:nvSpPr>
        <p:spPr>
          <a:xfrm>
            <a:off x="566928" y="3246120"/>
            <a:ext cx="11057839" cy="13258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9536" y="3429000"/>
            <a:ext cx="10472623" cy="1051560"/>
          </a:xfrm>
          <a:prstGeom prst="rect">
            <a:avLst/>
          </a:prstGeom>
          <a:noFill/>
        </p:spPr>
        <p:txBody>
          <a:bodyPr wrap="square" lIns="0" rIns="0" tIns="0" bIns="0" anchor="t">
            <a:spAutoFit/>
          </a:bodyPr>
          <a:lstStyle/>
          <a:p>
            <a:pPr algn="l">
              <a:lnSpc>
                <a:spcPct val="128000"/>
              </a:lnSpc>
              <a:spcAft>
                <a:spcPts val="600"/>
              </a:spcAft>
            </a:pPr>
            <a:r>
              <a:rPr sz="1300" b="0" i="0">
                <a:solidFill>
                  <a:srgbClr val="0F1A2E"/>
                </a:solidFill>
                <a:latin typeface="Calibri"/>
              </a:rPr>
              <a:t>The set caps each target at 120 compounds, so with 41 targets contributing 4,092 compounds between them, any constant answer naming three targets can be right at most about 360 times. The measured 0.0587 is exactly 240 of 4,092: two targets, D2 and A2A, each contributing its full block, and nothing else contributing at all. Beating a null with a ceiling near 0.09 by 0.91 is not evidence of quality.</a:t>
            </a:r>
          </a:p>
        </p:txBody>
      </p:sp>
      <p:sp>
        <p:nvSpPr>
          <p:cNvPr id="15" name="Rounded Rectangle 14"/>
          <p:cNvSpPr/>
          <p:nvPr/>
        </p:nvSpPr>
        <p:spPr>
          <a:xfrm>
            <a:off x="566928" y="4626864"/>
            <a:ext cx="11057839" cy="1188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59536" y="4791456"/>
            <a:ext cx="10472623" cy="932688"/>
          </a:xfrm>
          <a:prstGeom prst="rect">
            <a:avLst/>
          </a:prstGeom>
          <a:noFill/>
        </p:spPr>
        <p:txBody>
          <a:bodyPr wrap="square" lIns="0" rIns="0" tIns="0" bIns="0" anchor="t">
            <a:spAutoFit/>
          </a:bodyPr>
          <a:lstStyle/>
          <a:p>
            <a:pPr algn="l">
              <a:lnSpc>
                <a:spcPct val="128000"/>
              </a:lnSpc>
              <a:spcAft>
                <a:spcPts val="600"/>
              </a:spcAft>
            </a:pPr>
            <a:r>
              <a:rPr sz="1300" b="0" i="0">
                <a:solidFill>
                  <a:srgbClr val="9E2A2B"/>
                </a:solidFill>
                <a:latin typeface="Calibri"/>
              </a:rPr>
              <a:t>And the index is not filtered by scaffold. The query and anything at Tanimoto 0.999 or above are excluded, and nothing else, so a held-out compound's own scaffold siblings are among the neighbours answering for it. The compounds are held out from the models, not from the index.</a:t>
            </a:r>
          </a:p>
        </p:txBody>
      </p:sp>
      <p:sp>
        <p:nvSpPr>
          <p:cNvPr id="17" name="TextBox 16"/>
          <p:cNvSpPr txBox="1"/>
          <p:nvPr/>
        </p:nvSpPr>
        <p:spPr>
          <a:xfrm>
            <a:off x="566928" y="5888736"/>
            <a:ext cx="11057839" cy="420624"/>
          </a:xfrm>
          <a:prstGeom prst="rect">
            <a:avLst/>
          </a:prstGeom>
          <a:noFill/>
        </p:spPr>
        <p:txBody>
          <a:bodyPr wrap="square" lIns="0" rIns="0" tIns="0" bIns="0" anchor="t">
            <a:spAutoFit/>
          </a:bodyPr>
          <a:lstStyle/>
          <a:p>
            <a:pPr algn="l">
              <a:spcAft>
                <a:spcPts val="600"/>
              </a:spcAft>
            </a:pPr>
            <a:r>
              <a:rPr sz="1300" b="0" i="1">
                <a:solidFill>
                  <a:srgbClr val="1F3A5F"/>
                </a:solidFill>
                <a:latin typeface="Calibri"/>
              </a:rPr>
              <a:t>So 0.9726 is the right number for the regime the server runs in, and says nothing about a novel scaffold or an unrepresented target class.</a:t>
            </a:r>
          </a:p>
        </p:txBody>
      </p:sp>
      <p:sp>
        <p:nvSpPr>
          <p:cNvPr id="18" name="TextBox 17"/>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inversion/results/H5_readacross_value.csv, H5_readacross_per_target.csv; inversion/inv_readacross_value.py:76-79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claim the suite never made, now measured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technical report's label-permutation null was hard-coded in a prose block</a:t>
            </a:r>
          </a:p>
        </p:txBody>
      </p:sp>
      <p:graphicFrame>
        <p:nvGraphicFramePr>
          <p:cNvPr id="5" name="Chart 4"/>
          <p:cNvGraphicFramePr>
            <a:graphicFrameLocks noGrp="1"/>
          </p:cNvGraphicFramePr>
          <p:nvPr/>
        </p:nvGraphicFramePr>
        <p:xfrm>
          <a:off x="566928" y="1645920"/>
          <a:ext cx="6903720" cy="3246120"/>
        </p:xfrm>
        <a:graphic>
          <a:graphicData uri="http://schemas.openxmlformats.org/drawingml/2006/chart">
            <c:chart xmlns:c="http://schemas.openxmlformats.org/drawingml/2006/chart" r:id="rId2"/>
          </a:graphicData>
        </a:graphic>
      </p:graphicFrame>
      <p:sp>
        <p:nvSpPr>
          <p:cNvPr id="6" name="TextBox 5"/>
          <p:cNvSpPr txBox="1"/>
          <p:nvPr/>
        </p:nvSpPr>
        <p:spPr>
          <a:xfrm>
            <a:off x="7927848" y="1645920"/>
            <a:ext cx="1828800" cy="603504"/>
          </a:xfrm>
          <a:prstGeom prst="rect">
            <a:avLst/>
          </a:prstGeom>
          <a:noFill/>
        </p:spPr>
        <p:txBody>
          <a:bodyPr wrap="square" lIns="0" rIns="0" tIns="0" bIns="0" anchor="t">
            <a:spAutoFit/>
          </a:bodyPr>
          <a:lstStyle/>
          <a:p>
            <a:pPr algn="l">
              <a:spcAft>
                <a:spcPts val="600"/>
              </a:spcAft>
            </a:pPr>
            <a:r>
              <a:rPr sz="3618" b="1" i="0">
                <a:solidFill>
                  <a:srgbClr val="1F3A5F"/>
                </a:solidFill>
                <a:latin typeface="Cambria"/>
              </a:rPr>
              <a:t>0.4959</a:t>
            </a:r>
          </a:p>
        </p:txBody>
      </p:sp>
      <p:sp>
        <p:nvSpPr>
          <p:cNvPr id="7" name="TextBox 6"/>
          <p:cNvSpPr txBox="1"/>
          <p:nvPr/>
        </p:nvSpPr>
        <p:spPr>
          <a:xfrm>
            <a:off x="7927848" y="2286000"/>
            <a:ext cx="18288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mean under permuted labels, random split</a:t>
            </a:r>
          </a:p>
        </p:txBody>
      </p:sp>
      <p:sp>
        <p:nvSpPr>
          <p:cNvPr id="8" name="TextBox 7"/>
          <p:cNvSpPr txBox="1"/>
          <p:nvPr/>
        </p:nvSpPr>
        <p:spPr>
          <a:xfrm>
            <a:off x="10030967" y="1645920"/>
            <a:ext cx="1828800" cy="603504"/>
          </a:xfrm>
          <a:prstGeom prst="rect">
            <a:avLst/>
          </a:prstGeom>
          <a:noFill/>
        </p:spPr>
        <p:txBody>
          <a:bodyPr wrap="square" lIns="0" rIns="0" tIns="0" bIns="0" anchor="t">
            <a:spAutoFit/>
          </a:bodyPr>
          <a:lstStyle/>
          <a:p>
            <a:pPr algn="l">
              <a:spcAft>
                <a:spcPts val="600"/>
              </a:spcAft>
            </a:pPr>
            <a:r>
              <a:rPr sz="3618" b="1" i="0">
                <a:solidFill>
                  <a:srgbClr val="1C7293"/>
                </a:solidFill>
                <a:latin typeface="Cambria"/>
              </a:rPr>
              <a:t>0.5026</a:t>
            </a:r>
          </a:p>
        </p:txBody>
      </p:sp>
      <p:sp>
        <p:nvSpPr>
          <p:cNvPr id="9" name="TextBox 8"/>
          <p:cNvSpPr txBox="1"/>
          <p:nvPr/>
        </p:nvSpPr>
        <p:spPr>
          <a:xfrm>
            <a:off x="10030967" y="2286000"/>
            <a:ext cx="18288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mean under permuted labels, scaffold split</a:t>
            </a:r>
          </a:p>
        </p:txBody>
      </p:sp>
      <p:sp>
        <p:nvSpPr>
          <p:cNvPr id="10" name="Rounded Rectangle 9"/>
          <p:cNvSpPr/>
          <p:nvPr/>
        </p:nvSpPr>
        <p:spPr>
          <a:xfrm>
            <a:off x="7927848" y="3127248"/>
            <a:ext cx="3696919" cy="17830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183879" y="3310128"/>
            <a:ext cx="3184855" cy="146304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All sixteen values sit within 0.020 of chance, over ranges of 0.4868 to 0.5200 and 0.4830 to 0.5199. Per-fold standard deviations run 0.0197 to 0.0457, so one permutation per endpoint carries about ±0.02 of noise and the panel mean is the reliable statistic.</a:t>
            </a:r>
          </a:p>
        </p:txBody>
      </p:sp>
      <p:sp>
        <p:nvSpPr>
          <p:cNvPr id="12" name="TextBox 11"/>
          <p:cNvSpPr txBox="1"/>
          <p:nvPr/>
        </p:nvSpPr>
        <p:spPr>
          <a:xfrm>
            <a:off x="566928" y="5120640"/>
            <a:ext cx="11057839" cy="50292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Margin over each endpoint's own null: 0.4092 to 0.4887 on the random split, and 0.3860 to 0.4818 on the scaffold split, against a largest departure from chance of 0.0200 in the null itself, a factor of 19.</a:t>
            </a:r>
          </a:p>
        </p:txBody>
      </p:sp>
      <p:sp>
        <p:nvSpPr>
          <p:cNvPr id="13" name="TextBox 12"/>
          <p:cNvSpPr txBox="1"/>
          <p:nvPr/>
        </p:nvSpPr>
        <p:spPr>
          <a:xfrm>
            <a:off x="566928" y="5742432"/>
            <a:ext cx="11057839" cy="548640"/>
          </a:xfrm>
          <a:prstGeom prst="rect">
            <a:avLst/>
          </a:prstGeom>
          <a:noFill/>
        </p:spPr>
        <p:txBody>
          <a:bodyPr wrap="square" lIns="0" rIns="0" tIns="0" bIns="0" anchor="t">
            <a:spAutoFit/>
          </a:bodyPr>
          <a:lstStyle/>
          <a:p>
            <a:pPr algn="l">
              <a:lnSpc>
                <a:spcPct val="126000"/>
              </a:lnSpc>
              <a:spcAft>
                <a:spcPts val="600"/>
              </a:spcAft>
            </a:pPr>
            <a:r>
              <a:rPr sz="1300" b="1" i="0">
                <a:solidFill>
                  <a:srgbClr val="1C7293"/>
                </a:solidFill>
                <a:latin typeface="Calibri"/>
              </a:rPr>
              <a:t>Scaffold grouping alone confers nothing: paired by endpoint the scaffold null exceeds the random null by a mean of 0.0067, Wilcoxon p = 0.25, and the sign is negative for three of eight. That is the specific leakage route this test exists to close.</a:t>
            </a:r>
          </a:p>
        </p:txBody>
      </p:sp>
      <p:sp>
        <p:nvSpPr>
          <p:cNvPr id="14" name="TextBox 13"/>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results/tables/permutation_null.csv, built for this chapter by src/brainsafe/evaluation/permutation_null.py, which imports train_rf so the folds are identical by construction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8</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Where the suite is weaker than it reads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Six defects found while writing this chapter. None changes a verdict</a:t>
            </a:r>
          </a:p>
        </p:txBody>
      </p:sp>
      <p:sp>
        <p:nvSpPr>
          <p:cNvPr id="5" name="Oval 4"/>
          <p:cNvSpPr/>
          <p:nvPr/>
        </p:nvSpPr>
        <p:spPr>
          <a:xfrm>
            <a:off x="566928" y="1591056"/>
            <a:ext cx="329184" cy="329184"/>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6" name="TextBox 5"/>
          <p:cNvSpPr txBox="1"/>
          <p:nvPr/>
        </p:nvSpPr>
        <p:spPr>
          <a:xfrm>
            <a:off x="1097280" y="1554480"/>
            <a:ext cx="3977639" cy="777240"/>
          </a:xfrm>
          <a:prstGeom prst="rect">
            <a:avLst/>
          </a:prstGeom>
          <a:noFill/>
        </p:spPr>
        <p:txBody>
          <a:bodyPr wrap="square" lIns="0" rIns="0" tIns="0" bIns="0" anchor="t">
            <a:spAutoFit/>
          </a:bodyPr>
          <a:lstStyle/>
          <a:p>
            <a:pPr algn="l">
              <a:lnSpc>
                <a:spcPct val="114000"/>
              </a:lnSpc>
              <a:spcAft>
                <a:spcPts val="600"/>
              </a:spcAft>
            </a:pPr>
            <a:r>
              <a:rPr sz="1300" b="1" i="0">
                <a:solidFill>
                  <a:srgbClr val="9E2A2B"/>
                </a:solidFill>
                <a:latin typeface="Calibri"/>
              </a:rPr>
              <a:t>One hypothesis has two verdict rules that disagree</a:t>
            </a:r>
          </a:p>
        </p:txBody>
      </p:sp>
      <p:sp>
        <p:nvSpPr>
          <p:cNvPr id="7" name="TextBox 6"/>
          <p:cNvSpPr txBox="1"/>
          <p:nvPr/>
        </p:nvSpPr>
        <p:spPr>
          <a:xfrm>
            <a:off x="5321808" y="1536192"/>
            <a:ext cx="6211519" cy="731520"/>
          </a:xfrm>
          <a:prstGeom prst="rect">
            <a:avLst/>
          </a:prstGeom>
          <a:noFill/>
        </p:spPr>
        <p:txBody>
          <a:bodyPr wrap="square" lIns="0" rIns="0" tIns="0" bIns="0" anchor="t">
            <a:spAutoFit/>
          </a:bodyPr>
          <a:lstStyle/>
          <a:p>
            <a:pPr algn="l">
              <a:lnSpc>
                <a:spcPct val="118000"/>
              </a:lnSpc>
              <a:spcAft>
                <a:spcPts val="600"/>
              </a:spcAft>
            </a:pPr>
            <a:r>
              <a:rPr sz="1150" b="0" i="0">
                <a:solidFill>
                  <a:srgbClr val="0F1A2E"/>
                </a:solidFill>
                <a:latin typeface="Calibri"/>
              </a:rPr>
              <a:t>The test script prints WEAKENED for H2; summarise.py publishes REFUTED. The harsher is published, which is the right direction, but a verdict should not depend on which copy of a rule you run.</a:t>
            </a:r>
          </a:p>
        </p:txBody>
      </p:sp>
      <p:sp>
        <p:nvSpPr>
          <p:cNvPr id="8" name="Oval 7"/>
          <p:cNvSpPr/>
          <p:nvPr/>
        </p:nvSpPr>
        <p:spPr>
          <a:xfrm>
            <a:off x="566928" y="2377440"/>
            <a:ext cx="329184" cy="329184"/>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9" name="TextBox 8"/>
          <p:cNvSpPr txBox="1"/>
          <p:nvPr/>
        </p:nvSpPr>
        <p:spPr>
          <a:xfrm>
            <a:off x="1097280" y="2340864"/>
            <a:ext cx="3977639" cy="777240"/>
          </a:xfrm>
          <a:prstGeom prst="rect">
            <a:avLst/>
          </a:prstGeom>
          <a:noFill/>
        </p:spPr>
        <p:txBody>
          <a:bodyPr wrap="square" lIns="0" rIns="0" tIns="0" bIns="0" anchor="t">
            <a:spAutoFit/>
          </a:bodyPr>
          <a:lstStyle/>
          <a:p>
            <a:pPr algn="l">
              <a:lnSpc>
                <a:spcPct val="114000"/>
              </a:lnSpc>
              <a:spcAft>
                <a:spcPts val="600"/>
              </a:spcAft>
            </a:pPr>
            <a:r>
              <a:rPr sz="1300" b="1" i="0">
                <a:solidFill>
                  <a:srgbClr val="9E2A2B"/>
                </a:solidFill>
                <a:latin typeface="Calibri"/>
              </a:rPr>
              <a:t>No test pins any verdict</a:t>
            </a:r>
          </a:p>
        </p:txBody>
      </p:sp>
      <p:sp>
        <p:nvSpPr>
          <p:cNvPr id="10" name="TextBox 9"/>
          <p:cNvSpPr txBox="1"/>
          <p:nvPr/>
        </p:nvSpPr>
        <p:spPr>
          <a:xfrm>
            <a:off x="5321808" y="2322576"/>
            <a:ext cx="6211519" cy="731520"/>
          </a:xfrm>
          <a:prstGeom prst="rect">
            <a:avLst/>
          </a:prstGeom>
          <a:noFill/>
        </p:spPr>
        <p:txBody>
          <a:bodyPr wrap="square" lIns="0" rIns="0" tIns="0" bIns="0" anchor="t">
            <a:spAutoFit/>
          </a:bodyPr>
          <a:lstStyle/>
          <a:p>
            <a:pPr algn="l">
              <a:lnSpc>
                <a:spcPct val="118000"/>
              </a:lnSpc>
              <a:spcAft>
                <a:spcPts val="600"/>
              </a:spcAft>
            </a:pPr>
            <a:r>
              <a:rPr sz="1150" b="0" i="0">
                <a:solidFill>
                  <a:srgbClr val="0F1A2E"/>
                </a:solidFill>
                <a:latin typeface="Calibri"/>
              </a:rPr>
              <a:t>The five test files contain no reference to inversion/. A rerun that flipped a verdict would be caught only by a person reading the report.</a:t>
            </a:r>
          </a:p>
        </p:txBody>
      </p:sp>
      <p:sp>
        <p:nvSpPr>
          <p:cNvPr id="11" name="Oval 10"/>
          <p:cNvSpPr/>
          <p:nvPr/>
        </p:nvSpPr>
        <p:spPr>
          <a:xfrm>
            <a:off x="566928" y="3163824"/>
            <a:ext cx="329184" cy="329184"/>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2" name="TextBox 11"/>
          <p:cNvSpPr txBox="1"/>
          <p:nvPr/>
        </p:nvSpPr>
        <p:spPr>
          <a:xfrm>
            <a:off x="1097280" y="3127248"/>
            <a:ext cx="3977639" cy="777240"/>
          </a:xfrm>
          <a:prstGeom prst="rect">
            <a:avLst/>
          </a:prstGeom>
          <a:noFill/>
        </p:spPr>
        <p:txBody>
          <a:bodyPr wrap="square" lIns="0" rIns="0" tIns="0" bIns="0" anchor="t">
            <a:spAutoFit/>
          </a:bodyPr>
          <a:lstStyle/>
          <a:p>
            <a:pPr algn="l">
              <a:lnSpc>
                <a:spcPct val="114000"/>
              </a:lnSpc>
              <a:spcAft>
                <a:spcPts val="600"/>
              </a:spcAft>
            </a:pPr>
            <a:r>
              <a:rPr sz="1300" b="1" i="0">
                <a:solidFill>
                  <a:srgbClr val="D98324"/>
                </a:solidFill>
                <a:latin typeface="Calibri"/>
              </a:rPr>
              <a:t>app.py quotes a withdrawn version of H2</a:t>
            </a:r>
          </a:p>
        </p:txBody>
      </p:sp>
      <p:sp>
        <p:nvSpPr>
          <p:cNvPr id="13" name="TextBox 12"/>
          <p:cNvSpPr txBox="1"/>
          <p:nvPr/>
        </p:nvSpPr>
        <p:spPr>
          <a:xfrm>
            <a:off x="5321808" y="3108960"/>
            <a:ext cx="6211519" cy="731520"/>
          </a:xfrm>
          <a:prstGeom prst="rect">
            <a:avLst/>
          </a:prstGeom>
          <a:noFill/>
        </p:spPr>
        <p:txBody>
          <a:bodyPr wrap="square" lIns="0" rIns="0" tIns="0" bIns="0" anchor="t">
            <a:spAutoFit/>
          </a:bodyPr>
          <a:lstStyle/>
          <a:p>
            <a:pPr algn="l">
              <a:lnSpc>
                <a:spcPct val="118000"/>
              </a:lnSpc>
              <a:spcAft>
                <a:spcPts val="600"/>
              </a:spcAft>
            </a:pPr>
            <a:r>
              <a:rPr sz="1150" b="0" i="0">
                <a:solidFill>
                  <a:srgbClr val="0F1A2E"/>
                </a:solidFill>
                <a:latin typeface="Calibri"/>
              </a:rPr>
              <a:t>0.7917 / 0.7911 / 0.7899 over 15,609 compounds, where the artefact says 0.7901 / 0.7897 / 0.7874 over 7,008. The population never matched. Audit item BS-M-04, closed in the manuscript, not in the source.</a:t>
            </a:r>
          </a:p>
        </p:txBody>
      </p:sp>
      <p:sp>
        <p:nvSpPr>
          <p:cNvPr id="14" name="Oval 13"/>
          <p:cNvSpPr/>
          <p:nvPr/>
        </p:nvSpPr>
        <p:spPr>
          <a:xfrm>
            <a:off x="566928" y="3950208"/>
            <a:ext cx="329184" cy="329184"/>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5" name="TextBox 14"/>
          <p:cNvSpPr txBox="1"/>
          <p:nvPr/>
        </p:nvSpPr>
        <p:spPr>
          <a:xfrm>
            <a:off x="1097280" y="3913632"/>
            <a:ext cx="3977639" cy="777240"/>
          </a:xfrm>
          <a:prstGeom prst="rect">
            <a:avLst/>
          </a:prstGeom>
          <a:noFill/>
        </p:spPr>
        <p:txBody>
          <a:bodyPr wrap="square" lIns="0" rIns="0" tIns="0" bIns="0" anchor="t">
            <a:spAutoFit/>
          </a:bodyPr>
          <a:lstStyle/>
          <a:p>
            <a:pPr algn="l">
              <a:lnSpc>
                <a:spcPct val="114000"/>
              </a:lnSpc>
              <a:spcAft>
                <a:spcPts val="600"/>
              </a:spcAft>
            </a:pPr>
            <a:r>
              <a:rPr sz="1300" b="1" i="0">
                <a:solidFill>
                  <a:srgbClr val="9E2A2B"/>
                </a:solidFill>
                <a:latin typeface="Calibri"/>
              </a:rPr>
              <a:t>The interface shows co-firing figures that have drifted</a:t>
            </a:r>
          </a:p>
        </p:txBody>
      </p:sp>
      <p:sp>
        <p:nvSpPr>
          <p:cNvPr id="16" name="TextBox 15"/>
          <p:cNvSpPr txBox="1"/>
          <p:nvPr/>
        </p:nvSpPr>
        <p:spPr>
          <a:xfrm>
            <a:off x="5321808" y="3895344"/>
            <a:ext cx="6211519" cy="731520"/>
          </a:xfrm>
          <a:prstGeom prst="rect">
            <a:avLst/>
          </a:prstGeom>
          <a:noFill/>
        </p:spPr>
        <p:txBody>
          <a:bodyPr wrap="square" lIns="0" rIns="0" tIns="0" bIns="0" anchor="t">
            <a:spAutoFit/>
          </a:bodyPr>
          <a:lstStyle/>
          <a:p>
            <a:pPr algn="l">
              <a:lnSpc>
                <a:spcPct val="118000"/>
              </a:lnSpc>
              <a:spcAft>
                <a:spcPts val="600"/>
              </a:spcAft>
            </a:pPr>
            <a:r>
              <a:rPr sz="1150" b="0" i="0">
                <a:solidFill>
                  <a:srgbClr val="0F1A2E"/>
                </a:solidFill>
                <a:latin typeface="Calibri"/>
              </a:rPr>
              <a:t>Five of five correlations and three of four conditional probabilities disagree with the artefact, and the monoamine entry names the wrong pair as its family's strongest. These are rendered on a result page.</a:t>
            </a:r>
          </a:p>
        </p:txBody>
      </p:sp>
      <p:sp>
        <p:nvSpPr>
          <p:cNvPr id="17" name="Oval 16"/>
          <p:cNvSpPr/>
          <p:nvPr/>
        </p:nvSpPr>
        <p:spPr>
          <a:xfrm>
            <a:off x="566928" y="4736592"/>
            <a:ext cx="329184" cy="329184"/>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8" name="TextBox 17"/>
          <p:cNvSpPr txBox="1"/>
          <p:nvPr/>
        </p:nvSpPr>
        <p:spPr>
          <a:xfrm>
            <a:off x="1097280" y="4700016"/>
            <a:ext cx="3977639" cy="777240"/>
          </a:xfrm>
          <a:prstGeom prst="rect">
            <a:avLst/>
          </a:prstGeom>
          <a:noFill/>
        </p:spPr>
        <p:txBody>
          <a:bodyPr wrap="square" lIns="0" rIns="0" tIns="0" bIns="0" anchor="t">
            <a:spAutoFit/>
          </a:bodyPr>
          <a:lstStyle/>
          <a:p>
            <a:pPr algn="l">
              <a:lnSpc>
                <a:spcPct val="114000"/>
              </a:lnSpc>
              <a:spcAft>
                <a:spcPts val="600"/>
              </a:spcAft>
            </a:pPr>
            <a:r>
              <a:rPr sz="1300" b="1" i="0">
                <a:solidFill>
                  <a:srgbClr val="D98324"/>
                </a:solidFill>
                <a:latin typeface="Calibri"/>
              </a:rPr>
              <a:t>background_specificity.csv holds output from a script since fixed</a:t>
            </a:r>
          </a:p>
        </p:txBody>
      </p:sp>
      <p:sp>
        <p:nvSpPr>
          <p:cNvPr id="19" name="TextBox 18"/>
          <p:cNvSpPr txBox="1"/>
          <p:nvPr/>
        </p:nvSpPr>
        <p:spPr>
          <a:xfrm>
            <a:off x="5321808" y="4681728"/>
            <a:ext cx="6211519" cy="731520"/>
          </a:xfrm>
          <a:prstGeom prst="rect">
            <a:avLst/>
          </a:prstGeom>
          <a:noFill/>
        </p:spPr>
        <p:txBody>
          <a:bodyPr wrap="square" lIns="0" rIns="0" tIns="0" bIns="0" anchor="t">
            <a:spAutoFit/>
          </a:bodyPr>
          <a:lstStyle/>
          <a:p>
            <a:pPr algn="l">
              <a:lnSpc>
                <a:spcPct val="118000"/>
              </a:lnSpc>
              <a:spcAft>
                <a:spcPts val="600"/>
              </a:spcAft>
            </a:pPr>
            <a:r>
              <a:rPr sz="1150" b="0" i="0">
                <a:solidFill>
                  <a:srgbClr val="0F1A2E"/>
                </a:solidFill>
                <a:latin typeface="Calibri"/>
              </a:rPr>
              <a:t>It still reports mean sensitivity 0.8983 and 46 of 47 reliable, where the registry says 0.7638 and 41. Freshness cannot catch it: the graph's inputs are data and models, never code.</a:t>
            </a:r>
          </a:p>
        </p:txBody>
      </p:sp>
      <p:sp>
        <p:nvSpPr>
          <p:cNvPr id="20" name="Oval 19"/>
          <p:cNvSpPr/>
          <p:nvPr/>
        </p:nvSpPr>
        <p:spPr>
          <a:xfrm>
            <a:off x="566928" y="5522976"/>
            <a:ext cx="329184" cy="329184"/>
          </a:xfrm>
          <a:prstGeom prst="ellipse">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6</a:t>
            </a:r>
          </a:p>
        </p:txBody>
      </p:sp>
      <p:sp>
        <p:nvSpPr>
          <p:cNvPr id="21" name="TextBox 20"/>
          <p:cNvSpPr txBox="1"/>
          <p:nvPr/>
        </p:nvSpPr>
        <p:spPr>
          <a:xfrm>
            <a:off x="1097280" y="5486400"/>
            <a:ext cx="3977639" cy="777240"/>
          </a:xfrm>
          <a:prstGeom prst="rect">
            <a:avLst/>
          </a:prstGeom>
          <a:noFill/>
        </p:spPr>
        <p:txBody>
          <a:bodyPr wrap="square" lIns="0" rIns="0" tIns="0" bIns="0" anchor="t">
            <a:spAutoFit/>
          </a:bodyPr>
          <a:lstStyle/>
          <a:p>
            <a:pPr algn="l">
              <a:lnSpc>
                <a:spcPct val="114000"/>
              </a:lnSpc>
              <a:spcAft>
                <a:spcPts val="600"/>
              </a:spcAft>
            </a:pPr>
            <a:r>
              <a:rPr sz="1300" b="1" i="0">
                <a:solidFill>
                  <a:srgbClr val="5F6B7A"/>
                </a:solidFill>
                <a:latin typeface="Calibri"/>
              </a:rPr>
              <a:t>Three docstrings and three logs have drifted</a:t>
            </a:r>
          </a:p>
        </p:txBody>
      </p:sp>
      <p:sp>
        <p:nvSpPr>
          <p:cNvPr id="22" name="TextBox 21"/>
          <p:cNvSpPr txBox="1"/>
          <p:nvPr/>
        </p:nvSpPr>
        <p:spPr>
          <a:xfrm>
            <a:off x="5321808" y="5468112"/>
            <a:ext cx="6211519" cy="731520"/>
          </a:xfrm>
          <a:prstGeom prst="rect">
            <a:avLst/>
          </a:prstGeom>
          <a:noFill/>
        </p:spPr>
        <p:txBody>
          <a:bodyPr wrap="square" lIns="0" rIns="0" tIns="0" bIns="0" anchor="t">
            <a:spAutoFit/>
          </a:bodyPr>
          <a:lstStyle/>
          <a:p>
            <a:pPr algn="l">
              <a:lnSpc>
                <a:spcPct val="118000"/>
              </a:lnSpc>
              <a:spcAft>
                <a:spcPts val="600"/>
              </a:spcAft>
            </a:pPr>
            <a:r>
              <a:rPr sz="1150" b="0" i="0">
                <a:solidFill>
                  <a:srgbClr val="0F1A2E"/>
                </a:solidFill>
                <a:latin typeface="Calibri"/>
              </a:rPr>
              <a:t>H7's docstring says sensitivity ranges 0.26 to 0.98 where the artefact says 0.000 to 0.990; the 4 August logs still record VERDICT H2: WEAKENED.</a:t>
            </a:r>
          </a:p>
        </p:txBody>
      </p:sp>
      <p:sp>
        <p:nvSpPr>
          <p:cNvPr id="23" name="TextBox 22"/>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inversion/summarise.py:60; inv_disease_layer.py:228; app.py:102-104, 529; results/tables/background_specificity.csv; audit/AUDIT_REPORT.md:824,857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822960"/>
            <a:ext cx="10058400" cy="45720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What a falsification suite cannot do</a:t>
            </a:r>
          </a:p>
        </p:txBody>
      </p:sp>
      <p:sp>
        <p:nvSpPr>
          <p:cNvPr id="3" name="TextBox 2"/>
          <p:cNvSpPr txBox="1"/>
          <p:nvPr/>
        </p:nvSpPr>
        <p:spPr>
          <a:xfrm>
            <a:off x="566928" y="1225296"/>
            <a:ext cx="10698480" cy="457200"/>
          </a:xfrm>
          <a:prstGeom prst="rect">
            <a:avLst/>
          </a:prstGeom>
          <a:noFill/>
        </p:spPr>
        <p:txBody>
          <a:bodyPr wrap="square" lIns="0" rIns="0" tIns="0" bIns="0" anchor="t">
            <a:spAutoFit/>
          </a:bodyPr>
          <a:lstStyle/>
          <a:p>
            <a:pPr algn="l">
              <a:spcAft>
                <a:spcPts val="600"/>
              </a:spcAft>
            </a:pPr>
            <a:r>
              <a:rPr sz="1400" b="0" i="0">
                <a:solidFill>
                  <a:srgbClr val="D7DFEA"/>
                </a:solidFill>
                <a:latin typeface="Calibri"/>
              </a:rPr>
              <a:t>Stated because this is the strongest evidence in the thesis and overreading it would be easy.</a:t>
            </a:r>
          </a:p>
        </p:txBody>
      </p:sp>
      <p:sp>
        <p:nvSpPr>
          <p:cNvPr id="4" name="Oval 3"/>
          <p:cNvSpPr/>
          <p:nvPr/>
        </p:nvSpPr>
        <p:spPr>
          <a:xfrm>
            <a:off x="566928" y="1975104"/>
            <a:ext cx="365760" cy="365760"/>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0F1A2E"/>
                </a:solidFill>
                <a:latin typeface="Calibri"/>
              </a:rPr>
              <a:t>1</a:t>
            </a:r>
          </a:p>
        </p:txBody>
      </p:sp>
      <p:sp>
        <p:nvSpPr>
          <p:cNvPr id="5" name="TextBox 4"/>
          <p:cNvSpPr txBox="1"/>
          <p:nvPr/>
        </p:nvSpPr>
        <p:spPr>
          <a:xfrm>
            <a:off x="1170432" y="1920240"/>
            <a:ext cx="4023360" cy="914400"/>
          </a:xfrm>
          <a:prstGeom prst="rect">
            <a:avLst/>
          </a:prstGeom>
          <a:noFill/>
        </p:spPr>
        <p:txBody>
          <a:bodyPr wrap="square" lIns="0" rIns="0" tIns="0" bIns="0" anchor="t">
            <a:spAutoFit/>
          </a:bodyPr>
          <a:lstStyle/>
          <a:p>
            <a:pPr algn="l">
              <a:lnSpc>
                <a:spcPct val="114000"/>
              </a:lnSpc>
              <a:spcAft>
                <a:spcPts val="600"/>
              </a:spcAft>
            </a:pPr>
            <a:r>
              <a:rPr sz="1500" b="1" i="0">
                <a:solidFill>
                  <a:srgbClr val="D98324"/>
                </a:solidFill>
                <a:latin typeface="Calibri"/>
              </a:rPr>
              <a:t>It tests what its author thought to doubt</a:t>
            </a:r>
          </a:p>
        </p:txBody>
      </p:sp>
      <p:sp>
        <p:nvSpPr>
          <p:cNvPr id="6" name="TextBox 5"/>
          <p:cNvSpPr txBox="1"/>
          <p:nvPr/>
        </p:nvSpPr>
        <p:spPr>
          <a:xfrm>
            <a:off x="5458968" y="1901952"/>
            <a:ext cx="5989320" cy="137160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All nine hypotheses were written by the person who built the system. H8 and H9 do not appear in the plan; H9 exists only because H6 returned a result its author judged unfairly scored. Three of the nine exist because earlier ones produced surprises, which is how a suite should grow and also an admission that its initial coverage was set by intuition.</a:t>
            </a:r>
          </a:p>
        </p:txBody>
      </p:sp>
      <p:sp>
        <p:nvSpPr>
          <p:cNvPr id="7" name="Oval 6"/>
          <p:cNvSpPr/>
          <p:nvPr/>
        </p:nvSpPr>
        <p:spPr>
          <a:xfrm>
            <a:off x="566928" y="3456432"/>
            <a:ext cx="365760" cy="365760"/>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0F1A2E"/>
                </a:solidFill>
                <a:latin typeface="Calibri"/>
              </a:rPr>
              <a:t>2</a:t>
            </a:r>
          </a:p>
        </p:txBody>
      </p:sp>
      <p:sp>
        <p:nvSpPr>
          <p:cNvPr id="8" name="TextBox 7"/>
          <p:cNvSpPr txBox="1"/>
          <p:nvPr/>
        </p:nvSpPr>
        <p:spPr>
          <a:xfrm>
            <a:off x="1170432" y="3401568"/>
            <a:ext cx="4023360" cy="914400"/>
          </a:xfrm>
          <a:prstGeom prst="rect">
            <a:avLst/>
          </a:prstGeom>
          <a:noFill/>
        </p:spPr>
        <p:txBody>
          <a:bodyPr wrap="square" lIns="0" rIns="0" tIns="0" bIns="0" anchor="t">
            <a:spAutoFit/>
          </a:bodyPr>
          <a:lstStyle/>
          <a:p>
            <a:pPr algn="l">
              <a:lnSpc>
                <a:spcPct val="114000"/>
              </a:lnSpc>
              <a:spcAft>
                <a:spcPts val="600"/>
              </a:spcAft>
            </a:pPr>
            <a:r>
              <a:rPr sz="1500" b="1" i="0">
                <a:solidFill>
                  <a:srgbClr val="D98324"/>
                </a:solidFill>
                <a:latin typeface="Calibri"/>
              </a:rPr>
              <a:t>Nothing in it tests the barrier model</a:t>
            </a:r>
          </a:p>
        </p:txBody>
      </p:sp>
      <p:sp>
        <p:nvSpPr>
          <p:cNvPr id="9" name="TextBox 8"/>
          <p:cNvSpPr txBox="1"/>
          <p:nvPr/>
        </p:nvSpPr>
        <p:spPr>
          <a:xfrm>
            <a:off x="5458968" y="3383280"/>
            <a:ext cx="5989320" cy="137160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H1, H2, H3, H6 and H9 test the disease layer; H5 read-across; H7 and H8 the panel; H4 system-level specificity. The BBB classifier, which gates every disease score and names the architecture, has no hypothesis. The missing test is whether its contribution could be replaced by a molecular-weight or cLogP rule without loss.</a:t>
            </a:r>
          </a:p>
        </p:txBody>
      </p:sp>
      <p:sp>
        <p:nvSpPr>
          <p:cNvPr id="10" name="Oval 9"/>
          <p:cNvSpPr/>
          <p:nvPr/>
        </p:nvSpPr>
        <p:spPr>
          <a:xfrm>
            <a:off x="566928" y="4937759"/>
            <a:ext cx="365760" cy="365760"/>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0F1A2E"/>
                </a:solidFill>
                <a:latin typeface="Calibri"/>
              </a:rPr>
              <a:t>3</a:t>
            </a:r>
          </a:p>
        </p:txBody>
      </p:sp>
      <p:sp>
        <p:nvSpPr>
          <p:cNvPr id="11" name="TextBox 10"/>
          <p:cNvSpPr txBox="1"/>
          <p:nvPr/>
        </p:nvSpPr>
        <p:spPr>
          <a:xfrm>
            <a:off x="1170432" y="4882896"/>
            <a:ext cx="4023360" cy="914400"/>
          </a:xfrm>
          <a:prstGeom prst="rect">
            <a:avLst/>
          </a:prstGeom>
          <a:noFill/>
        </p:spPr>
        <p:txBody>
          <a:bodyPr wrap="square" lIns="0" rIns="0" tIns="0" bIns="0" anchor="t">
            <a:spAutoFit/>
          </a:bodyPr>
          <a:lstStyle/>
          <a:p>
            <a:pPr algn="l">
              <a:lnSpc>
                <a:spcPct val="114000"/>
              </a:lnSpc>
              <a:spcAft>
                <a:spcPts val="600"/>
              </a:spcAft>
            </a:pPr>
            <a:r>
              <a:rPr sz="1500" b="1" i="0">
                <a:solidFill>
                  <a:srgbClr val="D98324"/>
                </a:solidFill>
                <a:latin typeface="Calibri"/>
              </a:rPr>
              <a:t>A verdict summarises one measurement</a:t>
            </a:r>
          </a:p>
        </p:txBody>
      </p:sp>
      <p:sp>
        <p:nvSpPr>
          <p:cNvPr id="12" name="TextBox 11"/>
          <p:cNvSpPr txBox="1"/>
          <p:nvPr/>
        </p:nvSpPr>
        <p:spPr>
          <a:xfrm>
            <a:off x="5458968" y="4864608"/>
            <a:ext cx="5989320" cy="137160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H4 is SUPPORTED on 61 compounds; H5 against a null capped near 0.09; H9 on a mean of 0.6158 that hides a range from 0.7981 down to 0.4898. The verdict column is the least informative part of the table.</a:t>
            </a:r>
          </a:p>
        </p:txBody>
      </p:sp>
      <p:sp>
        <p:nvSpPr>
          <p:cNvPr id="13" name="TextBox 12"/>
          <p:cNvSpPr txBox="1"/>
          <p:nvPr/>
        </p:nvSpPr>
        <p:spPr>
          <a:xfrm>
            <a:off x="566928" y="6355080"/>
            <a:ext cx="10698480" cy="365760"/>
          </a:xfrm>
          <a:prstGeom prst="rect">
            <a:avLst/>
          </a:prstGeom>
          <a:noFill/>
        </p:spPr>
        <p:txBody>
          <a:bodyPr wrap="square" lIns="0" rIns="0" tIns="0" bIns="0" anchor="t">
            <a:spAutoFit/>
          </a:bodyPr>
          <a:lstStyle/>
          <a:p>
            <a:pPr algn="l">
              <a:spcAft>
                <a:spcPts val="600"/>
              </a:spcAft>
            </a:pPr>
            <a:r>
              <a:rPr sz="1350" b="0" i="1">
                <a:solidFill>
                  <a:srgbClr val="FFFFFF"/>
                </a:solidFill>
                <a:latin typeface="Calibri"/>
              </a:rPr>
              <a:t>The suite is valuable in proportion to what it refuted, and it refuted four of nine.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