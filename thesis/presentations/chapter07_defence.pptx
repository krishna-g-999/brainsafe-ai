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top-3 accuracy</c:v>
                </c:pt>
              </c:strCache>
            </c:strRef>
          </c:tx>
          <c:spPr>
            <a:solidFill>
              <a:srgbClr val="1F3A5F"/>
            </a:solidFill>
          </c:spPr>
          <c:cat>
            <c:strRef>
              <c:f>Sheet1!$A$2:$A$4</c:f>
              <c:strCache>
                <c:ptCount val="3"/>
                <c:pt idx="0">
                  <c:v>curated</c:v>
                </c:pt>
                <c:pt idx="1">
                  <c:v>uniform, all 1.0</c:v>
                </c:pt>
                <c:pt idx="2">
                  <c:v>randomly permuted</c:v>
                </c:pt>
              </c:strCache>
            </c:strRef>
          </c:cat>
          <c:val>
            <c:numRef>
              <c:f>Sheet1!$B$2:$B$4</c:f>
              <c:numCache>
                <c:formatCode>General</c:formatCode>
                <c:ptCount val="3"/>
                <c:pt idx="0">
                  <c:v>0.7901</c:v>
                </c:pt>
                <c:pt idx="1">
                  <c:v>0.7897</c:v>
                </c:pt>
                <c:pt idx="2">
                  <c:v>0.7874</c:v>
                </c:pt>
              </c:numCache>
            </c:numRef>
          </c:val>
        </c:ser>
        <c:gapWidth val="8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F6B7A"/>
                </a:solidFill>
              </a:defRPr>
            </a:pPr>
          </a:p>
        </c:txPr>
        <c:crossAx val="-2113994440"/>
        <c:crosses val="autoZero"/>
        <c:auto val="1"/>
        <c:lblAlgn val="ctr"/>
        <c:lblOffset val="100"/>
        <c:noMultiLvlLbl val="0"/>
      </c:catAx>
      <c:valAx>
        <c:axId val="-2113994440"/>
        <c:scaling>
          <c:max val="0.8"/>
          <c:min val="0.75"/>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per-indication AUROC</c:v>
                </c:pt>
              </c:strCache>
            </c:strRef>
          </c:tx>
          <c:spPr>
            <a:solidFill>
              <a:srgbClr val="1F3A5F"/>
            </a:solidFill>
          </c:spPr>
          <c:cat>
            <c:strRef>
              <c:f>Sheet1!$A$2:$A$10</c:f>
              <c:strCache>
                <c:ptCount val="9"/>
                <c:pt idx="0">
                  <c:v>Epilepsy</c:v>
                </c:pt>
                <c:pt idx="1">
                  <c:v>Sleep / wakefulness</c:v>
                </c:pt>
                <c:pt idx="2">
                  <c:v>ADHD</c:v>
                </c:pt>
                <c:pt idx="3">
                  <c:v>Addiction</c:v>
                </c:pt>
                <c:pt idx="4">
                  <c:v>Parkinson's disease</c:v>
                </c:pt>
                <c:pt idx="5">
                  <c:v>Chronic pain</c:v>
                </c:pt>
                <c:pt idx="6">
                  <c:v>Alzheimer's disease</c:v>
                </c:pt>
                <c:pt idx="7">
                  <c:v>Psychosis / schizophrenia</c:v>
                </c:pt>
                <c:pt idx="8">
                  <c:v>Depression / anxiety</c:v>
                </c:pt>
              </c:strCache>
            </c:strRef>
          </c:cat>
          <c:val>
            <c:numRef>
              <c:f>Sheet1!$B$2:$B$10</c:f>
              <c:numCache>
                <c:formatCode>General</c:formatCode>
                <c:ptCount val="9"/>
                <c:pt idx="0">
                  <c:v>0.4898</c:v>
                </c:pt>
                <c:pt idx="1">
                  <c:v>0.4993</c:v>
                </c:pt>
                <c:pt idx="2">
                  <c:v>0.5006</c:v>
                </c:pt>
                <c:pt idx="3">
                  <c:v>0.5659</c:v>
                </c:pt>
                <c:pt idx="4">
                  <c:v>0.622</c:v>
                </c:pt>
                <c:pt idx="5">
                  <c:v>0.6456</c:v>
                </c:pt>
                <c:pt idx="6">
                  <c:v>0.6565</c:v>
                </c:pt>
                <c:pt idx="7">
                  <c:v>0.7647</c:v>
                </c:pt>
                <c:pt idx="8">
                  <c:v>0.7981</c:v>
                </c:pt>
              </c:numCache>
            </c:numRef>
          </c:val>
        </c:ser>
        <c:gapWidth val="55"/>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0.85"/>
          <c:min val="0.4"/>
        </c:scaling>
        <c:delete val="0"/>
        <c:axPos val="b"/>
        <c:majorGridlines>
          <c:spPr>
            <a:ln>
              <a:solidFill>
                <a:srgbClr val="E2E8F0"/>
              </a:solidFill>
            </a:ln>
          </c:spPr>
        </c:majorGridlines>
        <c:majorTickMark val="out"/>
        <c:minorTickMark val="none"/>
        <c:tickLblPos val="nextTo"/>
        <c:txPr>
          <a:bodyPr/>
          <a:lstStyle/>
          <a:p>
            <a:pPr>
              <a:defRPr sz="1000">
                <a:solidFill>
                  <a:srgbClr val="5F6B7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layer with the weakest claims in the thesis. Stating them precisely is more useful than defending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 rates span nearly four-fold across the eight core classifiers. That span is the whole justification for the enrichment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edge is (pathway, KEGG id, condition, weight). AChE maps to Alzheimer's disease through the cholinergic synapse, hsa04725, at weight 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Co-firing is not the error. Presenting it as corroboration is. The interface now groups engaged targets by homology family and quotes the measured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card is new in this thesis. H3's refutation is exact for the 14 and does not extend to the boundary with the two peripheral conditions.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refutation the project acted on rather than argued with.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H6 and H9 are not in conflict. H6 is the fair description of the top-3 list a user reads; H9 is the fair description of whether the layer is doing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endpoints that would carry the antiepileptics are among the six firing for fewer than half their own actives, from Chapter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of three components had their stated purpose refuted. Say so first; it is what makes the third credible.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7</a:t>
            </a:r>
          </a:p>
        </p:txBody>
      </p:sp>
      <p:sp>
        <p:nvSpPr>
          <p:cNvPr id="3" name="TextBox 2"/>
          <p:cNvSpPr txBox="1"/>
          <p:nvPr/>
        </p:nvSpPr>
        <p:spPr>
          <a:xfrm>
            <a:off x="566928" y="1993392"/>
            <a:ext cx="10143439" cy="1463040"/>
          </a:xfrm>
          <a:prstGeom prst="rect">
            <a:avLst/>
          </a:prstGeom>
          <a:noFill/>
        </p:spPr>
        <p:txBody>
          <a:bodyPr wrap="square" lIns="0" rIns="0" tIns="0" bIns="0" anchor="t">
            <a:spAutoFit/>
          </a:bodyPr>
          <a:lstStyle/>
          <a:p>
            <a:pPr algn="l">
              <a:lnSpc>
                <a:spcPct val="108000"/>
              </a:lnSpc>
              <a:spcAft>
                <a:spcPts val="600"/>
              </a:spcAft>
            </a:pPr>
            <a:r>
              <a:rPr sz="4000" b="1" i="0">
                <a:solidFill>
                  <a:srgbClr val="FFFFFF"/>
                </a:solidFill>
                <a:latin typeface="Cambria"/>
              </a:rPr>
              <a:t>Exposure gating and the pathway graph</a:t>
            </a:r>
          </a:p>
        </p:txBody>
      </p:sp>
      <p:sp>
        <p:nvSpPr>
          <p:cNvPr id="4" name="TextBox 3"/>
          <p:cNvSpPr txBox="1"/>
          <p:nvPr/>
        </p:nvSpPr>
        <p:spPr>
          <a:xfrm>
            <a:off x="566928" y="3703320"/>
            <a:ext cx="9594799" cy="914400"/>
          </a:xfrm>
          <a:prstGeom prst="rect">
            <a:avLst/>
          </a:prstGeom>
          <a:noFill/>
        </p:spPr>
        <p:txBody>
          <a:bodyPr wrap="square" lIns="0" rIns="0" tIns="0" bIns="0" anchor="t">
            <a:spAutoFit/>
          </a:bodyPr>
          <a:lstStyle/>
          <a:p>
            <a:pPr algn="l">
              <a:lnSpc>
                <a:spcPct val="125000"/>
              </a:lnSpc>
              <a:spcAft>
                <a:spcPts val="600"/>
              </a:spcAft>
            </a:pPr>
            <a:r>
              <a:rPr sz="1600" b="0" i="1">
                <a:solidFill>
                  <a:srgbClr val="D7DFEA"/>
                </a:solidFill>
                <a:latin typeface="Calibri"/>
              </a:rPr>
              <a:t>The rule that turns seventy independent numbers into one answer, and the part of the system that has been most misdescribed, including by its own authors</a:t>
            </a:r>
          </a:p>
        </p:txBody>
      </p:sp>
      <p:sp>
        <p:nvSpPr>
          <p:cNvPr id="5" name="TextBox 4"/>
          <p:cNvSpPr txBox="1"/>
          <p:nvPr/>
        </p:nvSpPr>
        <p:spPr>
          <a:xfrm>
            <a:off x="566928" y="5166360"/>
            <a:ext cx="11057839" cy="548640"/>
          </a:xfrm>
          <a:prstGeom prst="rect">
            <a:avLst/>
          </a:prstGeom>
          <a:noFill/>
        </p:spPr>
        <p:txBody>
          <a:bodyPr wrap="square" lIns="0" rIns="0" tIns="0" bIns="0" anchor="t">
            <a:spAutoFit/>
          </a:bodyPr>
          <a:lstStyle/>
          <a:p>
            <a:pPr algn="l">
              <a:lnSpc>
                <a:spcPct val="124000"/>
              </a:lnSpc>
              <a:spcAft>
                <a:spcPts val="600"/>
              </a:spcAft>
            </a:pPr>
            <a:r>
              <a:rPr sz="1300" b="0" i="0">
                <a:solidFill>
                  <a:srgbClr val="1C7293"/>
                </a:solidFill>
                <a:latin typeface="Calibri"/>
              </a:rPr>
              <a:t>51 targets, 16 conditions, 83 edges. The falsification suite refuted the stated purpose of two of its three components.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Why enrichment, and not the probability</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probability of 0.60 means opposite things at two endpoints</a:t>
            </a:r>
          </a:p>
        </p:txBody>
      </p:sp>
      <p:sp>
        <p:nvSpPr>
          <p:cNvPr id="5" name="TextBox 4"/>
          <p:cNvSpPr txBox="1"/>
          <p:nvPr/>
        </p:nvSpPr>
        <p:spPr>
          <a:xfrm>
            <a:off x="841247" y="1755648"/>
            <a:ext cx="237744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endpoint</a:t>
            </a:r>
          </a:p>
        </p:txBody>
      </p:sp>
      <p:sp>
        <p:nvSpPr>
          <p:cNvPr id="6" name="TextBox 5"/>
          <p:cNvSpPr txBox="1"/>
          <p:nvPr/>
        </p:nvSpPr>
        <p:spPr>
          <a:xfrm>
            <a:off x="3310128" y="1755648"/>
            <a:ext cx="118872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n</a:t>
            </a:r>
          </a:p>
        </p:txBody>
      </p:sp>
      <p:sp>
        <p:nvSpPr>
          <p:cNvPr id="7" name="TextBox 6"/>
          <p:cNvSpPr txBox="1"/>
          <p:nvPr/>
        </p:nvSpPr>
        <p:spPr>
          <a:xfrm>
            <a:off x="4681728" y="1755648"/>
            <a:ext cx="137160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base rate</a:t>
            </a:r>
          </a:p>
        </p:txBody>
      </p:sp>
      <p:sp>
        <p:nvSpPr>
          <p:cNvPr id="8" name="Rounded Rectangle 7"/>
          <p:cNvSpPr/>
          <p:nvPr/>
        </p:nvSpPr>
        <p:spPr>
          <a:xfrm>
            <a:off x="566928" y="2039112"/>
            <a:ext cx="585216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2121408"/>
            <a:ext cx="2377440" cy="310896"/>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BACE1</a:t>
            </a:r>
          </a:p>
        </p:txBody>
      </p:sp>
      <p:sp>
        <p:nvSpPr>
          <p:cNvPr id="10" name="TextBox 9"/>
          <p:cNvSpPr txBox="1"/>
          <p:nvPr/>
        </p:nvSpPr>
        <p:spPr>
          <a:xfrm>
            <a:off x="3310128" y="2121408"/>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8,962</a:t>
            </a:r>
          </a:p>
        </p:txBody>
      </p:sp>
      <p:sp>
        <p:nvSpPr>
          <p:cNvPr id="11" name="TextBox 10"/>
          <p:cNvSpPr txBox="1"/>
          <p:nvPr/>
        </p:nvSpPr>
        <p:spPr>
          <a:xfrm>
            <a:off x="4681728" y="2121408"/>
            <a:ext cx="137160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0.862</a:t>
            </a:r>
          </a:p>
        </p:txBody>
      </p:sp>
      <p:sp>
        <p:nvSpPr>
          <p:cNvPr id="12" name="TextBox 11"/>
          <p:cNvSpPr txBox="1"/>
          <p:nvPr/>
        </p:nvSpPr>
        <p:spPr>
          <a:xfrm>
            <a:off x="841247" y="2596896"/>
            <a:ext cx="237744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GSK3B</a:t>
            </a:r>
          </a:p>
        </p:txBody>
      </p:sp>
      <p:sp>
        <p:nvSpPr>
          <p:cNvPr id="13" name="TextBox 12"/>
          <p:cNvSpPr txBox="1"/>
          <p:nvPr/>
        </p:nvSpPr>
        <p:spPr>
          <a:xfrm>
            <a:off x="3310128" y="2596896"/>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5,640</a:t>
            </a:r>
          </a:p>
        </p:txBody>
      </p:sp>
      <p:sp>
        <p:nvSpPr>
          <p:cNvPr id="14" name="TextBox 13"/>
          <p:cNvSpPr txBox="1"/>
          <p:nvPr/>
        </p:nvSpPr>
        <p:spPr>
          <a:xfrm>
            <a:off x="4681728" y="2596896"/>
            <a:ext cx="1371600" cy="310896"/>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0.750</a:t>
            </a:r>
          </a:p>
        </p:txBody>
      </p:sp>
      <p:sp>
        <p:nvSpPr>
          <p:cNvPr id="15" name="Rounded Rectangle 14"/>
          <p:cNvSpPr/>
          <p:nvPr/>
        </p:nvSpPr>
        <p:spPr>
          <a:xfrm>
            <a:off x="566928" y="2990088"/>
            <a:ext cx="585216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1247" y="3072384"/>
            <a:ext cx="237744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BBB</a:t>
            </a:r>
          </a:p>
        </p:txBody>
      </p:sp>
      <p:sp>
        <p:nvSpPr>
          <p:cNvPr id="17" name="TextBox 16"/>
          <p:cNvSpPr txBox="1"/>
          <p:nvPr/>
        </p:nvSpPr>
        <p:spPr>
          <a:xfrm>
            <a:off x="3310128" y="3072384"/>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7,807</a:t>
            </a:r>
          </a:p>
        </p:txBody>
      </p:sp>
      <p:sp>
        <p:nvSpPr>
          <p:cNvPr id="18" name="TextBox 17"/>
          <p:cNvSpPr txBox="1"/>
          <p:nvPr/>
        </p:nvSpPr>
        <p:spPr>
          <a:xfrm>
            <a:off x="4681728" y="3072384"/>
            <a:ext cx="1371600" cy="310896"/>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0.635</a:t>
            </a:r>
          </a:p>
        </p:txBody>
      </p:sp>
      <p:sp>
        <p:nvSpPr>
          <p:cNvPr id="19" name="TextBox 18"/>
          <p:cNvSpPr txBox="1"/>
          <p:nvPr/>
        </p:nvSpPr>
        <p:spPr>
          <a:xfrm>
            <a:off x="841247" y="3547872"/>
            <a:ext cx="237744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AChE</a:t>
            </a:r>
          </a:p>
        </p:txBody>
      </p:sp>
      <p:sp>
        <p:nvSpPr>
          <p:cNvPr id="20" name="TextBox 19"/>
          <p:cNvSpPr txBox="1"/>
          <p:nvPr/>
        </p:nvSpPr>
        <p:spPr>
          <a:xfrm>
            <a:off x="3310128" y="3547872"/>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5,318</a:t>
            </a:r>
          </a:p>
        </p:txBody>
      </p:sp>
      <p:sp>
        <p:nvSpPr>
          <p:cNvPr id="21" name="TextBox 20"/>
          <p:cNvSpPr txBox="1"/>
          <p:nvPr/>
        </p:nvSpPr>
        <p:spPr>
          <a:xfrm>
            <a:off x="4681728" y="3547872"/>
            <a:ext cx="1371600" cy="310896"/>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0.596</a:t>
            </a:r>
          </a:p>
        </p:txBody>
      </p:sp>
      <p:sp>
        <p:nvSpPr>
          <p:cNvPr id="22" name="Rounded Rectangle 21"/>
          <p:cNvSpPr/>
          <p:nvPr/>
        </p:nvSpPr>
        <p:spPr>
          <a:xfrm>
            <a:off x="566928" y="3941064"/>
            <a:ext cx="585216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4023360"/>
            <a:ext cx="237744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BChE</a:t>
            </a:r>
          </a:p>
        </p:txBody>
      </p:sp>
      <p:sp>
        <p:nvSpPr>
          <p:cNvPr id="24" name="TextBox 23"/>
          <p:cNvSpPr txBox="1"/>
          <p:nvPr/>
        </p:nvSpPr>
        <p:spPr>
          <a:xfrm>
            <a:off x="3310128" y="4023360"/>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3,386</a:t>
            </a:r>
          </a:p>
        </p:txBody>
      </p:sp>
      <p:sp>
        <p:nvSpPr>
          <p:cNvPr id="25" name="TextBox 24"/>
          <p:cNvSpPr txBox="1"/>
          <p:nvPr/>
        </p:nvSpPr>
        <p:spPr>
          <a:xfrm>
            <a:off x="4681728" y="4023360"/>
            <a:ext cx="1371600" cy="310896"/>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0.543</a:t>
            </a:r>
          </a:p>
        </p:txBody>
      </p:sp>
      <p:sp>
        <p:nvSpPr>
          <p:cNvPr id="26" name="TextBox 25"/>
          <p:cNvSpPr txBox="1"/>
          <p:nvPr/>
        </p:nvSpPr>
        <p:spPr>
          <a:xfrm>
            <a:off x="841247" y="4498848"/>
            <a:ext cx="237744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MAO-B</a:t>
            </a:r>
          </a:p>
        </p:txBody>
      </p:sp>
      <p:sp>
        <p:nvSpPr>
          <p:cNvPr id="27" name="TextBox 26"/>
          <p:cNvSpPr txBox="1"/>
          <p:nvPr/>
        </p:nvSpPr>
        <p:spPr>
          <a:xfrm>
            <a:off x="3310128" y="4498848"/>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4,806</a:t>
            </a:r>
          </a:p>
        </p:txBody>
      </p:sp>
      <p:sp>
        <p:nvSpPr>
          <p:cNvPr id="28" name="TextBox 27"/>
          <p:cNvSpPr txBox="1"/>
          <p:nvPr/>
        </p:nvSpPr>
        <p:spPr>
          <a:xfrm>
            <a:off x="4681728" y="4498848"/>
            <a:ext cx="1371600" cy="310896"/>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0.505</a:t>
            </a:r>
          </a:p>
        </p:txBody>
      </p:sp>
      <p:sp>
        <p:nvSpPr>
          <p:cNvPr id="29" name="Rounded Rectangle 28"/>
          <p:cNvSpPr/>
          <p:nvPr/>
        </p:nvSpPr>
        <p:spPr>
          <a:xfrm>
            <a:off x="566928" y="4892040"/>
            <a:ext cx="585216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4974336"/>
            <a:ext cx="237744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MAO-A</a:t>
            </a:r>
          </a:p>
        </p:txBody>
      </p:sp>
      <p:sp>
        <p:nvSpPr>
          <p:cNvPr id="31" name="TextBox 30"/>
          <p:cNvSpPr txBox="1"/>
          <p:nvPr/>
        </p:nvSpPr>
        <p:spPr>
          <a:xfrm>
            <a:off x="3310128" y="4974336"/>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3,789</a:t>
            </a:r>
          </a:p>
        </p:txBody>
      </p:sp>
      <p:sp>
        <p:nvSpPr>
          <p:cNvPr id="32" name="TextBox 31"/>
          <p:cNvSpPr txBox="1"/>
          <p:nvPr/>
        </p:nvSpPr>
        <p:spPr>
          <a:xfrm>
            <a:off x="4681728" y="4974336"/>
            <a:ext cx="1371600" cy="310896"/>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0.238</a:t>
            </a:r>
          </a:p>
        </p:txBody>
      </p:sp>
      <p:sp>
        <p:nvSpPr>
          <p:cNvPr id="33" name="TextBox 32"/>
          <p:cNvSpPr txBox="1"/>
          <p:nvPr/>
        </p:nvSpPr>
        <p:spPr>
          <a:xfrm>
            <a:off x="841247" y="5449823"/>
            <a:ext cx="2377440" cy="310896"/>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hERG</a:t>
            </a:r>
          </a:p>
        </p:txBody>
      </p:sp>
      <p:sp>
        <p:nvSpPr>
          <p:cNvPr id="34" name="TextBox 33"/>
          <p:cNvSpPr txBox="1"/>
          <p:nvPr/>
        </p:nvSpPr>
        <p:spPr>
          <a:xfrm>
            <a:off x="3310128" y="5449823"/>
            <a:ext cx="1188720" cy="310896"/>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10,276</a:t>
            </a:r>
          </a:p>
        </p:txBody>
      </p:sp>
      <p:sp>
        <p:nvSpPr>
          <p:cNvPr id="35" name="TextBox 34"/>
          <p:cNvSpPr txBox="1"/>
          <p:nvPr/>
        </p:nvSpPr>
        <p:spPr>
          <a:xfrm>
            <a:off x="4681728" y="5449823"/>
            <a:ext cx="137160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0.236</a:t>
            </a:r>
          </a:p>
        </p:txBody>
      </p:sp>
      <p:sp>
        <p:nvSpPr>
          <p:cNvPr id="36" name="Rounded Rectangle 35"/>
          <p:cNvSpPr/>
          <p:nvPr/>
        </p:nvSpPr>
        <p:spPr>
          <a:xfrm>
            <a:off x="6876288" y="1691640"/>
            <a:ext cx="4748479" cy="2331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242048" y="1920240"/>
            <a:ext cx="4016959" cy="1874519"/>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A calibrated probability of 0.60 is strong evidence of activity at hERG, where 24 per cent of the measured set is active, and evidence of INACTIVITY at BACE1, where 86 per cent is.
Ranking the raw probabilities puts those two compounds in the same place. Enrichment puts them on opposite sides of zero.</a:t>
            </a:r>
          </a:p>
        </p:txBody>
      </p:sp>
      <p:sp>
        <p:nvSpPr>
          <p:cNvPr id="38" name="TextBox 37"/>
          <p:cNvSpPr txBox="1"/>
          <p:nvPr/>
        </p:nvSpPr>
        <p:spPr>
          <a:xfrm>
            <a:off x="6876288" y="4251960"/>
            <a:ext cx="4748479" cy="128016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The negative branch matters as much as the positive one. A probability below an endpoint's base rate is evidence of inactivity, not weak evidence of activity, so it is clipped to exactly zero and contributes nothing rather than contributing a little.</a:t>
            </a:r>
          </a:p>
        </p:txBody>
      </p:sp>
      <p:sp>
        <p:nvSpPr>
          <p:cNvPr id="39" name="TextBox 3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submission_package/07_MODELS/endpoint_base_rates.json. The interface always shows the untransformed probability beside the signal.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pathway graph</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Curated, versioned, anchored to KEGG, Reactome and IUPHAR</a:t>
            </a:r>
          </a:p>
        </p:txBody>
      </p:sp>
      <p:sp>
        <p:nvSpPr>
          <p:cNvPr id="5" name="Rounded Rectangle 4"/>
          <p:cNvSpPr/>
          <p:nvPr/>
        </p:nvSpPr>
        <p:spPr>
          <a:xfrm>
            <a:off x="566928" y="1645920"/>
            <a:ext cx="2572435"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1901952"/>
            <a:ext cx="2023795" cy="603504"/>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51</a:t>
            </a:r>
          </a:p>
        </p:txBody>
      </p:sp>
      <p:sp>
        <p:nvSpPr>
          <p:cNvPr id="7" name="TextBox 6"/>
          <p:cNvSpPr txBox="1"/>
          <p:nvPr/>
        </p:nvSpPr>
        <p:spPr>
          <a:xfrm>
            <a:off x="841247" y="2542032"/>
            <a:ext cx="2023795"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targets</a:t>
            </a:r>
          </a:p>
        </p:txBody>
      </p:sp>
      <p:sp>
        <p:nvSpPr>
          <p:cNvPr id="8" name="Rounded Rectangle 7"/>
          <p:cNvSpPr/>
          <p:nvPr/>
        </p:nvSpPr>
        <p:spPr>
          <a:xfrm>
            <a:off x="3395395" y="1645920"/>
            <a:ext cx="2572435"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69715" y="1901952"/>
            <a:ext cx="2023795" cy="603504"/>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16</a:t>
            </a:r>
          </a:p>
        </p:txBody>
      </p:sp>
      <p:sp>
        <p:nvSpPr>
          <p:cNvPr id="10" name="TextBox 9"/>
          <p:cNvSpPr txBox="1"/>
          <p:nvPr/>
        </p:nvSpPr>
        <p:spPr>
          <a:xfrm>
            <a:off x="3669715" y="2542032"/>
            <a:ext cx="2023795"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conditions</a:t>
            </a:r>
          </a:p>
        </p:txBody>
      </p:sp>
      <p:sp>
        <p:nvSpPr>
          <p:cNvPr id="11" name="Rounded Rectangle 10"/>
          <p:cNvSpPr/>
          <p:nvPr/>
        </p:nvSpPr>
        <p:spPr>
          <a:xfrm>
            <a:off x="6223863" y="1645920"/>
            <a:ext cx="2572435"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8183" y="1901952"/>
            <a:ext cx="2023795" cy="603504"/>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83</a:t>
            </a:r>
          </a:p>
        </p:txBody>
      </p:sp>
      <p:sp>
        <p:nvSpPr>
          <p:cNvPr id="13" name="TextBox 12"/>
          <p:cNvSpPr txBox="1"/>
          <p:nvPr/>
        </p:nvSpPr>
        <p:spPr>
          <a:xfrm>
            <a:off x="6498183" y="2542032"/>
            <a:ext cx="2023795"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edges</a:t>
            </a:r>
          </a:p>
        </p:txBody>
      </p:sp>
      <p:sp>
        <p:nvSpPr>
          <p:cNvPr id="14" name="Rounded Rectangle 13"/>
          <p:cNvSpPr/>
          <p:nvPr/>
        </p:nvSpPr>
        <p:spPr>
          <a:xfrm>
            <a:off x="9052331" y="1645920"/>
            <a:ext cx="2572435"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651" y="1901952"/>
            <a:ext cx="2023795" cy="603504"/>
          </a:xfrm>
          <a:prstGeom prst="rect">
            <a:avLst/>
          </a:prstGeom>
          <a:noFill/>
        </p:spPr>
        <p:txBody>
          <a:bodyPr wrap="square" lIns="0" rIns="0" tIns="0" bIns="0" anchor="t">
            <a:spAutoFit/>
          </a:bodyPr>
          <a:lstStyle/>
          <a:p>
            <a:pPr algn="l">
              <a:spcAft>
                <a:spcPts val="600"/>
              </a:spcAft>
            </a:pPr>
            <a:r>
              <a:rPr sz="2625" b="1" i="0">
                <a:solidFill>
                  <a:srgbClr val="1F3A5F"/>
                </a:solidFill>
                <a:latin typeface="Cambria"/>
              </a:rPr>
              <a:t>27 of 51</a:t>
            </a:r>
          </a:p>
        </p:txBody>
      </p:sp>
      <p:sp>
        <p:nvSpPr>
          <p:cNvPr id="16" name="TextBox 15"/>
          <p:cNvSpPr txBox="1"/>
          <p:nvPr/>
        </p:nvSpPr>
        <p:spPr>
          <a:xfrm>
            <a:off x="9326651" y="2542032"/>
            <a:ext cx="2023795"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drive more than one condition</a:t>
            </a:r>
          </a:p>
        </p:txBody>
      </p:sp>
      <p:sp>
        <p:nvSpPr>
          <p:cNvPr id="17" name="TextBox 16"/>
          <p:cNvSpPr txBox="1"/>
          <p:nvPr/>
        </p:nvSpPr>
        <p:spPr>
          <a:xfrm>
            <a:off x="566928" y="3611880"/>
            <a:ext cx="5669280" cy="384048"/>
          </a:xfrm>
          <a:prstGeom prst="rect">
            <a:avLst/>
          </a:prstGeom>
          <a:noFill/>
        </p:spPr>
        <p:txBody>
          <a:bodyPr wrap="square" lIns="0" rIns="0" tIns="0" bIns="0" anchor="t">
            <a:spAutoFit/>
          </a:bodyPr>
          <a:lstStyle/>
          <a:p>
            <a:pPr algn="l">
              <a:spcAft>
                <a:spcPts val="600"/>
              </a:spcAft>
            </a:pPr>
            <a:r>
              <a:rPr sz="1700" b="1" i="0">
                <a:solidFill>
                  <a:srgbClr val="1C7293"/>
                </a:solidFill>
                <a:latin typeface="Cambria"/>
              </a:rPr>
              <a:t>The weights</a:t>
            </a:r>
          </a:p>
        </p:txBody>
      </p:sp>
      <p:sp>
        <p:nvSpPr>
          <p:cNvPr id="18" name="TextBox 17"/>
          <p:cNvSpPr txBox="1"/>
          <p:nvPr/>
        </p:nvSpPr>
        <p:spPr>
          <a:xfrm>
            <a:off x="566928" y="4041648"/>
            <a:ext cx="5669280" cy="137160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8 distinct values from 0.40 to 1.00, mean 0.780, median 0.80. Three quarters sit at 0.70 or above.
Targets per condition: median 5.5, from 1 to 11. The best-connected condition is depression / anxiety.</a:t>
            </a:r>
          </a:p>
        </p:txBody>
      </p:sp>
      <p:sp>
        <p:nvSpPr>
          <p:cNvPr id="19" name="Rounded Rectangle 18"/>
          <p:cNvSpPr/>
          <p:nvPr/>
        </p:nvSpPr>
        <p:spPr>
          <a:xfrm>
            <a:off x="6601968" y="3611880"/>
            <a:ext cx="5022799"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967728" y="3840480"/>
            <a:ext cx="4291279" cy="146304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Two conditions are exempt from the exposure gate because their mechanisms act outside the barrier: migraine and multiple sclerosis. That exemption matters on slide 5.</a:t>
            </a:r>
          </a:p>
        </p:txBody>
      </p:sp>
      <p:sp>
        <p:nvSpPr>
          <p:cNvPr id="21" name="TextBox 2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Read directly from app.py KNOWLEDGE_GRAPH during the writing of this chapter.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Aggregation is a maximum, not a sum</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Engaging three of a condition's targets scores exactly as engaging its strongest</a:t>
            </a:r>
          </a:p>
        </p:txBody>
      </p:sp>
      <p:sp>
        <p:nvSpPr>
          <p:cNvPr id="5" name="TextBox 4"/>
          <p:cNvSpPr txBox="1"/>
          <p:nvPr/>
        </p:nvSpPr>
        <p:spPr>
          <a:xfrm>
            <a:off x="566928" y="1645920"/>
            <a:ext cx="11057839" cy="731520"/>
          </a:xfrm>
          <a:prstGeom prst="rect">
            <a:avLst/>
          </a:prstGeom>
          <a:noFill/>
        </p:spPr>
        <p:txBody>
          <a:bodyPr wrap="square" lIns="0" rIns="0" tIns="0" bIns="0">
            <a:spAutoFit/>
          </a:bodyPr>
          <a:lstStyle/>
          <a:p>
            <a:pPr algn="ctr"/>
            <a:r>
              <a:rPr b="1" sz="2500">
                <a:solidFill>
                  <a:srgbClr val="1F3A5F"/>
                </a:solidFill>
                <a:latin typeface="Cambria"/>
              </a:rPr>
              <a:t>S</a:t>
            </a:r>
            <a:r>
              <a:rPr b="1" sz="1800" baseline="-25000">
                <a:solidFill>
                  <a:srgbClr val="1F3A5F"/>
                </a:solidFill>
                <a:latin typeface="Cambria"/>
              </a:rPr>
              <a:t>d</a:t>
            </a:r>
            <a:r>
              <a:rPr b="1" sz="2500">
                <a:solidFill>
                  <a:srgbClr val="1F3A5F"/>
                </a:solidFill>
                <a:latin typeface="Cambria"/>
              </a:rPr>
              <a:t>(x)  =  max</a:t>
            </a:r>
            <a:r>
              <a:rPr b="1" sz="1800" baseline="-25000">
                <a:solidFill>
                  <a:srgbClr val="1F3A5F"/>
                </a:solidFill>
                <a:latin typeface="Cambria"/>
              </a:rPr>
              <a:t>(t,w) ∈ G(d)</a:t>
            </a:r>
            <a:r>
              <a:rPr b="1" sz="2500">
                <a:solidFill>
                  <a:srgbClr val="1F3A5F"/>
                </a:solidFill>
                <a:latin typeface="Cambria"/>
              </a:rPr>
              <a:t>  w · s</a:t>
            </a:r>
            <a:r>
              <a:rPr b="1" sz="1800" baseline="-25000">
                <a:solidFill>
                  <a:srgbClr val="1F3A5F"/>
                </a:solidFill>
                <a:latin typeface="Cambria"/>
              </a:rPr>
              <a:t>t</a:t>
            </a:r>
            <a:r>
              <a:rPr b="1" sz="2500">
                <a:solidFill>
                  <a:srgbClr val="1F3A5F"/>
                </a:solidFill>
                <a:latin typeface="Cambria"/>
              </a:rPr>
              <a:t>(x)</a:t>
            </a:r>
          </a:p>
        </p:txBody>
      </p:sp>
      <p:sp>
        <p:nvSpPr>
          <p:cNvPr id="6" name="TextBox 5"/>
          <p:cNvSpPr txBox="1"/>
          <p:nvPr/>
        </p:nvSpPr>
        <p:spPr>
          <a:xfrm>
            <a:off x="566928" y="2395728"/>
            <a:ext cx="11057839" cy="457200"/>
          </a:xfrm>
          <a:prstGeom prst="rect">
            <a:avLst/>
          </a:prstGeom>
          <a:noFill/>
        </p:spPr>
        <p:txBody>
          <a:bodyPr wrap="square" lIns="0" rIns="0" tIns="0" bIns="0" anchor="t">
            <a:spAutoFit/>
          </a:bodyPr>
          <a:lstStyle/>
          <a:p>
            <a:pPr algn="ctr">
              <a:spcAft>
                <a:spcPts val="600"/>
              </a:spcAft>
            </a:pPr>
            <a:r>
              <a:rPr sz="1600" b="1" i="0">
                <a:solidFill>
                  <a:srgbClr val="1F3A5F"/>
                </a:solidFill>
                <a:latin typeface="Cambria"/>
              </a:rPr>
              <a:t>That looks like discarding information. H8 is why it is not.</a:t>
            </a:r>
          </a:p>
        </p:txBody>
      </p:sp>
      <p:sp>
        <p:nvSpPr>
          <p:cNvPr id="7" name="TextBox 6"/>
          <p:cNvSpPr txBox="1"/>
          <p:nvPr/>
        </p:nvSpPr>
        <p:spPr>
          <a:xfrm>
            <a:off x="841247" y="3017520"/>
            <a:ext cx="274320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family</a:t>
            </a:r>
          </a:p>
        </p:txBody>
      </p:sp>
      <p:sp>
        <p:nvSpPr>
          <p:cNvPr id="8" name="TextBox 7"/>
          <p:cNvSpPr txBox="1"/>
          <p:nvPr/>
        </p:nvSpPr>
        <p:spPr>
          <a:xfrm>
            <a:off x="3675887" y="3017520"/>
            <a:ext cx="292608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pair</a:t>
            </a:r>
          </a:p>
        </p:txBody>
      </p:sp>
      <p:sp>
        <p:nvSpPr>
          <p:cNvPr id="9" name="TextBox 8"/>
          <p:cNvSpPr txBox="1"/>
          <p:nvPr/>
        </p:nvSpPr>
        <p:spPr>
          <a:xfrm>
            <a:off x="6967728" y="3017520"/>
            <a:ext cx="91440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φ</a:t>
            </a:r>
          </a:p>
        </p:txBody>
      </p:sp>
      <p:sp>
        <p:nvSpPr>
          <p:cNvPr id="10" name="Rounded Rectangle 9"/>
          <p:cNvSpPr/>
          <p:nvPr/>
        </p:nvSpPr>
        <p:spPr>
          <a:xfrm>
            <a:off x="566928" y="3282696"/>
            <a:ext cx="758952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3364992"/>
            <a:ext cx="2743200" cy="31089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opioid</a:t>
            </a:r>
          </a:p>
        </p:txBody>
      </p:sp>
      <p:sp>
        <p:nvSpPr>
          <p:cNvPr id="12" name="TextBox 11"/>
          <p:cNvSpPr txBox="1"/>
          <p:nvPr/>
        </p:nvSpPr>
        <p:spPr>
          <a:xfrm>
            <a:off x="3675887" y="3364992"/>
            <a:ext cx="292608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OPRM1, OPRK1</a:t>
            </a:r>
          </a:p>
        </p:txBody>
      </p:sp>
      <p:sp>
        <p:nvSpPr>
          <p:cNvPr id="13" name="TextBox 12"/>
          <p:cNvSpPr txBox="1"/>
          <p:nvPr/>
        </p:nvSpPr>
        <p:spPr>
          <a:xfrm>
            <a:off x="6967728" y="3364992"/>
            <a:ext cx="914400" cy="310896"/>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0.798</a:t>
            </a:r>
          </a:p>
        </p:txBody>
      </p:sp>
      <p:sp>
        <p:nvSpPr>
          <p:cNvPr id="14" name="TextBox 13"/>
          <p:cNvSpPr txBox="1"/>
          <p:nvPr/>
        </p:nvSpPr>
        <p:spPr>
          <a:xfrm>
            <a:off x="841247" y="3840480"/>
            <a:ext cx="2743200" cy="31089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monoamine transporters</a:t>
            </a:r>
          </a:p>
        </p:txBody>
      </p:sp>
      <p:sp>
        <p:nvSpPr>
          <p:cNvPr id="15" name="TextBox 14"/>
          <p:cNvSpPr txBox="1"/>
          <p:nvPr/>
        </p:nvSpPr>
        <p:spPr>
          <a:xfrm>
            <a:off x="3675887" y="3840480"/>
            <a:ext cx="292608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SERT, NET</a:t>
            </a:r>
          </a:p>
        </p:txBody>
      </p:sp>
      <p:sp>
        <p:nvSpPr>
          <p:cNvPr id="16" name="TextBox 15"/>
          <p:cNvSpPr txBox="1"/>
          <p:nvPr/>
        </p:nvSpPr>
        <p:spPr>
          <a:xfrm>
            <a:off x="6967728" y="3840480"/>
            <a:ext cx="914400" cy="310896"/>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0.732</a:t>
            </a:r>
          </a:p>
        </p:txBody>
      </p:sp>
      <p:sp>
        <p:nvSpPr>
          <p:cNvPr id="17" name="Rounded Rectangle 16"/>
          <p:cNvSpPr/>
          <p:nvPr/>
        </p:nvSpPr>
        <p:spPr>
          <a:xfrm>
            <a:off x="566928" y="4233672"/>
            <a:ext cx="758952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15968"/>
            <a:ext cx="2743200" cy="31089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dopamine</a:t>
            </a:r>
          </a:p>
        </p:txBody>
      </p:sp>
      <p:sp>
        <p:nvSpPr>
          <p:cNvPr id="19" name="TextBox 18"/>
          <p:cNvSpPr txBox="1"/>
          <p:nvPr/>
        </p:nvSpPr>
        <p:spPr>
          <a:xfrm>
            <a:off x="3675887" y="4315968"/>
            <a:ext cx="292608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D2, D3</a:t>
            </a:r>
          </a:p>
        </p:txBody>
      </p:sp>
      <p:sp>
        <p:nvSpPr>
          <p:cNvPr id="20" name="TextBox 19"/>
          <p:cNvSpPr txBox="1"/>
          <p:nvPr/>
        </p:nvSpPr>
        <p:spPr>
          <a:xfrm>
            <a:off x="6967728" y="4315968"/>
            <a:ext cx="914400" cy="310896"/>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0.720</a:t>
            </a:r>
          </a:p>
        </p:txBody>
      </p:sp>
      <p:sp>
        <p:nvSpPr>
          <p:cNvPr id="21" name="TextBox 20"/>
          <p:cNvSpPr txBox="1"/>
          <p:nvPr/>
        </p:nvSpPr>
        <p:spPr>
          <a:xfrm>
            <a:off x="841247" y="4791456"/>
            <a:ext cx="2743200" cy="31089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serotonin GPCR</a:t>
            </a:r>
          </a:p>
        </p:txBody>
      </p:sp>
      <p:sp>
        <p:nvSpPr>
          <p:cNvPr id="22" name="TextBox 21"/>
          <p:cNvSpPr txBox="1"/>
          <p:nvPr/>
        </p:nvSpPr>
        <p:spPr>
          <a:xfrm>
            <a:off x="3675887" y="4791456"/>
            <a:ext cx="292608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HT2A, HT7</a:t>
            </a:r>
          </a:p>
        </p:txBody>
      </p:sp>
      <p:sp>
        <p:nvSpPr>
          <p:cNvPr id="23" name="TextBox 22"/>
          <p:cNvSpPr txBox="1"/>
          <p:nvPr/>
        </p:nvSpPr>
        <p:spPr>
          <a:xfrm>
            <a:off x="6967728" y="4791456"/>
            <a:ext cx="91440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0.671</a:t>
            </a:r>
          </a:p>
        </p:txBody>
      </p:sp>
      <p:sp>
        <p:nvSpPr>
          <p:cNvPr id="24" name="Rounded Rectangle 23"/>
          <p:cNvSpPr/>
          <p:nvPr/>
        </p:nvSpPr>
        <p:spPr>
          <a:xfrm>
            <a:off x="566928" y="5184648"/>
            <a:ext cx="7589520"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5266944"/>
            <a:ext cx="2743200" cy="31089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serotonin GPCR</a:t>
            </a:r>
          </a:p>
        </p:txBody>
      </p:sp>
      <p:sp>
        <p:nvSpPr>
          <p:cNvPr id="26" name="TextBox 25"/>
          <p:cNvSpPr txBox="1"/>
          <p:nvPr/>
        </p:nvSpPr>
        <p:spPr>
          <a:xfrm>
            <a:off x="3675887" y="5266944"/>
            <a:ext cx="292608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HT1A, HT7</a:t>
            </a:r>
          </a:p>
        </p:txBody>
      </p:sp>
      <p:sp>
        <p:nvSpPr>
          <p:cNvPr id="27" name="TextBox 26"/>
          <p:cNvSpPr txBox="1"/>
          <p:nvPr/>
        </p:nvSpPr>
        <p:spPr>
          <a:xfrm>
            <a:off x="6967728" y="5266944"/>
            <a:ext cx="91440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0.583</a:t>
            </a:r>
          </a:p>
        </p:txBody>
      </p:sp>
      <p:sp>
        <p:nvSpPr>
          <p:cNvPr id="28" name="TextBox 27"/>
          <p:cNvSpPr txBox="1"/>
          <p:nvPr/>
        </p:nvSpPr>
        <p:spPr>
          <a:xfrm>
            <a:off x="8522207" y="3063240"/>
            <a:ext cx="3102559" cy="219456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37 targets fire across approved drugs but span only 16 independent directions.
A sum would count one observation several times. A ligand engaging both opioid receptors has given one piece of evidence, not two, and at φ = 0.798 the second is nearly determined by the first.</a:t>
            </a:r>
          </a:p>
        </p:txBody>
      </p:sp>
      <p:sp>
        <p:nvSpPr>
          <p:cNvPr id="29" name="TextBox 28"/>
          <p:cNvSpPr txBox="1"/>
          <p:nvPr/>
        </p:nvSpPr>
        <p:spPr>
          <a:xfrm>
            <a:off x="566928" y="5806440"/>
            <a:ext cx="11057839" cy="457200"/>
          </a:xfrm>
          <a:prstGeom prst="rect">
            <a:avLst/>
          </a:prstGeom>
          <a:noFill/>
        </p:spPr>
        <p:txBody>
          <a:bodyPr wrap="square" lIns="0" rIns="0" tIns="0" bIns="0" anchor="t">
            <a:spAutoFit/>
          </a:bodyPr>
          <a:lstStyle/>
          <a:p>
            <a:pPr algn="l">
              <a:lnSpc>
                <a:spcPct val="124000"/>
              </a:lnSpc>
              <a:spcAft>
                <a:spcPts val="600"/>
              </a:spcAft>
            </a:pPr>
            <a:r>
              <a:rPr sz="1250" b="0" i="1">
                <a:solidFill>
                  <a:srgbClr val="5F6B7A"/>
                </a:solidFill>
                <a:latin typeface="Calibri"/>
              </a:rPr>
              <a:t>The firing pattern is sparse anyway: 0.242 endpoints fire for a random compound and 1.49 for an approved drug, so the maximum usually has one non-zero member.</a:t>
            </a:r>
          </a:p>
        </p:txBody>
      </p:sp>
      <p:sp>
        <p:nvSpPr>
          <p:cNvPr id="30" name="TextBox 2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inversion/results/H8_panel_independence.csv, H8_family_correlation.csv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868680"/>
            <a:ext cx="82296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The exposure gate</a:t>
            </a:r>
          </a:p>
        </p:txBody>
      </p:sp>
      <p:sp>
        <p:nvSpPr>
          <p:cNvPr id="3" name="TextBox 2"/>
          <p:cNvSpPr txBox="1"/>
          <p:nvPr/>
        </p:nvSpPr>
        <p:spPr>
          <a:xfrm>
            <a:off x="566928" y="1280160"/>
            <a:ext cx="10698480" cy="694944"/>
          </a:xfrm>
          <a:prstGeom prst="rect">
            <a:avLst/>
          </a:prstGeom>
          <a:noFill/>
        </p:spPr>
        <p:txBody>
          <a:bodyPr wrap="square" lIns="0" rIns="0" tIns="0" bIns="0" anchor="t">
            <a:spAutoFit/>
          </a:bodyPr>
          <a:lstStyle/>
          <a:p>
            <a:pPr algn="l">
              <a:lnSpc>
                <a:spcPct val="110000"/>
              </a:lnSpc>
              <a:spcAft>
                <a:spcPts val="600"/>
              </a:spcAft>
            </a:pPr>
            <a:r>
              <a:rPr sz="3200" b="1" i="0">
                <a:solidFill>
                  <a:srgbClr val="FFFFFF"/>
                </a:solidFill>
                <a:latin typeface="Cambria"/>
              </a:rPr>
              <a:t>Gating is a filter. It cannot be a discriminator.</a:t>
            </a:r>
          </a:p>
        </p:txBody>
      </p:sp>
      <p:sp>
        <p:nvSpPr>
          <p:cNvPr id="4" name="TextBox 3"/>
          <p:cNvSpPr txBox="1"/>
          <p:nvPr/>
        </p:nvSpPr>
        <p:spPr>
          <a:xfrm>
            <a:off x="566928" y="2148840"/>
            <a:ext cx="10698480" cy="731520"/>
          </a:xfrm>
          <a:prstGeom prst="rect">
            <a:avLst/>
          </a:prstGeom>
          <a:noFill/>
        </p:spPr>
        <p:txBody>
          <a:bodyPr wrap="square" lIns="0" rIns="0" tIns="0" bIns="0">
            <a:spAutoFit/>
          </a:bodyPr>
          <a:lstStyle/>
          <a:p>
            <a:pPr algn="ctr"/>
            <a:r>
              <a:rPr b="1" sz="2400">
                <a:solidFill>
                  <a:srgbClr val="D7DFEA"/>
                </a:solidFill>
                <a:latin typeface="Cambria"/>
              </a:rPr>
              <a:t>S̃</a:t>
            </a:r>
            <a:r>
              <a:rPr b="1" sz="1728" baseline="-25000">
                <a:solidFill>
                  <a:srgbClr val="D7DFEA"/>
                </a:solidFill>
                <a:latin typeface="Cambria"/>
              </a:rPr>
              <a:t>d</a:t>
            </a:r>
            <a:r>
              <a:rPr b="1" sz="2400">
                <a:solidFill>
                  <a:srgbClr val="D7DFEA"/>
                </a:solidFill>
                <a:latin typeface="Cambria"/>
              </a:rPr>
              <a:t>(x)  =  γ</a:t>
            </a:r>
            <a:r>
              <a:rPr b="1" sz="1728" baseline="-25000">
                <a:solidFill>
                  <a:srgbClr val="D7DFEA"/>
                </a:solidFill>
                <a:latin typeface="Cambria"/>
              </a:rPr>
              <a:t>d</a:t>
            </a:r>
            <a:r>
              <a:rPr b="1" sz="2400">
                <a:solidFill>
                  <a:srgbClr val="D7DFEA"/>
                </a:solidFill>
                <a:latin typeface="Cambria"/>
              </a:rPr>
              <a:t>(x) · S</a:t>
            </a:r>
            <a:r>
              <a:rPr b="1" sz="1728" baseline="-25000">
                <a:solidFill>
                  <a:srgbClr val="D7DFEA"/>
                </a:solidFill>
                <a:latin typeface="Cambria"/>
              </a:rPr>
              <a:t>d</a:t>
            </a:r>
            <a:r>
              <a:rPr b="1" sz="2400">
                <a:solidFill>
                  <a:srgbClr val="D7DFEA"/>
                </a:solidFill>
                <a:latin typeface="Cambria"/>
              </a:rPr>
              <a:t>(x)</a:t>
            </a:r>
          </a:p>
        </p:txBody>
      </p:sp>
      <p:sp>
        <p:nvSpPr>
          <p:cNvPr id="5" name="TextBox 4"/>
          <p:cNvSpPr txBox="1"/>
          <p:nvPr/>
        </p:nvSpPr>
        <p:spPr>
          <a:xfrm>
            <a:off x="566928" y="2880360"/>
            <a:ext cx="10698480" cy="822960"/>
          </a:xfrm>
          <a:prstGeom prst="rect">
            <a:avLst/>
          </a:prstGeom>
          <a:noFill/>
        </p:spPr>
        <p:txBody>
          <a:bodyPr wrap="square" lIns="0" rIns="0" tIns="0" bIns="0" anchor="t">
            <a:spAutoFit/>
          </a:bodyPr>
          <a:lstStyle/>
          <a:p>
            <a:pPr algn="l">
              <a:lnSpc>
                <a:spcPct val="128000"/>
              </a:lnSpc>
              <a:spcAft>
                <a:spcPts val="600"/>
              </a:spcAft>
            </a:pPr>
            <a:r>
              <a:rPr sz="1400" b="0" i="0">
                <a:solidFill>
                  <a:srgbClr val="D7DFEA"/>
                </a:solidFill>
                <a:latin typeface="Calibri"/>
              </a:rPr>
              <a:t>γ takes the same value for all 14 non-peripheral conditions, so multiplying every one of their scores by it is a common positive scaling, and a common positive scaling is rank-invariant. The gate cannot change which condition ranks first. It can only decide whether anything clears the reporting threshold.</a:t>
            </a:r>
          </a:p>
        </p:txBody>
      </p:sp>
      <p:sp>
        <p:nvSpPr>
          <p:cNvPr id="6" name="Rounded Rectangle 5"/>
          <p:cNvSpPr/>
          <p:nvPr/>
        </p:nvSpPr>
        <p:spPr>
          <a:xfrm>
            <a:off x="566928" y="3977639"/>
            <a:ext cx="3503066" cy="201168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59536" y="4187952"/>
            <a:ext cx="2917850" cy="658368"/>
          </a:xfrm>
          <a:prstGeom prst="rect">
            <a:avLst/>
          </a:prstGeom>
          <a:noFill/>
        </p:spPr>
        <p:txBody>
          <a:bodyPr wrap="square" lIns="0" rIns="0" tIns="0" bIns="0" anchor="t">
            <a:spAutoFit/>
          </a:bodyPr>
          <a:lstStyle/>
          <a:p>
            <a:pPr algn="l">
              <a:lnSpc>
                <a:spcPct val="114000"/>
              </a:lnSpc>
              <a:spcAft>
                <a:spcPts val="600"/>
              </a:spcAft>
            </a:pPr>
            <a:r>
              <a:rPr sz="1400" b="1" i="0">
                <a:solidFill>
                  <a:srgbClr val="FFFFFF"/>
                </a:solidFill>
                <a:latin typeface="Cambria"/>
              </a:rPr>
              <a:t>It is not thereby useless</a:t>
            </a:r>
          </a:p>
        </p:txBody>
      </p:sp>
      <p:sp>
        <p:nvSpPr>
          <p:cNvPr id="8" name="TextBox 7"/>
          <p:cNvSpPr txBox="1"/>
          <p:nvPr/>
        </p:nvSpPr>
        <p:spPr>
          <a:xfrm>
            <a:off x="859536" y="4892040"/>
            <a:ext cx="2917850" cy="1005840"/>
          </a:xfrm>
          <a:prstGeom prst="rect">
            <a:avLst/>
          </a:prstGeom>
          <a:noFill/>
        </p:spPr>
        <p:txBody>
          <a:bodyPr wrap="square" lIns="0" rIns="0" tIns="0" bIns="0" anchor="t">
            <a:spAutoFit/>
          </a:bodyPr>
          <a:lstStyle/>
          <a:p>
            <a:pPr algn="l">
              <a:lnSpc>
                <a:spcPct val="124000"/>
              </a:lnSpc>
              <a:spcAft>
                <a:spcPts val="600"/>
              </a:spcAft>
            </a:pPr>
            <a:r>
              <a:rPr sz="1150" b="0" i="0">
                <a:solidFill>
                  <a:srgbClr val="D7DFEA"/>
                </a:solidFill>
                <a:latin typeface="Calibri"/>
              </a:rPr>
              <a:t>Deciding whether to speak is the system's most-used behaviour. 925 of 1000 non-CNS compounds receive no disease call, and the gate is a principal reason. Suppressing 92.5% of irrelevant chemistry is substantial work.</a:t>
            </a:r>
          </a:p>
        </p:txBody>
      </p:sp>
      <p:sp>
        <p:nvSpPr>
          <p:cNvPr id="9" name="Rounded Rectangle 8"/>
          <p:cNvSpPr/>
          <p:nvPr/>
        </p:nvSpPr>
        <p:spPr>
          <a:xfrm>
            <a:off x="4344314" y="3977639"/>
            <a:ext cx="3503066" cy="201168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36922" y="4187952"/>
            <a:ext cx="2917850" cy="658368"/>
          </a:xfrm>
          <a:prstGeom prst="rect">
            <a:avLst/>
          </a:prstGeom>
          <a:noFill/>
        </p:spPr>
        <p:txBody>
          <a:bodyPr wrap="square" lIns="0" rIns="0" tIns="0" bIns="0" anchor="t">
            <a:spAutoFit/>
          </a:bodyPr>
          <a:lstStyle/>
          <a:p>
            <a:pPr algn="l">
              <a:lnSpc>
                <a:spcPct val="114000"/>
              </a:lnSpc>
              <a:spcAft>
                <a:spcPts val="600"/>
              </a:spcAft>
            </a:pPr>
            <a:r>
              <a:rPr sz="1400" b="1" i="0">
                <a:solidFill>
                  <a:srgbClr val="D98324"/>
                </a:solidFill>
                <a:latin typeface="Cambria"/>
              </a:rPr>
              <a:t>But it cannot be credited with the ranking</a:t>
            </a:r>
          </a:p>
        </p:txBody>
      </p:sp>
      <p:sp>
        <p:nvSpPr>
          <p:cNvPr id="11" name="TextBox 10"/>
          <p:cNvSpPr txBox="1"/>
          <p:nvPr/>
        </p:nvSpPr>
        <p:spPr>
          <a:xfrm>
            <a:off x="4636922" y="4892040"/>
            <a:ext cx="2917850" cy="1005840"/>
          </a:xfrm>
          <a:prstGeom prst="rect">
            <a:avLst/>
          </a:prstGeom>
          <a:noFill/>
        </p:spPr>
        <p:txBody>
          <a:bodyPr wrap="square" lIns="0" rIns="0" tIns="0" bIns="0" anchor="t">
            <a:spAutoFit/>
          </a:bodyPr>
          <a:lstStyle/>
          <a:p>
            <a:pPr algn="l">
              <a:lnSpc>
                <a:spcPct val="124000"/>
              </a:lnSpc>
              <a:spcAft>
                <a:spcPts val="600"/>
              </a:spcAft>
            </a:pPr>
            <a:r>
              <a:rPr sz="1150" b="0" i="0">
                <a:solidFill>
                  <a:srgbClr val="D7DFEA"/>
                </a:solidFill>
                <a:latin typeface="Calibri"/>
              </a:rPr>
              <a:t>Any claim that exposure gating sharpens the disease call is arithmetically false. The manuscript wording was changed because of this result.</a:t>
            </a:r>
          </a:p>
        </p:txBody>
      </p:sp>
      <p:sp>
        <p:nvSpPr>
          <p:cNvPr id="12" name="Rounded Rectangle 11"/>
          <p:cNvSpPr/>
          <p:nvPr/>
        </p:nvSpPr>
        <p:spPr>
          <a:xfrm>
            <a:off x="8121700" y="3977639"/>
            <a:ext cx="3503066" cy="2011680"/>
          </a:xfrm>
          <a:prstGeom prst="roundRect">
            <a:avLst>
              <a:gd name="adj" fmla="val 5000"/>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4308" y="4187952"/>
            <a:ext cx="2917850" cy="658368"/>
          </a:xfrm>
          <a:prstGeom prst="rect">
            <a:avLst/>
          </a:prstGeom>
          <a:noFill/>
        </p:spPr>
        <p:txBody>
          <a:bodyPr wrap="square" lIns="0" rIns="0" tIns="0" bIns="0" anchor="t">
            <a:spAutoFit/>
          </a:bodyPr>
          <a:lstStyle/>
          <a:p>
            <a:pPr algn="l">
              <a:lnSpc>
                <a:spcPct val="114000"/>
              </a:lnSpc>
              <a:spcAft>
                <a:spcPts val="600"/>
              </a:spcAft>
            </a:pPr>
            <a:r>
              <a:rPr sz="1400" b="1" i="0">
                <a:solidFill>
                  <a:srgbClr val="FFFFFF"/>
                </a:solidFill>
                <a:latin typeface="Cambria"/>
              </a:rPr>
              <a:t>And the refutation has an unstated exception</a:t>
            </a:r>
          </a:p>
        </p:txBody>
      </p:sp>
      <p:sp>
        <p:nvSpPr>
          <p:cNvPr id="14" name="TextBox 13"/>
          <p:cNvSpPr txBox="1"/>
          <p:nvPr/>
        </p:nvSpPr>
        <p:spPr>
          <a:xfrm>
            <a:off x="8414308" y="4892040"/>
            <a:ext cx="2917850" cy="1005840"/>
          </a:xfrm>
          <a:prstGeom prst="rect">
            <a:avLst/>
          </a:prstGeom>
          <a:noFill/>
        </p:spPr>
        <p:txBody>
          <a:bodyPr wrap="square" lIns="0" rIns="0" tIns="0" bIns="0" anchor="t">
            <a:spAutoFit/>
          </a:bodyPr>
          <a:lstStyle/>
          <a:p>
            <a:pPr algn="l">
              <a:lnSpc>
                <a:spcPct val="124000"/>
              </a:lnSpc>
              <a:spcAft>
                <a:spcPts val="600"/>
              </a:spcAft>
            </a:pPr>
            <a:r>
              <a:rPr sz="1150" b="0" i="0">
                <a:solidFill>
                  <a:srgbClr val="D7DFEA"/>
                </a:solidFill>
                <a:latin typeface="Calibri"/>
              </a:rPr>
              <a:t>Migraine and multiple sclerosis are exempt, so γ = 1 for them while the other 14 are scaled. Between those two groups the gate DOES change the ranking. No document states this.</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inversion/results/H3_gating.csv. Refuted by construction, not by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curated edge weights add nothing measurable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Topology replaced nothing; only the weights were changed</a:t>
            </a:r>
          </a:p>
        </p:txBody>
      </p:sp>
      <p:graphicFrame>
        <p:nvGraphicFramePr>
          <p:cNvPr id="5" name="Chart 4"/>
          <p:cNvGraphicFramePr>
            <a:graphicFrameLocks noGrp="1"/>
          </p:cNvGraphicFramePr>
          <p:nvPr/>
        </p:nvGraphicFramePr>
        <p:xfrm>
          <a:off x="566928" y="1645920"/>
          <a:ext cx="6035040" cy="3794760"/>
        </p:xfrm>
        <a:graphic>
          <a:graphicData uri="http://schemas.openxmlformats.org/drawingml/2006/chart">
            <c:chart xmlns:c="http://schemas.openxmlformats.org/drawingml/2006/chart" r:id="rId2"/>
          </a:graphicData>
        </a:graphic>
      </p:graphicFrame>
      <p:sp>
        <p:nvSpPr>
          <p:cNvPr id="6" name="TextBox 5"/>
          <p:cNvSpPr txBox="1"/>
          <p:nvPr/>
        </p:nvSpPr>
        <p:spPr>
          <a:xfrm>
            <a:off x="6922008" y="1755648"/>
            <a:ext cx="4702759" cy="822960"/>
          </a:xfrm>
          <a:prstGeom prst="rect">
            <a:avLst/>
          </a:prstGeom>
          <a:noFill/>
        </p:spPr>
        <p:txBody>
          <a:bodyPr wrap="square" lIns="0" rIns="0" tIns="0" bIns="0" anchor="t">
            <a:spAutoFit/>
          </a:bodyPr>
          <a:lstStyle/>
          <a:p>
            <a:pPr algn="l">
              <a:lnSpc>
                <a:spcPct val="124000"/>
              </a:lnSpc>
              <a:spcAft>
                <a:spcPts val="600"/>
              </a:spcAft>
            </a:pPr>
            <a:r>
              <a:rPr sz="1500" b="1" i="0">
                <a:solidFill>
                  <a:srgbClr val="1F3A5F"/>
                </a:solidFill>
                <a:latin typeface="Calibri"/>
              </a:rPr>
              <a:t>The spread from curated to permuted is 0.0027.</a:t>
            </a:r>
          </a:p>
        </p:txBody>
      </p:sp>
      <p:sp>
        <p:nvSpPr>
          <p:cNvPr id="7" name="Rounded Rectangle 6"/>
          <p:cNvSpPr/>
          <p:nvPr/>
        </p:nvSpPr>
        <p:spPr>
          <a:xfrm>
            <a:off x="6922008" y="2651760"/>
            <a:ext cx="4702759" cy="15087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42048" y="2852928"/>
            <a:ext cx="4062679" cy="11430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On the 7,008 compounds the evaluation uses, replacing hand-assigned weights with uniform ones changes the top-3 outcome for about 3 compounds. Permuting them changes about 19.</a:t>
            </a:r>
          </a:p>
        </p:txBody>
      </p:sp>
      <p:sp>
        <p:nvSpPr>
          <p:cNvPr id="9" name="TextBox 8"/>
          <p:cNvSpPr txBox="1"/>
          <p:nvPr/>
        </p:nvSpPr>
        <p:spPr>
          <a:xfrm>
            <a:off x="6922008" y="4389120"/>
            <a:ext cx="4702759"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Under a maximum, a weight matters only by scaling the winning term or changing which term wins. With a sparse firing pattern the common case is one engaged target, where the weight is a pure scale factor.</a:t>
            </a:r>
          </a:p>
        </p:txBody>
      </p:sp>
      <p:sp>
        <p:nvSpPr>
          <p:cNvPr id="10" name="TextBox 9"/>
          <p:cNvSpPr txBox="1"/>
          <p:nvPr/>
        </p:nvSpPr>
        <p:spPr>
          <a:xfrm>
            <a:off x="566928" y="5669280"/>
            <a:ext cx="11057839" cy="457200"/>
          </a:xfrm>
          <a:prstGeom prst="rect">
            <a:avLst/>
          </a:prstGeom>
          <a:noFill/>
        </p:spPr>
        <p:txBody>
          <a:bodyPr wrap="square" lIns="0" rIns="0" tIns="0" bIns="0" anchor="t">
            <a:spAutoFit/>
          </a:bodyPr>
          <a:lstStyle/>
          <a:p>
            <a:pPr algn="l">
              <a:lnSpc>
                <a:spcPct val="124000"/>
              </a:lnSpc>
              <a:spcAft>
                <a:spcPts val="600"/>
              </a:spcAft>
            </a:pPr>
            <a:r>
              <a:rPr sz="1350" b="1" i="0">
                <a:solidFill>
                  <a:srgbClr val="D98324"/>
                </a:solidFill>
                <a:latin typeface="Calibri"/>
              </a:rPr>
              <a:t>The information lies in which target connects to which condition, not in how strongly. The weights are structure, not tuned parameters, and no claim is made for them.</a:t>
            </a:r>
          </a:p>
        </p:txBody>
      </p:sp>
      <p:sp>
        <p:nvSpPr>
          <p:cNvPr id="11" name="TextBox 1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inversion/results/H2_weight_ablation.csv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disease layer does establish</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hypotheses, three different questions, one narrow claim</a:t>
            </a:r>
          </a:p>
        </p:txBody>
      </p:sp>
      <p:sp>
        <p:nvSpPr>
          <p:cNvPr id="5" name="Rounded Rectangle 4"/>
          <p:cNvSpPr/>
          <p:nvPr/>
        </p:nvSpPr>
        <p:spPr>
          <a:xfrm>
            <a:off x="566928" y="1645920"/>
            <a:ext cx="11057839" cy="135331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86968" y="2103120"/>
            <a:ext cx="420624" cy="42062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H1</a:t>
            </a:r>
          </a:p>
        </p:txBody>
      </p:sp>
      <p:sp>
        <p:nvSpPr>
          <p:cNvPr id="7" name="TextBox 6"/>
          <p:cNvSpPr txBox="1"/>
          <p:nvPr/>
        </p:nvSpPr>
        <p:spPr>
          <a:xfrm>
            <a:off x="1618488" y="1901952"/>
            <a:ext cx="3200400" cy="777240"/>
          </a:xfrm>
          <a:prstGeom prst="rect">
            <a:avLst/>
          </a:prstGeom>
          <a:noFill/>
        </p:spPr>
        <p:txBody>
          <a:bodyPr wrap="square" lIns="0" rIns="0" tIns="0" bIns="0" anchor="t">
            <a:spAutoFit/>
          </a:bodyPr>
          <a:lstStyle/>
          <a:p>
            <a:pPr algn="l">
              <a:lnSpc>
                <a:spcPct val="114000"/>
              </a:lnSpc>
              <a:spcAft>
                <a:spcPts val="600"/>
              </a:spcAft>
            </a:pPr>
            <a:r>
              <a:rPr sz="1400" b="1" i="0">
                <a:solidFill>
                  <a:srgbClr val="1F3A5F"/>
                </a:solidFill>
                <a:latin typeface="Cambria"/>
              </a:rPr>
              <a:t>against the project's own target-to-disease map</a:t>
            </a:r>
          </a:p>
        </p:txBody>
      </p:sp>
      <p:sp>
        <p:nvSpPr>
          <p:cNvPr id="8" name="TextBox 7"/>
          <p:cNvSpPr txBox="1"/>
          <p:nvPr/>
        </p:nvSpPr>
        <p:spPr>
          <a:xfrm>
            <a:off x="5093208" y="1847088"/>
            <a:ext cx="6211519" cy="1005840"/>
          </a:xfrm>
          <a:prstGeom prst="rect">
            <a:avLst/>
          </a:prstGeom>
          <a:noFill/>
        </p:spPr>
        <p:txBody>
          <a:bodyPr wrap="square" lIns="0" rIns="0" tIns="0" bIns="0" anchor="t">
            <a:spAutoFit/>
          </a:bodyPr>
          <a:lstStyle/>
          <a:p>
            <a:pPr algn="l">
              <a:lnSpc>
                <a:spcPct val="124000"/>
              </a:lnSpc>
              <a:spcAft>
                <a:spcPts val="600"/>
              </a:spcAft>
            </a:pPr>
            <a:r>
              <a:rPr sz="1200" b="0" i="0">
                <a:solidFill>
                  <a:srgbClr val="0F1A2E"/>
                </a:solidFill>
                <a:latin typeface="Calibri"/>
              </a:rPr>
              <a:t>Top-3 accuracy 0.7901 on 7,008 compounds, against a permutation null of 0.1625 (p = 0.005) and a frequency null of 0.5508. Beats both. But it asks whether the layer recovers the condition its own graph assigns, which is internal consistency rather than a test against the world.</a:t>
            </a:r>
          </a:p>
        </p:txBody>
      </p:sp>
      <p:sp>
        <p:nvSpPr>
          <p:cNvPr id="9" name="Rounded Rectangle 8"/>
          <p:cNvSpPr/>
          <p:nvPr/>
        </p:nvSpPr>
        <p:spPr>
          <a:xfrm>
            <a:off x="566928" y="3127248"/>
            <a:ext cx="11057839" cy="135331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86968" y="3584448"/>
            <a:ext cx="420624" cy="42062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H6</a:t>
            </a:r>
          </a:p>
        </p:txBody>
      </p:sp>
      <p:sp>
        <p:nvSpPr>
          <p:cNvPr id="11" name="TextBox 10"/>
          <p:cNvSpPr txBox="1"/>
          <p:nvPr/>
        </p:nvSpPr>
        <p:spPr>
          <a:xfrm>
            <a:off x="1618488" y="3383280"/>
            <a:ext cx="3200400" cy="777240"/>
          </a:xfrm>
          <a:prstGeom prst="rect">
            <a:avLst/>
          </a:prstGeom>
          <a:noFill/>
        </p:spPr>
        <p:txBody>
          <a:bodyPr wrap="square" lIns="0" rIns="0" tIns="0" bIns="0" anchor="t">
            <a:spAutoFit/>
          </a:bodyPr>
          <a:lstStyle/>
          <a:p>
            <a:pPr algn="l">
              <a:lnSpc>
                <a:spcPct val="114000"/>
              </a:lnSpc>
              <a:spcAft>
                <a:spcPts val="600"/>
              </a:spcAft>
            </a:pPr>
            <a:r>
              <a:rPr sz="1400" b="1" i="0">
                <a:solidFill>
                  <a:srgbClr val="D98324"/>
                </a:solidFill>
                <a:latin typeface="Cambria"/>
              </a:rPr>
              <a:t>against real clinical indications</a:t>
            </a:r>
          </a:p>
        </p:txBody>
      </p:sp>
      <p:sp>
        <p:nvSpPr>
          <p:cNvPr id="12" name="TextBox 11"/>
          <p:cNvSpPr txBox="1"/>
          <p:nvPr/>
        </p:nvSpPr>
        <p:spPr>
          <a:xfrm>
            <a:off x="5093208" y="3328416"/>
            <a:ext cx="6211519" cy="1005840"/>
          </a:xfrm>
          <a:prstGeom prst="rect">
            <a:avLst/>
          </a:prstGeom>
          <a:noFill/>
        </p:spPr>
        <p:txBody>
          <a:bodyPr wrap="square" lIns="0" rIns="0" tIns="0" bIns="0" anchor="t">
            <a:spAutoFit/>
          </a:bodyPr>
          <a:lstStyle/>
          <a:p>
            <a:pPr algn="l">
              <a:lnSpc>
                <a:spcPct val="124000"/>
              </a:lnSpc>
              <a:spcAft>
                <a:spcPts val="600"/>
              </a:spcAft>
            </a:pPr>
            <a:r>
              <a:rPr sz="1200" b="0" i="0">
                <a:solidFill>
                  <a:srgbClr val="0F1A2E"/>
                </a:solidFill>
                <a:latin typeface="Calibri"/>
              </a:rPr>
              <a:t>On the 162 drugs whose structure appears nowhere in training, top-3 accuracy 0.3519 against a permutation null of 0.1449 and a frequency null of 0.6543. Beats the permutation null decisively, so the output depends on the compound. Does not beat a constant answer. Judging the ranking alone raises it to 0.4506.</a:t>
            </a:r>
          </a:p>
        </p:txBody>
      </p:sp>
      <p:sp>
        <p:nvSpPr>
          <p:cNvPr id="13" name="Rounded Rectangle 12"/>
          <p:cNvSpPr/>
          <p:nvPr/>
        </p:nvSpPr>
        <p:spPr>
          <a:xfrm>
            <a:off x="566928" y="4608576"/>
            <a:ext cx="11057839" cy="135331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86968" y="5065776"/>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H9</a:t>
            </a:r>
          </a:p>
        </p:txBody>
      </p:sp>
      <p:sp>
        <p:nvSpPr>
          <p:cNvPr id="15" name="TextBox 14"/>
          <p:cNvSpPr txBox="1"/>
          <p:nvPr/>
        </p:nvSpPr>
        <p:spPr>
          <a:xfrm>
            <a:off x="1618488" y="4864608"/>
            <a:ext cx="3200400" cy="777240"/>
          </a:xfrm>
          <a:prstGeom prst="rect">
            <a:avLst/>
          </a:prstGeom>
          <a:noFill/>
        </p:spPr>
        <p:txBody>
          <a:bodyPr wrap="square" lIns="0" rIns="0" tIns="0" bIns="0" anchor="t">
            <a:spAutoFit/>
          </a:bodyPr>
          <a:lstStyle/>
          <a:p>
            <a:pPr algn="l">
              <a:lnSpc>
                <a:spcPct val="114000"/>
              </a:lnSpc>
              <a:spcAft>
                <a:spcPts val="600"/>
              </a:spcAft>
            </a:pPr>
            <a:r>
              <a:rPr sz="1400" b="1" i="0">
                <a:solidFill>
                  <a:srgbClr val="1C7293"/>
                </a:solidFill>
                <a:latin typeface="Cambria"/>
              </a:rPr>
              <a:t>on metrics a constant predictor cannot pass</a:t>
            </a:r>
          </a:p>
        </p:txBody>
      </p:sp>
      <p:sp>
        <p:nvSpPr>
          <p:cNvPr id="16" name="TextBox 15"/>
          <p:cNvSpPr txBox="1"/>
          <p:nvPr/>
        </p:nvSpPr>
        <p:spPr>
          <a:xfrm>
            <a:off x="5093208" y="4809744"/>
            <a:ext cx="6211519" cy="1005840"/>
          </a:xfrm>
          <a:prstGeom prst="rect">
            <a:avLst/>
          </a:prstGeom>
          <a:noFill/>
        </p:spPr>
        <p:txBody>
          <a:bodyPr wrap="square" lIns="0" rIns="0" tIns="0" bIns="0" anchor="t">
            <a:spAutoFit/>
          </a:bodyPr>
          <a:lstStyle/>
          <a:p>
            <a:pPr algn="l">
              <a:lnSpc>
                <a:spcPct val="124000"/>
              </a:lnSpc>
              <a:spcAft>
                <a:spcPts val="600"/>
              </a:spcAft>
            </a:pPr>
            <a:r>
              <a:rPr sz="1200" b="0" i="0">
                <a:solidFill>
                  <a:srgbClr val="0F1A2E"/>
                </a:solidFill>
                <a:latin typeface="Calibri"/>
              </a:rPr>
              <a:t>Mean per-indication AUROC 0.6158 against 0.500, beating chance on 7 of 9. Macro-averaged top-3 recall 0.3583 against 0.3333. The layer is doing something.</a:t>
            </a:r>
          </a:p>
        </p:txBody>
      </p:sp>
      <p:sp>
        <p:nvSpPr>
          <p:cNvPr id="17" name="TextBox 16"/>
          <p:cNvSpPr txBox="1"/>
          <p:nvPr/>
        </p:nvSpPr>
        <p:spPr>
          <a:xfrm>
            <a:off x="566928" y="5989320"/>
            <a:ext cx="11057839" cy="365760"/>
          </a:xfrm>
          <a:prstGeom prst="rect">
            <a:avLst/>
          </a:prstGeom>
          <a:noFill/>
        </p:spPr>
        <p:txBody>
          <a:bodyPr wrap="square" lIns="0" rIns="0" tIns="0" bIns="0" anchor="t">
            <a:spAutoFit/>
          </a:bodyPr>
          <a:lstStyle/>
          <a:p>
            <a:pPr algn="l">
              <a:spcAft>
                <a:spcPts val="600"/>
              </a:spcAft>
            </a:pPr>
            <a:r>
              <a:rPr sz="1300" b="0" i="1">
                <a:solidFill>
                  <a:srgbClr val="5F6B7A"/>
                </a:solidFill>
                <a:latin typeface="Calibri"/>
              </a:rPr>
              <a:t>All three are true at once. The honest claim is that the layer ranks mechanisms, not that it predicts indications.</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inversion/results/H1_disease_layer.csv, H6_clinical_indication.csv, H9_disease_discrimination_summary.csv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spread matters more than the mean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Two of the nine conditions are not being predicted at all</a:t>
            </a:r>
          </a:p>
        </p:txBody>
      </p:sp>
      <p:graphicFrame>
        <p:nvGraphicFramePr>
          <p:cNvPr id="5" name="Chart 4"/>
          <p:cNvGraphicFramePr>
            <a:graphicFrameLocks noGrp="1"/>
          </p:cNvGraphicFramePr>
          <p:nvPr/>
        </p:nvGraphicFramePr>
        <p:xfrm>
          <a:off x="566928" y="1627632"/>
          <a:ext cx="7406640" cy="3931920"/>
        </p:xfrm>
        <a:graphic>
          <a:graphicData uri="http://schemas.openxmlformats.org/drawingml/2006/chart">
            <c:chart xmlns:c="http://schemas.openxmlformats.org/drawingml/2006/chart" r:id="rId2"/>
          </a:graphicData>
        </a:graphic>
      </p:graphicFrame>
      <p:sp>
        <p:nvSpPr>
          <p:cNvPr id="6" name="TextBox 5"/>
          <p:cNvSpPr txBox="1"/>
          <p:nvPr/>
        </p:nvSpPr>
        <p:spPr>
          <a:xfrm>
            <a:off x="8247888" y="1755648"/>
            <a:ext cx="3376879" cy="1097280"/>
          </a:xfrm>
          <a:prstGeom prst="rect">
            <a:avLst/>
          </a:prstGeom>
          <a:noFill/>
        </p:spPr>
        <p:txBody>
          <a:bodyPr wrap="square" lIns="0" rIns="0" tIns="0" bIns="0" anchor="t">
            <a:spAutoFit/>
          </a:bodyPr>
          <a:lstStyle/>
          <a:p>
            <a:pPr algn="l">
              <a:lnSpc>
                <a:spcPct val="126000"/>
              </a:lnSpc>
              <a:spcAft>
                <a:spcPts val="600"/>
              </a:spcAft>
            </a:pPr>
            <a:r>
              <a:rPr sz="1350" b="1" i="0">
                <a:solidFill>
                  <a:srgbClr val="1F3A5F"/>
                </a:solidFill>
                <a:latin typeface="Calibri"/>
              </a:rPr>
              <a:t>Decisive for depression at 0.7981 and psychosis. Marginal for ADHD at 0.5006. At or below chance for sleep and epilepsy.</a:t>
            </a:r>
          </a:p>
        </p:txBody>
      </p:sp>
      <p:sp>
        <p:nvSpPr>
          <p:cNvPr id="7" name="Rounded Rectangle 6"/>
          <p:cNvSpPr/>
          <p:nvPr/>
        </p:nvSpPr>
        <p:spPr>
          <a:xfrm>
            <a:off x="8247888" y="3017520"/>
            <a:ext cx="3376879" cy="1691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40496" y="3218688"/>
            <a:ext cx="2782519" cy="132588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Publishing the mean without this table would conceal that two of the nine conditions are not being predicted at all. A constant predictor scores 0.500 on every row by construction.</a:t>
            </a:r>
          </a:p>
        </p:txBody>
      </p:sp>
      <p:sp>
        <p:nvSpPr>
          <p:cNvPr id="9" name="TextBox 8"/>
          <p:cNvSpPr txBox="1"/>
          <p:nvPr/>
        </p:nvSpPr>
        <p:spPr>
          <a:xfrm>
            <a:off x="8247888" y="4937760"/>
            <a:ext cx="3376879" cy="1097280"/>
          </a:xfrm>
          <a:prstGeom prst="rect">
            <a:avLst/>
          </a:prstGeom>
          <a:noFill/>
        </p:spPr>
        <p:txBody>
          <a:bodyPr wrap="square" lIns="0" rIns="0" tIns="0" bIns="0" anchor="t">
            <a:spAutoFit/>
          </a:bodyPr>
          <a:lstStyle/>
          <a:p>
            <a:pPr algn="l">
              <a:lnSpc>
                <a:spcPct val="126000"/>
              </a:lnSpc>
              <a:spcAft>
                <a:spcPts val="600"/>
              </a:spcAft>
            </a:pPr>
            <a:r>
              <a:rPr sz="1200" b="0" i="0">
                <a:solidFill>
                  <a:srgbClr val="5F6B7A"/>
                </a:solidFill>
                <a:latin typeface="Calibri"/>
              </a:rPr>
              <a:t>Epilepsy is the informative failure: most approved antiepileptics are small, simple and low-affinity, which is the chemistry that sits below a strict cut.</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inversion/results/H9_disease_discrimination.csv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097280"/>
            <a:ext cx="7680960" cy="45720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Chapter 7, honestly summarised</a:t>
            </a:r>
          </a:p>
        </p:txBody>
      </p:sp>
      <p:sp>
        <p:nvSpPr>
          <p:cNvPr id="3" name="Oval 2"/>
          <p:cNvSpPr/>
          <p:nvPr/>
        </p:nvSpPr>
        <p:spPr>
          <a:xfrm>
            <a:off x="566928" y="1709928"/>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1</a:t>
            </a:r>
          </a:p>
        </p:txBody>
      </p:sp>
      <p:sp>
        <p:nvSpPr>
          <p:cNvPr id="4" name="TextBox 3"/>
          <p:cNvSpPr txBox="1"/>
          <p:nvPr/>
        </p:nvSpPr>
        <p:spPr>
          <a:xfrm>
            <a:off x="1097280" y="1673352"/>
            <a:ext cx="10149840" cy="777240"/>
          </a:xfrm>
          <a:prstGeom prst="rect">
            <a:avLst/>
          </a:prstGeom>
          <a:noFill/>
        </p:spPr>
        <p:txBody>
          <a:bodyPr wrap="square" lIns="0" rIns="0" tIns="0" bIns="0" anchor="t">
            <a:spAutoFit/>
          </a:bodyPr>
          <a:lstStyle/>
          <a:p>
            <a:pPr algn="l">
              <a:lnSpc>
                <a:spcPct val="128000"/>
              </a:lnSpc>
              <a:spcAft>
                <a:spcPts val="600"/>
              </a:spcAft>
            </a:pPr>
            <a:r>
              <a:rPr sz="1500" b="0" i="0">
                <a:solidFill>
                  <a:srgbClr val="D98324"/>
                </a:solidFill>
                <a:latin typeface="Calibri"/>
              </a:rPr>
              <a:t>Exposure gating works as a filter and cannot work as a discriminator</a:t>
            </a:r>
          </a:p>
        </p:txBody>
      </p:sp>
      <p:sp>
        <p:nvSpPr>
          <p:cNvPr id="5" name="Oval 4"/>
          <p:cNvSpPr/>
          <p:nvPr/>
        </p:nvSpPr>
        <p:spPr>
          <a:xfrm>
            <a:off x="566928" y="2578608"/>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2</a:t>
            </a:r>
          </a:p>
        </p:txBody>
      </p:sp>
      <p:sp>
        <p:nvSpPr>
          <p:cNvPr id="6" name="TextBox 5"/>
          <p:cNvSpPr txBox="1"/>
          <p:nvPr/>
        </p:nvSpPr>
        <p:spPr>
          <a:xfrm>
            <a:off x="1097280" y="2542032"/>
            <a:ext cx="10149840" cy="777240"/>
          </a:xfrm>
          <a:prstGeom prst="rect">
            <a:avLst/>
          </a:prstGeom>
          <a:noFill/>
        </p:spPr>
        <p:txBody>
          <a:bodyPr wrap="square" lIns="0" rIns="0" tIns="0" bIns="0" anchor="t">
            <a:spAutoFit/>
          </a:bodyPr>
          <a:lstStyle/>
          <a:p>
            <a:pPr algn="l">
              <a:lnSpc>
                <a:spcPct val="128000"/>
              </a:lnSpc>
              <a:spcAft>
                <a:spcPts val="600"/>
              </a:spcAft>
            </a:pPr>
            <a:r>
              <a:rPr sz="1500" b="0" i="0">
                <a:solidFill>
                  <a:srgbClr val="D98324"/>
                </a:solidFill>
                <a:latin typeface="Calibri"/>
              </a:rPr>
              <a:t>The curated edge weights carry no measurable information; the graph's content is its topology</a:t>
            </a:r>
          </a:p>
        </p:txBody>
      </p:sp>
      <p:sp>
        <p:nvSpPr>
          <p:cNvPr id="7" name="Oval 6"/>
          <p:cNvSpPr/>
          <p:nvPr/>
        </p:nvSpPr>
        <p:spPr>
          <a:xfrm>
            <a:off x="566928" y="3447288"/>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3</a:t>
            </a:r>
          </a:p>
        </p:txBody>
      </p:sp>
      <p:sp>
        <p:nvSpPr>
          <p:cNvPr id="8" name="TextBox 7"/>
          <p:cNvSpPr txBox="1"/>
          <p:nvPr/>
        </p:nvSpPr>
        <p:spPr>
          <a:xfrm>
            <a:off x="1097280" y="3410712"/>
            <a:ext cx="10149840" cy="777240"/>
          </a:xfrm>
          <a:prstGeom prst="rect">
            <a:avLst/>
          </a:prstGeom>
          <a:noFill/>
        </p:spPr>
        <p:txBody>
          <a:bodyPr wrap="square" lIns="0" rIns="0" tIns="0" bIns="0" anchor="t">
            <a:spAutoFit/>
          </a:bodyPr>
          <a:lstStyle/>
          <a:p>
            <a:pPr algn="l">
              <a:lnSpc>
                <a:spcPct val="128000"/>
              </a:lnSpc>
              <a:spcAft>
                <a:spcPts val="600"/>
              </a:spcAft>
            </a:pPr>
            <a:r>
              <a:rPr sz="1500" b="0" i="0">
                <a:solidFill>
                  <a:srgbClr val="1C7293"/>
                </a:solidFill>
                <a:latin typeface="Calibri"/>
              </a:rPr>
              <a:t>The layer carries real information about mechanism, 0.7901 against a permutation null of 0.1625</a:t>
            </a:r>
          </a:p>
        </p:txBody>
      </p:sp>
      <p:sp>
        <p:nvSpPr>
          <p:cNvPr id="9" name="Oval 8"/>
          <p:cNvSpPr/>
          <p:nvPr/>
        </p:nvSpPr>
        <p:spPr>
          <a:xfrm>
            <a:off x="566928" y="4315968"/>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4</a:t>
            </a:r>
          </a:p>
        </p:txBody>
      </p:sp>
      <p:sp>
        <p:nvSpPr>
          <p:cNvPr id="10" name="TextBox 9"/>
          <p:cNvSpPr txBox="1"/>
          <p:nvPr/>
        </p:nvSpPr>
        <p:spPr>
          <a:xfrm>
            <a:off x="1097280" y="4279392"/>
            <a:ext cx="10149840" cy="777240"/>
          </a:xfrm>
          <a:prstGeom prst="rect">
            <a:avLst/>
          </a:prstGeom>
          <a:noFill/>
        </p:spPr>
        <p:txBody>
          <a:bodyPr wrap="square" lIns="0" rIns="0" tIns="0" bIns="0" anchor="t">
            <a:spAutoFit/>
          </a:bodyPr>
          <a:lstStyle/>
          <a:p>
            <a:pPr algn="l">
              <a:lnSpc>
                <a:spcPct val="128000"/>
              </a:lnSpc>
              <a:spcAft>
                <a:spcPts val="600"/>
              </a:spcAft>
            </a:pPr>
            <a:r>
              <a:rPr sz="1500" b="0" i="0">
                <a:solidFill>
                  <a:srgbClr val="1C7293"/>
                </a:solidFill>
                <a:latin typeface="Calibri"/>
              </a:rPr>
              <a:t>It ranks conditions better than chance for 7 of 9, from 0.7981 down to 0.4898</a:t>
            </a:r>
          </a:p>
        </p:txBody>
      </p:sp>
      <p:sp>
        <p:nvSpPr>
          <p:cNvPr id="11" name="Oval 10"/>
          <p:cNvSpPr/>
          <p:nvPr/>
        </p:nvSpPr>
        <p:spPr>
          <a:xfrm>
            <a:off x="566928" y="5184648"/>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5</a:t>
            </a:r>
          </a:p>
        </p:txBody>
      </p:sp>
      <p:sp>
        <p:nvSpPr>
          <p:cNvPr id="12" name="TextBox 11"/>
          <p:cNvSpPr txBox="1"/>
          <p:nvPr/>
        </p:nvSpPr>
        <p:spPr>
          <a:xfrm>
            <a:off x="1097280" y="5148072"/>
            <a:ext cx="10149840" cy="777240"/>
          </a:xfrm>
          <a:prstGeom prst="rect">
            <a:avLst/>
          </a:prstGeom>
          <a:noFill/>
        </p:spPr>
        <p:txBody>
          <a:bodyPr wrap="square" lIns="0" rIns="0" tIns="0" bIns="0" anchor="t">
            <a:spAutoFit/>
          </a:bodyPr>
          <a:lstStyle/>
          <a:p>
            <a:pPr algn="l">
              <a:lnSpc>
                <a:spcPct val="128000"/>
              </a:lnSpc>
              <a:spcAft>
                <a:spcPts val="600"/>
              </a:spcAft>
            </a:pPr>
            <a:r>
              <a:rPr sz="1500" b="0" i="0">
                <a:solidFill>
                  <a:srgbClr val="FFFFFF"/>
                </a:solidFill>
                <a:latin typeface="Calibri"/>
              </a:rPr>
              <a:t>It does not predict indication, and is correctly described as a route from a mechanism to the conditions it touches</a:t>
            </a:r>
          </a:p>
        </p:txBody>
      </p:sp>
      <p:sp>
        <p:nvSpPr>
          <p:cNvPr id="13" name="TextBox 12"/>
          <p:cNvSpPr txBox="1"/>
          <p:nvPr/>
        </p:nvSpPr>
        <p:spPr>
          <a:xfrm>
            <a:off x="566928" y="5989320"/>
            <a:ext cx="10515600" cy="457200"/>
          </a:xfrm>
          <a:prstGeom prst="rect">
            <a:avLst/>
          </a:prstGeom>
          <a:noFill/>
        </p:spPr>
        <p:txBody>
          <a:bodyPr wrap="square" lIns="0" rIns="0" tIns="0" bIns="0" anchor="t">
            <a:spAutoFit/>
          </a:bodyPr>
          <a:lstStyle/>
          <a:p>
            <a:pPr algn="l">
              <a:lnSpc>
                <a:spcPct val="124000"/>
              </a:lnSpc>
              <a:spcAft>
                <a:spcPts val="600"/>
              </a:spcAft>
            </a:pPr>
            <a:r>
              <a:rPr sz="1350" b="0" i="1">
                <a:solidFill>
                  <a:srgbClr val="D7DFEA"/>
                </a:solidFill>
                <a:latin typeface="Calibri"/>
              </a:rPr>
              <a:t>The maximum-not-sum rule is the one component whose stated justification survived testing, and it survived because H8 supplied the evidence for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