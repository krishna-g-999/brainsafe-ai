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compounds</c:v>
                </c:pt>
              </c:strCache>
            </c:strRef>
          </c:tx>
          <c:spPr>
            <a:solidFill>
              <a:srgbClr val="1F3A5F"/>
            </a:solidFill>
          </c:spPr>
          <c:cat>
            <c:strRef>
              <c:f>Sheet1!$A$2:$A$4</c:f>
              <c:strCache>
                <c:ptCount val="3"/>
                <c:pt idx="0">
                  <c:v>decoy</c:v>
                </c:pt>
                <c:pt idx="1">
                  <c:v>threshold</c:v>
                </c:pt>
                <c:pt idx="2">
                  <c:v>evaluation</c:v>
                </c:pt>
              </c:strCache>
            </c:strRef>
          </c:cat>
          <c:val>
            <c:numRef>
              <c:f>Sheet1!$B$2:$B$4</c:f>
              <c:numCache>
                <c:formatCode>General</c:formatCode>
                <c:ptCount val="3"/>
                <c:pt idx="0">
                  <c:v>95515</c:v>
                </c:pt>
                <c:pt idx="1">
                  <c:v>31694</c:v>
                </c:pt>
                <c:pt idx="2">
                  <c:v>31681</c:v>
                </c:pt>
              </c:numCache>
            </c:numRef>
          </c:val>
        </c:ser>
        <c:gapWidth val="70"/>
        <c:axId val="-2068027336"/>
        <c:axId val="-2113994440"/>
      </c:barChart>
      <c:catAx>
        <c:axId val="-2068027336"/>
        <c:scaling>
          <c:orientation val="minMax"/>
        </c:scaling>
        <c:delete val="0"/>
        <c:axPos val="b"/>
        <c:majorTickMark val="out"/>
        <c:minorTickMark val="none"/>
        <c:tickLblPos val="nextTo"/>
        <c:txPr>
          <a:bodyPr/>
          <a:lstStyle/>
          <a:p>
            <a:pPr>
              <a:defRPr sz="1100">
                <a:solidFill>
                  <a:srgbClr val="5F6B7A"/>
                </a:solidFill>
              </a:defRPr>
            </a:pPr>
          </a:p>
        </c:txPr>
        <c:crossAx val="-2113994440"/>
        <c:crosses val="autoZero"/>
        <c:auto val="1"/>
        <c:lblAlgn val="ctr"/>
        <c:lblOffset val="100"/>
        <c:noMultiLvlLbl val="0"/>
      </c:catAx>
      <c:valAx>
        <c:axId val="-2113994440"/>
        <c:scaling/>
        <c:delete val="0"/>
        <c:axPos val="l"/>
        <c:majorGridlines>
          <c:spPr>
            <a:ln>
              <a:solidFill>
                <a:srgbClr val="E2E8F0"/>
              </a:solidFill>
            </a:ln>
          </c:spPr>
        </c:majorGridlines>
        <c:majorTickMark val="out"/>
        <c:minorTickMark val="none"/>
        <c:tickLblPos val="nextTo"/>
        <c:txPr>
          <a:bodyPr/>
          <a:lstStyle/>
          <a:p>
            <a:pPr>
              <a:defRPr sz="1000">
                <a:solidFill>
                  <a:srgbClr val="5F6B7A"/>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contains a correction to a published number. Do not save it for the end of the viva; it is better volunteered.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last line slowly. It is the argument for the whole partition.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hash rather than a shuffle: assignment does not depend on library order, and adding compounds later leaves every existing assignment untouched, so a threshold set today stays comparable with a rate measured next year.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Nav1.1 was later withdrawn, but the constraint it motivated applies to every endpoint.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systematic direction is not an error: for 39 of 47 endpoints the binding constraint is the measured-inactive quantile, a much stricter cut than a background quantile.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correction to a published number. The panel's behaviour is unchanged: no threshold moves and no prediction changes. What changes is the number describing them.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convergence with H7 is the strongest evidence that the held-out figure is the right one. Two unrelated constructions land within 0.03 of each other.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MIN_SENS is 0.50 and the AUROC gate is 0.75. Both are stated in the code, not tuned per endpoint.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of the 47 thresholds also differ between the registry and final_thresholds.csv, at D3, 5-HT1A, Nav1.5 and SIRT1. That is correct behaviour, the registry holding the later value, but nothing asserts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here. The design principle that protected one number is the one that was missing for the other.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A2E"/>
        </a:solidFill>
        <a:effectLst/>
      </p:bgPr>
    </p:bg>
    <p:spTree>
      <p:nvGrpSpPr>
        <p:cNvPr id="1" name=""/>
        <p:cNvGrpSpPr/>
        <p:nvPr/>
      </p:nvGrpSpPr>
      <p:grpSpPr/>
      <p:sp>
        <p:nvSpPr>
          <p:cNvPr id="2" name="TextBox 1"/>
          <p:cNvSpPr txBox="1"/>
          <p:nvPr/>
        </p:nvSpPr>
        <p:spPr>
          <a:xfrm>
            <a:off x="566928" y="1591056"/>
            <a:ext cx="11057839" cy="457200"/>
          </a:xfrm>
          <a:prstGeom prst="rect">
            <a:avLst/>
          </a:prstGeom>
          <a:noFill/>
        </p:spPr>
        <p:txBody>
          <a:bodyPr wrap="square" lIns="0" rIns="0" tIns="0" bIns="0" anchor="t">
            <a:spAutoFit/>
          </a:bodyPr>
          <a:lstStyle/>
          <a:p>
            <a:pPr algn="l">
              <a:spcAft>
                <a:spcPts val="600"/>
              </a:spcAft>
            </a:pPr>
            <a:r>
              <a:rPr sz="1600" b="1" i="0">
                <a:solidFill>
                  <a:srgbClr val="1C7293"/>
                </a:solidFill>
                <a:latin typeface="Calibri"/>
              </a:rPr>
              <a:t>Chapter 5</a:t>
            </a:r>
          </a:p>
        </p:txBody>
      </p:sp>
      <p:sp>
        <p:nvSpPr>
          <p:cNvPr id="3" name="TextBox 2"/>
          <p:cNvSpPr txBox="1"/>
          <p:nvPr/>
        </p:nvSpPr>
        <p:spPr>
          <a:xfrm>
            <a:off x="566928" y="1993392"/>
            <a:ext cx="10143439" cy="1463040"/>
          </a:xfrm>
          <a:prstGeom prst="rect">
            <a:avLst/>
          </a:prstGeom>
          <a:noFill/>
        </p:spPr>
        <p:txBody>
          <a:bodyPr wrap="square" lIns="0" rIns="0" tIns="0" bIns="0" anchor="t">
            <a:spAutoFit/>
          </a:bodyPr>
          <a:lstStyle/>
          <a:p>
            <a:pPr algn="l">
              <a:lnSpc>
                <a:spcPct val="108000"/>
              </a:lnSpc>
              <a:spcAft>
                <a:spcPts val="600"/>
              </a:spcAft>
            </a:pPr>
            <a:r>
              <a:rPr sz="3800" b="1" i="0">
                <a:solidFill>
                  <a:srgbClr val="FFFFFF"/>
                </a:solidFill>
                <a:latin typeface="Cambria"/>
              </a:rPr>
              <a:t>Thresholds, and the three disjoint background pools</a:t>
            </a:r>
          </a:p>
        </p:txBody>
      </p:sp>
      <p:sp>
        <p:nvSpPr>
          <p:cNvPr id="4" name="TextBox 3"/>
          <p:cNvSpPr txBox="1"/>
          <p:nvPr/>
        </p:nvSpPr>
        <p:spPr>
          <a:xfrm>
            <a:off x="566928" y="3749039"/>
            <a:ext cx="9594799" cy="914400"/>
          </a:xfrm>
          <a:prstGeom prst="rect">
            <a:avLst/>
          </a:prstGeom>
          <a:noFill/>
        </p:spPr>
        <p:txBody>
          <a:bodyPr wrap="square" lIns="0" rIns="0" tIns="0" bIns="0" anchor="t">
            <a:spAutoFit/>
          </a:bodyPr>
          <a:lstStyle/>
          <a:p>
            <a:pPr algn="l">
              <a:lnSpc>
                <a:spcPct val="125000"/>
              </a:lnSpc>
              <a:spcAft>
                <a:spcPts val="600"/>
              </a:spcAft>
            </a:pPr>
            <a:r>
              <a:rPr sz="1600" b="0" i="1">
                <a:solidFill>
                  <a:srgbClr val="D7DFEA"/>
                </a:solidFill>
                <a:latin typeface="Calibri"/>
              </a:rPr>
              <a:t>Where a panel of independent models becomes a system that says yes or no, and where the easiest self-deception in the project lives</a:t>
            </a:r>
          </a:p>
        </p:txBody>
      </p:sp>
      <p:sp>
        <p:nvSpPr>
          <p:cNvPr id="5" name="TextBox 4"/>
          <p:cNvSpPr txBox="1"/>
          <p:nvPr/>
        </p:nvSpPr>
        <p:spPr>
          <a:xfrm>
            <a:off x="566928" y="5166360"/>
            <a:ext cx="11057839" cy="548640"/>
          </a:xfrm>
          <a:prstGeom prst="rect">
            <a:avLst/>
          </a:prstGeom>
          <a:noFill/>
        </p:spPr>
        <p:txBody>
          <a:bodyPr wrap="square" lIns="0" rIns="0" tIns="0" bIns="0" anchor="t">
            <a:spAutoFit/>
          </a:bodyPr>
          <a:lstStyle/>
          <a:p>
            <a:pPr algn="l">
              <a:spcAft>
                <a:spcPts val="600"/>
              </a:spcAft>
            </a:pPr>
            <a:r>
              <a:rPr sz="1300" b="0" i="0">
                <a:solidFill>
                  <a:srgbClr val="1C7293"/>
                </a:solidFill>
                <a:latin typeface="Calibri"/>
              </a:rPr>
              <a:t>One library of 158,890 compounds, partitioned once so that no compound can hold two roles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The circularity a single pool creates</a:t>
            </a:r>
          </a:p>
        </p:txBody>
      </p:sp>
      <p:sp>
        <p:nvSpPr>
          <p:cNvPr id="4" name="Rounded Rectangle 3"/>
          <p:cNvSpPr/>
          <p:nvPr/>
        </p:nvSpPr>
        <p:spPr>
          <a:xfrm>
            <a:off x="566928" y="1645920"/>
            <a:ext cx="11057839" cy="132588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78408" y="1874519"/>
            <a:ext cx="10234879" cy="914400"/>
          </a:xfrm>
          <a:prstGeom prst="rect">
            <a:avLst/>
          </a:prstGeom>
          <a:noFill/>
        </p:spPr>
        <p:txBody>
          <a:bodyPr wrap="square" lIns="0" rIns="0" tIns="0" bIns="0" anchor="t">
            <a:spAutoFit/>
          </a:bodyPr>
          <a:lstStyle/>
          <a:p>
            <a:pPr algn="l">
              <a:lnSpc>
                <a:spcPct val="130000"/>
              </a:lnSpc>
              <a:spcAft>
                <a:spcPts val="600"/>
              </a:spcAft>
            </a:pPr>
            <a:r>
              <a:rPr sz="1600" b="0" i="0">
                <a:solidFill>
                  <a:srgbClr val="0F1A2E"/>
                </a:solidFill>
                <a:latin typeface="Calibri"/>
              </a:rPr>
              <a:t>Choose a threshold as the 90th percentile of the scores a model gives to a sample of background chemistry. Now measure the false-positive rate of that threshold on the same sample. It is ten per cent. It was always going to be ten per cent.</a:t>
            </a:r>
          </a:p>
        </p:txBody>
      </p:sp>
      <p:sp>
        <p:nvSpPr>
          <p:cNvPr id="6" name="TextBox 5"/>
          <p:cNvSpPr txBox="1"/>
          <p:nvPr/>
        </p:nvSpPr>
        <p:spPr>
          <a:xfrm>
            <a:off x="566928" y="3200400"/>
            <a:ext cx="11057839" cy="457200"/>
          </a:xfrm>
          <a:prstGeom prst="rect">
            <a:avLst/>
          </a:prstGeom>
          <a:noFill/>
        </p:spPr>
        <p:txBody>
          <a:bodyPr wrap="square" lIns="0" rIns="0" tIns="0" bIns="0" anchor="t">
            <a:spAutoFit/>
          </a:bodyPr>
          <a:lstStyle/>
          <a:p>
            <a:pPr algn="l">
              <a:spcAft>
                <a:spcPts val="600"/>
              </a:spcAft>
            </a:pPr>
            <a:r>
              <a:rPr sz="1800" b="1" i="0">
                <a:solidFill>
                  <a:srgbClr val="9E2A2B"/>
                </a:solidFill>
                <a:latin typeface="Cambria"/>
              </a:rPr>
              <a:t>The measurement restates the quantile and tests nothing about the model.</a:t>
            </a:r>
          </a:p>
        </p:txBody>
      </p:sp>
      <p:sp>
        <p:nvSpPr>
          <p:cNvPr id="7" name="TextBox 6"/>
          <p:cNvSpPr txBox="1"/>
          <p:nvPr/>
        </p:nvSpPr>
        <p:spPr>
          <a:xfrm>
            <a:off x="566928" y="3840480"/>
            <a:ext cx="11057839" cy="457200"/>
          </a:xfrm>
          <a:prstGeom prst="rect">
            <a:avLst/>
          </a:prstGeom>
          <a:noFill/>
        </p:spPr>
        <p:txBody>
          <a:bodyPr wrap="square" lIns="0" rIns="0" tIns="0" bIns="0" anchor="t">
            <a:spAutoFit/>
          </a:bodyPr>
          <a:lstStyle/>
          <a:p>
            <a:pPr algn="l">
              <a:spcAft>
                <a:spcPts val="600"/>
              </a:spcAft>
            </a:pPr>
            <a:r>
              <a:rPr sz="1400" b="0" i="0">
                <a:solidFill>
                  <a:srgbClr val="0F1A2E"/>
                </a:solidFill>
                <a:latin typeface="Calibri"/>
              </a:rPr>
              <a:t>It is not hypothetical carelessness. It is the natural thing to do when one library is available and three jobs need doing:</a:t>
            </a:r>
          </a:p>
        </p:txBody>
      </p:sp>
      <p:sp>
        <p:nvSpPr>
          <p:cNvPr id="8" name="Oval 7"/>
          <p:cNvSpPr/>
          <p:nvPr/>
        </p:nvSpPr>
        <p:spPr>
          <a:xfrm>
            <a:off x="658368" y="4480560"/>
            <a:ext cx="292608" cy="29260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9" name="TextBox 8"/>
          <p:cNvSpPr txBox="1"/>
          <p:nvPr/>
        </p:nvSpPr>
        <p:spPr>
          <a:xfrm>
            <a:off x="1115568" y="4462272"/>
            <a:ext cx="2468880" cy="310896"/>
          </a:xfrm>
          <a:prstGeom prst="rect">
            <a:avLst/>
          </a:prstGeom>
          <a:noFill/>
        </p:spPr>
        <p:txBody>
          <a:bodyPr wrap="square" lIns="0" rIns="0" tIns="0" bIns="0" anchor="t">
            <a:spAutoFit/>
          </a:bodyPr>
          <a:lstStyle/>
          <a:p>
            <a:pPr algn="l">
              <a:spcAft>
                <a:spcPts val="600"/>
              </a:spcAft>
            </a:pPr>
            <a:r>
              <a:rPr sz="1400" b="1" i="0">
                <a:solidFill>
                  <a:srgbClr val="1F3A5F"/>
                </a:solidFill>
                <a:latin typeface="Calibri"/>
              </a:rPr>
              <a:t>decoys</a:t>
            </a:r>
          </a:p>
        </p:txBody>
      </p:sp>
      <p:sp>
        <p:nvSpPr>
          <p:cNvPr id="10" name="TextBox 9"/>
          <p:cNvSpPr txBox="1"/>
          <p:nvPr/>
        </p:nvSpPr>
        <p:spPr>
          <a:xfrm>
            <a:off x="3721608" y="4462272"/>
            <a:ext cx="7811719" cy="310896"/>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trained on as presumed negatives where measured inactives are scarce</a:t>
            </a:r>
          </a:p>
        </p:txBody>
      </p:sp>
      <p:sp>
        <p:nvSpPr>
          <p:cNvPr id="11" name="Oval 10"/>
          <p:cNvSpPr/>
          <p:nvPr/>
        </p:nvSpPr>
        <p:spPr>
          <a:xfrm>
            <a:off x="658368" y="4919472"/>
            <a:ext cx="292608" cy="29260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12" name="TextBox 11"/>
          <p:cNvSpPr txBox="1"/>
          <p:nvPr/>
        </p:nvSpPr>
        <p:spPr>
          <a:xfrm>
            <a:off x="1115568" y="4901184"/>
            <a:ext cx="2468880" cy="310896"/>
          </a:xfrm>
          <a:prstGeom prst="rect">
            <a:avLst/>
          </a:prstGeom>
          <a:noFill/>
        </p:spPr>
        <p:txBody>
          <a:bodyPr wrap="square" lIns="0" rIns="0" tIns="0" bIns="0" anchor="t">
            <a:spAutoFit/>
          </a:bodyPr>
          <a:lstStyle/>
          <a:p>
            <a:pPr algn="l">
              <a:spcAft>
                <a:spcPts val="600"/>
              </a:spcAft>
            </a:pPr>
            <a:r>
              <a:rPr sz="1400" b="1" i="0">
                <a:solidFill>
                  <a:srgbClr val="1F3A5F"/>
                </a:solidFill>
                <a:latin typeface="Calibri"/>
              </a:rPr>
              <a:t>a threshold sample</a:t>
            </a:r>
          </a:p>
        </p:txBody>
      </p:sp>
      <p:sp>
        <p:nvSpPr>
          <p:cNvPr id="13" name="TextBox 12"/>
          <p:cNvSpPr txBox="1"/>
          <p:nvPr/>
        </p:nvSpPr>
        <p:spPr>
          <a:xfrm>
            <a:off x="3721608" y="4901184"/>
            <a:ext cx="7811719" cy="310896"/>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whose score distribution sets the cut</a:t>
            </a:r>
          </a:p>
        </p:txBody>
      </p:sp>
      <p:sp>
        <p:nvSpPr>
          <p:cNvPr id="14" name="Oval 13"/>
          <p:cNvSpPr/>
          <p:nvPr/>
        </p:nvSpPr>
        <p:spPr>
          <a:xfrm>
            <a:off x="658368" y="5358384"/>
            <a:ext cx="292608" cy="29260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5" name="TextBox 14"/>
          <p:cNvSpPr txBox="1"/>
          <p:nvPr/>
        </p:nvSpPr>
        <p:spPr>
          <a:xfrm>
            <a:off x="1115568" y="5340096"/>
            <a:ext cx="2468880" cy="310896"/>
          </a:xfrm>
          <a:prstGeom prst="rect">
            <a:avLst/>
          </a:prstGeom>
          <a:noFill/>
        </p:spPr>
        <p:txBody>
          <a:bodyPr wrap="square" lIns="0" rIns="0" tIns="0" bIns="0" anchor="t">
            <a:spAutoFit/>
          </a:bodyPr>
          <a:lstStyle/>
          <a:p>
            <a:pPr algn="l">
              <a:spcAft>
                <a:spcPts val="600"/>
              </a:spcAft>
            </a:pPr>
            <a:r>
              <a:rPr sz="1400" b="1" i="0">
                <a:solidFill>
                  <a:srgbClr val="1F3A5F"/>
                </a:solidFill>
                <a:latin typeface="Calibri"/>
              </a:rPr>
              <a:t>an evaluation sample</a:t>
            </a:r>
          </a:p>
        </p:txBody>
      </p:sp>
      <p:sp>
        <p:nvSpPr>
          <p:cNvPr id="16" name="TextBox 15"/>
          <p:cNvSpPr txBox="1"/>
          <p:nvPr/>
        </p:nvSpPr>
        <p:spPr>
          <a:xfrm>
            <a:off x="3721608" y="5340096"/>
            <a:ext cx="7811719" cy="310896"/>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on which the achieved false-positive rate is measured</a:t>
            </a:r>
          </a:p>
        </p:txBody>
      </p:sp>
      <p:sp>
        <p:nvSpPr>
          <p:cNvPr id="17" name="TextBox 16"/>
          <p:cNvSpPr txBox="1"/>
          <p:nvPr/>
        </p:nvSpPr>
        <p:spPr>
          <a:xfrm>
            <a:off x="566928" y="5870448"/>
            <a:ext cx="11057839" cy="365760"/>
          </a:xfrm>
          <a:prstGeom prst="rect">
            <a:avLst/>
          </a:prstGeom>
          <a:noFill/>
        </p:spPr>
        <p:txBody>
          <a:bodyPr wrap="square" lIns="0" rIns="0" tIns="0" bIns="0" anchor="t">
            <a:spAutoFit/>
          </a:bodyPr>
          <a:lstStyle/>
          <a:p>
            <a:pPr algn="l">
              <a:lnSpc>
                <a:spcPct val="124000"/>
              </a:lnSpc>
              <a:spcAft>
                <a:spcPts val="600"/>
              </a:spcAft>
            </a:pPr>
            <a:r>
              <a:rPr sz="1250" b="0" i="1">
                <a:solidFill>
                  <a:srgbClr val="5F6B7A"/>
                </a:solidFill>
                <a:latin typeface="Calibri"/>
              </a:rPr>
              <a:t>Sharing a pool between the second and third restates the target. Sharing with the first is worse: the model was trained to score those compounds as negative, and is then congratulated for doing so.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2</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One partition, three roles</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Recomputed from src/brainsafe/models/pools.py during the writing of this chapter</a:t>
            </a:r>
          </a:p>
        </p:txBody>
      </p:sp>
      <p:graphicFrame>
        <p:nvGraphicFramePr>
          <p:cNvPr id="5" name="Chart 4"/>
          <p:cNvGraphicFramePr>
            <a:graphicFrameLocks noGrp="1"/>
          </p:cNvGraphicFramePr>
          <p:nvPr/>
        </p:nvGraphicFramePr>
        <p:xfrm>
          <a:off x="566928" y="1645920"/>
          <a:ext cx="5760720" cy="2880360"/>
        </p:xfrm>
        <a:graphic>
          <a:graphicData uri="http://schemas.openxmlformats.org/drawingml/2006/chart">
            <c:chart xmlns:c="http://schemas.openxmlformats.org/drawingml/2006/chart" r:id="rId2"/>
          </a:graphicData>
        </a:graphic>
      </p:graphicFrame>
      <p:sp>
        <p:nvSpPr>
          <p:cNvPr id="6" name="TextBox 5"/>
          <p:cNvSpPr txBox="1"/>
          <p:nvPr/>
        </p:nvSpPr>
        <p:spPr>
          <a:xfrm>
            <a:off x="6693407" y="1719072"/>
            <a:ext cx="2194560" cy="274320"/>
          </a:xfrm>
          <a:prstGeom prst="rect">
            <a:avLst/>
          </a:prstGeom>
          <a:noFill/>
        </p:spPr>
        <p:txBody>
          <a:bodyPr wrap="square" lIns="0" rIns="0" tIns="0" bIns="0" anchor="t">
            <a:spAutoFit/>
          </a:bodyPr>
          <a:lstStyle/>
          <a:p>
            <a:pPr algn="l">
              <a:spcAft>
                <a:spcPts val="600"/>
              </a:spcAft>
            </a:pPr>
            <a:r>
              <a:rPr sz="1100" b="1" i="0">
                <a:solidFill>
                  <a:srgbClr val="5F6B7A"/>
                </a:solidFill>
                <a:latin typeface="Calibri"/>
              </a:rPr>
              <a:t>pool</a:t>
            </a:r>
          </a:p>
        </p:txBody>
      </p:sp>
      <p:sp>
        <p:nvSpPr>
          <p:cNvPr id="7" name="TextBox 6"/>
          <p:cNvSpPr txBox="1"/>
          <p:nvPr/>
        </p:nvSpPr>
        <p:spPr>
          <a:xfrm>
            <a:off x="8933688" y="1719072"/>
            <a:ext cx="1371600" cy="274320"/>
          </a:xfrm>
          <a:prstGeom prst="rect">
            <a:avLst/>
          </a:prstGeom>
          <a:noFill/>
        </p:spPr>
        <p:txBody>
          <a:bodyPr wrap="square" lIns="0" rIns="0" tIns="0" bIns="0" anchor="t">
            <a:spAutoFit/>
          </a:bodyPr>
          <a:lstStyle/>
          <a:p>
            <a:pPr algn="r">
              <a:spcAft>
                <a:spcPts val="600"/>
              </a:spcAft>
            </a:pPr>
            <a:r>
              <a:rPr sz="1100" b="1" i="0">
                <a:solidFill>
                  <a:srgbClr val="5F6B7A"/>
                </a:solidFill>
                <a:latin typeface="Calibri"/>
              </a:rPr>
              <a:t>compounds</a:t>
            </a:r>
          </a:p>
        </p:txBody>
      </p:sp>
      <p:sp>
        <p:nvSpPr>
          <p:cNvPr id="8" name="TextBox 7"/>
          <p:cNvSpPr txBox="1"/>
          <p:nvPr/>
        </p:nvSpPr>
        <p:spPr>
          <a:xfrm>
            <a:off x="10442448" y="1719072"/>
            <a:ext cx="1005840" cy="274320"/>
          </a:xfrm>
          <a:prstGeom prst="rect">
            <a:avLst/>
          </a:prstGeom>
          <a:noFill/>
        </p:spPr>
        <p:txBody>
          <a:bodyPr wrap="square" lIns="0" rIns="0" tIns="0" bIns="0" anchor="t">
            <a:spAutoFit/>
          </a:bodyPr>
          <a:lstStyle/>
          <a:p>
            <a:pPr algn="r">
              <a:spcAft>
                <a:spcPts val="600"/>
              </a:spcAft>
            </a:pPr>
            <a:r>
              <a:rPr sz="1100" b="1" i="0">
                <a:solidFill>
                  <a:srgbClr val="5F6B7A"/>
                </a:solidFill>
                <a:latin typeface="Calibri"/>
              </a:rPr>
              <a:t>share</a:t>
            </a:r>
          </a:p>
        </p:txBody>
      </p:sp>
      <p:sp>
        <p:nvSpPr>
          <p:cNvPr id="9" name="Rounded Rectangle 8"/>
          <p:cNvSpPr/>
          <p:nvPr/>
        </p:nvSpPr>
        <p:spPr>
          <a:xfrm>
            <a:off x="6601968" y="2002536"/>
            <a:ext cx="5022799" cy="493776"/>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693407" y="2084831"/>
            <a:ext cx="2194560" cy="310896"/>
          </a:xfrm>
          <a:prstGeom prst="rect">
            <a:avLst/>
          </a:prstGeom>
          <a:noFill/>
        </p:spPr>
        <p:txBody>
          <a:bodyPr wrap="square" lIns="0" rIns="0" tIns="0" bIns="0" anchor="t">
            <a:spAutoFit/>
          </a:bodyPr>
          <a:lstStyle/>
          <a:p>
            <a:pPr algn="l">
              <a:spcAft>
                <a:spcPts val="600"/>
              </a:spcAft>
            </a:pPr>
            <a:r>
              <a:rPr sz="1350" b="1" i="0">
                <a:solidFill>
                  <a:srgbClr val="0F1A2E"/>
                </a:solidFill>
                <a:latin typeface="Calibri"/>
              </a:rPr>
              <a:t>decoy</a:t>
            </a:r>
          </a:p>
        </p:txBody>
      </p:sp>
      <p:sp>
        <p:nvSpPr>
          <p:cNvPr id="11" name="TextBox 10"/>
          <p:cNvSpPr txBox="1"/>
          <p:nvPr/>
        </p:nvSpPr>
        <p:spPr>
          <a:xfrm>
            <a:off x="8933688" y="2084831"/>
            <a:ext cx="1371600" cy="310896"/>
          </a:xfrm>
          <a:prstGeom prst="rect">
            <a:avLst/>
          </a:prstGeom>
          <a:noFill/>
        </p:spPr>
        <p:txBody>
          <a:bodyPr wrap="square" lIns="0" rIns="0" tIns="0" bIns="0" anchor="t">
            <a:spAutoFit/>
          </a:bodyPr>
          <a:lstStyle/>
          <a:p>
            <a:pPr algn="r">
              <a:spcAft>
                <a:spcPts val="600"/>
              </a:spcAft>
            </a:pPr>
            <a:r>
              <a:rPr sz="1350" b="1" i="0">
                <a:solidFill>
                  <a:srgbClr val="1F3A5F"/>
                </a:solidFill>
                <a:latin typeface="Calibri"/>
              </a:rPr>
              <a:t>95,515</a:t>
            </a:r>
          </a:p>
        </p:txBody>
      </p:sp>
      <p:sp>
        <p:nvSpPr>
          <p:cNvPr id="12" name="TextBox 11"/>
          <p:cNvSpPr txBox="1"/>
          <p:nvPr/>
        </p:nvSpPr>
        <p:spPr>
          <a:xfrm>
            <a:off x="10442448" y="2084831"/>
            <a:ext cx="1005840" cy="310896"/>
          </a:xfrm>
          <a:prstGeom prst="rect">
            <a:avLst/>
          </a:prstGeom>
          <a:noFill/>
        </p:spPr>
        <p:txBody>
          <a:bodyPr wrap="square" lIns="0" rIns="0" tIns="0" bIns="0" anchor="t">
            <a:spAutoFit/>
          </a:bodyPr>
          <a:lstStyle/>
          <a:p>
            <a:pPr algn="r">
              <a:spcAft>
                <a:spcPts val="600"/>
              </a:spcAft>
            </a:pPr>
            <a:r>
              <a:rPr sz="1300" b="0" i="0">
                <a:solidFill>
                  <a:srgbClr val="5F6B7A"/>
                </a:solidFill>
                <a:latin typeface="Calibri"/>
              </a:rPr>
              <a:t>60.11%</a:t>
            </a:r>
          </a:p>
        </p:txBody>
      </p:sp>
      <p:sp>
        <p:nvSpPr>
          <p:cNvPr id="13" name="Rounded Rectangle 12"/>
          <p:cNvSpPr/>
          <p:nvPr/>
        </p:nvSpPr>
        <p:spPr>
          <a:xfrm>
            <a:off x="6601968" y="2532888"/>
            <a:ext cx="5022799" cy="493776"/>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693407" y="2615184"/>
            <a:ext cx="2194560" cy="310896"/>
          </a:xfrm>
          <a:prstGeom prst="rect">
            <a:avLst/>
          </a:prstGeom>
          <a:noFill/>
        </p:spPr>
        <p:txBody>
          <a:bodyPr wrap="square" lIns="0" rIns="0" tIns="0" bIns="0" anchor="t">
            <a:spAutoFit/>
          </a:bodyPr>
          <a:lstStyle/>
          <a:p>
            <a:pPr algn="l">
              <a:spcAft>
                <a:spcPts val="600"/>
              </a:spcAft>
            </a:pPr>
            <a:r>
              <a:rPr sz="1350" b="1" i="0">
                <a:solidFill>
                  <a:srgbClr val="0F1A2E"/>
                </a:solidFill>
                <a:latin typeface="Calibri"/>
              </a:rPr>
              <a:t>threshold</a:t>
            </a:r>
          </a:p>
        </p:txBody>
      </p:sp>
      <p:sp>
        <p:nvSpPr>
          <p:cNvPr id="15" name="TextBox 14"/>
          <p:cNvSpPr txBox="1"/>
          <p:nvPr/>
        </p:nvSpPr>
        <p:spPr>
          <a:xfrm>
            <a:off x="8933688" y="2615184"/>
            <a:ext cx="1371600" cy="310896"/>
          </a:xfrm>
          <a:prstGeom prst="rect">
            <a:avLst/>
          </a:prstGeom>
          <a:noFill/>
        </p:spPr>
        <p:txBody>
          <a:bodyPr wrap="square" lIns="0" rIns="0" tIns="0" bIns="0" anchor="t">
            <a:spAutoFit/>
          </a:bodyPr>
          <a:lstStyle/>
          <a:p>
            <a:pPr algn="r">
              <a:spcAft>
                <a:spcPts val="600"/>
              </a:spcAft>
            </a:pPr>
            <a:r>
              <a:rPr sz="1350" b="1" i="0">
                <a:solidFill>
                  <a:srgbClr val="1F3A5F"/>
                </a:solidFill>
                <a:latin typeface="Calibri"/>
              </a:rPr>
              <a:t>31,694</a:t>
            </a:r>
          </a:p>
        </p:txBody>
      </p:sp>
      <p:sp>
        <p:nvSpPr>
          <p:cNvPr id="16" name="TextBox 15"/>
          <p:cNvSpPr txBox="1"/>
          <p:nvPr/>
        </p:nvSpPr>
        <p:spPr>
          <a:xfrm>
            <a:off x="10442448" y="2615184"/>
            <a:ext cx="1005840" cy="310896"/>
          </a:xfrm>
          <a:prstGeom prst="rect">
            <a:avLst/>
          </a:prstGeom>
          <a:noFill/>
        </p:spPr>
        <p:txBody>
          <a:bodyPr wrap="square" lIns="0" rIns="0" tIns="0" bIns="0" anchor="t">
            <a:spAutoFit/>
          </a:bodyPr>
          <a:lstStyle/>
          <a:p>
            <a:pPr algn="r">
              <a:spcAft>
                <a:spcPts val="600"/>
              </a:spcAft>
            </a:pPr>
            <a:r>
              <a:rPr sz="1300" b="0" i="0">
                <a:solidFill>
                  <a:srgbClr val="5F6B7A"/>
                </a:solidFill>
                <a:latin typeface="Calibri"/>
              </a:rPr>
              <a:t>19.95%</a:t>
            </a:r>
          </a:p>
        </p:txBody>
      </p:sp>
      <p:sp>
        <p:nvSpPr>
          <p:cNvPr id="17" name="Rounded Rectangle 16"/>
          <p:cNvSpPr/>
          <p:nvPr/>
        </p:nvSpPr>
        <p:spPr>
          <a:xfrm>
            <a:off x="6601968" y="3063240"/>
            <a:ext cx="5022799" cy="493776"/>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693407" y="3145536"/>
            <a:ext cx="2194560" cy="310896"/>
          </a:xfrm>
          <a:prstGeom prst="rect">
            <a:avLst/>
          </a:prstGeom>
          <a:noFill/>
        </p:spPr>
        <p:txBody>
          <a:bodyPr wrap="square" lIns="0" rIns="0" tIns="0" bIns="0" anchor="t">
            <a:spAutoFit/>
          </a:bodyPr>
          <a:lstStyle/>
          <a:p>
            <a:pPr algn="l">
              <a:spcAft>
                <a:spcPts val="600"/>
              </a:spcAft>
            </a:pPr>
            <a:r>
              <a:rPr sz="1350" b="1" i="0">
                <a:solidFill>
                  <a:srgbClr val="0F1A2E"/>
                </a:solidFill>
                <a:latin typeface="Calibri"/>
              </a:rPr>
              <a:t>evaluation</a:t>
            </a:r>
          </a:p>
        </p:txBody>
      </p:sp>
      <p:sp>
        <p:nvSpPr>
          <p:cNvPr id="19" name="TextBox 18"/>
          <p:cNvSpPr txBox="1"/>
          <p:nvPr/>
        </p:nvSpPr>
        <p:spPr>
          <a:xfrm>
            <a:off x="8933688" y="3145536"/>
            <a:ext cx="1371600" cy="310896"/>
          </a:xfrm>
          <a:prstGeom prst="rect">
            <a:avLst/>
          </a:prstGeom>
          <a:noFill/>
        </p:spPr>
        <p:txBody>
          <a:bodyPr wrap="square" lIns="0" rIns="0" tIns="0" bIns="0" anchor="t">
            <a:spAutoFit/>
          </a:bodyPr>
          <a:lstStyle/>
          <a:p>
            <a:pPr algn="r">
              <a:spcAft>
                <a:spcPts val="600"/>
              </a:spcAft>
            </a:pPr>
            <a:r>
              <a:rPr sz="1350" b="1" i="0">
                <a:solidFill>
                  <a:srgbClr val="1F3A5F"/>
                </a:solidFill>
                <a:latin typeface="Calibri"/>
              </a:rPr>
              <a:t>31,681</a:t>
            </a:r>
          </a:p>
        </p:txBody>
      </p:sp>
      <p:sp>
        <p:nvSpPr>
          <p:cNvPr id="20" name="TextBox 19"/>
          <p:cNvSpPr txBox="1"/>
          <p:nvPr/>
        </p:nvSpPr>
        <p:spPr>
          <a:xfrm>
            <a:off x="10442448" y="3145536"/>
            <a:ext cx="1005840" cy="310896"/>
          </a:xfrm>
          <a:prstGeom prst="rect">
            <a:avLst/>
          </a:prstGeom>
          <a:noFill/>
        </p:spPr>
        <p:txBody>
          <a:bodyPr wrap="square" lIns="0" rIns="0" tIns="0" bIns="0" anchor="t">
            <a:spAutoFit/>
          </a:bodyPr>
          <a:lstStyle/>
          <a:p>
            <a:pPr algn="r">
              <a:spcAft>
                <a:spcPts val="600"/>
              </a:spcAft>
            </a:pPr>
            <a:r>
              <a:rPr sz="1300" b="0" i="0">
                <a:solidFill>
                  <a:srgbClr val="5F6B7A"/>
                </a:solidFill>
                <a:latin typeface="Calibri"/>
              </a:rPr>
              <a:t>19.94%</a:t>
            </a:r>
          </a:p>
        </p:txBody>
      </p:sp>
      <p:sp>
        <p:nvSpPr>
          <p:cNvPr id="21" name="TextBox 20"/>
          <p:cNvSpPr txBox="1"/>
          <p:nvPr/>
        </p:nvSpPr>
        <p:spPr>
          <a:xfrm>
            <a:off x="6601968" y="3749039"/>
            <a:ext cx="5022799" cy="777240"/>
          </a:xfrm>
          <a:prstGeom prst="rect">
            <a:avLst/>
          </a:prstGeom>
          <a:noFill/>
        </p:spPr>
        <p:txBody>
          <a:bodyPr wrap="square" lIns="0" rIns="0" tIns="0" bIns="0" anchor="t">
            <a:spAutoFit/>
          </a:bodyPr>
          <a:lstStyle/>
          <a:p>
            <a:pPr algn="l">
              <a:lnSpc>
                <a:spcPct val="124000"/>
              </a:lnSpc>
              <a:spcAft>
                <a:spcPts val="600"/>
              </a:spcAft>
            </a:pPr>
            <a:r>
              <a:rPr sz="1250" b="0" i="0">
                <a:solidFill>
                  <a:srgbClr val="0F1A2E"/>
                </a:solidFill>
                <a:latin typeface="Calibri"/>
              </a:rPr>
              <a:t>158,890 compounds, assigned once. Each threshold and each rate uses a sample of 3,000 from the relevant pool.</a:t>
            </a:r>
          </a:p>
        </p:txBody>
      </p:sp>
      <p:sp>
        <p:nvSpPr>
          <p:cNvPr id="22" name="Rounded Rectangle 21"/>
          <p:cNvSpPr/>
          <p:nvPr/>
        </p:nvSpPr>
        <p:spPr>
          <a:xfrm>
            <a:off x="566928" y="4754880"/>
            <a:ext cx="11057839" cy="114300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78408" y="4983480"/>
            <a:ext cx="10234879" cy="777240"/>
          </a:xfrm>
          <a:prstGeom prst="rect">
            <a:avLst/>
          </a:prstGeom>
          <a:noFill/>
        </p:spPr>
        <p:txBody>
          <a:bodyPr wrap="square" lIns="0" rIns="0" tIns="0" bIns="0" anchor="t">
            <a:spAutoFit/>
          </a:bodyPr>
          <a:lstStyle/>
          <a:p>
            <a:pPr algn="l">
              <a:lnSpc>
                <a:spcPct val="128000"/>
              </a:lnSpc>
              <a:spcAft>
                <a:spcPts val="600"/>
              </a:spcAft>
            </a:pPr>
            <a:r>
              <a:rPr sz="1500" b="1" i="0">
                <a:solidFill>
                  <a:srgbClr val="1F3A5F"/>
                </a:solidFill>
                <a:latin typeface="Calibri"/>
              </a:rPr>
              <a:t>The consequence is one sentence: the measured rate can now disagree with its target, and that it can disagree is the evidence that it is a measurement rather than a restatement.</a:t>
            </a:r>
          </a:p>
        </p:txBody>
      </p:sp>
      <p:sp>
        <p:nvSpPr>
          <p:cNvPr id="24" name="TextBox 23"/>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Pool membership is blake2b(salt + smiles) mod 100, banded 60/20/20. Five subtests pin 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3</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Two constraints, and which one binds</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The operating point is the stricter of them, clipped to [0.05, 0.999]</a:t>
            </a:r>
          </a:p>
        </p:txBody>
      </p:sp>
      <p:sp>
        <p:nvSpPr>
          <p:cNvPr id="5" name="Rounded Rectangle 4"/>
          <p:cNvSpPr/>
          <p:nvPr/>
        </p:nvSpPr>
        <p:spPr>
          <a:xfrm>
            <a:off x="566928" y="1645920"/>
            <a:ext cx="5349240" cy="196596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50976" y="1874519"/>
            <a:ext cx="4572000" cy="365760"/>
          </a:xfrm>
          <a:prstGeom prst="rect">
            <a:avLst/>
          </a:prstGeom>
          <a:noFill/>
        </p:spPr>
        <p:txBody>
          <a:bodyPr wrap="square" lIns="0" rIns="0" tIns="0" bIns="0" anchor="t">
            <a:spAutoFit/>
          </a:bodyPr>
          <a:lstStyle/>
          <a:p>
            <a:pPr algn="l">
              <a:spcAft>
                <a:spcPts val="600"/>
              </a:spcAft>
            </a:pPr>
            <a:r>
              <a:rPr sz="1600" b="1" i="0">
                <a:solidFill>
                  <a:srgbClr val="1F3A5F"/>
                </a:solidFill>
                <a:latin typeface="Cambria"/>
              </a:rPr>
              <a:t>On the target's own measured inactives</a:t>
            </a:r>
          </a:p>
        </p:txBody>
      </p:sp>
      <p:sp>
        <p:nvSpPr>
          <p:cNvPr id="7" name="TextBox 6"/>
          <p:cNvSpPr txBox="1"/>
          <p:nvPr/>
        </p:nvSpPr>
        <p:spPr>
          <a:xfrm>
            <a:off x="950976" y="2331720"/>
            <a:ext cx="4572000" cy="1143000"/>
          </a:xfrm>
          <a:prstGeom prst="rect">
            <a:avLst/>
          </a:prstGeom>
          <a:noFill/>
        </p:spPr>
        <p:txBody>
          <a:bodyPr wrap="square" lIns="0" rIns="0" tIns="0" bIns="0" anchor="t">
            <a:spAutoFit/>
          </a:bodyPr>
          <a:lstStyle/>
          <a:p>
            <a:pPr algn="l">
              <a:lnSpc>
                <a:spcPct val="126000"/>
              </a:lnSpc>
              <a:spcAft>
                <a:spcPts val="600"/>
              </a:spcAft>
            </a:pPr>
            <a:r>
              <a:rPr sz="1300" b="0" i="0">
                <a:solidFill>
                  <a:srgbClr val="0F1A2E"/>
                </a:solidFill>
                <a:latin typeface="Calibri"/>
              </a:rPr>
              <a:t>No more than 10 per cent may be called a binder. The cut is the quantile of the scores given to the half of that endpoint's measured inactives withheld from fitting.</a:t>
            </a:r>
          </a:p>
        </p:txBody>
      </p:sp>
      <p:sp>
        <p:nvSpPr>
          <p:cNvPr id="8" name="Rounded Rectangle 7"/>
          <p:cNvSpPr/>
          <p:nvPr/>
        </p:nvSpPr>
        <p:spPr>
          <a:xfrm>
            <a:off x="6281928" y="1645920"/>
            <a:ext cx="5342839" cy="196596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665976" y="1874519"/>
            <a:ext cx="4572000" cy="365760"/>
          </a:xfrm>
          <a:prstGeom prst="rect">
            <a:avLst/>
          </a:prstGeom>
          <a:noFill/>
        </p:spPr>
        <p:txBody>
          <a:bodyPr wrap="square" lIns="0" rIns="0" tIns="0" bIns="0" anchor="t">
            <a:spAutoFit/>
          </a:bodyPr>
          <a:lstStyle/>
          <a:p>
            <a:pPr algn="l">
              <a:spcAft>
                <a:spcPts val="600"/>
              </a:spcAft>
            </a:pPr>
            <a:r>
              <a:rPr sz="1600" b="1" i="0">
                <a:solidFill>
                  <a:srgbClr val="1C7293"/>
                </a:solidFill>
                <a:latin typeface="Cambria"/>
              </a:rPr>
              <a:t>On random library chemistry</a:t>
            </a:r>
          </a:p>
        </p:txBody>
      </p:sp>
      <p:sp>
        <p:nvSpPr>
          <p:cNvPr id="10" name="TextBox 9"/>
          <p:cNvSpPr txBox="1"/>
          <p:nvPr/>
        </p:nvSpPr>
        <p:spPr>
          <a:xfrm>
            <a:off x="6665976" y="2331720"/>
            <a:ext cx="4572000" cy="1143000"/>
          </a:xfrm>
          <a:prstGeom prst="rect">
            <a:avLst/>
          </a:prstGeom>
          <a:noFill/>
        </p:spPr>
        <p:txBody>
          <a:bodyPr wrap="square" lIns="0" rIns="0" tIns="0" bIns="0" anchor="t">
            <a:spAutoFit/>
          </a:bodyPr>
          <a:lstStyle/>
          <a:p>
            <a:pPr algn="l">
              <a:lnSpc>
                <a:spcPct val="126000"/>
              </a:lnSpc>
              <a:spcAft>
                <a:spcPts val="600"/>
              </a:spcAft>
            </a:pPr>
            <a:r>
              <a:rPr sz="1300" b="0" i="0">
                <a:solidFill>
                  <a:srgbClr val="0F1A2E"/>
                </a:solidFill>
                <a:latin typeface="Calibri"/>
              </a:rPr>
              <a:t>No more than 5 per cent may be called a binder. Nav1.1 scored AUROC 0.979 against its own narrow negative set and gave glucose a binder probability of 0.806. This constraint exists because of that.</a:t>
            </a:r>
          </a:p>
        </p:txBody>
      </p:sp>
      <p:sp>
        <p:nvSpPr>
          <p:cNvPr id="11" name="TextBox 10"/>
          <p:cNvSpPr txBox="1"/>
          <p:nvPr/>
        </p:nvSpPr>
        <p:spPr>
          <a:xfrm>
            <a:off x="566928" y="3840480"/>
            <a:ext cx="11057839" cy="411480"/>
          </a:xfrm>
          <a:prstGeom prst="rect">
            <a:avLst/>
          </a:prstGeom>
          <a:noFill/>
        </p:spPr>
        <p:txBody>
          <a:bodyPr wrap="square" lIns="0" rIns="0" tIns="0" bIns="0" anchor="t">
            <a:spAutoFit/>
          </a:bodyPr>
          <a:lstStyle/>
          <a:p>
            <a:pPr algn="l">
              <a:spcAft>
                <a:spcPts val="600"/>
              </a:spcAft>
            </a:pPr>
            <a:r>
              <a:rPr sz="1700" b="1" i="0">
                <a:solidFill>
                  <a:srgbClr val="0F1A2E"/>
                </a:solidFill>
                <a:latin typeface="Cambria"/>
              </a:rPr>
              <a:t>The measured-inactive constraint binds on 39 of 47; background on 8.</a:t>
            </a:r>
          </a:p>
        </p:txBody>
      </p:sp>
      <p:sp>
        <p:nvSpPr>
          <p:cNvPr id="12" name="TextBox 11"/>
          <p:cNvSpPr txBox="1"/>
          <p:nvPr/>
        </p:nvSpPr>
        <p:spPr>
          <a:xfrm>
            <a:off x="566928" y="4370832"/>
            <a:ext cx="11057839" cy="777240"/>
          </a:xfrm>
          <a:prstGeom prst="rect">
            <a:avLst/>
          </a:prstGeom>
          <a:noFill/>
        </p:spPr>
        <p:txBody>
          <a:bodyPr wrap="square" lIns="0" rIns="0" tIns="0" bIns="0" anchor="t">
            <a:spAutoFit/>
          </a:bodyPr>
          <a:lstStyle/>
          <a:p>
            <a:pPr algn="l">
              <a:lnSpc>
                <a:spcPct val="128000"/>
              </a:lnSpc>
              <a:spcAft>
                <a:spcPts val="600"/>
              </a:spcAft>
            </a:pPr>
            <a:r>
              <a:rPr sz="1350" b="0" i="0">
                <a:solidFill>
                  <a:srgbClr val="0F1A2E"/>
                </a:solidFill>
                <a:latin typeface="Calibri"/>
              </a:rPr>
              <a:t>Median cut from measured inactives 0.7353, from background 0.0903. That ordering is Chapter 2's finding from the other end: compounds a chemist thought worth testing are much harder to separate from real ligands than compounds drawn at random.</a:t>
            </a:r>
          </a:p>
        </p:txBody>
      </p:sp>
      <p:sp>
        <p:nvSpPr>
          <p:cNvPr id="13" name="Rounded Rectangle 12"/>
          <p:cNvSpPr/>
          <p:nvPr/>
        </p:nvSpPr>
        <p:spPr>
          <a:xfrm>
            <a:off x="566928" y="5303520"/>
            <a:ext cx="11057839" cy="77724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 y="5486400"/>
            <a:ext cx="10280599" cy="457200"/>
          </a:xfrm>
          <a:prstGeom prst="rect">
            <a:avLst/>
          </a:prstGeom>
          <a:noFill/>
        </p:spPr>
        <p:txBody>
          <a:bodyPr wrap="square" lIns="0" rIns="0" tIns="0" bIns="0" anchor="t">
            <a:spAutoFit/>
          </a:bodyPr>
          <a:lstStyle/>
          <a:p>
            <a:pPr algn="l">
              <a:lnSpc>
                <a:spcPct val="124000"/>
              </a:lnSpc>
              <a:spcAft>
                <a:spcPts val="600"/>
              </a:spcAft>
            </a:pPr>
            <a:r>
              <a:rPr sz="1250" b="0" i="1">
                <a:solidFill>
                  <a:srgbClr val="0F1A2E"/>
                </a:solidFill>
                <a:latin typeface="Calibri"/>
              </a:rPr>
              <a:t>The 5 per cent level was itself tested. Tightening it to 2 per cent was tried and rejected: it pushed the mu-opioid threshold to 0.999 and caused morphine to be missed.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4</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2400" b="1" i="0">
                <a:solidFill>
                  <a:srgbClr val="0F1A2E"/>
                </a:solidFill>
                <a:latin typeface="Cambria"/>
              </a:rPr>
              <a:t>The rate that is measured, against the rate that was targeted</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This is what the partition buys</a:t>
            </a:r>
          </a:p>
        </p:txBody>
      </p:sp>
      <p:sp>
        <p:nvSpPr>
          <p:cNvPr id="5" name="TextBox 4"/>
          <p:cNvSpPr txBox="1"/>
          <p:nvPr/>
        </p:nvSpPr>
        <p:spPr>
          <a:xfrm>
            <a:off x="841247" y="1737360"/>
            <a:ext cx="3108960" cy="274320"/>
          </a:xfrm>
          <a:prstGeom prst="rect">
            <a:avLst/>
          </a:prstGeom>
          <a:noFill/>
        </p:spPr>
        <p:txBody>
          <a:bodyPr wrap="square" lIns="0" rIns="0" tIns="0" bIns="0" anchor="t">
            <a:spAutoFit/>
          </a:bodyPr>
          <a:lstStyle/>
          <a:p>
            <a:pPr algn="l">
              <a:spcAft>
                <a:spcPts val="600"/>
              </a:spcAft>
            </a:pPr>
            <a:r>
              <a:rPr sz="1100" b="0" i="0">
                <a:solidFill>
                  <a:srgbClr val="0F1A2E"/>
                </a:solidFill>
                <a:latin typeface="Calibri"/>
              </a:rPr>
              <a:t/>
            </a:r>
          </a:p>
        </p:txBody>
      </p:sp>
      <p:sp>
        <p:nvSpPr>
          <p:cNvPr id="6" name="TextBox 5"/>
          <p:cNvSpPr txBox="1"/>
          <p:nvPr/>
        </p:nvSpPr>
        <p:spPr>
          <a:xfrm>
            <a:off x="4133087" y="1737360"/>
            <a:ext cx="2377440" cy="292608"/>
          </a:xfrm>
          <a:prstGeom prst="rect">
            <a:avLst/>
          </a:prstGeom>
          <a:noFill/>
        </p:spPr>
        <p:txBody>
          <a:bodyPr wrap="square" lIns="0" rIns="0" tIns="0" bIns="0" anchor="t">
            <a:spAutoFit/>
          </a:bodyPr>
          <a:lstStyle/>
          <a:p>
            <a:pPr algn="r">
              <a:lnSpc>
                <a:spcPct val="110000"/>
              </a:lnSpc>
              <a:spcAft>
                <a:spcPts val="600"/>
              </a:spcAft>
            </a:pPr>
            <a:r>
              <a:rPr sz="1100" b="1" i="0">
                <a:solidFill>
                  <a:srgbClr val="5F6B7A"/>
                </a:solidFill>
                <a:latin typeface="Calibri"/>
              </a:rPr>
              <a:t>on the threshold pool,
in sample</a:t>
            </a:r>
          </a:p>
        </p:txBody>
      </p:sp>
      <p:sp>
        <p:nvSpPr>
          <p:cNvPr id="7" name="TextBox 6"/>
          <p:cNvSpPr txBox="1"/>
          <p:nvPr/>
        </p:nvSpPr>
        <p:spPr>
          <a:xfrm>
            <a:off x="6967728" y="1737360"/>
            <a:ext cx="2377440" cy="292608"/>
          </a:xfrm>
          <a:prstGeom prst="rect">
            <a:avLst/>
          </a:prstGeom>
          <a:noFill/>
        </p:spPr>
        <p:txBody>
          <a:bodyPr wrap="square" lIns="0" rIns="0" tIns="0" bIns="0" anchor="t">
            <a:spAutoFit/>
          </a:bodyPr>
          <a:lstStyle/>
          <a:p>
            <a:pPr algn="r">
              <a:lnSpc>
                <a:spcPct val="110000"/>
              </a:lnSpc>
              <a:spcAft>
                <a:spcPts val="600"/>
              </a:spcAft>
            </a:pPr>
            <a:r>
              <a:rPr sz="1100" b="1" i="0">
                <a:solidFill>
                  <a:srgbClr val="1F3A5F"/>
                </a:solidFill>
                <a:latin typeface="Calibri"/>
              </a:rPr>
              <a:t>on the DISJOINT
evaluation pool</a:t>
            </a:r>
          </a:p>
        </p:txBody>
      </p:sp>
      <p:sp>
        <p:nvSpPr>
          <p:cNvPr id="8" name="Rounded Rectangle 7"/>
          <p:cNvSpPr/>
          <p:nvPr/>
        </p:nvSpPr>
        <p:spPr>
          <a:xfrm>
            <a:off x="566928" y="2295144"/>
            <a:ext cx="9052560" cy="493776"/>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41247" y="2377440"/>
            <a:ext cx="3108960" cy="310896"/>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mean</a:t>
            </a:r>
          </a:p>
        </p:txBody>
      </p:sp>
      <p:sp>
        <p:nvSpPr>
          <p:cNvPr id="10" name="TextBox 9"/>
          <p:cNvSpPr txBox="1"/>
          <p:nvPr/>
        </p:nvSpPr>
        <p:spPr>
          <a:xfrm>
            <a:off x="4133087" y="2377440"/>
            <a:ext cx="2377440" cy="310896"/>
          </a:xfrm>
          <a:prstGeom prst="rect">
            <a:avLst/>
          </a:prstGeom>
          <a:noFill/>
        </p:spPr>
        <p:txBody>
          <a:bodyPr wrap="square" lIns="0" rIns="0" tIns="0" bIns="0" anchor="t">
            <a:spAutoFit/>
          </a:bodyPr>
          <a:lstStyle/>
          <a:p>
            <a:pPr algn="r">
              <a:spcAft>
                <a:spcPts val="600"/>
              </a:spcAft>
            </a:pPr>
            <a:r>
              <a:rPr sz="1300" b="0" i="0">
                <a:solidFill>
                  <a:srgbClr val="5F6B7A"/>
                </a:solidFill>
                <a:latin typeface="Calibri"/>
              </a:rPr>
              <a:t>0.1057</a:t>
            </a:r>
          </a:p>
        </p:txBody>
      </p:sp>
      <p:sp>
        <p:nvSpPr>
          <p:cNvPr id="11" name="TextBox 10"/>
          <p:cNvSpPr txBox="1"/>
          <p:nvPr/>
        </p:nvSpPr>
        <p:spPr>
          <a:xfrm>
            <a:off x="6967728" y="2377440"/>
            <a:ext cx="2377440" cy="310896"/>
          </a:xfrm>
          <a:prstGeom prst="rect">
            <a:avLst/>
          </a:prstGeom>
          <a:noFill/>
        </p:spPr>
        <p:txBody>
          <a:bodyPr wrap="square" lIns="0" rIns="0" tIns="0" bIns="0" anchor="t">
            <a:spAutoFit/>
          </a:bodyPr>
          <a:lstStyle/>
          <a:p>
            <a:pPr algn="r">
              <a:spcAft>
                <a:spcPts val="600"/>
              </a:spcAft>
            </a:pPr>
            <a:r>
              <a:rPr sz="1300" b="1" i="0">
                <a:solidFill>
                  <a:srgbClr val="1F3A5F"/>
                </a:solidFill>
                <a:latin typeface="Calibri"/>
              </a:rPr>
              <a:t>0.0228</a:t>
            </a:r>
          </a:p>
        </p:txBody>
      </p:sp>
      <p:sp>
        <p:nvSpPr>
          <p:cNvPr id="12" name="TextBox 11"/>
          <p:cNvSpPr txBox="1"/>
          <p:nvPr/>
        </p:nvSpPr>
        <p:spPr>
          <a:xfrm>
            <a:off x="841247" y="2871216"/>
            <a:ext cx="3108960" cy="310896"/>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median</a:t>
            </a:r>
          </a:p>
        </p:txBody>
      </p:sp>
      <p:sp>
        <p:nvSpPr>
          <p:cNvPr id="13" name="TextBox 12"/>
          <p:cNvSpPr txBox="1"/>
          <p:nvPr/>
        </p:nvSpPr>
        <p:spPr>
          <a:xfrm>
            <a:off x="4133087" y="2871216"/>
            <a:ext cx="2377440" cy="310896"/>
          </a:xfrm>
          <a:prstGeom prst="rect">
            <a:avLst/>
          </a:prstGeom>
          <a:noFill/>
        </p:spPr>
        <p:txBody>
          <a:bodyPr wrap="square" lIns="0" rIns="0" tIns="0" bIns="0" anchor="t">
            <a:spAutoFit/>
          </a:bodyPr>
          <a:lstStyle/>
          <a:p>
            <a:pPr algn="r">
              <a:spcAft>
                <a:spcPts val="600"/>
              </a:spcAft>
            </a:pPr>
            <a:r>
              <a:rPr sz="1300" b="0" i="0">
                <a:solidFill>
                  <a:srgbClr val="5F6B7A"/>
                </a:solidFill>
                <a:latin typeface="Calibri"/>
              </a:rPr>
              <a:t>0.1020</a:t>
            </a:r>
          </a:p>
        </p:txBody>
      </p:sp>
      <p:sp>
        <p:nvSpPr>
          <p:cNvPr id="14" name="TextBox 13"/>
          <p:cNvSpPr txBox="1"/>
          <p:nvPr/>
        </p:nvSpPr>
        <p:spPr>
          <a:xfrm>
            <a:off x="6967728" y="2871216"/>
            <a:ext cx="2377440" cy="310896"/>
          </a:xfrm>
          <a:prstGeom prst="rect">
            <a:avLst/>
          </a:prstGeom>
          <a:noFill/>
        </p:spPr>
        <p:txBody>
          <a:bodyPr wrap="square" lIns="0" rIns="0" tIns="0" bIns="0" anchor="t">
            <a:spAutoFit/>
          </a:bodyPr>
          <a:lstStyle/>
          <a:p>
            <a:pPr algn="r">
              <a:spcAft>
                <a:spcPts val="600"/>
              </a:spcAft>
            </a:pPr>
            <a:r>
              <a:rPr sz="1300" b="1" i="0">
                <a:solidFill>
                  <a:srgbClr val="1F3A5F"/>
                </a:solidFill>
                <a:latin typeface="Calibri"/>
              </a:rPr>
              <a:t>0.0259</a:t>
            </a:r>
          </a:p>
        </p:txBody>
      </p:sp>
      <p:sp>
        <p:nvSpPr>
          <p:cNvPr id="15" name="Rounded Rectangle 14"/>
          <p:cNvSpPr/>
          <p:nvPr/>
        </p:nvSpPr>
        <p:spPr>
          <a:xfrm>
            <a:off x="566928" y="3282696"/>
            <a:ext cx="9052560" cy="493776"/>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41247" y="3364992"/>
            <a:ext cx="3108960" cy="310896"/>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minimum</a:t>
            </a:r>
          </a:p>
        </p:txBody>
      </p:sp>
      <p:sp>
        <p:nvSpPr>
          <p:cNvPr id="17" name="TextBox 16"/>
          <p:cNvSpPr txBox="1"/>
          <p:nvPr/>
        </p:nvSpPr>
        <p:spPr>
          <a:xfrm>
            <a:off x="4133087" y="3364992"/>
            <a:ext cx="2377440" cy="310896"/>
          </a:xfrm>
          <a:prstGeom prst="rect">
            <a:avLst/>
          </a:prstGeom>
          <a:noFill/>
        </p:spPr>
        <p:txBody>
          <a:bodyPr wrap="square" lIns="0" rIns="0" tIns="0" bIns="0" anchor="t">
            <a:spAutoFit/>
          </a:bodyPr>
          <a:lstStyle/>
          <a:p>
            <a:pPr algn="r">
              <a:spcAft>
                <a:spcPts val="600"/>
              </a:spcAft>
            </a:pPr>
            <a:r>
              <a:rPr sz="1300" b="0" i="0">
                <a:solidFill>
                  <a:srgbClr val="5F6B7A"/>
                </a:solidFill>
                <a:latin typeface="Calibri"/>
              </a:rPr>
              <a:t>0.0730</a:t>
            </a:r>
          </a:p>
        </p:txBody>
      </p:sp>
      <p:sp>
        <p:nvSpPr>
          <p:cNvPr id="18" name="TextBox 17"/>
          <p:cNvSpPr txBox="1"/>
          <p:nvPr/>
        </p:nvSpPr>
        <p:spPr>
          <a:xfrm>
            <a:off x="6967728" y="3364992"/>
            <a:ext cx="2377440" cy="310896"/>
          </a:xfrm>
          <a:prstGeom prst="rect">
            <a:avLst/>
          </a:prstGeom>
          <a:noFill/>
        </p:spPr>
        <p:txBody>
          <a:bodyPr wrap="square" lIns="0" rIns="0" tIns="0" bIns="0" anchor="t">
            <a:spAutoFit/>
          </a:bodyPr>
          <a:lstStyle/>
          <a:p>
            <a:pPr algn="r">
              <a:spcAft>
                <a:spcPts val="600"/>
              </a:spcAft>
            </a:pPr>
            <a:r>
              <a:rPr sz="1300" b="1" i="0">
                <a:solidFill>
                  <a:srgbClr val="1F3A5F"/>
                </a:solidFill>
                <a:latin typeface="Calibri"/>
              </a:rPr>
              <a:t>0.0001</a:t>
            </a:r>
          </a:p>
        </p:txBody>
      </p:sp>
      <p:sp>
        <p:nvSpPr>
          <p:cNvPr id="19" name="TextBox 18"/>
          <p:cNvSpPr txBox="1"/>
          <p:nvPr/>
        </p:nvSpPr>
        <p:spPr>
          <a:xfrm>
            <a:off x="841247" y="3858768"/>
            <a:ext cx="3108960" cy="310896"/>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maximum</a:t>
            </a:r>
          </a:p>
        </p:txBody>
      </p:sp>
      <p:sp>
        <p:nvSpPr>
          <p:cNvPr id="20" name="TextBox 19"/>
          <p:cNvSpPr txBox="1"/>
          <p:nvPr/>
        </p:nvSpPr>
        <p:spPr>
          <a:xfrm>
            <a:off x="4133087" y="3858768"/>
            <a:ext cx="2377440" cy="310896"/>
          </a:xfrm>
          <a:prstGeom prst="rect">
            <a:avLst/>
          </a:prstGeom>
          <a:noFill/>
        </p:spPr>
        <p:txBody>
          <a:bodyPr wrap="square" lIns="0" rIns="0" tIns="0" bIns="0" anchor="t">
            <a:spAutoFit/>
          </a:bodyPr>
          <a:lstStyle/>
          <a:p>
            <a:pPr algn="r">
              <a:spcAft>
                <a:spcPts val="600"/>
              </a:spcAft>
            </a:pPr>
            <a:r>
              <a:rPr sz="1300" b="0" i="0">
                <a:solidFill>
                  <a:srgbClr val="5F6B7A"/>
                </a:solidFill>
                <a:latin typeface="Calibri"/>
              </a:rPr>
              <a:t>0.1880</a:t>
            </a:r>
          </a:p>
        </p:txBody>
      </p:sp>
      <p:sp>
        <p:nvSpPr>
          <p:cNvPr id="21" name="TextBox 20"/>
          <p:cNvSpPr txBox="1"/>
          <p:nvPr/>
        </p:nvSpPr>
        <p:spPr>
          <a:xfrm>
            <a:off x="6967728" y="3858768"/>
            <a:ext cx="2377440" cy="310896"/>
          </a:xfrm>
          <a:prstGeom prst="rect">
            <a:avLst/>
          </a:prstGeom>
          <a:noFill/>
        </p:spPr>
        <p:txBody>
          <a:bodyPr wrap="square" lIns="0" rIns="0" tIns="0" bIns="0" anchor="t">
            <a:spAutoFit/>
          </a:bodyPr>
          <a:lstStyle/>
          <a:p>
            <a:pPr algn="r">
              <a:spcAft>
                <a:spcPts val="600"/>
              </a:spcAft>
            </a:pPr>
            <a:r>
              <a:rPr sz="1300" b="1" i="0">
                <a:solidFill>
                  <a:srgbClr val="1F3A5F"/>
                </a:solidFill>
                <a:latin typeface="Calibri"/>
              </a:rPr>
              <a:t>0.0621</a:t>
            </a:r>
          </a:p>
        </p:txBody>
      </p:sp>
      <p:sp>
        <p:nvSpPr>
          <p:cNvPr id="22" name="Rounded Rectangle 21"/>
          <p:cNvSpPr/>
          <p:nvPr/>
        </p:nvSpPr>
        <p:spPr>
          <a:xfrm>
            <a:off x="566928" y="4270248"/>
            <a:ext cx="9052560" cy="493776"/>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41247" y="4352544"/>
            <a:ext cx="3108960" cy="310896"/>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above 0.05</a:t>
            </a:r>
          </a:p>
        </p:txBody>
      </p:sp>
      <p:sp>
        <p:nvSpPr>
          <p:cNvPr id="24" name="TextBox 23"/>
          <p:cNvSpPr txBox="1"/>
          <p:nvPr/>
        </p:nvSpPr>
        <p:spPr>
          <a:xfrm>
            <a:off x="4133087" y="4352544"/>
            <a:ext cx="2377440" cy="310896"/>
          </a:xfrm>
          <a:prstGeom prst="rect">
            <a:avLst/>
          </a:prstGeom>
          <a:noFill/>
        </p:spPr>
        <p:txBody>
          <a:bodyPr wrap="square" lIns="0" rIns="0" tIns="0" bIns="0" anchor="t">
            <a:spAutoFit/>
          </a:bodyPr>
          <a:lstStyle/>
          <a:p>
            <a:pPr algn="r">
              <a:spcAft>
                <a:spcPts val="600"/>
              </a:spcAft>
            </a:pPr>
            <a:r>
              <a:rPr sz="1300" b="0" i="0">
                <a:solidFill>
                  <a:srgbClr val="5F6B7A"/>
                </a:solidFill>
                <a:latin typeface="Calibri"/>
              </a:rPr>
              <a:t>most</a:t>
            </a:r>
          </a:p>
        </p:txBody>
      </p:sp>
      <p:sp>
        <p:nvSpPr>
          <p:cNvPr id="25" name="TextBox 24"/>
          <p:cNvSpPr txBox="1"/>
          <p:nvPr/>
        </p:nvSpPr>
        <p:spPr>
          <a:xfrm>
            <a:off x="6967728" y="4352544"/>
            <a:ext cx="2377440" cy="310896"/>
          </a:xfrm>
          <a:prstGeom prst="rect">
            <a:avLst/>
          </a:prstGeom>
          <a:noFill/>
        </p:spPr>
        <p:txBody>
          <a:bodyPr wrap="square" lIns="0" rIns="0" tIns="0" bIns="0" anchor="t">
            <a:spAutoFit/>
          </a:bodyPr>
          <a:lstStyle/>
          <a:p>
            <a:pPr algn="r">
              <a:spcAft>
                <a:spcPts val="600"/>
              </a:spcAft>
            </a:pPr>
            <a:r>
              <a:rPr sz="1300" b="1" i="0">
                <a:solidFill>
                  <a:srgbClr val="1F3A5F"/>
                </a:solidFill>
                <a:latin typeface="Calibri"/>
              </a:rPr>
              <a:t>4 of 44</a:t>
            </a:r>
          </a:p>
        </p:txBody>
      </p:sp>
      <p:sp>
        <p:nvSpPr>
          <p:cNvPr id="26" name="TextBox 25"/>
          <p:cNvSpPr txBox="1"/>
          <p:nvPr/>
        </p:nvSpPr>
        <p:spPr>
          <a:xfrm>
            <a:off x="841247" y="4846320"/>
            <a:ext cx="3108960" cy="310896"/>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above 0.10</a:t>
            </a:r>
          </a:p>
        </p:txBody>
      </p:sp>
      <p:sp>
        <p:nvSpPr>
          <p:cNvPr id="27" name="TextBox 26"/>
          <p:cNvSpPr txBox="1"/>
          <p:nvPr/>
        </p:nvSpPr>
        <p:spPr>
          <a:xfrm>
            <a:off x="4133087" y="4846320"/>
            <a:ext cx="2377440" cy="310896"/>
          </a:xfrm>
          <a:prstGeom prst="rect">
            <a:avLst/>
          </a:prstGeom>
          <a:noFill/>
        </p:spPr>
        <p:txBody>
          <a:bodyPr wrap="square" lIns="0" rIns="0" tIns="0" bIns="0" anchor="t">
            <a:spAutoFit/>
          </a:bodyPr>
          <a:lstStyle/>
          <a:p>
            <a:pPr algn="r">
              <a:spcAft>
                <a:spcPts val="600"/>
              </a:spcAft>
            </a:pPr>
            <a:r>
              <a:rPr sz="1300" b="0" i="0">
                <a:solidFill>
                  <a:srgbClr val="5F6B7A"/>
                </a:solidFill>
                <a:latin typeface="Calibri"/>
              </a:rPr>
              <a:t>most</a:t>
            </a:r>
          </a:p>
        </p:txBody>
      </p:sp>
      <p:sp>
        <p:nvSpPr>
          <p:cNvPr id="28" name="TextBox 27"/>
          <p:cNvSpPr txBox="1"/>
          <p:nvPr/>
        </p:nvSpPr>
        <p:spPr>
          <a:xfrm>
            <a:off x="6967728" y="4846320"/>
            <a:ext cx="2377440" cy="310896"/>
          </a:xfrm>
          <a:prstGeom prst="rect">
            <a:avLst/>
          </a:prstGeom>
          <a:noFill/>
        </p:spPr>
        <p:txBody>
          <a:bodyPr wrap="square" lIns="0" rIns="0" tIns="0" bIns="0" anchor="t">
            <a:spAutoFit/>
          </a:bodyPr>
          <a:lstStyle/>
          <a:p>
            <a:pPr algn="r">
              <a:spcAft>
                <a:spcPts val="600"/>
              </a:spcAft>
            </a:pPr>
            <a:r>
              <a:rPr sz="1300" b="1" i="0">
                <a:solidFill>
                  <a:srgbClr val="1F3A5F"/>
                </a:solidFill>
                <a:latin typeface="Calibri"/>
              </a:rPr>
              <a:t>0 of 44</a:t>
            </a:r>
          </a:p>
        </p:txBody>
      </p:sp>
      <p:sp>
        <p:nvSpPr>
          <p:cNvPr id="29" name="TextBox 28"/>
          <p:cNvSpPr txBox="1"/>
          <p:nvPr/>
        </p:nvSpPr>
        <p:spPr>
          <a:xfrm>
            <a:off x="566928" y="5486400"/>
            <a:ext cx="9052560" cy="777240"/>
          </a:xfrm>
          <a:prstGeom prst="rect">
            <a:avLst/>
          </a:prstGeom>
          <a:noFill/>
        </p:spPr>
        <p:txBody>
          <a:bodyPr wrap="square" lIns="0" rIns="0" tIns="0" bIns="0" anchor="t">
            <a:spAutoFit/>
          </a:bodyPr>
          <a:lstStyle/>
          <a:p>
            <a:pPr algn="l">
              <a:lnSpc>
                <a:spcPct val="128000"/>
              </a:lnSpc>
              <a:spcAft>
                <a:spcPts val="600"/>
              </a:spcAft>
            </a:pPr>
            <a:r>
              <a:rPr sz="1350" b="0" i="0">
                <a:solidFill>
                  <a:srgbClr val="0F1A2E"/>
                </a:solidFill>
                <a:latin typeface="Calibri"/>
              </a:rPr>
              <a:t>The measured rate is lower on all 44 of 44 endpoints, by a mean of 0.083. The in-sample figure says the cut is where we put it. The evaluation figure says the panel fires on about 2 per cent of unrelated chemistry, and only the second is evidence.</a:t>
            </a:r>
          </a:p>
        </p:txBody>
      </p:sp>
      <p:sp>
        <p:nvSpPr>
          <p:cNvPr id="30" name="TextBox 29"/>
          <p:cNvSpPr txBox="1"/>
          <p:nvPr/>
        </p:nvSpPr>
        <p:spPr>
          <a:xfrm>
            <a:off x="9848088" y="2331720"/>
            <a:ext cx="1776679" cy="1371600"/>
          </a:xfrm>
          <a:prstGeom prst="rect">
            <a:avLst/>
          </a:prstGeom>
          <a:noFill/>
        </p:spPr>
        <p:txBody>
          <a:bodyPr wrap="square" lIns="0" rIns="0" tIns="0" bIns="0" anchor="t">
            <a:spAutoFit/>
          </a:bodyPr>
          <a:lstStyle/>
          <a:p>
            <a:pPr algn="l">
              <a:lnSpc>
                <a:spcPct val="124000"/>
              </a:lnSpc>
              <a:spcAft>
                <a:spcPts val="600"/>
              </a:spcAft>
            </a:pPr>
            <a:r>
              <a:rPr sz="1200" b="0" i="0">
                <a:solidFill>
                  <a:srgbClr val="5F6B7A"/>
                </a:solidFill>
                <a:latin typeface="Calibri"/>
              </a:rPr>
              <a:t>Highest measured rates sit at the aminergic receptors, which bind a large and chemically ordinary region of drug-like space.</a:t>
            </a:r>
          </a:p>
        </p:txBody>
      </p:sp>
      <p:sp>
        <p:nvSpPr>
          <p:cNvPr id="31" name="TextBox 30"/>
          <p:cNvSpPr txBox="1"/>
          <p:nvPr/>
        </p:nvSpPr>
        <p:spPr>
          <a:xfrm>
            <a:off x="9848088" y="3657600"/>
            <a:ext cx="1280160" cy="274320"/>
          </a:xfrm>
          <a:prstGeom prst="rect">
            <a:avLst/>
          </a:prstGeom>
          <a:noFill/>
        </p:spPr>
        <p:txBody>
          <a:bodyPr wrap="square" lIns="0" rIns="0" tIns="0" bIns="0" anchor="t">
            <a:spAutoFit/>
          </a:bodyPr>
          <a:lstStyle/>
          <a:p>
            <a:pPr algn="l">
              <a:spcAft>
                <a:spcPts val="600"/>
              </a:spcAft>
            </a:pPr>
            <a:r>
              <a:rPr sz="1150" b="0" i="0">
                <a:solidFill>
                  <a:srgbClr val="0F1A2E"/>
                </a:solidFill>
                <a:latin typeface="Calibri"/>
              </a:rPr>
              <a:t>HT2A</a:t>
            </a:r>
          </a:p>
        </p:txBody>
      </p:sp>
      <p:sp>
        <p:nvSpPr>
          <p:cNvPr id="32" name="TextBox 31"/>
          <p:cNvSpPr txBox="1"/>
          <p:nvPr/>
        </p:nvSpPr>
        <p:spPr>
          <a:xfrm>
            <a:off x="11082528" y="3657600"/>
            <a:ext cx="914400" cy="274320"/>
          </a:xfrm>
          <a:prstGeom prst="rect">
            <a:avLst/>
          </a:prstGeom>
          <a:noFill/>
        </p:spPr>
        <p:txBody>
          <a:bodyPr wrap="square" lIns="0" rIns="0" tIns="0" bIns="0" anchor="t">
            <a:spAutoFit/>
          </a:bodyPr>
          <a:lstStyle/>
          <a:p>
            <a:pPr algn="r">
              <a:spcAft>
                <a:spcPts val="600"/>
              </a:spcAft>
            </a:pPr>
            <a:r>
              <a:rPr sz="1150" b="1" i="0">
                <a:solidFill>
                  <a:srgbClr val="D98324"/>
                </a:solidFill>
                <a:latin typeface="Calibri"/>
              </a:rPr>
              <a:t>0.0621</a:t>
            </a:r>
          </a:p>
        </p:txBody>
      </p:sp>
      <p:sp>
        <p:nvSpPr>
          <p:cNvPr id="33" name="TextBox 32"/>
          <p:cNvSpPr txBox="1"/>
          <p:nvPr/>
        </p:nvSpPr>
        <p:spPr>
          <a:xfrm>
            <a:off x="9848088" y="3968496"/>
            <a:ext cx="1280160" cy="274320"/>
          </a:xfrm>
          <a:prstGeom prst="rect">
            <a:avLst/>
          </a:prstGeom>
          <a:noFill/>
        </p:spPr>
        <p:txBody>
          <a:bodyPr wrap="square" lIns="0" rIns="0" tIns="0" bIns="0" anchor="t">
            <a:spAutoFit/>
          </a:bodyPr>
          <a:lstStyle/>
          <a:p>
            <a:pPr algn="l">
              <a:spcAft>
                <a:spcPts val="600"/>
              </a:spcAft>
            </a:pPr>
            <a:r>
              <a:rPr sz="1150" b="0" i="0">
                <a:solidFill>
                  <a:srgbClr val="0F1A2E"/>
                </a:solidFill>
                <a:latin typeface="Calibri"/>
              </a:rPr>
              <a:t>HT1A</a:t>
            </a:r>
          </a:p>
        </p:txBody>
      </p:sp>
      <p:sp>
        <p:nvSpPr>
          <p:cNvPr id="34" name="TextBox 33"/>
          <p:cNvSpPr txBox="1"/>
          <p:nvPr/>
        </p:nvSpPr>
        <p:spPr>
          <a:xfrm>
            <a:off x="11082528" y="3968496"/>
            <a:ext cx="914400" cy="274320"/>
          </a:xfrm>
          <a:prstGeom prst="rect">
            <a:avLst/>
          </a:prstGeom>
          <a:noFill/>
        </p:spPr>
        <p:txBody>
          <a:bodyPr wrap="square" lIns="0" rIns="0" tIns="0" bIns="0" anchor="t">
            <a:spAutoFit/>
          </a:bodyPr>
          <a:lstStyle/>
          <a:p>
            <a:pPr algn="r">
              <a:spcAft>
                <a:spcPts val="600"/>
              </a:spcAft>
            </a:pPr>
            <a:r>
              <a:rPr sz="1150" b="1" i="0">
                <a:solidFill>
                  <a:srgbClr val="D98324"/>
                </a:solidFill>
                <a:latin typeface="Calibri"/>
              </a:rPr>
              <a:t>0.0606</a:t>
            </a:r>
          </a:p>
        </p:txBody>
      </p:sp>
      <p:sp>
        <p:nvSpPr>
          <p:cNvPr id="35" name="TextBox 34"/>
          <p:cNvSpPr txBox="1"/>
          <p:nvPr/>
        </p:nvSpPr>
        <p:spPr>
          <a:xfrm>
            <a:off x="9848088" y="4279392"/>
            <a:ext cx="1280160" cy="274320"/>
          </a:xfrm>
          <a:prstGeom prst="rect">
            <a:avLst/>
          </a:prstGeom>
          <a:noFill/>
        </p:spPr>
        <p:txBody>
          <a:bodyPr wrap="square" lIns="0" rIns="0" tIns="0" bIns="0" anchor="t">
            <a:spAutoFit/>
          </a:bodyPr>
          <a:lstStyle/>
          <a:p>
            <a:pPr algn="l">
              <a:spcAft>
                <a:spcPts val="600"/>
              </a:spcAft>
            </a:pPr>
            <a:r>
              <a:rPr sz="1150" b="0" i="0">
                <a:solidFill>
                  <a:srgbClr val="0F1A2E"/>
                </a:solidFill>
                <a:latin typeface="Calibri"/>
              </a:rPr>
              <a:t>D2</a:t>
            </a:r>
          </a:p>
        </p:txBody>
      </p:sp>
      <p:sp>
        <p:nvSpPr>
          <p:cNvPr id="36" name="TextBox 35"/>
          <p:cNvSpPr txBox="1"/>
          <p:nvPr/>
        </p:nvSpPr>
        <p:spPr>
          <a:xfrm>
            <a:off x="11082528" y="4279392"/>
            <a:ext cx="914400" cy="274320"/>
          </a:xfrm>
          <a:prstGeom prst="rect">
            <a:avLst/>
          </a:prstGeom>
          <a:noFill/>
        </p:spPr>
        <p:txBody>
          <a:bodyPr wrap="square" lIns="0" rIns="0" tIns="0" bIns="0" anchor="t">
            <a:spAutoFit/>
          </a:bodyPr>
          <a:lstStyle/>
          <a:p>
            <a:pPr algn="r">
              <a:spcAft>
                <a:spcPts val="600"/>
              </a:spcAft>
            </a:pPr>
            <a:r>
              <a:rPr sz="1150" b="1" i="0">
                <a:solidFill>
                  <a:srgbClr val="D98324"/>
                </a:solidFill>
                <a:latin typeface="Calibri"/>
              </a:rPr>
              <a:t>0.0564</a:t>
            </a:r>
          </a:p>
        </p:txBody>
      </p:sp>
      <p:sp>
        <p:nvSpPr>
          <p:cNvPr id="37" name="TextBox 36"/>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submission_package/07_MODELS/binder_panel_registry.json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A2E"/>
        </a:solidFill>
        <a:effectLst/>
      </p:bgPr>
    </p:bg>
    <p:spTree>
      <p:nvGrpSpPr>
        <p:cNvPr id="1" name=""/>
        <p:cNvGrpSpPr/>
        <p:nvPr/>
      </p:nvGrpSpPr>
      <p:grpSpPr/>
      <p:sp>
        <p:nvSpPr>
          <p:cNvPr id="2" name="TextBox 1"/>
          <p:cNvSpPr txBox="1"/>
          <p:nvPr/>
        </p:nvSpPr>
        <p:spPr>
          <a:xfrm>
            <a:off x="566928" y="841248"/>
            <a:ext cx="8229600" cy="457200"/>
          </a:xfrm>
          <a:prstGeom prst="rect">
            <a:avLst/>
          </a:prstGeom>
          <a:noFill/>
        </p:spPr>
        <p:txBody>
          <a:bodyPr wrap="square" lIns="0" rIns="0" tIns="0" bIns="0" anchor="t">
            <a:spAutoFit/>
          </a:bodyPr>
          <a:lstStyle/>
          <a:p>
            <a:pPr algn="l">
              <a:spcAft>
                <a:spcPts val="600"/>
              </a:spcAft>
            </a:pPr>
            <a:r>
              <a:rPr sz="1500" b="1" i="0">
                <a:solidFill>
                  <a:srgbClr val="D98324"/>
                </a:solidFill>
                <a:latin typeface="Calibri"/>
              </a:rPr>
              <a:t>One quantity, four numbers</a:t>
            </a:r>
          </a:p>
        </p:txBody>
      </p:sp>
      <p:sp>
        <p:nvSpPr>
          <p:cNvPr id="3" name="TextBox 2"/>
          <p:cNvSpPr txBox="1"/>
          <p:nvPr/>
        </p:nvSpPr>
        <p:spPr>
          <a:xfrm>
            <a:off x="566928" y="1225296"/>
            <a:ext cx="10881360" cy="694944"/>
          </a:xfrm>
          <a:prstGeom prst="rect">
            <a:avLst/>
          </a:prstGeom>
          <a:noFill/>
        </p:spPr>
        <p:txBody>
          <a:bodyPr wrap="square" lIns="0" rIns="0" tIns="0" bIns="0" anchor="t">
            <a:spAutoFit/>
          </a:bodyPr>
          <a:lstStyle/>
          <a:p>
            <a:pPr algn="l">
              <a:lnSpc>
                <a:spcPct val="110000"/>
              </a:lnSpc>
              <a:spcAft>
                <a:spcPts val="600"/>
              </a:spcAft>
            </a:pPr>
            <a:r>
              <a:rPr sz="2800" b="1" i="0">
                <a:solidFill>
                  <a:srgbClr val="FFFFFF"/>
                </a:solidFill>
                <a:latin typeface="Cambria"/>
              </a:rPr>
              <a:t>The published sensitivity was measured on the training set.</a:t>
            </a:r>
          </a:p>
        </p:txBody>
      </p:sp>
      <p:sp>
        <p:nvSpPr>
          <p:cNvPr id="4" name="TextBox 3"/>
          <p:cNvSpPr txBox="1"/>
          <p:nvPr/>
        </p:nvSpPr>
        <p:spPr>
          <a:xfrm>
            <a:off x="566928" y="2048256"/>
            <a:ext cx="10424160" cy="777240"/>
          </a:xfrm>
          <a:prstGeom prst="rect">
            <a:avLst/>
          </a:prstGeom>
          <a:noFill/>
        </p:spPr>
        <p:txBody>
          <a:bodyPr wrap="square" lIns="0" rIns="0" tIns="0" bIns="0" anchor="t">
            <a:spAutoFit/>
          </a:bodyPr>
          <a:lstStyle/>
          <a:p>
            <a:pPr algn="l">
              <a:lnSpc>
                <a:spcPct val="126000"/>
              </a:lnSpc>
              <a:spcAft>
                <a:spcPts val="600"/>
              </a:spcAft>
            </a:pPr>
            <a:r>
              <a:rPr sz="1350" b="0" i="0">
                <a:solidFill>
                  <a:srgbClr val="D7DFEA"/>
                </a:solidFill>
                <a:latin typeface="Calibri"/>
              </a:rPr>
              <a:t>The threshold sequence runs final_thresholds.py and then calibrate_background_specificity.py. Both write sensitivity_at_threshold into the registry. The second wins, and the two select their actives differently.</a:t>
            </a:r>
          </a:p>
        </p:txBody>
      </p:sp>
      <p:sp>
        <p:nvSpPr>
          <p:cNvPr id="5" name="Rounded Rectangle 4"/>
          <p:cNvSpPr/>
          <p:nvPr/>
        </p:nvSpPr>
        <p:spPr>
          <a:xfrm>
            <a:off x="566928" y="3017520"/>
            <a:ext cx="5120640" cy="1417320"/>
          </a:xfrm>
          <a:prstGeom prst="roundRect">
            <a:avLst>
              <a:gd name="adj" fmla="val 5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86968" y="3218688"/>
            <a:ext cx="4572000" cy="320040"/>
          </a:xfrm>
          <a:prstGeom prst="rect">
            <a:avLst/>
          </a:prstGeom>
          <a:noFill/>
        </p:spPr>
        <p:txBody>
          <a:bodyPr wrap="square" lIns="0" rIns="0" tIns="0" bIns="0" anchor="t">
            <a:spAutoFit/>
          </a:bodyPr>
          <a:lstStyle/>
          <a:p>
            <a:pPr algn="l">
              <a:spcAft>
                <a:spcPts val="600"/>
              </a:spcAft>
            </a:pPr>
            <a:r>
              <a:rPr sz="1350" b="1" i="0">
                <a:solidFill>
                  <a:srgbClr val="FFFFFF"/>
                </a:solidFill>
                <a:latin typeface="Calibri"/>
              </a:rPr>
              <a:t>final_thresholds.py</a:t>
            </a:r>
          </a:p>
        </p:txBody>
      </p:sp>
      <p:sp>
        <p:nvSpPr>
          <p:cNvPr id="7" name="TextBox 6"/>
          <p:cNvSpPr txBox="1"/>
          <p:nvPr/>
        </p:nvSpPr>
        <p:spPr>
          <a:xfrm>
            <a:off x="886968" y="3584448"/>
            <a:ext cx="4572000" cy="777240"/>
          </a:xfrm>
          <a:prstGeom prst="rect">
            <a:avLst/>
          </a:prstGeom>
          <a:noFill/>
        </p:spPr>
        <p:txBody>
          <a:bodyPr wrap="square" lIns="0" rIns="0" tIns="0" bIns="0" anchor="t">
            <a:spAutoFit/>
          </a:bodyPr>
          <a:lstStyle/>
          <a:p>
            <a:pPr algn="l">
              <a:lnSpc>
                <a:spcPct val="124000"/>
              </a:lnSpc>
              <a:spcAft>
                <a:spcPts val="600"/>
              </a:spcAft>
            </a:pPr>
            <a:r>
              <a:rPr sz="1250" b="0" i="0">
                <a:solidFill>
                  <a:srgbClr val="D7DFEA"/>
                </a:solidFill>
                <a:latin typeface="Calibri"/>
              </a:rPr>
              <a:t>scores the held-out actives listed in models_rf/holdout/. For A1 that is 420 compounds.</a:t>
            </a:r>
          </a:p>
        </p:txBody>
      </p:sp>
      <p:sp>
        <p:nvSpPr>
          <p:cNvPr id="8" name="Rounded Rectangle 7"/>
          <p:cNvSpPr/>
          <p:nvPr/>
        </p:nvSpPr>
        <p:spPr>
          <a:xfrm>
            <a:off x="6053328" y="3017520"/>
            <a:ext cx="5212080" cy="1417320"/>
          </a:xfrm>
          <a:prstGeom prst="roundRect">
            <a:avLst>
              <a:gd name="adj" fmla="val 5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373368" y="3218688"/>
            <a:ext cx="4663440" cy="320040"/>
          </a:xfrm>
          <a:prstGeom prst="rect">
            <a:avLst/>
          </a:prstGeom>
          <a:noFill/>
        </p:spPr>
        <p:txBody>
          <a:bodyPr wrap="square" lIns="0" rIns="0" tIns="0" bIns="0" anchor="t">
            <a:spAutoFit/>
          </a:bodyPr>
          <a:lstStyle/>
          <a:p>
            <a:pPr algn="l">
              <a:spcAft>
                <a:spcPts val="600"/>
              </a:spcAft>
            </a:pPr>
            <a:r>
              <a:rPr sz="1350" b="1" i="0">
                <a:solidFill>
                  <a:srgbClr val="D98324"/>
                </a:solidFill>
                <a:latin typeface="Calibri"/>
              </a:rPr>
              <a:t>calibrate_background_specificity.py</a:t>
            </a:r>
          </a:p>
        </p:txBody>
      </p:sp>
      <p:sp>
        <p:nvSpPr>
          <p:cNvPr id="10" name="TextBox 9"/>
          <p:cNvSpPr txBox="1"/>
          <p:nvPr/>
        </p:nvSpPr>
        <p:spPr>
          <a:xfrm>
            <a:off x="6373368" y="3584448"/>
            <a:ext cx="4663440" cy="777240"/>
          </a:xfrm>
          <a:prstGeom prst="rect">
            <a:avLst/>
          </a:prstGeom>
          <a:noFill/>
        </p:spPr>
        <p:txBody>
          <a:bodyPr wrap="square" lIns="0" rIns="0" tIns="0" bIns="0" anchor="t">
            <a:spAutoFit/>
          </a:bodyPr>
          <a:lstStyle/>
          <a:p>
            <a:pPr algn="l">
              <a:lnSpc>
                <a:spcPct val="124000"/>
              </a:lnSpc>
              <a:spcAft>
                <a:spcPts val="600"/>
              </a:spcAft>
            </a:pPr>
            <a:r>
              <a:rPr sz="1250" b="0" i="0">
                <a:solidFill>
                  <a:srgbClr val="D7DFEA"/>
                </a:solidFill>
                <a:latin typeface="Calibri"/>
              </a:rPr>
              <a:t>scores every active in the endpoint table. For A1 that is 1,943 compounds, of which 1,523 were used to fit the model.</a:t>
            </a:r>
          </a:p>
        </p:txBody>
      </p:sp>
      <p:sp>
        <p:nvSpPr>
          <p:cNvPr id="11" name="TextBox 10"/>
          <p:cNvSpPr txBox="1"/>
          <p:nvPr/>
        </p:nvSpPr>
        <p:spPr>
          <a:xfrm>
            <a:off x="566928" y="4709160"/>
            <a:ext cx="10607040" cy="502920"/>
          </a:xfrm>
          <a:prstGeom prst="rect">
            <a:avLst/>
          </a:prstGeom>
          <a:noFill/>
        </p:spPr>
        <p:txBody>
          <a:bodyPr wrap="square" lIns="0" rIns="0" tIns="0" bIns="0" anchor="t">
            <a:spAutoFit/>
          </a:bodyPr>
          <a:lstStyle/>
          <a:p>
            <a:pPr algn="l">
              <a:lnSpc>
                <a:spcPct val="124000"/>
              </a:lnSpc>
              <a:spcAft>
                <a:spcPts val="600"/>
              </a:spcAft>
            </a:pPr>
            <a:r>
              <a:rPr sz="1400" b="1" i="0">
                <a:solidFill>
                  <a:srgbClr val="FFFFFF"/>
                </a:solidFill>
                <a:latin typeface="Calibri"/>
              </a:rPr>
              <a:t>The registry kept the second script's number and the first script's label, on all 47 deployed entries. Repaired at the source on 2026-08-30, commit ab88039.</a:t>
            </a:r>
          </a:p>
        </p:txBody>
      </p:sp>
      <p:sp>
        <p:nvSpPr>
          <p:cNvPr id="12" name="TextBox 11"/>
          <p:cNvSpPr txBox="1"/>
          <p:nvPr/>
        </p:nvSpPr>
        <p:spPr>
          <a:xfrm>
            <a:off x="704088" y="5394960"/>
            <a:ext cx="10424160" cy="292608"/>
          </a:xfrm>
          <a:prstGeom prst="rect">
            <a:avLst/>
          </a:prstGeom>
          <a:noFill/>
        </p:spPr>
        <p:txBody>
          <a:bodyPr wrap="square" lIns="0" rIns="0" tIns="0" bIns="0" anchor="t">
            <a:spAutoFit/>
          </a:bodyPr>
          <a:lstStyle/>
          <a:p>
            <a:pPr algn="l">
              <a:spcAft>
                <a:spcPts val="600"/>
              </a:spcAft>
            </a:pPr>
            <a:r>
              <a:rPr sz="1300" b="0" i="0">
                <a:solidFill>
                  <a:srgbClr val="D98324"/>
                </a:solidFill>
                <a:latin typeface="Calibri"/>
              </a:rPr>
              <a:t>•  published higher on 47 of 47</a:t>
            </a:r>
          </a:p>
        </p:txBody>
      </p:sp>
      <p:sp>
        <p:nvSpPr>
          <p:cNvPr id="13" name="TextBox 12"/>
          <p:cNvSpPr txBox="1"/>
          <p:nvPr/>
        </p:nvSpPr>
        <p:spPr>
          <a:xfrm>
            <a:off x="704088" y="5724144"/>
            <a:ext cx="10424160" cy="292608"/>
          </a:xfrm>
          <a:prstGeom prst="rect">
            <a:avLst/>
          </a:prstGeom>
          <a:noFill/>
        </p:spPr>
        <p:txBody>
          <a:bodyPr wrap="square" lIns="0" rIns="0" tIns="0" bIns="0" anchor="t">
            <a:spAutoFit/>
          </a:bodyPr>
          <a:lstStyle/>
          <a:p>
            <a:pPr algn="l">
              <a:spcAft>
                <a:spcPts val="600"/>
              </a:spcAft>
            </a:pPr>
            <a:r>
              <a:rPr sz="1300" b="0" i="0">
                <a:solidFill>
                  <a:srgbClr val="D98324"/>
                </a:solidFill>
                <a:latin typeface="Calibri"/>
              </a:rPr>
              <a:t>•  by a mean of +0.1344</a:t>
            </a:r>
          </a:p>
        </p:txBody>
      </p:sp>
      <p:sp>
        <p:nvSpPr>
          <p:cNvPr id="14" name="TextBox 13"/>
          <p:cNvSpPr txBox="1"/>
          <p:nvPr/>
        </p:nvSpPr>
        <p:spPr>
          <a:xfrm>
            <a:off x="704088" y="6053328"/>
            <a:ext cx="10424160" cy="292608"/>
          </a:xfrm>
          <a:prstGeom prst="rect">
            <a:avLst/>
          </a:prstGeom>
          <a:noFill/>
        </p:spPr>
        <p:txBody>
          <a:bodyPr wrap="square" lIns="0" rIns="0" tIns="0" bIns="0" anchor="t">
            <a:spAutoFit/>
          </a:bodyPr>
          <a:lstStyle/>
          <a:p>
            <a:pPr algn="l">
              <a:spcAft>
                <a:spcPts val="600"/>
              </a:spcAft>
            </a:pPr>
            <a:r>
              <a:rPr sz="1300" b="0" i="0">
                <a:solidFill>
                  <a:srgbClr val="D98324"/>
                </a:solidFill>
                <a:latin typeface="Calibri"/>
              </a:rPr>
              <a:t>•  the scored set is 80.5% training compounds at the median</a:t>
            </a:r>
          </a:p>
        </p:txBody>
      </p:sp>
      <p:sp>
        <p:nvSpPr>
          <p:cNvPr id="15" name="TextBox 14"/>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results/tables/sensitivity_reconciliation.csv, written for this chapter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5</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What the honest figure is, and what it changes</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Measured on held-out actives only, across the 47 deployed binder endpoints</a:t>
            </a:r>
          </a:p>
        </p:txBody>
      </p:sp>
      <p:sp>
        <p:nvSpPr>
          <p:cNvPr id="5" name="TextBox 4"/>
          <p:cNvSpPr txBox="1"/>
          <p:nvPr/>
        </p:nvSpPr>
        <p:spPr>
          <a:xfrm>
            <a:off x="4727448" y="1719072"/>
            <a:ext cx="2103120" cy="274320"/>
          </a:xfrm>
          <a:prstGeom prst="rect">
            <a:avLst/>
          </a:prstGeom>
          <a:noFill/>
        </p:spPr>
        <p:txBody>
          <a:bodyPr wrap="square" lIns="0" rIns="0" tIns="0" bIns="0" anchor="t">
            <a:spAutoFit/>
          </a:bodyPr>
          <a:lstStyle/>
          <a:p>
            <a:pPr algn="r">
              <a:spcAft>
                <a:spcPts val="600"/>
              </a:spcAft>
            </a:pPr>
            <a:r>
              <a:rPr sz="1150" b="1" i="0">
                <a:solidFill>
                  <a:srgbClr val="5F6B7A"/>
                </a:solidFill>
                <a:latin typeface="Calibri"/>
              </a:rPr>
              <a:t>before the fix</a:t>
            </a:r>
          </a:p>
        </p:txBody>
      </p:sp>
      <p:sp>
        <p:nvSpPr>
          <p:cNvPr id="6" name="TextBox 5"/>
          <p:cNvSpPr txBox="1"/>
          <p:nvPr/>
        </p:nvSpPr>
        <p:spPr>
          <a:xfrm>
            <a:off x="7242048" y="1719072"/>
            <a:ext cx="2103120" cy="274320"/>
          </a:xfrm>
          <a:prstGeom prst="rect">
            <a:avLst/>
          </a:prstGeom>
          <a:noFill/>
        </p:spPr>
        <p:txBody>
          <a:bodyPr wrap="square" lIns="0" rIns="0" tIns="0" bIns="0" anchor="t">
            <a:spAutoFit/>
          </a:bodyPr>
          <a:lstStyle/>
          <a:p>
            <a:pPr algn="r">
              <a:spcAft>
                <a:spcPts val="600"/>
              </a:spcAft>
            </a:pPr>
            <a:r>
              <a:rPr sz="1150" b="1" i="0">
                <a:solidFill>
                  <a:srgbClr val="1F3A5F"/>
                </a:solidFill>
                <a:latin typeface="Calibri"/>
              </a:rPr>
              <a:t>as published now</a:t>
            </a:r>
          </a:p>
        </p:txBody>
      </p:sp>
      <p:sp>
        <p:nvSpPr>
          <p:cNvPr id="7" name="Rounded Rectangle 6"/>
          <p:cNvSpPr/>
          <p:nvPr/>
        </p:nvSpPr>
        <p:spPr>
          <a:xfrm>
            <a:off x="566928" y="2029967"/>
            <a:ext cx="8961120" cy="530352"/>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41247" y="2121408"/>
            <a:ext cx="3749039" cy="329184"/>
          </a:xfrm>
          <a:prstGeom prst="rect">
            <a:avLst/>
          </a:prstGeom>
          <a:noFill/>
        </p:spPr>
        <p:txBody>
          <a:bodyPr wrap="square" lIns="0" rIns="0" tIns="0" bIns="0" anchor="t">
            <a:spAutoFit/>
          </a:bodyPr>
          <a:lstStyle/>
          <a:p>
            <a:pPr algn="l">
              <a:spcAft>
                <a:spcPts val="600"/>
              </a:spcAft>
            </a:pPr>
            <a:r>
              <a:rPr sz="1350" b="0" i="0">
                <a:solidFill>
                  <a:srgbClr val="0F1A2E"/>
                </a:solidFill>
                <a:latin typeface="Calibri"/>
              </a:rPr>
              <a:t>mean sensitivity</a:t>
            </a:r>
          </a:p>
        </p:txBody>
      </p:sp>
      <p:sp>
        <p:nvSpPr>
          <p:cNvPr id="9" name="TextBox 8"/>
          <p:cNvSpPr txBox="1"/>
          <p:nvPr/>
        </p:nvSpPr>
        <p:spPr>
          <a:xfrm>
            <a:off x="4727448" y="2121408"/>
            <a:ext cx="2103120" cy="329184"/>
          </a:xfrm>
          <a:prstGeom prst="rect">
            <a:avLst/>
          </a:prstGeom>
          <a:noFill/>
        </p:spPr>
        <p:txBody>
          <a:bodyPr wrap="square" lIns="0" rIns="0" tIns="0" bIns="0" anchor="t">
            <a:spAutoFit/>
          </a:bodyPr>
          <a:lstStyle/>
          <a:p>
            <a:pPr algn="r">
              <a:spcAft>
                <a:spcPts val="600"/>
              </a:spcAft>
            </a:pPr>
            <a:r>
              <a:rPr sz="1350" b="0" i="0">
                <a:solidFill>
                  <a:srgbClr val="5F6B7A"/>
                </a:solidFill>
                <a:latin typeface="Calibri"/>
              </a:rPr>
              <a:t>0.8983</a:t>
            </a:r>
          </a:p>
        </p:txBody>
      </p:sp>
      <p:sp>
        <p:nvSpPr>
          <p:cNvPr id="10" name="TextBox 9"/>
          <p:cNvSpPr txBox="1"/>
          <p:nvPr/>
        </p:nvSpPr>
        <p:spPr>
          <a:xfrm>
            <a:off x="7242048" y="2121408"/>
            <a:ext cx="2103120" cy="329184"/>
          </a:xfrm>
          <a:prstGeom prst="rect">
            <a:avLst/>
          </a:prstGeom>
          <a:noFill/>
        </p:spPr>
        <p:txBody>
          <a:bodyPr wrap="square" lIns="0" rIns="0" tIns="0" bIns="0" anchor="t">
            <a:spAutoFit/>
          </a:bodyPr>
          <a:lstStyle/>
          <a:p>
            <a:pPr algn="r">
              <a:spcAft>
                <a:spcPts val="600"/>
              </a:spcAft>
            </a:pPr>
            <a:r>
              <a:rPr sz="1350" b="1" i="0">
                <a:solidFill>
                  <a:srgbClr val="1F3A5F"/>
                </a:solidFill>
                <a:latin typeface="Calibri"/>
              </a:rPr>
              <a:t>0.7638</a:t>
            </a:r>
          </a:p>
        </p:txBody>
      </p:sp>
      <p:sp>
        <p:nvSpPr>
          <p:cNvPr id="11" name="TextBox 10"/>
          <p:cNvSpPr txBox="1"/>
          <p:nvPr/>
        </p:nvSpPr>
        <p:spPr>
          <a:xfrm>
            <a:off x="841247" y="2651760"/>
            <a:ext cx="3749039" cy="329184"/>
          </a:xfrm>
          <a:prstGeom prst="rect">
            <a:avLst/>
          </a:prstGeom>
          <a:noFill/>
        </p:spPr>
        <p:txBody>
          <a:bodyPr wrap="square" lIns="0" rIns="0" tIns="0" bIns="0" anchor="t">
            <a:spAutoFit/>
          </a:bodyPr>
          <a:lstStyle/>
          <a:p>
            <a:pPr algn="l">
              <a:spcAft>
                <a:spcPts val="600"/>
              </a:spcAft>
            </a:pPr>
            <a:r>
              <a:rPr sz="1350" b="0" i="0">
                <a:solidFill>
                  <a:srgbClr val="0F1A2E"/>
                </a:solidFill>
                <a:latin typeface="Calibri"/>
              </a:rPr>
              <a:t>median</a:t>
            </a:r>
          </a:p>
        </p:txBody>
      </p:sp>
      <p:sp>
        <p:nvSpPr>
          <p:cNvPr id="12" name="TextBox 11"/>
          <p:cNvSpPr txBox="1"/>
          <p:nvPr/>
        </p:nvSpPr>
        <p:spPr>
          <a:xfrm>
            <a:off x="4727448" y="2651760"/>
            <a:ext cx="2103120" cy="329184"/>
          </a:xfrm>
          <a:prstGeom prst="rect">
            <a:avLst/>
          </a:prstGeom>
          <a:noFill/>
        </p:spPr>
        <p:txBody>
          <a:bodyPr wrap="square" lIns="0" rIns="0" tIns="0" bIns="0" anchor="t">
            <a:spAutoFit/>
          </a:bodyPr>
          <a:lstStyle/>
          <a:p>
            <a:pPr algn="r">
              <a:spcAft>
                <a:spcPts val="600"/>
              </a:spcAft>
            </a:pPr>
            <a:r>
              <a:rPr sz="1350" b="0" i="0">
                <a:solidFill>
                  <a:srgbClr val="5F6B7A"/>
                </a:solidFill>
                <a:latin typeface="Calibri"/>
              </a:rPr>
              <a:t>0.9320</a:t>
            </a:r>
          </a:p>
        </p:txBody>
      </p:sp>
      <p:sp>
        <p:nvSpPr>
          <p:cNvPr id="13" name="TextBox 12"/>
          <p:cNvSpPr txBox="1"/>
          <p:nvPr/>
        </p:nvSpPr>
        <p:spPr>
          <a:xfrm>
            <a:off x="7242048" y="2651760"/>
            <a:ext cx="2103120" cy="329184"/>
          </a:xfrm>
          <a:prstGeom prst="rect">
            <a:avLst/>
          </a:prstGeom>
          <a:noFill/>
        </p:spPr>
        <p:txBody>
          <a:bodyPr wrap="square" lIns="0" rIns="0" tIns="0" bIns="0" anchor="t">
            <a:spAutoFit/>
          </a:bodyPr>
          <a:lstStyle/>
          <a:p>
            <a:pPr algn="r">
              <a:spcAft>
                <a:spcPts val="600"/>
              </a:spcAft>
            </a:pPr>
            <a:r>
              <a:rPr sz="1350" b="1" i="0">
                <a:solidFill>
                  <a:srgbClr val="1F3A5F"/>
                </a:solidFill>
                <a:latin typeface="Calibri"/>
              </a:rPr>
              <a:t>0.8350</a:t>
            </a:r>
          </a:p>
        </p:txBody>
      </p:sp>
      <p:sp>
        <p:nvSpPr>
          <p:cNvPr id="14" name="Rounded Rectangle 13"/>
          <p:cNvSpPr/>
          <p:nvPr/>
        </p:nvSpPr>
        <p:spPr>
          <a:xfrm>
            <a:off x="566928" y="3090672"/>
            <a:ext cx="8961120" cy="530352"/>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41247" y="3182112"/>
            <a:ext cx="3749039" cy="329184"/>
          </a:xfrm>
          <a:prstGeom prst="rect">
            <a:avLst/>
          </a:prstGeom>
          <a:noFill/>
        </p:spPr>
        <p:txBody>
          <a:bodyPr wrap="square" lIns="0" rIns="0" tIns="0" bIns="0" anchor="t">
            <a:spAutoFit/>
          </a:bodyPr>
          <a:lstStyle/>
          <a:p>
            <a:pPr algn="l">
              <a:spcAft>
                <a:spcPts val="600"/>
              </a:spcAft>
            </a:pPr>
            <a:r>
              <a:rPr sz="1350" b="0" i="0">
                <a:solidFill>
                  <a:srgbClr val="0F1A2E"/>
                </a:solidFill>
                <a:latin typeface="Calibri"/>
              </a:rPr>
              <a:t>minimum</a:t>
            </a:r>
          </a:p>
        </p:txBody>
      </p:sp>
      <p:sp>
        <p:nvSpPr>
          <p:cNvPr id="16" name="TextBox 15"/>
          <p:cNvSpPr txBox="1"/>
          <p:nvPr/>
        </p:nvSpPr>
        <p:spPr>
          <a:xfrm>
            <a:off x="4727448" y="3182112"/>
            <a:ext cx="2103120" cy="329184"/>
          </a:xfrm>
          <a:prstGeom prst="rect">
            <a:avLst/>
          </a:prstGeom>
          <a:noFill/>
        </p:spPr>
        <p:txBody>
          <a:bodyPr wrap="square" lIns="0" rIns="0" tIns="0" bIns="0" anchor="t">
            <a:spAutoFit/>
          </a:bodyPr>
          <a:lstStyle/>
          <a:p>
            <a:pPr algn="r">
              <a:spcAft>
                <a:spcPts val="600"/>
              </a:spcAft>
            </a:pPr>
            <a:r>
              <a:rPr sz="1350" b="0" i="0">
                <a:solidFill>
                  <a:srgbClr val="5F6B7A"/>
                </a:solidFill>
                <a:latin typeface="Calibri"/>
              </a:rPr>
              <a:t>0.639, COX2</a:t>
            </a:r>
          </a:p>
        </p:txBody>
      </p:sp>
      <p:sp>
        <p:nvSpPr>
          <p:cNvPr id="17" name="TextBox 16"/>
          <p:cNvSpPr txBox="1"/>
          <p:nvPr/>
        </p:nvSpPr>
        <p:spPr>
          <a:xfrm>
            <a:off x="7242048" y="3182112"/>
            <a:ext cx="2103120" cy="329184"/>
          </a:xfrm>
          <a:prstGeom prst="rect">
            <a:avLst/>
          </a:prstGeom>
          <a:noFill/>
        </p:spPr>
        <p:txBody>
          <a:bodyPr wrap="square" lIns="0" rIns="0" tIns="0" bIns="0" anchor="t">
            <a:spAutoFit/>
          </a:bodyPr>
          <a:lstStyle/>
          <a:p>
            <a:pPr algn="r">
              <a:spcAft>
                <a:spcPts val="600"/>
              </a:spcAft>
            </a:pPr>
            <a:r>
              <a:rPr sz="1350" b="1" i="0">
                <a:solidFill>
                  <a:srgbClr val="1F3A5F"/>
                </a:solidFill>
                <a:latin typeface="Calibri"/>
              </a:rPr>
              <a:t>0.303, GABA-A</a:t>
            </a:r>
          </a:p>
        </p:txBody>
      </p:sp>
      <p:sp>
        <p:nvSpPr>
          <p:cNvPr id="18" name="TextBox 17"/>
          <p:cNvSpPr txBox="1"/>
          <p:nvPr/>
        </p:nvSpPr>
        <p:spPr>
          <a:xfrm>
            <a:off x="841247" y="3712463"/>
            <a:ext cx="3749039" cy="329184"/>
          </a:xfrm>
          <a:prstGeom prst="rect">
            <a:avLst/>
          </a:prstGeom>
          <a:noFill/>
        </p:spPr>
        <p:txBody>
          <a:bodyPr wrap="square" lIns="0" rIns="0" tIns="0" bIns="0" anchor="t">
            <a:spAutoFit/>
          </a:bodyPr>
          <a:lstStyle/>
          <a:p>
            <a:pPr algn="l">
              <a:spcAft>
                <a:spcPts val="600"/>
              </a:spcAft>
            </a:pPr>
            <a:r>
              <a:rPr sz="1350" b="0" i="0">
                <a:solidFill>
                  <a:srgbClr val="0F1A2E"/>
                </a:solidFill>
                <a:latin typeface="Calibri"/>
              </a:rPr>
              <a:t>maximum</a:t>
            </a:r>
          </a:p>
        </p:txBody>
      </p:sp>
      <p:sp>
        <p:nvSpPr>
          <p:cNvPr id="19" name="TextBox 18"/>
          <p:cNvSpPr txBox="1"/>
          <p:nvPr/>
        </p:nvSpPr>
        <p:spPr>
          <a:xfrm>
            <a:off x="4727448" y="3712463"/>
            <a:ext cx="2103120" cy="329184"/>
          </a:xfrm>
          <a:prstGeom prst="rect">
            <a:avLst/>
          </a:prstGeom>
          <a:noFill/>
        </p:spPr>
        <p:txBody>
          <a:bodyPr wrap="square" lIns="0" rIns="0" tIns="0" bIns="0" anchor="t">
            <a:spAutoFit/>
          </a:bodyPr>
          <a:lstStyle/>
          <a:p>
            <a:pPr algn="r">
              <a:spcAft>
                <a:spcPts val="600"/>
              </a:spcAft>
            </a:pPr>
            <a:r>
              <a:rPr sz="1350" b="0" i="0">
                <a:solidFill>
                  <a:srgbClr val="5F6B7A"/>
                </a:solidFill>
                <a:latin typeface="Calibri"/>
              </a:rPr>
              <a:t>0.997</a:t>
            </a:r>
          </a:p>
        </p:txBody>
      </p:sp>
      <p:sp>
        <p:nvSpPr>
          <p:cNvPr id="20" name="TextBox 19"/>
          <p:cNvSpPr txBox="1"/>
          <p:nvPr/>
        </p:nvSpPr>
        <p:spPr>
          <a:xfrm>
            <a:off x="7242048" y="3712463"/>
            <a:ext cx="2103120" cy="329184"/>
          </a:xfrm>
          <a:prstGeom prst="rect">
            <a:avLst/>
          </a:prstGeom>
          <a:noFill/>
        </p:spPr>
        <p:txBody>
          <a:bodyPr wrap="square" lIns="0" rIns="0" tIns="0" bIns="0" anchor="t">
            <a:spAutoFit/>
          </a:bodyPr>
          <a:lstStyle/>
          <a:p>
            <a:pPr algn="r">
              <a:spcAft>
                <a:spcPts val="600"/>
              </a:spcAft>
            </a:pPr>
            <a:r>
              <a:rPr sz="1350" b="1" i="0">
                <a:solidFill>
                  <a:srgbClr val="1F3A5F"/>
                </a:solidFill>
                <a:latin typeface="Calibri"/>
              </a:rPr>
              <a:t>0.993</a:t>
            </a:r>
          </a:p>
        </p:txBody>
      </p:sp>
      <p:sp>
        <p:nvSpPr>
          <p:cNvPr id="21" name="Rounded Rectangle 20"/>
          <p:cNvSpPr/>
          <p:nvPr/>
        </p:nvSpPr>
        <p:spPr>
          <a:xfrm>
            <a:off x="566928" y="4151376"/>
            <a:ext cx="8961120" cy="530352"/>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242816"/>
            <a:ext cx="3749039" cy="329184"/>
          </a:xfrm>
          <a:prstGeom prst="rect">
            <a:avLst/>
          </a:prstGeom>
          <a:noFill/>
        </p:spPr>
        <p:txBody>
          <a:bodyPr wrap="square" lIns="0" rIns="0" tIns="0" bIns="0" anchor="t">
            <a:spAutoFit/>
          </a:bodyPr>
          <a:lstStyle/>
          <a:p>
            <a:pPr algn="l">
              <a:spcAft>
                <a:spcPts val="600"/>
              </a:spcAft>
            </a:pPr>
            <a:r>
              <a:rPr sz="1350" b="1" i="0">
                <a:solidFill>
                  <a:srgbClr val="9E2A2B"/>
                </a:solidFill>
                <a:latin typeface="Calibri"/>
              </a:rPr>
              <a:t>endpoints below 0.50</a:t>
            </a:r>
          </a:p>
        </p:txBody>
      </p:sp>
      <p:sp>
        <p:nvSpPr>
          <p:cNvPr id="23" name="TextBox 22"/>
          <p:cNvSpPr txBox="1"/>
          <p:nvPr/>
        </p:nvSpPr>
        <p:spPr>
          <a:xfrm>
            <a:off x="4727448" y="4242816"/>
            <a:ext cx="2103120" cy="329184"/>
          </a:xfrm>
          <a:prstGeom prst="rect">
            <a:avLst/>
          </a:prstGeom>
          <a:noFill/>
        </p:spPr>
        <p:txBody>
          <a:bodyPr wrap="square" lIns="0" rIns="0" tIns="0" bIns="0" anchor="t">
            <a:spAutoFit/>
          </a:bodyPr>
          <a:lstStyle/>
          <a:p>
            <a:pPr algn="r">
              <a:spcAft>
                <a:spcPts val="600"/>
              </a:spcAft>
            </a:pPr>
            <a:r>
              <a:rPr sz="1350" b="1" i="0">
                <a:solidFill>
                  <a:srgbClr val="5F6B7A"/>
                </a:solidFill>
                <a:latin typeface="Calibri"/>
              </a:rPr>
              <a:t>0 of 47</a:t>
            </a:r>
          </a:p>
        </p:txBody>
      </p:sp>
      <p:sp>
        <p:nvSpPr>
          <p:cNvPr id="24" name="TextBox 23"/>
          <p:cNvSpPr txBox="1"/>
          <p:nvPr/>
        </p:nvSpPr>
        <p:spPr>
          <a:xfrm>
            <a:off x="7242048" y="4242816"/>
            <a:ext cx="2103120" cy="329184"/>
          </a:xfrm>
          <a:prstGeom prst="rect">
            <a:avLst/>
          </a:prstGeom>
          <a:noFill/>
        </p:spPr>
        <p:txBody>
          <a:bodyPr wrap="square" lIns="0" rIns="0" tIns="0" bIns="0" anchor="t">
            <a:spAutoFit/>
          </a:bodyPr>
          <a:lstStyle/>
          <a:p>
            <a:pPr algn="r">
              <a:spcAft>
                <a:spcPts val="600"/>
              </a:spcAft>
            </a:pPr>
            <a:r>
              <a:rPr sz="1350" b="1" i="0">
                <a:solidFill>
                  <a:srgbClr val="9E2A2B"/>
                </a:solidFill>
                <a:latin typeface="Calibri"/>
              </a:rPr>
              <a:t>6 of 47</a:t>
            </a:r>
          </a:p>
        </p:txBody>
      </p:sp>
      <p:sp>
        <p:nvSpPr>
          <p:cNvPr id="25" name="TextBox 24"/>
          <p:cNvSpPr txBox="1"/>
          <p:nvPr/>
        </p:nvSpPr>
        <p:spPr>
          <a:xfrm>
            <a:off x="566928" y="4892040"/>
            <a:ext cx="8961120" cy="457200"/>
          </a:xfrm>
          <a:prstGeom prst="rect">
            <a:avLst/>
          </a:prstGeom>
          <a:noFill/>
        </p:spPr>
        <p:txBody>
          <a:bodyPr wrap="square" lIns="0" rIns="0" tIns="0" bIns="0" anchor="t">
            <a:spAutoFit/>
          </a:bodyPr>
          <a:lstStyle/>
          <a:p>
            <a:pPr algn="l">
              <a:spcAft>
                <a:spcPts val="600"/>
              </a:spcAft>
            </a:pPr>
            <a:r>
              <a:rPr sz="1500" b="1" i="0">
                <a:solidFill>
                  <a:srgbClr val="9E2A2B"/>
                </a:solidFill>
                <a:latin typeface="Cambria"/>
              </a:rPr>
              <a:t>The last row is why this is a correction and not a quibble.</a:t>
            </a:r>
          </a:p>
        </p:txBody>
      </p:sp>
      <p:sp>
        <p:nvSpPr>
          <p:cNvPr id="26" name="TextBox 25"/>
          <p:cNvSpPr txBox="1"/>
          <p:nvPr/>
        </p:nvSpPr>
        <p:spPr>
          <a:xfrm>
            <a:off x="566928" y="5394960"/>
            <a:ext cx="8961120" cy="777240"/>
          </a:xfrm>
          <a:prstGeom prst="rect">
            <a:avLst/>
          </a:prstGeom>
          <a:noFill/>
        </p:spPr>
        <p:txBody>
          <a:bodyPr wrap="square" lIns="0" rIns="0" tIns="0" bIns="0" anchor="t">
            <a:spAutoFit/>
          </a:bodyPr>
          <a:lstStyle/>
          <a:p>
            <a:pPr algn="l">
              <a:lnSpc>
                <a:spcPct val="126000"/>
              </a:lnSpc>
              <a:spcAft>
                <a:spcPts val="600"/>
              </a:spcAft>
            </a:pPr>
            <a:r>
              <a:rPr sz="1300" b="0" i="0">
                <a:solidFill>
                  <a:srgbClr val="0F1A2E"/>
                </a:solidFill>
                <a:latin typeface="Calibri"/>
              </a:rPr>
              <a:t>On the published figure no deployed endpoint fires for fewer than half its own actives. On the held-out figure six do: GABA-A 0.303, COX2 0.338, TAAR1 0.355, GluN2B 0.374, SIRT1 0.378, P2X7 0.465.</a:t>
            </a:r>
          </a:p>
        </p:txBody>
      </p:sp>
      <p:sp>
        <p:nvSpPr>
          <p:cNvPr id="27" name="TextBox 26"/>
          <p:cNvSpPr txBox="1"/>
          <p:nvPr/>
        </p:nvSpPr>
        <p:spPr>
          <a:xfrm>
            <a:off x="9756648" y="2103120"/>
            <a:ext cx="1868119" cy="2743200"/>
          </a:xfrm>
          <a:prstGeom prst="rect">
            <a:avLst/>
          </a:prstGeom>
          <a:noFill/>
        </p:spPr>
        <p:txBody>
          <a:bodyPr wrap="square" lIns="0" rIns="0" tIns="0" bIns="0" anchor="t">
            <a:spAutoFit/>
          </a:bodyPr>
          <a:lstStyle/>
          <a:p>
            <a:pPr algn="l">
              <a:lnSpc>
                <a:spcPct val="126000"/>
              </a:lnSpc>
              <a:spcAft>
                <a:spcPts val="600"/>
              </a:spcAft>
            </a:pPr>
            <a:r>
              <a:rPr sz="1200" b="0" i="0">
                <a:solidFill>
                  <a:srgbClr val="0F1A2E"/>
                </a:solidFill>
                <a:latin typeface="Calibri"/>
              </a:rPr>
              <a:t>The falsification suite already found this, from an unrelated direction.
H7 scored held-out actives against random PubChem chemistry and reported six targets under 0.50. Five of its six are the same six.
The published figure was the outlier all along, and the suite designed to embarrass the tool had already said so.</a:t>
            </a:r>
          </a:p>
        </p:txBody>
      </p:sp>
      <p:sp>
        <p:nvSpPr>
          <p:cNvPr id="28" name="TextBox 27"/>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results/tables/sensitivity_reconciliation.csv; inversion/results/H7_target_discrimination.csv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6</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The endpoints the panel already marks unreliable</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Sensitivity below 0.50 at the operating point, or AUROC below 0.75 against measured inactives</a:t>
            </a:r>
          </a:p>
        </p:txBody>
      </p:sp>
      <p:sp>
        <p:nvSpPr>
          <p:cNvPr id="5" name="TextBox 4"/>
          <p:cNvSpPr txBox="1"/>
          <p:nvPr/>
        </p:nvSpPr>
        <p:spPr>
          <a:xfrm>
            <a:off x="566928" y="1691640"/>
            <a:ext cx="5212080" cy="1371600"/>
          </a:xfrm>
          <a:prstGeom prst="rect">
            <a:avLst/>
          </a:prstGeom>
          <a:noFill/>
        </p:spPr>
        <p:txBody>
          <a:bodyPr wrap="square" lIns="0" rIns="0" tIns="0" bIns="0" anchor="t">
            <a:spAutoFit/>
          </a:bodyPr>
          <a:lstStyle/>
          <a:p>
            <a:pPr algn="l">
              <a:lnSpc>
                <a:spcPct val="126000"/>
              </a:lnSpc>
              <a:spcAft>
                <a:spcPts val="600"/>
              </a:spcAft>
            </a:pPr>
            <a:r>
              <a:rPr sz="1500" b="1" i="0">
                <a:solidFill>
                  <a:srgbClr val="1F3A5F"/>
                </a:solidFill>
                <a:latin typeface="Calibri"/>
              </a:rPr>
              <a:t>Six of the 47 deployed endpoints carry the flag: COX2, GABA-A, GluN2B, P2X7, SIRT1, TAAR1.</a:t>
            </a:r>
          </a:p>
        </p:txBody>
      </p:sp>
      <p:sp>
        <p:nvSpPr>
          <p:cNvPr id="6" name="TextBox 5"/>
          <p:cNvSpPr txBox="1"/>
          <p:nvPr/>
        </p:nvSpPr>
        <p:spPr>
          <a:xfrm>
            <a:off x="566928" y="2880360"/>
            <a:ext cx="5212080" cy="1920240"/>
          </a:xfrm>
          <a:prstGeom prst="rect">
            <a:avLst/>
          </a:prstGeom>
          <a:noFill/>
        </p:spPr>
        <p:txBody>
          <a:bodyPr wrap="square" lIns="0" rIns="0" tIns="0" bIns="0" anchor="t">
            <a:spAutoFit/>
          </a:bodyPr>
          <a:lstStyle/>
          <a:p>
            <a:pPr algn="l">
              <a:lnSpc>
                <a:spcPct val="128000"/>
              </a:lnSpc>
              <a:spcAft>
                <a:spcPts val="600"/>
              </a:spcAft>
            </a:pPr>
            <a:r>
              <a:rPr sz="1350" b="0" i="0">
                <a:solidFill>
                  <a:srgbClr val="0F1A2E"/>
                </a:solidFill>
                <a:latin typeface="Calibri"/>
              </a:rPr>
              <a:t>With one substitution these are the same six that fire for fewer than half their own held-out actives. So the flag is doing its job, and the panel already knows which endpoints are weak.
What it does not do is stop deploying them.</a:t>
            </a:r>
          </a:p>
        </p:txBody>
      </p:sp>
      <p:sp>
        <p:nvSpPr>
          <p:cNvPr id="7" name="Rounded Rectangle 6"/>
          <p:cNvSpPr/>
          <p:nvPr/>
        </p:nvSpPr>
        <p:spPr>
          <a:xfrm>
            <a:off x="6144768" y="1664208"/>
            <a:ext cx="5479999" cy="379476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528816" y="1883664"/>
            <a:ext cx="4754880" cy="384048"/>
          </a:xfrm>
          <a:prstGeom prst="rect">
            <a:avLst/>
          </a:prstGeom>
          <a:noFill/>
        </p:spPr>
        <p:txBody>
          <a:bodyPr wrap="square" lIns="0" rIns="0" tIns="0" bIns="0" anchor="t">
            <a:spAutoFit/>
          </a:bodyPr>
          <a:lstStyle/>
          <a:p>
            <a:pPr algn="l">
              <a:lnSpc>
                <a:spcPct val="114000"/>
              </a:lnSpc>
              <a:spcAft>
                <a:spcPts val="600"/>
              </a:spcAft>
            </a:pPr>
            <a:r>
              <a:rPr sz="1600" b="1" i="0">
                <a:solidFill>
                  <a:srgbClr val="D98324"/>
                </a:solidFill>
                <a:latin typeface="Cambria"/>
              </a:rPr>
              <a:t>That is defensible only because the flag travels</a:t>
            </a:r>
          </a:p>
        </p:txBody>
      </p:sp>
      <p:sp>
        <p:nvSpPr>
          <p:cNvPr id="9" name="TextBox 8"/>
          <p:cNvSpPr txBox="1"/>
          <p:nvPr/>
        </p:nvSpPr>
        <p:spPr>
          <a:xfrm>
            <a:off x="6528816" y="2606040"/>
            <a:ext cx="4754880" cy="1463040"/>
          </a:xfrm>
          <a:prstGeom prst="rect">
            <a:avLst/>
          </a:prstGeom>
          <a:noFill/>
        </p:spPr>
        <p:txBody>
          <a:bodyPr wrap="square" lIns="0" rIns="0" tIns="0" bIns="0" anchor="t">
            <a:spAutoFit/>
          </a:bodyPr>
          <a:lstStyle/>
          <a:p>
            <a:pPr algn="l">
              <a:lnSpc>
                <a:spcPct val="128000"/>
              </a:lnSpc>
              <a:spcAft>
                <a:spcPts val="600"/>
              </a:spcAft>
            </a:pPr>
            <a:r>
              <a:rPr sz="1350" b="0" i="0">
                <a:solidFill>
                  <a:srgbClr val="0F1A2E"/>
                </a:solidFill>
                <a:latin typeface="Calibri"/>
              </a:rPr>
              <a:t>An unreliable endpoint reporting nothing is not evidence of inactivity. At these six, a silence carries almost no information, and the interface has to say so at exactly those six rather than in general terms.</a:t>
            </a:r>
          </a:p>
        </p:txBody>
      </p:sp>
      <p:sp>
        <p:nvSpPr>
          <p:cNvPr id="10" name="TextBox 9"/>
          <p:cNvSpPr txBox="1"/>
          <p:nvPr/>
        </p:nvSpPr>
        <p:spPr>
          <a:xfrm>
            <a:off x="6528816" y="4069080"/>
            <a:ext cx="4754880" cy="1188720"/>
          </a:xfrm>
          <a:prstGeom prst="rect">
            <a:avLst/>
          </a:prstGeom>
          <a:noFill/>
        </p:spPr>
        <p:txBody>
          <a:bodyPr wrap="square" lIns="0" rIns="0" tIns="0" bIns="0" anchor="t">
            <a:spAutoFit/>
          </a:bodyPr>
          <a:lstStyle/>
          <a:p>
            <a:pPr algn="l">
              <a:lnSpc>
                <a:spcPct val="126000"/>
              </a:lnSpc>
              <a:spcAft>
                <a:spcPts val="600"/>
              </a:spcAft>
            </a:pPr>
            <a:r>
              <a:rPr sz="1250" b="0" i="1">
                <a:solidFill>
                  <a:srgbClr val="5F6B7A"/>
                </a:solidFill>
                <a:latin typeface="Calibri"/>
              </a:rPr>
              <a:t>This is the same argument as Chapter 4's reading order, arriving from the threshold side: the number that makes a silence interpretable has to be attached to the silence, not averaged over the panel.</a:t>
            </a:r>
          </a:p>
        </p:txBody>
      </p:sp>
      <p:sp>
        <p:nvSpPr>
          <p:cNvPr id="11" name="TextBox 10"/>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results/tables/final_thresholds.csv, reliable column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7</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What the tests pin, and what they missed</a:t>
            </a:r>
          </a:p>
        </p:txBody>
      </p:sp>
      <p:sp>
        <p:nvSpPr>
          <p:cNvPr id="4" name="Rounded Rectangle 3"/>
          <p:cNvSpPr/>
          <p:nvPr/>
        </p:nvSpPr>
        <p:spPr>
          <a:xfrm>
            <a:off x="566928" y="1664208"/>
            <a:ext cx="5349240" cy="219456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50976" y="1883664"/>
            <a:ext cx="4572000" cy="365760"/>
          </a:xfrm>
          <a:prstGeom prst="rect">
            <a:avLst/>
          </a:prstGeom>
          <a:noFill/>
        </p:spPr>
        <p:txBody>
          <a:bodyPr wrap="square" lIns="0" rIns="0" tIns="0" bIns="0" anchor="t">
            <a:spAutoFit/>
          </a:bodyPr>
          <a:lstStyle/>
          <a:p>
            <a:pPr algn="l">
              <a:spcAft>
                <a:spcPts val="600"/>
              </a:spcAft>
            </a:pPr>
            <a:r>
              <a:rPr sz="1700" b="1" i="0">
                <a:solidFill>
                  <a:srgbClr val="1F3A5F"/>
                </a:solidFill>
                <a:latin typeface="Cambria"/>
              </a:rPr>
              <a:t>What they pin</a:t>
            </a:r>
          </a:p>
        </p:txBody>
      </p:sp>
      <p:sp>
        <p:nvSpPr>
          <p:cNvPr id="6" name="TextBox 5"/>
          <p:cNvSpPr txBox="1"/>
          <p:nvPr/>
        </p:nvSpPr>
        <p:spPr>
          <a:xfrm>
            <a:off x="950976" y="2359152"/>
            <a:ext cx="4617720" cy="1371600"/>
          </a:xfrm>
          <a:prstGeom prst="rect">
            <a:avLst/>
          </a:prstGeom>
          <a:noFill/>
        </p:spPr>
        <p:txBody>
          <a:bodyPr wrap="square" lIns="0" rIns="0" tIns="0" bIns="0" anchor="t">
            <a:spAutoFit/>
          </a:bodyPr>
          <a:lstStyle/>
          <a:p>
            <a:pPr algn="l">
              <a:lnSpc>
                <a:spcPct val="126000"/>
              </a:lnSpc>
              <a:spcAft>
                <a:spcPts val="600"/>
              </a:spcAft>
            </a:pPr>
            <a:r>
              <a:rPr sz="1250" b="0" i="0">
                <a:solidFill>
                  <a:srgbClr val="0F1A2E"/>
                </a:solidFill>
                <a:latin typeface="Calibri"/>
              </a:rPr>
              <a:t>TestBackgroundPools holds five subtests: assignment is a pure function of the structure and independent of call order, every structure gets exactly one role, the bands cover exactly one hundred, and the hash band is stable and in range.
TestThresholdSequenceIsAtomic holds two: the four steps stay one unit, and no member depends on a file the sequence itself rewrites.</a:t>
            </a:r>
          </a:p>
        </p:txBody>
      </p:sp>
      <p:sp>
        <p:nvSpPr>
          <p:cNvPr id="7" name="Rounded Rectangle 6"/>
          <p:cNvSpPr/>
          <p:nvPr/>
        </p:nvSpPr>
        <p:spPr>
          <a:xfrm>
            <a:off x="6281928" y="1664208"/>
            <a:ext cx="5342839" cy="219456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665976" y="1883664"/>
            <a:ext cx="4572000" cy="365760"/>
          </a:xfrm>
          <a:prstGeom prst="rect">
            <a:avLst/>
          </a:prstGeom>
          <a:noFill/>
        </p:spPr>
        <p:txBody>
          <a:bodyPr wrap="square" lIns="0" rIns="0" tIns="0" bIns="0" anchor="t">
            <a:spAutoFit/>
          </a:bodyPr>
          <a:lstStyle/>
          <a:p>
            <a:pPr algn="l">
              <a:spcAft>
                <a:spcPts val="600"/>
              </a:spcAft>
            </a:pPr>
            <a:r>
              <a:rPr sz="1700" b="1" i="0">
                <a:solidFill>
                  <a:srgbClr val="9E2A2B"/>
                </a:solidFill>
                <a:latin typeface="Cambria"/>
              </a:rPr>
              <a:t>What they missed</a:t>
            </a:r>
          </a:p>
        </p:txBody>
      </p:sp>
      <p:sp>
        <p:nvSpPr>
          <p:cNvPr id="9" name="TextBox 8"/>
          <p:cNvSpPr txBox="1"/>
          <p:nvPr/>
        </p:nvSpPr>
        <p:spPr>
          <a:xfrm>
            <a:off x="6665976" y="2359152"/>
            <a:ext cx="4617720" cy="1371600"/>
          </a:xfrm>
          <a:prstGeom prst="rect">
            <a:avLst/>
          </a:prstGeom>
          <a:noFill/>
        </p:spPr>
        <p:txBody>
          <a:bodyPr wrap="square" lIns="0" rIns="0" tIns="0" bIns="0" anchor="t">
            <a:spAutoFit/>
          </a:bodyPr>
          <a:lstStyle/>
          <a:p>
            <a:pPr algn="l">
              <a:lnSpc>
                <a:spcPct val="126000"/>
              </a:lnSpc>
              <a:spcAft>
                <a:spcPts val="600"/>
              </a:spcAft>
            </a:pPr>
            <a:r>
              <a:rPr sz="1250" b="0" i="0">
                <a:solidFill>
                  <a:srgbClr val="0F1A2E"/>
                </a:solidFill>
                <a:latin typeface="Calibri"/>
              </a:rPr>
              <a:t>That two steps in a correctly ordered sequence can write the same field from different populations, and that the label written by the first survives the value written by the second.
The ordering was right. The semantics were not, and nothing asserted them.</a:t>
            </a:r>
          </a:p>
        </p:txBody>
      </p:sp>
      <p:sp>
        <p:nvSpPr>
          <p:cNvPr id="10" name="TextBox 9"/>
          <p:cNvSpPr txBox="1"/>
          <p:nvPr/>
        </p:nvSpPr>
        <p:spPr>
          <a:xfrm>
            <a:off x="566928" y="4114800"/>
            <a:ext cx="11057839" cy="457200"/>
          </a:xfrm>
          <a:prstGeom prst="rect">
            <a:avLst/>
          </a:prstGeom>
          <a:noFill/>
        </p:spPr>
        <p:txBody>
          <a:bodyPr wrap="square" lIns="0" rIns="0" tIns="0" bIns="0" anchor="t">
            <a:spAutoFit/>
          </a:bodyPr>
          <a:lstStyle/>
          <a:p>
            <a:pPr algn="l">
              <a:spcAft>
                <a:spcPts val="600"/>
              </a:spcAft>
            </a:pPr>
            <a:r>
              <a:rPr sz="1700" b="1" i="0">
                <a:solidFill>
                  <a:srgbClr val="0F1A2E"/>
                </a:solidFill>
                <a:latin typeface="Cambria"/>
              </a:rPr>
              <a:t>The specific test this chapter recommends</a:t>
            </a:r>
          </a:p>
        </p:txBody>
      </p:sp>
      <p:sp>
        <p:nvSpPr>
          <p:cNvPr id="11" name="TextBox 10"/>
          <p:cNvSpPr txBox="1"/>
          <p:nvPr/>
        </p:nvSpPr>
        <p:spPr>
          <a:xfrm>
            <a:off x="566928" y="4617720"/>
            <a:ext cx="11057839" cy="914400"/>
          </a:xfrm>
          <a:prstGeom prst="rect">
            <a:avLst/>
          </a:prstGeom>
          <a:noFill/>
        </p:spPr>
        <p:txBody>
          <a:bodyPr wrap="square" lIns="0" rIns="0" tIns="0" bIns="0" anchor="t">
            <a:spAutoFit/>
          </a:bodyPr>
          <a:lstStyle/>
          <a:p>
            <a:pPr algn="l">
              <a:lnSpc>
                <a:spcPct val="128000"/>
              </a:lnSpc>
              <a:spcAft>
                <a:spcPts val="600"/>
              </a:spcAft>
            </a:pPr>
            <a:r>
              <a:rPr sz="1350" b="0" i="0">
                <a:solidFill>
                  <a:srgbClr val="0F1A2E"/>
                </a:solidFill>
                <a:latin typeface="Calibri"/>
              </a:rPr>
              <a:t>Assert that sensitivity_basis describes the set the stored sensitivity_at_threshold was actually computed on, and that the two scripts agree on what an active is. Three endpoints, Nav1.5, SIRT1 and TAAR1, currently do not: the binder pipeline selects training actives by the label column while the specificity script selects by pChEMBL at or above 7.</a:t>
            </a:r>
          </a:p>
        </p:txBody>
      </p:sp>
      <p:sp>
        <p:nvSpPr>
          <p:cNvPr id="12" name="TextBox 11"/>
          <p:cNvSpPr txBox="1"/>
          <p:nvPr/>
        </p:nvSpPr>
        <p:spPr>
          <a:xfrm>
            <a:off x="566928" y="5669280"/>
            <a:ext cx="11057839" cy="457200"/>
          </a:xfrm>
          <a:prstGeom prst="rect">
            <a:avLst/>
          </a:prstGeom>
          <a:noFill/>
        </p:spPr>
        <p:txBody>
          <a:bodyPr wrap="square" lIns="0" rIns="0" tIns="0" bIns="0" anchor="t">
            <a:spAutoFit/>
          </a:bodyPr>
          <a:lstStyle/>
          <a:p>
            <a:pPr algn="l">
              <a:spcAft>
                <a:spcPts val="600"/>
              </a:spcAft>
            </a:pPr>
            <a:r>
              <a:rPr sz="1400" b="0" i="1">
                <a:solidFill>
                  <a:srgbClr val="D98324"/>
                </a:solidFill>
                <a:latin typeface="Calibri"/>
              </a:rPr>
              <a:t>A test that pins an ordering is not a test that pins a meaning.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A2E"/>
        </a:solidFill>
        <a:effectLst/>
      </p:bgPr>
    </p:bg>
    <p:spTree>
      <p:nvGrpSpPr>
        <p:cNvPr id="1" name=""/>
        <p:cNvGrpSpPr/>
        <p:nvPr/>
      </p:nvGrpSpPr>
      <p:grpSpPr/>
      <p:sp>
        <p:nvSpPr>
          <p:cNvPr id="2" name="TextBox 1"/>
          <p:cNvSpPr txBox="1"/>
          <p:nvPr/>
        </p:nvSpPr>
        <p:spPr>
          <a:xfrm>
            <a:off x="566928" y="1371600"/>
            <a:ext cx="7680960" cy="457200"/>
          </a:xfrm>
          <a:prstGeom prst="rect">
            <a:avLst/>
          </a:prstGeom>
          <a:noFill/>
        </p:spPr>
        <p:txBody>
          <a:bodyPr wrap="square" lIns="0" rIns="0" tIns="0" bIns="0" anchor="t">
            <a:spAutoFit/>
          </a:bodyPr>
          <a:lstStyle/>
          <a:p>
            <a:pPr algn="l">
              <a:spcAft>
                <a:spcPts val="600"/>
              </a:spcAft>
            </a:pPr>
            <a:r>
              <a:rPr sz="1500" b="1" i="0">
                <a:solidFill>
                  <a:srgbClr val="1C7293"/>
                </a:solidFill>
                <a:latin typeface="Calibri"/>
              </a:rPr>
              <a:t>Chapter 5, in one statement</a:t>
            </a:r>
          </a:p>
        </p:txBody>
      </p:sp>
      <p:sp>
        <p:nvSpPr>
          <p:cNvPr id="3" name="TextBox 2"/>
          <p:cNvSpPr txBox="1"/>
          <p:nvPr/>
        </p:nvSpPr>
        <p:spPr>
          <a:xfrm>
            <a:off x="566928" y="1874519"/>
            <a:ext cx="10241280" cy="2011680"/>
          </a:xfrm>
          <a:prstGeom prst="rect">
            <a:avLst/>
          </a:prstGeom>
          <a:noFill/>
        </p:spPr>
        <p:txBody>
          <a:bodyPr wrap="square" lIns="0" rIns="0" tIns="0" bIns="0" anchor="t">
            <a:spAutoFit/>
          </a:bodyPr>
          <a:lstStyle/>
          <a:p>
            <a:pPr algn="l">
              <a:lnSpc>
                <a:spcPct val="118000"/>
              </a:lnSpc>
              <a:spcAft>
                <a:spcPts val="600"/>
              </a:spcAft>
            </a:pPr>
            <a:r>
              <a:rPr sz="3000" b="0" i="0">
                <a:solidFill>
                  <a:srgbClr val="FFFFFF"/>
                </a:solidFill>
                <a:latin typeface="Cambria"/>
              </a:rPr>
              <a:t>The partition exists so that a false-positive rate can disagree with its target. The sensitivity figure had no such protection, and did not.</a:t>
            </a:r>
          </a:p>
        </p:txBody>
      </p:sp>
      <p:sp>
        <p:nvSpPr>
          <p:cNvPr id="4" name="TextBox 3"/>
          <p:cNvSpPr txBox="1"/>
          <p:nvPr/>
        </p:nvSpPr>
        <p:spPr>
          <a:xfrm>
            <a:off x="566928" y="3977639"/>
            <a:ext cx="10241280" cy="1645920"/>
          </a:xfrm>
          <a:prstGeom prst="rect">
            <a:avLst/>
          </a:prstGeom>
          <a:noFill/>
        </p:spPr>
        <p:txBody>
          <a:bodyPr wrap="square" lIns="0" rIns="0" tIns="0" bIns="0" anchor="t">
            <a:spAutoFit/>
          </a:bodyPr>
          <a:lstStyle/>
          <a:p>
            <a:pPr algn="l">
              <a:lnSpc>
                <a:spcPct val="130000"/>
              </a:lnSpc>
              <a:spcAft>
                <a:spcPts val="600"/>
              </a:spcAft>
            </a:pPr>
            <a:r>
              <a:rPr sz="1600" b="0" i="0">
                <a:solidFill>
                  <a:srgbClr val="D7DFEA"/>
                </a:solidFill>
                <a:latin typeface="Calibri"/>
              </a:rPr>
              <a:t>Three disjoint pools stop a rate restating the quantile that produced it. Nothing played the same role for sensitivity, so a value computed on the training set could be stored under a label saying held out, and survive four documents and a submission package.</a:t>
            </a:r>
          </a:p>
        </p:txBody>
      </p:sp>
      <p:sp>
        <p:nvSpPr>
          <p:cNvPr id="5" name="TextBox 4"/>
          <p:cNvSpPr txBox="1"/>
          <p:nvPr/>
        </p:nvSpPr>
        <p:spPr>
          <a:xfrm>
            <a:off x="566928" y="5760720"/>
            <a:ext cx="10241280" cy="457200"/>
          </a:xfrm>
          <a:prstGeom prst="rect">
            <a:avLst/>
          </a:prstGeom>
          <a:noFill/>
        </p:spPr>
        <p:txBody>
          <a:bodyPr wrap="square" lIns="0" rIns="0" tIns="0" bIns="0" anchor="t">
            <a:spAutoFit/>
          </a:bodyPr>
          <a:lstStyle/>
          <a:p>
            <a:pPr algn="l">
              <a:spcAft>
                <a:spcPts val="600"/>
              </a:spcAft>
            </a:pPr>
            <a:r>
              <a:rPr sz="1400" b="0" i="1">
                <a:solidFill>
                  <a:srgbClr val="D98324"/>
                </a:solidFill>
                <a:latin typeface="Calibri"/>
              </a:rPr>
              <a:t>Held out, the panel fires for 0.764 of the actives it should, not 0.898.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