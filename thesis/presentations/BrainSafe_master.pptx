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held out by date</c:v>
                </c:pt>
              </c:strCache>
            </c:strRef>
          </c:tx>
          <c:spPr>
            <a:solidFill>
              <a:srgbClr val="1C7293"/>
            </a:solidFill>
            <a:ln>
              <a:noFill/>
            </a:ln>
          </c:spPr>
          <c:cat>
            <c:strRef>
              <c:f>Sheet1!$A$2:$A$5</c:f>
              <c:strCache>
                <c:ptCount val="4"/>
                <c:pt idx="0">
                  <c:v>below 0.40
different chemotype</c:v>
                </c:pt>
                <c:pt idx="1">
                  <c:v>0.40 to 0.55
related series</c:v>
                </c:pt>
                <c:pt idx="2">
                  <c:v>0.55 to 0.70
same series</c:v>
                </c:pt>
                <c:pt idx="3">
                  <c:v>0.70 and above
close analogue</c:v>
                </c:pt>
              </c:strCache>
            </c:strRef>
          </c:cat>
          <c:val>
            <c:numRef>
              <c:f>Sheet1!$B$2:$B$5</c:f>
              <c:numCache>
                <c:formatCode>General</c:formatCode>
                <c:ptCount val="4"/>
                <c:pt idx="0">
                  <c:v>0.1612</c:v>
                </c:pt>
                <c:pt idx="1">
                  <c:v>0.5532</c:v>
                </c:pt>
                <c:pt idx="2">
                  <c:v>0.7403</c:v>
                </c:pt>
                <c:pt idx="3">
                  <c:v>0.8616</c:v>
                </c:pt>
              </c:numCache>
            </c:numRef>
          </c:val>
        </c:ser>
        <c:ser>
          <c:idx val="1"/>
          <c:order val="1"/>
          <c:tx>
            <c:strRef>
              <c:f>Sheet1!$C$1</c:f>
              <c:strCache>
                <c:ptCount val="1"/>
                <c:pt idx="0">
                  <c:v>held out at random</c:v>
                </c:pt>
              </c:strCache>
            </c:strRef>
          </c:tx>
          <c:spPr>
            <a:solidFill>
              <a:srgbClr val="5F6B7A"/>
            </a:solidFill>
            <a:ln>
              <a:noFill/>
            </a:ln>
          </c:spPr>
          <c:cat>
            <c:strRef>
              <c:f>Sheet1!$A$2:$A$5</c:f>
              <c:strCache>
                <c:ptCount val="4"/>
                <c:pt idx="0">
                  <c:v>below 0.40
different chemotype</c:v>
                </c:pt>
                <c:pt idx="1">
                  <c:v>0.40 to 0.55
related series</c:v>
                </c:pt>
                <c:pt idx="2">
                  <c:v>0.55 to 0.70
same series</c:v>
                </c:pt>
                <c:pt idx="3">
                  <c:v>0.70 and above
close analogue</c:v>
                </c:pt>
              </c:strCache>
            </c:strRef>
          </c:cat>
          <c:val>
            <c:numRef>
              <c:f>Sheet1!$C$2:$C$5</c:f>
              <c:numCache>
                <c:formatCode>General</c:formatCode>
                <c:ptCount val="4"/>
                <c:pt idx="0">
                  <c:v>0.1179</c:v>
                </c:pt>
                <c:pt idx="1">
                  <c:v>0.5232</c:v>
                </c:pt>
                <c:pt idx="2">
                  <c:v>0.7683</c:v>
                </c:pt>
                <c:pt idx="3">
                  <c:v>0.9334</c:v>
                </c:pt>
              </c:numCache>
            </c:numRef>
          </c:val>
        </c:ser>
        <c:ser>
          <c:idx val="2"/>
          <c:order val="2"/>
          <c:tx>
            <c:strRef>
              <c:f>Sheet1!$D$1</c:f>
              <c:strCache>
                <c:ptCount val="1"/>
                <c:pt idx="0">
                  <c:v>held out by curator</c:v>
                </c:pt>
              </c:strCache>
            </c:strRef>
          </c:tx>
          <c:spPr>
            <a:solidFill>
              <a:srgbClr val="D98324"/>
            </a:solidFill>
            <a:ln>
              <a:noFill/>
            </a:ln>
          </c:spPr>
          <c:cat>
            <c:strRef>
              <c:f>Sheet1!$A$2:$A$5</c:f>
              <c:strCache>
                <c:ptCount val="4"/>
                <c:pt idx="0">
                  <c:v>below 0.40
different chemotype</c:v>
                </c:pt>
                <c:pt idx="1">
                  <c:v>0.40 to 0.55
related series</c:v>
                </c:pt>
                <c:pt idx="2">
                  <c:v>0.55 to 0.70
same series</c:v>
                </c:pt>
                <c:pt idx="3">
                  <c:v>0.70 and above
close analogue</c:v>
                </c:pt>
              </c:strCache>
            </c:strRef>
          </c:cat>
          <c:val>
            <c:numRef>
              <c:f>Sheet1!$D$2:$D$5</c:f>
              <c:numCache>
                <c:formatCode>General</c:formatCode>
                <c:ptCount val="4"/>
                <c:pt idx="0">
                  <c:v>0.0494</c:v>
                </c:pt>
                <c:pt idx="1">
                  <c:v>0.4641</c:v>
                </c:pt>
                <c:pt idx="2">
                  <c:v>0.8264</c:v>
                </c:pt>
                <c:pt idx="3">
                  <c:v>0.9011</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D7DFE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1F3A5F"/>
              </a:solidFill>
            </a:ln>
          </c:spPr>
        </c:majorGridlines>
        <c:majorTickMark val="out"/>
        <c:minorTickMark val="none"/>
        <c:tickLblPos val="nextTo"/>
        <c:txPr>
          <a:bodyPr/>
          <a:lstStyle/>
          <a:p>
            <a:pPr>
              <a:defRPr sz="1000">
                <a:solidFill>
                  <a:srgbClr val="D7DFEA"/>
                </a:solidFill>
              </a:defRPr>
            </a:pPr>
          </a:p>
        </c:txPr>
        <c:crossAx val="-2068027336"/>
        <c:crosses val="autoZero"/>
      </c:valAx>
    </c:plotArea>
    <c:legend>
      <c:legendPos val="t"/>
      <c:overlay val="0"/>
      <c:txPr>
        <a:bodyPr/>
        <a:lstStyle/>
        <a:p>
          <a:pPr>
            <a:defRPr sz="1100">
              <a:solidFill>
                <a:srgbClr val="D7DFEA"/>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long-form explanation. The four thesis figures embedded here are the same files the chapters cite, so nothing shown can drift from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 the urge to call this novel. The claim is that the coupling is made explicit and then tested, not that nobody has multiplied two numbers before.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five were withdrawn, the answer is on the falsification slide: they fired on glucose, urea and lactate.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slides. The two figures carry most of it; the words between them are the parts a figure cannot say.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0 of 5. A referee who finds it unaided will discount the 7 of 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top row left to right, then say that panel B is the step people miss: a probability is not comparable across endpoints, which is why enrichment exists.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D is the one to dwell on. H3 is refuted for the fourteen central conditions, and the exemption for migraine and multiple sclerosis is a qualification no document in the project states.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design choice whose stated justification survived testing, and it survived because H8 supplied the evidence for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section. Lead with the scaffold split and the permutation null, because together they answer the leakage question a referee asks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permutation null closes the leakage question. It also shows scaffold grouping alone confers nothing, which is the specific route a referee will ask about.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B is the uncomfortable one and should be said aloud: the barrier model is the worst-calibrated of the eight, and it multiplies every disease score.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Higher sensitivity is available at any time. It would make the server less truthful.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this as a defect found and fixed. It is the strongest evidence that the project's checking works, and hiding it would waste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composition finding is the payload here: an apparent temporal decay that is a property of what each split holds out, not of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rows one and two, 0.7645 against 0.7934, is the memorisation. Quote the second and explain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residual is not attributed: the random split yields only 212 novel actives across 39 endpoints, too few for a paired within-band comparison. Say so.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audience takes one slide away, this is the one. AUROC moves far less than recall because ranking survives what a fixed threshold does not.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the two claims carefully. The null predicted degradation and did not get it, which is a real negative result worth having.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section. A suite is worth what the project paid for it, and every payment here is a commit rather than a claim.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suite is worth what the project paid for it, and every payment is a commit rather than a claim: the graph re-described, the gate re-described, the interface changed, four endpoints withdrawn.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Epilepsy at 0.4898 is the informative failure: most approved antiepileptics are small, simple and low-affinity, which is the chemistry that sits under a strict cut.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barrier model does clearly beat, on both populations and by a wide margin, is the published CNS heuristic: 0.7934 against 0.6369. Say that second, not first.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soften these. The thesis's credibility rests on them being said first.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last line. Naming the boundary of the work is stronger than any figure above it, and all three items have a measurement behind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481328"/>
            <a:ext cx="11057839" cy="457200"/>
          </a:xfrm>
          <a:prstGeom prst="rect">
            <a:avLst/>
          </a:prstGeom>
          <a:noFill/>
        </p:spPr>
        <p:txBody>
          <a:bodyPr wrap="square" lIns="0" rIns="0" tIns="0" bIns="0" anchor="t">
            <a:spAutoFit/>
          </a:bodyPr>
          <a:lstStyle/>
          <a:p>
            <a:pPr algn="l">
              <a:spcAft>
                <a:spcPts val="600"/>
              </a:spcAft>
            </a:pPr>
            <a:r>
              <a:rPr sz="1700" b="1" i="0">
                <a:solidFill>
                  <a:srgbClr val="1C7293"/>
                </a:solidFill>
                <a:latin typeface="Calibri"/>
              </a:rPr>
              <a:t>BrainSafe AI</a:t>
            </a:r>
          </a:p>
        </p:txBody>
      </p:sp>
      <p:sp>
        <p:nvSpPr>
          <p:cNvPr id="3" name="TextBox 2"/>
          <p:cNvSpPr txBox="1"/>
          <p:nvPr/>
        </p:nvSpPr>
        <p:spPr>
          <a:xfrm>
            <a:off x="566928" y="1874519"/>
            <a:ext cx="10143439" cy="1554480"/>
          </a:xfrm>
          <a:prstGeom prst="rect">
            <a:avLst/>
          </a:prstGeom>
          <a:noFill/>
        </p:spPr>
        <p:txBody>
          <a:bodyPr wrap="square" lIns="0" rIns="0" tIns="0" bIns="0" anchor="t">
            <a:spAutoFit/>
          </a:bodyPr>
          <a:lstStyle/>
          <a:p>
            <a:pPr algn="l">
              <a:lnSpc>
                <a:spcPct val="114000"/>
              </a:lnSpc>
              <a:spcAft>
                <a:spcPts val="600"/>
              </a:spcAft>
            </a:pPr>
            <a:r>
              <a:rPr sz="3600" b="1" i="0">
                <a:solidFill>
                  <a:srgbClr val="FFFFFF"/>
                </a:solidFill>
                <a:latin typeface="Cambria"/>
              </a:rPr>
              <a:t>A BBB-gated, multi-endpoint
predictor of small-molecule
action in the human brain</a:t>
            </a:r>
          </a:p>
        </p:txBody>
      </p:sp>
      <p:sp>
        <p:nvSpPr>
          <p:cNvPr id="4" name="TextBox 3"/>
          <p:cNvSpPr txBox="1"/>
          <p:nvPr/>
        </p:nvSpPr>
        <p:spPr>
          <a:xfrm>
            <a:off x="566928" y="4224528"/>
            <a:ext cx="9777679" cy="914400"/>
          </a:xfrm>
          <a:prstGeom prst="rect">
            <a:avLst/>
          </a:prstGeom>
          <a:noFill/>
        </p:spPr>
        <p:txBody>
          <a:bodyPr wrap="square" lIns="0" rIns="0" tIns="0" bIns="0" anchor="t">
            <a:spAutoFit/>
          </a:bodyPr>
          <a:lstStyle/>
          <a:p>
            <a:pPr algn="l">
              <a:lnSpc>
                <a:spcPct val="134000"/>
              </a:lnSpc>
              <a:spcAft>
                <a:spcPts val="600"/>
              </a:spcAft>
            </a:pPr>
            <a:r>
              <a:rPr sz="1700" b="0" i="0">
                <a:solidFill>
                  <a:srgbClr val="D7DFEA"/>
                </a:solidFill>
                <a:latin typeface="Calibri"/>
              </a:rPr>
              <a:t>47 deployed endpoints across 16 conditions. What the system computes, what is known about it, and what is not.</a:t>
            </a:r>
          </a:p>
        </p:txBody>
      </p:sp>
      <p:sp>
        <p:nvSpPr>
          <p:cNvPr id="5" name="TextBox 4"/>
          <p:cNvSpPr txBox="1"/>
          <p:nvPr/>
        </p:nvSpPr>
        <p:spPr>
          <a:xfrm>
            <a:off x="566928" y="5394960"/>
            <a:ext cx="11057839" cy="457200"/>
          </a:xfrm>
          <a:prstGeom prst="rect">
            <a:avLst/>
          </a:prstGeom>
          <a:noFill/>
        </p:spPr>
        <p:txBody>
          <a:bodyPr wrap="square" lIns="0" rIns="0" tIns="0" bIns="0" anchor="t">
            <a:spAutoFit/>
          </a:bodyPr>
          <a:lstStyle/>
          <a:p>
            <a:pPr algn="l">
              <a:spcAft>
                <a:spcPts val="600"/>
              </a:spcAft>
            </a:pPr>
            <a:r>
              <a:rPr sz="1300" b="0" i="1">
                <a:solidFill>
                  <a:srgbClr val="D98324"/>
                </a:solidFill>
                <a:latin typeface="Calibri"/>
              </a:rPr>
              <a:t>Every figure in this deck is read from an artefact at build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problem is a coupling, not a prediction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Two questions that are usually answered by two different tools, and must be answered together</a:t>
            </a:r>
          </a:p>
        </p:txBody>
      </p:sp>
      <p:sp>
        <p:nvSpPr>
          <p:cNvPr id="5" name="Rounded Rectangle 4"/>
          <p:cNvSpPr/>
          <p:nvPr/>
        </p:nvSpPr>
        <p:spPr>
          <a:xfrm>
            <a:off x="566928" y="1645919"/>
            <a:ext cx="11057839" cy="10789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86384" y="1993391"/>
            <a:ext cx="365760" cy="36576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353312" y="1828800"/>
            <a:ext cx="4023360" cy="731520"/>
          </a:xfrm>
          <a:prstGeom prst="rect">
            <a:avLst/>
          </a:prstGeom>
          <a:noFill/>
        </p:spPr>
        <p:txBody>
          <a:bodyPr wrap="square" lIns="0" rIns="0" tIns="0" bIns="0" anchor="t">
            <a:spAutoFit/>
          </a:bodyPr>
          <a:lstStyle/>
          <a:p>
            <a:pPr algn="l">
              <a:lnSpc>
                <a:spcPct val="116000"/>
              </a:lnSpc>
              <a:spcAft>
                <a:spcPts val="600"/>
              </a:spcAft>
            </a:pPr>
            <a:r>
              <a:rPr sz="1500" b="1" i="0">
                <a:solidFill>
                  <a:srgbClr val="1F3A5F"/>
                </a:solidFill>
                <a:latin typeface="Calibri"/>
              </a:rPr>
              <a:t>Does it reach the brain?</a:t>
            </a:r>
          </a:p>
        </p:txBody>
      </p:sp>
      <p:sp>
        <p:nvSpPr>
          <p:cNvPr id="8" name="TextBox 7"/>
          <p:cNvSpPr txBox="1"/>
          <p:nvPr/>
        </p:nvSpPr>
        <p:spPr>
          <a:xfrm>
            <a:off x="5550408" y="1792224"/>
            <a:ext cx="58000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An exposure question. Answered by barrier models, physicochemical rules, and PK.</a:t>
            </a:r>
          </a:p>
        </p:txBody>
      </p:sp>
      <p:sp>
        <p:nvSpPr>
          <p:cNvPr id="9" name="Rounded Rectangle 8"/>
          <p:cNvSpPr/>
          <p:nvPr/>
        </p:nvSpPr>
        <p:spPr>
          <a:xfrm>
            <a:off x="566928" y="2834640"/>
            <a:ext cx="11057839" cy="107899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86384" y="3182112"/>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1353312" y="3017520"/>
            <a:ext cx="4023360" cy="731520"/>
          </a:xfrm>
          <a:prstGeom prst="rect">
            <a:avLst/>
          </a:prstGeom>
          <a:noFill/>
        </p:spPr>
        <p:txBody>
          <a:bodyPr wrap="square" lIns="0" rIns="0" tIns="0" bIns="0" anchor="t">
            <a:spAutoFit/>
          </a:bodyPr>
          <a:lstStyle/>
          <a:p>
            <a:pPr algn="l">
              <a:lnSpc>
                <a:spcPct val="116000"/>
              </a:lnSpc>
              <a:spcAft>
                <a:spcPts val="600"/>
              </a:spcAft>
            </a:pPr>
            <a:r>
              <a:rPr sz="1500" b="1" i="0">
                <a:solidFill>
                  <a:srgbClr val="1C7293"/>
                </a:solidFill>
                <a:latin typeface="Calibri"/>
              </a:rPr>
              <a:t>Does it do anything there?</a:t>
            </a:r>
          </a:p>
        </p:txBody>
      </p:sp>
      <p:sp>
        <p:nvSpPr>
          <p:cNvPr id="12" name="TextBox 11"/>
          <p:cNvSpPr txBox="1"/>
          <p:nvPr/>
        </p:nvSpPr>
        <p:spPr>
          <a:xfrm>
            <a:off x="5550408" y="2980944"/>
            <a:ext cx="58000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An engagement question. Answered by target-activity models, one per protein.</a:t>
            </a:r>
          </a:p>
        </p:txBody>
      </p:sp>
      <p:sp>
        <p:nvSpPr>
          <p:cNvPr id="13" name="Rounded Rectangle 12"/>
          <p:cNvSpPr/>
          <p:nvPr/>
        </p:nvSpPr>
        <p:spPr>
          <a:xfrm>
            <a:off x="566928" y="4023360"/>
            <a:ext cx="11057839" cy="10789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86384" y="4370832"/>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5" name="TextBox 14"/>
          <p:cNvSpPr txBox="1"/>
          <p:nvPr/>
        </p:nvSpPr>
        <p:spPr>
          <a:xfrm>
            <a:off x="1353312" y="4206240"/>
            <a:ext cx="4023360" cy="731520"/>
          </a:xfrm>
          <a:prstGeom prst="rect">
            <a:avLst/>
          </a:prstGeom>
          <a:noFill/>
        </p:spPr>
        <p:txBody>
          <a:bodyPr wrap="square" lIns="0" rIns="0" tIns="0" bIns="0" anchor="t">
            <a:spAutoFit/>
          </a:bodyPr>
          <a:lstStyle/>
          <a:p>
            <a:pPr algn="l">
              <a:lnSpc>
                <a:spcPct val="116000"/>
              </a:lnSpc>
              <a:spcAft>
                <a:spcPts val="600"/>
              </a:spcAft>
            </a:pPr>
            <a:r>
              <a:rPr sz="1500" b="1" i="0">
                <a:solidFill>
                  <a:srgbClr val="D98324"/>
                </a:solidFill>
                <a:latin typeface="Calibri"/>
              </a:rPr>
              <a:t>Neither answer is useful alone</a:t>
            </a:r>
          </a:p>
        </p:txBody>
      </p:sp>
      <p:sp>
        <p:nvSpPr>
          <p:cNvPr id="16" name="TextBox 15"/>
          <p:cNvSpPr txBox="1"/>
          <p:nvPr/>
        </p:nvSpPr>
        <p:spPr>
          <a:xfrm>
            <a:off x="5550408" y="4169663"/>
            <a:ext cx="58000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 potent ligand that does not cross is not a CNS drug. A permeant molecule with no mechanism is not either. The product is what a project needs, and it is what almost no server returns.</a:t>
            </a:r>
          </a:p>
        </p:txBody>
      </p:sp>
      <p:sp>
        <p:nvSpPr>
          <p:cNvPr id="17" name="TextBox 16"/>
          <p:cNvSpPr txBox="1"/>
          <p:nvPr/>
        </p:nvSpPr>
        <p:spPr>
          <a:xfrm>
            <a:off x="566928" y="5394960"/>
            <a:ext cx="11057839" cy="777240"/>
          </a:xfrm>
          <a:prstGeom prst="rect">
            <a:avLst/>
          </a:prstGeom>
          <a:noFill/>
        </p:spPr>
        <p:txBody>
          <a:bodyPr wrap="square" lIns="0" rIns="0" tIns="0" bIns="0" anchor="t">
            <a:spAutoFit/>
          </a:bodyPr>
          <a:lstStyle/>
          <a:p>
            <a:pPr algn="l">
              <a:lnSpc>
                <a:spcPct val="128000"/>
              </a:lnSpc>
              <a:spcAft>
                <a:spcPts val="600"/>
              </a:spcAft>
            </a:pPr>
            <a:r>
              <a:rPr sz="1350" b="0" i="0">
                <a:solidFill>
                  <a:srgbClr val="1F3A5F"/>
                </a:solidFill>
                <a:latin typeface="Calibri"/>
              </a:rPr>
              <a:t>BrainSafe computes the product explicitly: an engagement signal per target, routed to the conditions that mechanism touches, then multiplied by a predicted barrier probability. The multiplication is the design claim, and Chapter 7 tests it.</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Chapters 1 and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system is, in numbers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Counted from models_rf/ and the panel registry at build time, not restated</a:t>
            </a:r>
          </a:p>
        </p:txBody>
      </p:sp>
      <p:sp>
        <p:nvSpPr>
          <p:cNvPr id="5" name="TextBox 4"/>
          <p:cNvSpPr txBox="1"/>
          <p:nvPr/>
        </p:nvSpPr>
        <p:spPr>
          <a:xfrm>
            <a:off x="566928" y="1783080"/>
            <a:ext cx="2468880" cy="603504"/>
          </a:xfrm>
          <a:prstGeom prst="rect">
            <a:avLst/>
          </a:prstGeom>
          <a:noFill/>
        </p:spPr>
        <p:txBody>
          <a:bodyPr wrap="square" lIns="0" rIns="0" tIns="0" bIns="0" anchor="t">
            <a:spAutoFit/>
          </a:bodyPr>
          <a:lstStyle/>
          <a:p>
            <a:pPr algn="l">
              <a:spcAft>
                <a:spcPts val="600"/>
              </a:spcAft>
            </a:pPr>
            <a:r>
              <a:rPr sz="4000" b="1" i="0">
                <a:solidFill>
                  <a:srgbClr val="1F3A5F"/>
                </a:solidFill>
                <a:latin typeface="Cambria"/>
              </a:rPr>
              <a:t>47</a:t>
            </a:r>
          </a:p>
        </p:txBody>
      </p:sp>
      <p:sp>
        <p:nvSpPr>
          <p:cNvPr id="6" name="TextBox 5"/>
          <p:cNvSpPr txBox="1"/>
          <p:nvPr/>
        </p:nvSpPr>
        <p:spPr>
          <a:xfrm>
            <a:off x="566928" y="242316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deployed endpoints, of 52 trained. Five withdrawn on evidence</a:t>
            </a:r>
          </a:p>
        </p:txBody>
      </p:sp>
      <p:sp>
        <p:nvSpPr>
          <p:cNvPr id="7" name="TextBox 6"/>
          <p:cNvSpPr txBox="1"/>
          <p:nvPr/>
        </p:nvSpPr>
        <p:spPr>
          <a:xfrm>
            <a:off x="3355848" y="1783080"/>
            <a:ext cx="2468880" cy="603504"/>
          </a:xfrm>
          <a:prstGeom prst="rect">
            <a:avLst/>
          </a:prstGeom>
          <a:noFill/>
        </p:spPr>
        <p:txBody>
          <a:bodyPr wrap="square" lIns="0" rIns="0" tIns="0" bIns="0" anchor="t">
            <a:spAutoFit/>
          </a:bodyPr>
          <a:lstStyle/>
          <a:p>
            <a:pPr algn="l">
              <a:spcAft>
                <a:spcPts val="600"/>
              </a:spcAft>
            </a:pPr>
            <a:r>
              <a:rPr sz="4000" b="1" i="0">
                <a:solidFill>
                  <a:srgbClr val="1C7293"/>
                </a:solidFill>
                <a:latin typeface="Cambria"/>
              </a:rPr>
              <a:t>16</a:t>
            </a:r>
          </a:p>
        </p:txBody>
      </p:sp>
      <p:sp>
        <p:nvSpPr>
          <p:cNvPr id="8" name="TextBox 7"/>
          <p:cNvSpPr txBox="1"/>
          <p:nvPr/>
        </p:nvSpPr>
        <p:spPr>
          <a:xfrm>
            <a:off x="3355848" y="242316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conditions, reached from 51 targets through a curated pathway graph</a:t>
            </a:r>
          </a:p>
        </p:txBody>
      </p:sp>
      <p:sp>
        <p:nvSpPr>
          <p:cNvPr id="9" name="TextBox 8"/>
          <p:cNvSpPr txBox="1"/>
          <p:nvPr/>
        </p:nvSpPr>
        <p:spPr>
          <a:xfrm>
            <a:off x="6144768" y="1783080"/>
            <a:ext cx="2468880" cy="603504"/>
          </a:xfrm>
          <a:prstGeom prst="rect">
            <a:avLst/>
          </a:prstGeom>
          <a:noFill/>
        </p:spPr>
        <p:txBody>
          <a:bodyPr wrap="square" lIns="0" rIns="0" tIns="0" bIns="0" anchor="t">
            <a:spAutoFit/>
          </a:bodyPr>
          <a:lstStyle/>
          <a:p>
            <a:pPr algn="l">
              <a:spcAft>
                <a:spcPts val="600"/>
              </a:spcAft>
            </a:pPr>
            <a:r>
              <a:rPr sz="4000" b="1" i="0">
                <a:solidFill>
                  <a:srgbClr val="1C7293"/>
                </a:solidFill>
                <a:latin typeface="Cambria"/>
              </a:rPr>
              <a:t>8</a:t>
            </a:r>
          </a:p>
        </p:txBody>
      </p:sp>
      <p:sp>
        <p:nvSpPr>
          <p:cNvPr id="10" name="TextBox 9"/>
          <p:cNvSpPr txBox="1"/>
          <p:nvPr/>
        </p:nvSpPr>
        <p:spPr>
          <a:xfrm>
            <a:off x="6144768" y="242316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core classifiers with the full uncertainty stack</a:t>
            </a:r>
          </a:p>
        </p:txBody>
      </p:sp>
      <p:sp>
        <p:nvSpPr>
          <p:cNvPr id="11" name="TextBox 10"/>
          <p:cNvSpPr txBox="1"/>
          <p:nvPr/>
        </p:nvSpPr>
        <p:spPr>
          <a:xfrm>
            <a:off x="8933687" y="1783080"/>
            <a:ext cx="2468880" cy="603504"/>
          </a:xfrm>
          <a:prstGeom prst="rect">
            <a:avLst/>
          </a:prstGeom>
          <a:noFill/>
        </p:spPr>
        <p:txBody>
          <a:bodyPr wrap="square" lIns="0" rIns="0" tIns="0" bIns="0" anchor="t">
            <a:spAutoFit/>
          </a:bodyPr>
          <a:lstStyle/>
          <a:p>
            <a:pPr algn="l">
              <a:spcAft>
                <a:spcPts val="600"/>
              </a:spcAft>
            </a:pPr>
            <a:r>
              <a:rPr sz="4000" b="1" i="0">
                <a:solidFill>
                  <a:srgbClr val="D98324"/>
                </a:solidFill>
                <a:latin typeface="Cambria"/>
              </a:rPr>
              <a:t>6</a:t>
            </a:r>
          </a:p>
        </p:txBody>
      </p:sp>
      <p:sp>
        <p:nvSpPr>
          <p:cNvPr id="12" name="TextBox 11"/>
          <p:cNvSpPr txBox="1"/>
          <p:nvPr/>
        </p:nvSpPr>
        <p:spPr>
          <a:xfrm>
            <a:off x="8933687" y="242316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deployed endpoints fail the reliability gate and say so on every result</a:t>
            </a:r>
          </a:p>
        </p:txBody>
      </p:sp>
      <p:sp>
        <p:nvSpPr>
          <p:cNvPr id="13" name="Rounded Rectangle 12"/>
          <p:cNvSpPr/>
          <p:nvPr/>
        </p:nvSpPr>
        <p:spPr>
          <a:xfrm>
            <a:off x="566928" y="3703320"/>
            <a:ext cx="11057839"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913632"/>
            <a:ext cx="10436047" cy="1508760"/>
          </a:xfrm>
          <a:prstGeom prst="rect">
            <a:avLst/>
          </a:prstGeom>
          <a:noFill/>
        </p:spPr>
        <p:txBody>
          <a:bodyPr wrap="square" lIns="0" rIns="0" tIns="0" bIns="0" anchor="t">
            <a:spAutoFit/>
          </a:bodyPr>
          <a:lstStyle/>
          <a:p>
            <a:pPr algn="l">
              <a:lnSpc>
                <a:spcPct val="134000"/>
              </a:lnSpc>
              <a:spcAft>
                <a:spcPts val="600"/>
              </a:spcAft>
            </a:pPr>
            <a:r>
              <a:rPr sz="1400" b="0" i="0">
                <a:solidFill>
                  <a:srgbClr val="0F1A2E"/>
                </a:solidFill>
                <a:latin typeface="Calibri"/>
              </a:rPr>
              <a:t>One prediction is assembled from many estimators trained on different data under different label rules. There is no single model, and describing the system by a panel mean is the one summary guaranteed to mislead: the endpoints are not interchangeable and their sensitivities run from 0.303 to 0.993.</a:t>
            </a:r>
          </a:p>
        </p:txBody>
      </p:sp>
      <p:sp>
        <p:nvSpPr>
          <p:cNvPr id="15" name="TextBox 14"/>
          <p:cNvSpPr txBox="1"/>
          <p:nvPr/>
        </p:nvSpPr>
        <p:spPr>
          <a:xfrm>
            <a:off x="566928" y="5797296"/>
            <a:ext cx="11057839" cy="365760"/>
          </a:xfrm>
          <a:prstGeom prst="rect">
            <a:avLst/>
          </a:prstGeom>
          <a:noFill/>
        </p:spPr>
        <p:txBody>
          <a:bodyPr wrap="square" lIns="0" rIns="0" tIns="0" bIns="0" anchor="t">
            <a:spAutoFit/>
          </a:bodyPr>
          <a:lstStyle/>
          <a:p>
            <a:pPr algn="l">
              <a:spcAft>
                <a:spcPts val="600"/>
              </a:spcAft>
            </a:pPr>
            <a:r>
              <a:rPr sz="1250" b="0" i="1">
                <a:solidFill>
                  <a:srgbClr val="D98324"/>
                </a:solidFill>
                <a:latin typeface="Calibri"/>
              </a:rPr>
              <a:t>Endpoints failing the gate: COX2, GABA_A, GluN2B, P2X7, SIRT1, TAAR1.</a:t>
            </a:r>
          </a:p>
        </p:txBody>
      </p:sp>
      <p:sp>
        <p:nvSpPr>
          <p:cNvPr id="16" name="TextBox 1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models_rf/binder_modes.json; results/tables/rf_cv_summary.csv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2286000"/>
            <a:ext cx="2011680" cy="914400"/>
          </a:xfrm>
          <a:prstGeom prst="rect">
            <a:avLst/>
          </a:prstGeom>
          <a:noFill/>
        </p:spPr>
        <p:txBody>
          <a:bodyPr wrap="square" lIns="0" rIns="0" tIns="0" bIns="0" anchor="t">
            <a:spAutoFit/>
          </a:bodyPr>
          <a:lstStyle/>
          <a:p>
            <a:pPr algn="l">
              <a:spcAft>
                <a:spcPts val="600"/>
              </a:spcAft>
            </a:pPr>
            <a:r>
              <a:rPr sz="6400" b="1" i="0">
                <a:solidFill>
                  <a:srgbClr val="1F3A5F"/>
                </a:solidFill>
                <a:latin typeface="Cambria"/>
              </a:rPr>
              <a:t>I</a:t>
            </a:r>
          </a:p>
        </p:txBody>
      </p:sp>
      <p:sp>
        <p:nvSpPr>
          <p:cNvPr id="3" name="TextBox 2"/>
          <p:cNvSpPr txBox="1"/>
          <p:nvPr/>
        </p:nvSpPr>
        <p:spPr>
          <a:xfrm>
            <a:off x="2807208" y="2487168"/>
            <a:ext cx="8588959" cy="822960"/>
          </a:xfrm>
          <a:prstGeom prst="rect">
            <a:avLst/>
          </a:prstGeom>
          <a:noFill/>
        </p:spPr>
        <p:txBody>
          <a:bodyPr wrap="square" lIns="0" rIns="0" tIns="0" bIns="0" anchor="t">
            <a:spAutoFit/>
          </a:bodyPr>
          <a:lstStyle/>
          <a:p>
            <a:pPr algn="l">
              <a:spcAft>
                <a:spcPts val="600"/>
              </a:spcAft>
            </a:pPr>
            <a:r>
              <a:rPr sz="3400" b="1" i="0">
                <a:solidFill>
                  <a:srgbClr val="FFFFFF"/>
                </a:solidFill>
                <a:latin typeface="Cambria"/>
              </a:rPr>
              <a:t>How a prediction is made</a:t>
            </a:r>
          </a:p>
        </p:txBody>
      </p:sp>
      <p:sp>
        <p:nvSpPr>
          <p:cNvPr id="4" name="TextBox 3"/>
          <p:cNvSpPr txBox="1"/>
          <p:nvPr/>
        </p:nvSpPr>
        <p:spPr>
          <a:xfrm>
            <a:off x="2834640" y="3401568"/>
            <a:ext cx="8588959" cy="640080"/>
          </a:xfrm>
          <a:prstGeom prst="rect">
            <a:avLst/>
          </a:prstGeom>
          <a:noFill/>
        </p:spPr>
        <p:txBody>
          <a:bodyPr wrap="square" lIns="0" rIns="0" tIns="0" bIns="0" anchor="t">
            <a:spAutoFit/>
          </a:bodyPr>
          <a:lstStyle/>
          <a:p>
            <a:pPr algn="l">
              <a:lnSpc>
                <a:spcPct val="130000"/>
              </a:lnSpc>
              <a:spcAft>
                <a:spcPts val="600"/>
              </a:spcAft>
            </a:pPr>
            <a:r>
              <a:rPr sz="1500" b="0" i="0">
                <a:solidFill>
                  <a:srgbClr val="D7DFEA"/>
                </a:solidFill>
                <a:latin typeface="Calibri"/>
              </a:rPr>
              <a:t>Features, forests, and the five operations that turn a probability into a reported condition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One representation, one estimator family</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fixed 1,036-column vector per compound, and a random forest per endpoint</a:t>
            </a:r>
          </a:p>
        </p:txBody>
      </p:sp>
      <p:sp>
        <p:nvSpPr>
          <p:cNvPr id="5" name="Rounded Rectangle 4"/>
          <p:cNvSpPr/>
          <p:nvPr/>
        </p:nvSpPr>
        <p:spPr>
          <a:xfrm>
            <a:off x="566928" y="1664208"/>
            <a:ext cx="5394960"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847088"/>
            <a:ext cx="4937760" cy="310896"/>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The feature vector</a:t>
            </a:r>
          </a:p>
        </p:txBody>
      </p:sp>
      <p:sp>
        <p:nvSpPr>
          <p:cNvPr id="7" name="TextBox 6"/>
          <p:cNvSpPr txBox="1"/>
          <p:nvPr/>
        </p:nvSpPr>
        <p:spPr>
          <a:xfrm>
            <a:off x="822960" y="2249424"/>
            <a:ext cx="914400" cy="310896"/>
          </a:xfrm>
          <a:prstGeom prst="rect">
            <a:avLst/>
          </a:prstGeom>
          <a:noFill/>
        </p:spPr>
        <p:txBody>
          <a:bodyPr wrap="square" lIns="0" rIns="0" tIns="0" bIns="0" anchor="t">
            <a:spAutoFit/>
          </a:bodyPr>
          <a:lstStyle/>
          <a:p>
            <a:pPr algn="r">
              <a:spcAft>
                <a:spcPts val="600"/>
              </a:spcAft>
            </a:pPr>
            <a:r>
              <a:rPr sz="1400" b="1" i="0">
                <a:solidFill>
                  <a:srgbClr val="1C7293"/>
                </a:solidFill>
                <a:latin typeface="Calibri"/>
              </a:rPr>
              <a:t>1,024</a:t>
            </a:r>
          </a:p>
        </p:txBody>
      </p:sp>
      <p:sp>
        <p:nvSpPr>
          <p:cNvPr id="8" name="TextBox 7"/>
          <p:cNvSpPr txBox="1"/>
          <p:nvPr/>
        </p:nvSpPr>
        <p:spPr>
          <a:xfrm>
            <a:off x="1892807" y="2249424"/>
            <a:ext cx="384048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ECFP-4 bits, folded</a:t>
            </a:r>
          </a:p>
        </p:txBody>
      </p:sp>
      <p:sp>
        <p:nvSpPr>
          <p:cNvPr id="9" name="TextBox 8"/>
          <p:cNvSpPr txBox="1"/>
          <p:nvPr/>
        </p:nvSpPr>
        <p:spPr>
          <a:xfrm>
            <a:off x="822960" y="2670048"/>
            <a:ext cx="914400" cy="310896"/>
          </a:xfrm>
          <a:prstGeom prst="rect">
            <a:avLst/>
          </a:prstGeom>
          <a:noFill/>
        </p:spPr>
        <p:txBody>
          <a:bodyPr wrap="square" lIns="0" rIns="0" tIns="0" bIns="0" anchor="t">
            <a:spAutoFit/>
          </a:bodyPr>
          <a:lstStyle/>
          <a:p>
            <a:pPr algn="r">
              <a:spcAft>
                <a:spcPts val="600"/>
              </a:spcAft>
            </a:pPr>
            <a:r>
              <a:rPr sz="1400" b="1" i="0">
                <a:solidFill>
                  <a:srgbClr val="1C7293"/>
                </a:solidFill>
                <a:latin typeface="Calibri"/>
              </a:rPr>
              <a:t>12</a:t>
            </a:r>
          </a:p>
        </p:txBody>
      </p:sp>
      <p:sp>
        <p:nvSpPr>
          <p:cNvPr id="10" name="TextBox 9"/>
          <p:cNvSpPr txBox="1"/>
          <p:nvPr/>
        </p:nvSpPr>
        <p:spPr>
          <a:xfrm>
            <a:off x="1892807" y="2670048"/>
            <a:ext cx="384048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physicochemical descriptors</a:t>
            </a:r>
          </a:p>
        </p:txBody>
      </p:sp>
      <p:sp>
        <p:nvSpPr>
          <p:cNvPr id="11" name="TextBox 10"/>
          <p:cNvSpPr txBox="1"/>
          <p:nvPr/>
        </p:nvSpPr>
        <p:spPr>
          <a:xfrm>
            <a:off x="822960" y="3090672"/>
            <a:ext cx="914400" cy="310896"/>
          </a:xfrm>
          <a:prstGeom prst="rect">
            <a:avLst/>
          </a:prstGeom>
          <a:noFill/>
        </p:spPr>
        <p:txBody>
          <a:bodyPr wrap="square" lIns="0" rIns="0" tIns="0" bIns="0" anchor="t">
            <a:spAutoFit/>
          </a:bodyPr>
          <a:lstStyle/>
          <a:p>
            <a:pPr algn="r">
              <a:spcAft>
                <a:spcPts val="600"/>
              </a:spcAft>
            </a:pPr>
            <a:r>
              <a:rPr sz="1400" b="1" i="0">
                <a:solidFill>
                  <a:srgbClr val="1C7293"/>
                </a:solidFill>
                <a:latin typeface="Calibri"/>
              </a:rPr>
              <a:t>1,036</a:t>
            </a:r>
          </a:p>
        </p:txBody>
      </p:sp>
      <p:sp>
        <p:nvSpPr>
          <p:cNvPr id="12" name="TextBox 11"/>
          <p:cNvSpPr txBox="1"/>
          <p:nvPr/>
        </p:nvSpPr>
        <p:spPr>
          <a:xfrm>
            <a:off x="1892807" y="3090672"/>
            <a:ext cx="384048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columns, identical for every endpoint</a:t>
            </a:r>
          </a:p>
        </p:txBody>
      </p:sp>
      <p:sp>
        <p:nvSpPr>
          <p:cNvPr id="13" name="TextBox 12"/>
          <p:cNvSpPr txBox="1"/>
          <p:nvPr/>
        </p:nvSpPr>
        <p:spPr>
          <a:xfrm>
            <a:off x="822960" y="3529584"/>
            <a:ext cx="4937760" cy="274320"/>
          </a:xfrm>
          <a:prstGeom prst="rect">
            <a:avLst/>
          </a:prstGeom>
          <a:noFill/>
        </p:spPr>
        <p:txBody>
          <a:bodyPr wrap="square" lIns="0" rIns="0" tIns="0" bIns="0" anchor="t">
            <a:spAutoFit/>
          </a:bodyPr>
          <a:lstStyle/>
          <a:p>
            <a:pPr algn="l">
              <a:spcAft>
                <a:spcPts val="600"/>
              </a:spcAft>
            </a:pPr>
            <a:r>
              <a:rPr sz="1150" b="0" i="1">
                <a:solidFill>
                  <a:srgbClr val="5F6B7A"/>
                </a:solidFill>
                <a:latin typeface="Calibri"/>
              </a:rPr>
              <a:t>Computed on the desalted, neutralised parent</a:t>
            </a:r>
          </a:p>
        </p:txBody>
      </p:sp>
      <p:sp>
        <p:nvSpPr>
          <p:cNvPr id="14" name="Rounded Rectangle 13"/>
          <p:cNvSpPr/>
          <p:nvPr/>
        </p:nvSpPr>
        <p:spPr>
          <a:xfrm>
            <a:off x="6190488" y="1664208"/>
            <a:ext cx="5434279"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46520" y="1847088"/>
            <a:ext cx="4937760" cy="310896"/>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The estimator</a:t>
            </a:r>
          </a:p>
        </p:txBody>
      </p:sp>
      <p:sp>
        <p:nvSpPr>
          <p:cNvPr id="16" name="TextBox 15"/>
          <p:cNvSpPr txBox="1"/>
          <p:nvPr/>
        </p:nvSpPr>
        <p:spPr>
          <a:xfrm>
            <a:off x="6446520" y="2249424"/>
            <a:ext cx="914400" cy="310896"/>
          </a:xfrm>
          <a:prstGeom prst="rect">
            <a:avLst/>
          </a:prstGeom>
          <a:noFill/>
        </p:spPr>
        <p:txBody>
          <a:bodyPr wrap="square" lIns="0" rIns="0" tIns="0" bIns="0" anchor="t">
            <a:spAutoFit/>
          </a:bodyPr>
          <a:lstStyle/>
          <a:p>
            <a:pPr algn="r">
              <a:spcAft>
                <a:spcPts val="600"/>
              </a:spcAft>
            </a:pPr>
            <a:r>
              <a:rPr sz="1400" b="1" i="0">
                <a:solidFill>
                  <a:srgbClr val="1C7293"/>
                </a:solidFill>
                <a:latin typeface="Calibri"/>
              </a:rPr>
              <a:t>300</a:t>
            </a:r>
          </a:p>
        </p:txBody>
      </p:sp>
      <p:sp>
        <p:nvSpPr>
          <p:cNvPr id="17" name="TextBox 16"/>
          <p:cNvSpPr txBox="1"/>
          <p:nvPr/>
        </p:nvSpPr>
        <p:spPr>
          <a:xfrm>
            <a:off x="7516367" y="2249424"/>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trees per forest</a:t>
            </a:r>
          </a:p>
        </p:txBody>
      </p:sp>
      <p:sp>
        <p:nvSpPr>
          <p:cNvPr id="18" name="TextBox 17"/>
          <p:cNvSpPr txBox="1"/>
          <p:nvPr/>
        </p:nvSpPr>
        <p:spPr>
          <a:xfrm>
            <a:off x="6446520" y="2670048"/>
            <a:ext cx="914400" cy="310896"/>
          </a:xfrm>
          <a:prstGeom prst="rect">
            <a:avLst/>
          </a:prstGeom>
          <a:noFill/>
        </p:spPr>
        <p:txBody>
          <a:bodyPr wrap="square" lIns="0" rIns="0" tIns="0" bIns="0" anchor="t">
            <a:spAutoFit/>
          </a:bodyPr>
          <a:lstStyle/>
          <a:p>
            <a:pPr algn="r">
              <a:spcAft>
                <a:spcPts val="600"/>
              </a:spcAft>
            </a:pPr>
            <a:r>
              <a:rPr sz="1400" b="1" i="0">
                <a:solidFill>
                  <a:srgbClr val="1C7293"/>
                </a:solidFill>
                <a:latin typeface="Calibri"/>
              </a:rPr>
              <a:t>2 / 4</a:t>
            </a:r>
          </a:p>
        </p:txBody>
      </p:sp>
      <p:sp>
        <p:nvSpPr>
          <p:cNvPr id="19" name="TextBox 18"/>
          <p:cNvSpPr txBox="1"/>
          <p:nvPr/>
        </p:nvSpPr>
        <p:spPr>
          <a:xfrm>
            <a:off x="7516367" y="2670048"/>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minimum samples per leaf, core / binder</a:t>
            </a:r>
          </a:p>
        </p:txBody>
      </p:sp>
      <p:sp>
        <p:nvSpPr>
          <p:cNvPr id="20" name="TextBox 19"/>
          <p:cNvSpPr txBox="1"/>
          <p:nvPr/>
        </p:nvSpPr>
        <p:spPr>
          <a:xfrm>
            <a:off x="6446520" y="3090672"/>
            <a:ext cx="914400" cy="310896"/>
          </a:xfrm>
          <a:prstGeom prst="rect">
            <a:avLst/>
          </a:prstGeom>
          <a:noFill/>
        </p:spPr>
        <p:txBody>
          <a:bodyPr wrap="square" lIns="0" rIns="0" tIns="0" bIns="0" anchor="t">
            <a:spAutoFit/>
          </a:bodyPr>
          <a:lstStyle/>
          <a:p>
            <a:pPr algn="r">
              <a:spcAft>
                <a:spcPts val="600"/>
              </a:spcAft>
            </a:pPr>
            <a:r>
              <a:rPr sz="1400" b="1" i="0">
                <a:solidFill>
                  <a:srgbClr val="1C7293"/>
                </a:solidFill>
                <a:latin typeface="Calibri"/>
              </a:rPr>
              <a:t>balanced</a:t>
            </a:r>
          </a:p>
        </p:txBody>
      </p:sp>
      <p:sp>
        <p:nvSpPr>
          <p:cNvPr id="21" name="TextBox 20"/>
          <p:cNvSpPr txBox="1"/>
          <p:nvPr/>
        </p:nvSpPr>
        <p:spPr>
          <a:xfrm>
            <a:off x="7516367" y="3090672"/>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class weights, and a fixed seed</a:t>
            </a:r>
          </a:p>
        </p:txBody>
      </p:sp>
      <p:sp>
        <p:nvSpPr>
          <p:cNvPr id="22" name="TextBox 21"/>
          <p:cNvSpPr txBox="1"/>
          <p:nvPr/>
        </p:nvSpPr>
        <p:spPr>
          <a:xfrm>
            <a:off x="6446520" y="3529584"/>
            <a:ext cx="4937760" cy="274320"/>
          </a:xfrm>
          <a:prstGeom prst="rect">
            <a:avLst/>
          </a:prstGeom>
          <a:noFill/>
        </p:spPr>
        <p:txBody>
          <a:bodyPr wrap="square" lIns="0" rIns="0" tIns="0" bIns="0" anchor="t">
            <a:spAutoFit/>
          </a:bodyPr>
          <a:lstStyle/>
          <a:p>
            <a:pPr algn="l">
              <a:spcAft>
                <a:spcPts val="600"/>
              </a:spcAft>
            </a:pPr>
            <a:r>
              <a:rPr sz="1150" b="0" i="1">
                <a:solidFill>
                  <a:srgbClr val="5F6B7A"/>
                </a:solidFill>
                <a:latin typeface="Calibri"/>
              </a:rPr>
              <a:t>Chosen by benchmark, not by preference</a:t>
            </a:r>
          </a:p>
        </p:txBody>
      </p:sp>
      <p:sp>
        <p:nvSpPr>
          <p:cNvPr id="23" name="TextBox 22"/>
          <p:cNvSpPr txBox="1"/>
          <p:nvPr/>
        </p:nvSpPr>
        <p:spPr>
          <a:xfrm>
            <a:off x="566928" y="4041648"/>
            <a:ext cx="11057839" cy="411480"/>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Five model families were compared on the same folds. The forest was not the best on every task, and the thesis says so.</a:t>
            </a:r>
          </a:p>
        </p:txBody>
      </p:sp>
      <p:sp>
        <p:nvSpPr>
          <p:cNvPr id="24" name="TextBox 23"/>
          <p:cNvSpPr txBox="1"/>
          <p:nvPr/>
        </p:nvSpPr>
        <p:spPr>
          <a:xfrm>
            <a:off x="566928" y="4517136"/>
            <a:ext cx="11057839" cy="914400"/>
          </a:xfrm>
          <a:prstGeom prst="rect">
            <a:avLst/>
          </a:prstGeom>
          <a:noFill/>
        </p:spPr>
        <p:txBody>
          <a:bodyPr wrap="square" lIns="0" rIns="0" tIns="0" bIns="0" anchor="t">
            <a:spAutoFit/>
          </a:bodyPr>
          <a:lstStyle/>
          <a:p>
            <a:pPr algn="l">
              <a:lnSpc>
                <a:spcPct val="130000"/>
              </a:lnSpc>
              <a:spcAft>
                <a:spcPts val="600"/>
              </a:spcAft>
            </a:pPr>
            <a:r>
              <a:rPr sz="1300" b="0" i="0">
                <a:solidFill>
                  <a:srgbClr val="0F1A2E"/>
                </a:solidFill>
                <a:latin typeface="Calibri"/>
              </a:rPr>
              <a:t>It wins 7 of 8 classification endpoints and 0 of 5 regression endpoints, where gradient boosting is ahead. Against the deployed panel it is statistically indistinguishable from both boosting methods pooled (p = 0.735 and 0.893, Wilcoxon signed-rank paired by endpoint). The forest is kept for its calibration behaviour and its out-of-bag structure, not because it is measurably more accurate.</a:t>
            </a:r>
          </a:p>
        </p:txBody>
      </p:sp>
      <p:sp>
        <p:nvSpPr>
          <p:cNvPr id="25" name="TextBox 2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results/tables/model_comparison.csv; results/tables/model_family_significance.csv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system computes, end to end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Five operations, each of which changes what the number means</a:t>
            </a:r>
          </a:p>
        </p:txBody>
      </p:sp>
      <p:pic>
        <p:nvPicPr>
          <p:cNvPr id="5" name="Picture 4" descr="FigureT1_scoring_pipeline.png"/>
          <p:cNvPicPr>
            <a:picLocks noChangeAspect="1"/>
          </p:cNvPicPr>
          <p:nvPr/>
        </p:nvPicPr>
        <p:blipFill>
          <a:blip r:embed="rId2"/>
          <a:stretch>
            <a:fillRect/>
          </a:stretch>
        </p:blipFill>
        <p:spPr>
          <a:xfrm>
            <a:off x="897026" y="1444752"/>
            <a:ext cx="5237683" cy="4901184"/>
          </a:xfrm>
          <a:prstGeom prst="rect">
            <a:avLst/>
          </a:prstGeom>
        </p:spPr>
      </p:pic>
      <p:sp>
        <p:nvSpPr>
          <p:cNvPr id="6" name="Oval 5"/>
          <p:cNvSpPr/>
          <p:nvPr/>
        </p:nvSpPr>
        <p:spPr>
          <a:xfrm>
            <a:off x="6830568" y="1554480"/>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7324344" y="1499616"/>
            <a:ext cx="4300423" cy="384048"/>
          </a:xfrm>
          <a:prstGeom prst="rect">
            <a:avLst/>
          </a:prstGeom>
          <a:noFill/>
        </p:spPr>
        <p:txBody>
          <a:bodyPr wrap="square" lIns="0" rIns="0" tIns="0" bIns="0" anchor="t">
            <a:spAutoFit/>
          </a:bodyPr>
          <a:lstStyle/>
          <a:p>
            <a:pPr algn="l">
              <a:spcAft>
                <a:spcPts val="600"/>
              </a:spcAft>
            </a:pPr>
            <a:r>
              <a:rPr sz="1350" b="1" i="0">
                <a:solidFill>
                  <a:srgbClr val="1C7293"/>
                </a:solidFill>
                <a:latin typeface="Calibri"/>
              </a:rPr>
              <a:t>A probability is not a score</a:t>
            </a:r>
          </a:p>
        </p:txBody>
      </p:sp>
      <p:sp>
        <p:nvSpPr>
          <p:cNvPr id="8" name="TextBox 7"/>
          <p:cNvSpPr txBox="1"/>
          <p:nvPr/>
        </p:nvSpPr>
        <p:spPr>
          <a:xfrm>
            <a:off x="7324344" y="1920240"/>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B. The same 0.60 means opposite things at an endpoint where a quarter of compounds are active and one where six sevenths are. Enrichment fixes the reference point.</a:t>
            </a:r>
          </a:p>
        </p:txBody>
      </p:sp>
      <p:sp>
        <p:nvSpPr>
          <p:cNvPr id="9" name="Oval 8"/>
          <p:cNvSpPr/>
          <p:nvPr/>
        </p:nvSpPr>
        <p:spPr>
          <a:xfrm>
            <a:off x="6830568" y="3255264"/>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 name="TextBox 9"/>
          <p:cNvSpPr txBox="1"/>
          <p:nvPr/>
        </p:nvSpPr>
        <p:spPr>
          <a:xfrm>
            <a:off x="7324344" y="3200400"/>
            <a:ext cx="4300423" cy="384048"/>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One mechanism, not a tally</a:t>
            </a:r>
          </a:p>
        </p:txBody>
      </p:sp>
      <p:sp>
        <p:nvSpPr>
          <p:cNvPr id="11" name="TextBox 10"/>
          <p:cNvSpPr txBox="1"/>
          <p:nvPr/>
        </p:nvSpPr>
        <p:spPr>
          <a:xfrm>
            <a:off x="7324344" y="3621024"/>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C. Only the strongest engaged target contributes to a condition, because homologous targets are not independent observations.</a:t>
            </a:r>
          </a:p>
        </p:txBody>
      </p:sp>
      <p:sp>
        <p:nvSpPr>
          <p:cNvPr id="12" name="Oval 11"/>
          <p:cNvSpPr/>
          <p:nvPr/>
        </p:nvSpPr>
        <p:spPr>
          <a:xfrm>
            <a:off x="6830568" y="4956048"/>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7324344" y="4901184"/>
            <a:ext cx="4300423" cy="384048"/>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The gate decides whether to speak</a:t>
            </a:r>
          </a:p>
        </p:txBody>
      </p:sp>
      <p:sp>
        <p:nvSpPr>
          <p:cNvPr id="14" name="TextBox 13"/>
          <p:cNvSpPr txBox="1"/>
          <p:nvPr/>
        </p:nvSpPr>
        <p:spPr>
          <a:xfrm>
            <a:off x="7324344" y="5321808"/>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D. Twelve of the sixteen conditions fall below the reporting threshold here, and the expected recall at this compound's distance is printed beside the answer.</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Figure T1. Worked on donepezil, scored through the served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two transforms that are easiest to misread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Enrichment over base rate, and an exposure gate that cannot reorder conditions</a:t>
            </a:r>
          </a:p>
        </p:txBody>
      </p:sp>
      <p:pic>
        <p:nvPicPr>
          <p:cNvPr id="5" name="Picture 4" descr="FigureT2_enrichment_and_gate.png"/>
          <p:cNvPicPr>
            <a:picLocks noChangeAspect="1"/>
          </p:cNvPicPr>
          <p:nvPr/>
        </p:nvPicPr>
        <p:blipFill>
          <a:blip r:embed="rId2"/>
          <a:stretch>
            <a:fillRect/>
          </a:stretch>
        </p:blipFill>
        <p:spPr>
          <a:xfrm>
            <a:off x="566928" y="1575756"/>
            <a:ext cx="5897880" cy="4639175"/>
          </a:xfrm>
          <a:prstGeom prst="rect">
            <a:avLst/>
          </a:prstGeom>
        </p:spPr>
      </p:pic>
      <p:sp>
        <p:nvSpPr>
          <p:cNvPr id="6" name="Oval 5"/>
          <p:cNvSpPr/>
          <p:nvPr/>
        </p:nvSpPr>
        <p:spPr>
          <a:xfrm>
            <a:off x="6830568" y="1554480"/>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7324344" y="1499616"/>
            <a:ext cx="4300423" cy="384048"/>
          </a:xfrm>
          <a:prstGeom prst="rect">
            <a:avLst/>
          </a:prstGeom>
          <a:noFill/>
        </p:spPr>
        <p:txBody>
          <a:bodyPr wrap="square" lIns="0" rIns="0" tIns="0" bIns="0" anchor="t">
            <a:spAutoFit/>
          </a:bodyPr>
          <a:lstStyle/>
          <a:p>
            <a:pPr algn="l">
              <a:spcAft>
                <a:spcPts val="600"/>
              </a:spcAft>
            </a:pPr>
            <a:r>
              <a:rPr sz="1350" b="1" i="0">
                <a:solidFill>
                  <a:srgbClr val="1C7293"/>
                </a:solidFill>
                <a:latin typeface="Calibri"/>
              </a:rPr>
              <a:t>The base rates span 0.626</a:t>
            </a:r>
          </a:p>
        </p:txBody>
      </p:sp>
      <p:sp>
        <p:nvSpPr>
          <p:cNvPr id="8" name="TextBox 7"/>
          <p:cNvSpPr txBox="1"/>
          <p:nvPr/>
        </p:nvSpPr>
        <p:spPr>
          <a:xfrm>
            <a:off x="7324344" y="1920240"/>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Panels A and B. A single probability threshold applied across the panel would be asking a different question at every endpoint.</a:t>
            </a:r>
          </a:p>
        </p:txBody>
      </p:sp>
      <p:sp>
        <p:nvSpPr>
          <p:cNvPr id="9" name="Oval 8"/>
          <p:cNvSpPr/>
          <p:nvPr/>
        </p:nvSpPr>
        <p:spPr>
          <a:xfrm>
            <a:off x="6830568" y="3255264"/>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 name="TextBox 9"/>
          <p:cNvSpPr txBox="1"/>
          <p:nvPr/>
        </p:nvSpPr>
        <p:spPr>
          <a:xfrm>
            <a:off x="7324344" y="3200400"/>
            <a:ext cx="4300423" cy="384048"/>
          </a:xfrm>
          <a:prstGeom prst="rect">
            <a:avLst/>
          </a:prstGeom>
          <a:noFill/>
        </p:spPr>
        <p:txBody>
          <a:bodyPr wrap="square" lIns="0" rIns="0" tIns="0" bIns="0" anchor="t">
            <a:spAutoFit/>
          </a:bodyPr>
          <a:lstStyle/>
          <a:p>
            <a:pPr algn="l">
              <a:spcAft>
                <a:spcPts val="600"/>
              </a:spcAft>
            </a:pPr>
            <a:r>
              <a:rPr sz="1350" b="1" i="0">
                <a:solidFill>
                  <a:srgbClr val="9E2A2B"/>
                </a:solidFill>
                <a:latin typeface="Calibri"/>
              </a:rPr>
              <a:t>The gate is a filter, not a discriminator</a:t>
            </a:r>
          </a:p>
        </p:txBody>
      </p:sp>
      <p:sp>
        <p:nvSpPr>
          <p:cNvPr id="11" name="TextBox 10"/>
          <p:cNvSpPr txBox="1"/>
          <p:nvPr/>
        </p:nvSpPr>
        <p:spPr>
          <a:xfrm>
            <a:off x="7324344" y="3621024"/>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C. Multiplying fourteen conditions by the same number is rank-invariant, so gating cannot sharpen a disease call. It decides whether anything is reported at all.</a:t>
            </a:r>
          </a:p>
        </p:txBody>
      </p:sp>
      <p:sp>
        <p:nvSpPr>
          <p:cNvPr id="12" name="Oval 11"/>
          <p:cNvSpPr/>
          <p:nvPr/>
        </p:nvSpPr>
        <p:spPr>
          <a:xfrm>
            <a:off x="6830568" y="4956048"/>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7324344" y="4901184"/>
            <a:ext cx="4300423" cy="384048"/>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With one exception nobody had stated</a:t>
            </a:r>
          </a:p>
        </p:txBody>
      </p:sp>
      <p:sp>
        <p:nvSpPr>
          <p:cNvPr id="14" name="TextBox 13"/>
          <p:cNvSpPr txBox="1"/>
          <p:nvPr/>
        </p:nvSpPr>
        <p:spPr>
          <a:xfrm>
            <a:off x="7324344" y="5321808"/>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D. Migraine and multiple sclerosis are gate-exempt, so the gate does reorder them against the central conditions. Worth a factor of 1.79 on teriflunomide.</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Figure T2. Base rates from the deployed context; C donepezil, D teriflunomide.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Why a maximum and not a sum</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aggregation rule, and the evidence that made it defensible</a:t>
            </a:r>
          </a:p>
        </p:txBody>
      </p:sp>
      <p:sp>
        <p:nvSpPr>
          <p:cNvPr id="5" name="Rounded Rectangle 4"/>
          <p:cNvSpPr/>
          <p:nvPr/>
        </p:nvSpPr>
        <p:spPr>
          <a:xfrm>
            <a:off x="566928" y="1691640"/>
            <a:ext cx="5349240" cy="22860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874519"/>
            <a:ext cx="4846320" cy="310896"/>
          </a:xfrm>
          <a:prstGeom prst="rect">
            <a:avLst/>
          </a:prstGeom>
          <a:noFill/>
        </p:spPr>
        <p:txBody>
          <a:bodyPr wrap="square" lIns="0" rIns="0" tIns="0" bIns="0" anchor="t">
            <a:spAutoFit/>
          </a:bodyPr>
          <a:lstStyle/>
          <a:p>
            <a:pPr algn="l">
              <a:spcAft>
                <a:spcPts val="600"/>
              </a:spcAft>
            </a:pPr>
            <a:r>
              <a:rPr sz="1300" b="1" i="0">
                <a:solidFill>
                  <a:srgbClr val="5F6B7A"/>
                </a:solidFill>
                <a:latin typeface="Calibri"/>
              </a:rPr>
              <a:t>If engaged targets were independent</a:t>
            </a:r>
          </a:p>
        </p:txBody>
      </p:sp>
      <p:sp>
        <p:nvSpPr>
          <p:cNvPr id="7" name="TextBox 6"/>
          <p:cNvSpPr txBox="1"/>
          <p:nvPr/>
        </p:nvSpPr>
        <p:spPr>
          <a:xfrm>
            <a:off x="822960" y="2267712"/>
            <a:ext cx="4846320" cy="1508760"/>
          </a:xfrm>
          <a:prstGeom prst="rect">
            <a:avLst/>
          </a:prstGeom>
          <a:noFill/>
        </p:spPr>
        <p:txBody>
          <a:bodyPr wrap="square" lIns="0" rIns="0" tIns="0" bIns="0" anchor="t">
            <a:spAutoFit/>
          </a:bodyPr>
          <a:lstStyle/>
          <a:p>
            <a:pPr algn="l">
              <a:lnSpc>
                <a:spcPct val="130000"/>
              </a:lnSpc>
              <a:spcAft>
                <a:spcPts val="600"/>
              </a:spcAft>
            </a:pPr>
            <a:r>
              <a:rPr sz="1300" b="0" i="0">
                <a:solidFill>
                  <a:srgbClr val="0F1A2E"/>
                </a:solidFill>
                <a:latin typeface="Calibri"/>
              </a:rPr>
              <a:t>summing them would be the right thing to do: three separate observations of activity are stronger evidence than one, and a sum would say so.</a:t>
            </a:r>
          </a:p>
        </p:txBody>
      </p:sp>
      <p:sp>
        <p:nvSpPr>
          <p:cNvPr id="8" name="Rounded Rectangle 7"/>
          <p:cNvSpPr/>
          <p:nvPr/>
        </p:nvSpPr>
        <p:spPr>
          <a:xfrm>
            <a:off x="6144768" y="1691640"/>
            <a:ext cx="5479999" cy="22860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0" y="1874519"/>
            <a:ext cx="4846320" cy="310896"/>
          </a:xfrm>
          <a:prstGeom prst="rect">
            <a:avLst/>
          </a:prstGeom>
          <a:noFill/>
        </p:spPr>
        <p:txBody>
          <a:bodyPr wrap="square" lIns="0" rIns="0" tIns="0" bIns="0" anchor="t">
            <a:spAutoFit/>
          </a:bodyPr>
          <a:lstStyle/>
          <a:p>
            <a:pPr algn="l">
              <a:spcAft>
                <a:spcPts val="600"/>
              </a:spcAft>
            </a:pPr>
            <a:r>
              <a:rPr sz="1300" b="1" i="0">
                <a:solidFill>
                  <a:srgbClr val="9E2A2B"/>
                </a:solidFill>
                <a:latin typeface="Calibri"/>
              </a:rPr>
              <a:t>They are not independent</a:t>
            </a:r>
          </a:p>
        </p:txBody>
      </p:sp>
      <p:sp>
        <p:nvSpPr>
          <p:cNvPr id="10" name="TextBox 9"/>
          <p:cNvSpPr txBox="1"/>
          <p:nvPr/>
        </p:nvSpPr>
        <p:spPr>
          <a:xfrm>
            <a:off x="6400800" y="2267712"/>
            <a:ext cx="4937760" cy="1600200"/>
          </a:xfrm>
          <a:prstGeom prst="rect">
            <a:avLst/>
          </a:prstGeom>
          <a:noFill/>
        </p:spPr>
        <p:txBody>
          <a:bodyPr wrap="square" lIns="0" rIns="0" tIns="0" bIns="0" anchor="t">
            <a:spAutoFit/>
          </a:bodyPr>
          <a:lstStyle/>
          <a:p>
            <a:pPr algn="l">
              <a:lnSpc>
                <a:spcPct val="130000"/>
              </a:lnSpc>
              <a:spcAft>
                <a:spcPts val="600"/>
              </a:spcAft>
            </a:pPr>
            <a:r>
              <a:rPr sz="1300" b="0" i="0">
                <a:solidFill>
                  <a:srgbClr val="0F1A2E"/>
                </a:solidFill>
                <a:latin typeface="Calibri"/>
              </a:rPr>
              <a:t>Across 400 approved drugs, 37 targets fire at least once but span only 16 independent directions. Five homologous pairs co-fire above φ = 0.5: μ and κ opioid at 0.798, SERT and NET at 0.732, D2 and D3 at 0.720.</a:t>
            </a:r>
          </a:p>
        </p:txBody>
      </p:sp>
      <p:sp>
        <p:nvSpPr>
          <p:cNvPr id="11" name="TextBox 10"/>
          <p:cNvSpPr txBox="1"/>
          <p:nvPr/>
        </p:nvSpPr>
        <p:spPr>
          <a:xfrm>
            <a:off x="566928" y="4224528"/>
            <a:ext cx="11057839" cy="822960"/>
          </a:xfrm>
          <a:prstGeom prst="rect">
            <a:avLst/>
          </a:prstGeom>
          <a:noFill/>
        </p:spPr>
        <p:txBody>
          <a:bodyPr wrap="square" lIns="0" rIns="0" tIns="0" bIns="0" anchor="t">
            <a:spAutoFit/>
          </a:bodyPr>
          <a:lstStyle/>
          <a:p>
            <a:pPr algn="l">
              <a:lnSpc>
                <a:spcPct val="130000"/>
              </a:lnSpc>
              <a:spcAft>
                <a:spcPts val="600"/>
              </a:spcAft>
            </a:pPr>
            <a:r>
              <a:rPr sz="1400" b="0" i="0">
                <a:solidFill>
                  <a:srgbClr val="0F1A2E"/>
                </a:solidFill>
                <a:latin typeface="Calibri"/>
              </a:rPr>
              <a:t>So a sum would count the same pharmacology two or three times. The maximum takes the strongest engaged mechanism and nothing else, which understates the evidence rather than overstating it. That is the safer direction for a tool whose purpose is to avoid a wasted experiment.</a:t>
            </a:r>
          </a:p>
        </p:txBody>
      </p:sp>
      <p:sp>
        <p:nvSpPr>
          <p:cNvPr id="12" name="TextBox 11"/>
          <p:cNvSpPr txBox="1"/>
          <p:nvPr/>
        </p:nvSpPr>
        <p:spPr>
          <a:xfrm>
            <a:off x="566928" y="5175504"/>
            <a:ext cx="11057839" cy="685800"/>
          </a:xfrm>
          <a:prstGeom prst="rect">
            <a:avLst/>
          </a:prstGeom>
          <a:noFill/>
        </p:spPr>
        <p:txBody>
          <a:bodyPr wrap="square" lIns="0" rIns="0" tIns="0" bIns="0" anchor="t">
            <a:spAutoFit/>
          </a:bodyPr>
          <a:lstStyle/>
          <a:p>
            <a:pPr algn="l">
              <a:lnSpc>
                <a:spcPct val="128000"/>
              </a:lnSpc>
              <a:spcAft>
                <a:spcPts val="600"/>
              </a:spcAft>
            </a:pPr>
            <a:r>
              <a:rPr sz="1300" b="0" i="0">
                <a:solidFill>
                  <a:srgbClr val="1F3A5F"/>
                </a:solidFill>
                <a:latin typeface="Calibri"/>
              </a:rPr>
              <a:t>The interface now groups engaged targets by homology family and quotes the measured correlation wherever two members fire, because reporting three engaged targets as three findings is the error, not the co-firing itself.</a:t>
            </a:r>
          </a:p>
        </p:txBody>
      </p:sp>
      <p:sp>
        <p:nvSpPr>
          <p:cNvPr id="13" name="TextBox 1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inversion/results/H8_panel_independence.csv, H8_family_correlation.csv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2286000"/>
            <a:ext cx="2011680" cy="914400"/>
          </a:xfrm>
          <a:prstGeom prst="rect">
            <a:avLst/>
          </a:prstGeom>
          <a:noFill/>
        </p:spPr>
        <p:txBody>
          <a:bodyPr wrap="square" lIns="0" rIns="0" tIns="0" bIns="0" anchor="t">
            <a:spAutoFit/>
          </a:bodyPr>
          <a:lstStyle/>
          <a:p>
            <a:pPr algn="l">
              <a:spcAft>
                <a:spcPts val="600"/>
              </a:spcAft>
            </a:pPr>
            <a:r>
              <a:rPr sz="6400" b="1" i="0">
                <a:solidFill>
                  <a:srgbClr val="1F3A5F"/>
                </a:solidFill>
                <a:latin typeface="Cambria"/>
              </a:rPr>
              <a:t>II</a:t>
            </a:r>
          </a:p>
        </p:txBody>
      </p:sp>
      <p:sp>
        <p:nvSpPr>
          <p:cNvPr id="3" name="TextBox 2"/>
          <p:cNvSpPr txBox="1"/>
          <p:nvPr/>
        </p:nvSpPr>
        <p:spPr>
          <a:xfrm>
            <a:off x="2807208" y="2487168"/>
            <a:ext cx="8588959" cy="822960"/>
          </a:xfrm>
          <a:prstGeom prst="rect">
            <a:avLst/>
          </a:prstGeom>
          <a:noFill/>
        </p:spPr>
        <p:txBody>
          <a:bodyPr wrap="square" lIns="0" rIns="0" tIns="0" bIns="0" anchor="t">
            <a:spAutoFit/>
          </a:bodyPr>
          <a:lstStyle/>
          <a:p>
            <a:pPr algn="l">
              <a:spcAft>
                <a:spcPts val="600"/>
              </a:spcAft>
            </a:pPr>
            <a:r>
              <a:rPr sz="3400" b="1" i="0">
                <a:solidFill>
                  <a:srgbClr val="FFFFFF"/>
                </a:solidFill>
                <a:latin typeface="Cambria"/>
              </a:rPr>
              <a:t>What is known about it</a:t>
            </a:r>
          </a:p>
        </p:txBody>
      </p:sp>
      <p:sp>
        <p:nvSpPr>
          <p:cNvPr id="4" name="TextBox 3"/>
          <p:cNvSpPr txBox="1"/>
          <p:nvPr/>
        </p:nvSpPr>
        <p:spPr>
          <a:xfrm>
            <a:off x="2834640" y="3401568"/>
            <a:ext cx="8588959" cy="640080"/>
          </a:xfrm>
          <a:prstGeom prst="rect">
            <a:avLst/>
          </a:prstGeom>
          <a:noFill/>
        </p:spPr>
        <p:txBody>
          <a:bodyPr wrap="square" lIns="0" rIns="0" tIns="0" bIns="0" anchor="t">
            <a:spAutoFit/>
          </a:bodyPr>
          <a:lstStyle/>
          <a:p>
            <a:pPr algn="l">
              <a:lnSpc>
                <a:spcPct val="130000"/>
              </a:lnSpc>
              <a:spcAft>
                <a:spcPts val="600"/>
              </a:spcAft>
            </a:pPr>
            <a:r>
              <a:rPr sz="1500" b="0" i="0">
                <a:solidFill>
                  <a:srgbClr val="D7DFEA"/>
                </a:solidFill>
                <a:latin typeface="Calibri"/>
              </a:rPr>
              <a:t>Cross-validation, calibration, thresholds, and three external tests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Two cross-validation regimes, and why both are reported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single AUROC is the number most easily overstated in this field</a:t>
            </a:r>
          </a:p>
        </p:txBody>
      </p:sp>
      <p:sp>
        <p:nvSpPr>
          <p:cNvPr id="5" name="TextBox 4"/>
          <p:cNvSpPr txBox="1"/>
          <p:nvPr/>
        </p:nvSpPr>
        <p:spPr>
          <a:xfrm>
            <a:off x="841247" y="1783080"/>
            <a:ext cx="3108960" cy="274320"/>
          </a:xfrm>
          <a:prstGeom prst="rect">
            <a:avLst/>
          </a:prstGeom>
          <a:noFill/>
        </p:spPr>
        <p:txBody>
          <a:bodyPr wrap="square" lIns="0" rIns="0" tIns="0" bIns="0" anchor="t">
            <a:spAutoFit/>
          </a:bodyPr>
          <a:lstStyle/>
          <a:p>
            <a:pPr algn="l">
              <a:spcAft>
                <a:spcPts val="0"/>
              </a:spcAft>
            </a:pPr>
            <a:r>
              <a:rPr sz="1150" b="1" i="0">
                <a:solidFill>
                  <a:srgbClr val="5F6B7A"/>
                </a:solidFill>
                <a:latin typeface="Calibri"/>
              </a:rPr>
              <a:t>regime</a:t>
            </a:r>
          </a:p>
        </p:txBody>
      </p:sp>
      <p:sp>
        <p:nvSpPr>
          <p:cNvPr id="6" name="TextBox 5"/>
          <p:cNvSpPr txBox="1"/>
          <p:nvPr/>
        </p:nvSpPr>
        <p:spPr>
          <a:xfrm>
            <a:off x="4315968" y="1783080"/>
            <a:ext cx="17373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mean</a:t>
            </a:r>
          </a:p>
        </p:txBody>
      </p:sp>
      <p:sp>
        <p:nvSpPr>
          <p:cNvPr id="7" name="TextBox 6"/>
          <p:cNvSpPr txBox="1"/>
          <p:nvPr/>
        </p:nvSpPr>
        <p:spPr>
          <a:xfrm>
            <a:off x="6281927" y="1783080"/>
            <a:ext cx="17373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lowest</a:t>
            </a:r>
          </a:p>
        </p:txBody>
      </p:sp>
      <p:sp>
        <p:nvSpPr>
          <p:cNvPr id="8" name="TextBox 7"/>
          <p:cNvSpPr txBox="1"/>
          <p:nvPr/>
        </p:nvSpPr>
        <p:spPr>
          <a:xfrm>
            <a:off x="8247888" y="1783080"/>
            <a:ext cx="17373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highest</a:t>
            </a:r>
          </a:p>
        </p:txBody>
      </p:sp>
      <p:sp>
        <p:nvSpPr>
          <p:cNvPr id="9" name="Rounded Rectangle 8"/>
          <p:cNvSpPr/>
          <p:nvPr/>
        </p:nvSpPr>
        <p:spPr>
          <a:xfrm>
            <a:off x="566928" y="2084831"/>
            <a:ext cx="9692640" cy="56692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176272"/>
            <a:ext cx="3291840" cy="402336"/>
          </a:xfrm>
          <a:prstGeom prst="rect">
            <a:avLst/>
          </a:prstGeom>
          <a:noFill/>
        </p:spPr>
        <p:txBody>
          <a:bodyPr wrap="square" lIns="0" rIns="0" tIns="0" bIns="0" anchor="t">
            <a:spAutoFit/>
          </a:bodyPr>
          <a:lstStyle/>
          <a:p>
            <a:pPr algn="l">
              <a:spcAft>
                <a:spcPts val="600"/>
              </a:spcAft>
            </a:pPr>
            <a:r>
              <a:rPr sz="1350" b="0" i="0">
                <a:solidFill>
                  <a:srgbClr val="5F6B7A"/>
                </a:solidFill>
                <a:latin typeface="Calibri"/>
              </a:rPr>
              <a:t>Random 10-fold</a:t>
            </a:r>
          </a:p>
        </p:txBody>
      </p:sp>
      <p:sp>
        <p:nvSpPr>
          <p:cNvPr id="11" name="TextBox 10"/>
          <p:cNvSpPr txBox="1"/>
          <p:nvPr/>
        </p:nvSpPr>
        <p:spPr>
          <a:xfrm>
            <a:off x="4315968" y="2176272"/>
            <a:ext cx="1737360" cy="402336"/>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0.9575</a:t>
            </a:r>
          </a:p>
        </p:txBody>
      </p:sp>
      <p:sp>
        <p:nvSpPr>
          <p:cNvPr id="12" name="TextBox 11"/>
          <p:cNvSpPr txBox="1"/>
          <p:nvPr/>
        </p:nvSpPr>
        <p:spPr>
          <a:xfrm>
            <a:off x="6281927" y="2176272"/>
            <a:ext cx="1737360" cy="402336"/>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0.8990</a:t>
            </a:r>
          </a:p>
        </p:txBody>
      </p:sp>
      <p:sp>
        <p:nvSpPr>
          <p:cNvPr id="13" name="TextBox 12"/>
          <p:cNvSpPr txBox="1"/>
          <p:nvPr/>
        </p:nvSpPr>
        <p:spPr>
          <a:xfrm>
            <a:off x="8247888" y="2176272"/>
            <a:ext cx="1737360" cy="402336"/>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0.9764</a:t>
            </a:r>
          </a:p>
        </p:txBody>
      </p:sp>
      <p:sp>
        <p:nvSpPr>
          <p:cNvPr id="14" name="Rounded Rectangle 13"/>
          <p:cNvSpPr/>
          <p:nvPr/>
        </p:nvSpPr>
        <p:spPr>
          <a:xfrm>
            <a:off x="566928" y="2743199"/>
            <a:ext cx="969264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7" y="2834639"/>
            <a:ext cx="3291840" cy="402336"/>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Scaffold-grouped 10-fold</a:t>
            </a:r>
          </a:p>
        </p:txBody>
      </p:sp>
      <p:sp>
        <p:nvSpPr>
          <p:cNvPr id="16" name="TextBox 15"/>
          <p:cNvSpPr txBox="1"/>
          <p:nvPr/>
        </p:nvSpPr>
        <p:spPr>
          <a:xfrm>
            <a:off x="4315968" y="2834639"/>
            <a:ext cx="1737360" cy="40233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0.9252</a:t>
            </a:r>
          </a:p>
        </p:txBody>
      </p:sp>
      <p:sp>
        <p:nvSpPr>
          <p:cNvPr id="17" name="TextBox 16"/>
          <p:cNvSpPr txBox="1"/>
          <p:nvPr/>
        </p:nvSpPr>
        <p:spPr>
          <a:xfrm>
            <a:off x="6281927" y="2834639"/>
            <a:ext cx="1737360" cy="40233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0.8777</a:t>
            </a:r>
          </a:p>
        </p:txBody>
      </p:sp>
      <p:sp>
        <p:nvSpPr>
          <p:cNvPr id="18" name="TextBox 17"/>
          <p:cNvSpPr txBox="1"/>
          <p:nvPr/>
        </p:nvSpPr>
        <p:spPr>
          <a:xfrm>
            <a:off x="8247888" y="2834639"/>
            <a:ext cx="1737360" cy="40233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0.9648</a:t>
            </a:r>
          </a:p>
        </p:txBody>
      </p:sp>
      <p:sp>
        <p:nvSpPr>
          <p:cNvPr id="19" name="Rounded Rectangle 18"/>
          <p:cNvSpPr/>
          <p:nvPr/>
        </p:nvSpPr>
        <p:spPr>
          <a:xfrm>
            <a:off x="566928" y="3639312"/>
            <a:ext cx="11057839" cy="1188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9536" y="3840480"/>
            <a:ext cx="10472623" cy="914400"/>
          </a:xfrm>
          <a:prstGeom prst="rect">
            <a:avLst/>
          </a:prstGeom>
          <a:noFill/>
        </p:spPr>
        <p:txBody>
          <a:bodyPr wrap="square" lIns="0" rIns="0" tIns="0" bIns="0" anchor="t">
            <a:spAutoFit/>
          </a:bodyPr>
          <a:lstStyle/>
          <a:p>
            <a:pPr algn="l">
              <a:lnSpc>
                <a:spcPct val="130000"/>
              </a:lnSpc>
              <a:spcAft>
                <a:spcPts val="600"/>
              </a:spcAft>
            </a:pPr>
            <a:r>
              <a:rPr sz="1350" b="0" i="0">
                <a:solidFill>
                  <a:srgbClr val="0F1A2E"/>
                </a:solidFill>
                <a:latin typeface="Calibri"/>
              </a:rPr>
              <a:t>The scaffold figure is the one to quote. A random split of medicinal-chemistry data holds out close analogues of its own training set, because the published record is series, so it answers a question no user ever asks.</a:t>
            </a:r>
          </a:p>
        </p:txBody>
      </p:sp>
      <p:sp>
        <p:nvSpPr>
          <p:cNvPr id="21" name="TextBox 20"/>
          <p:cNvSpPr txBox="1"/>
          <p:nvPr/>
        </p:nvSpPr>
        <p:spPr>
          <a:xfrm>
            <a:off x="566928" y="5029200"/>
            <a:ext cx="11057839" cy="777240"/>
          </a:xfrm>
          <a:prstGeom prst="rect">
            <a:avLst/>
          </a:prstGeom>
          <a:noFill/>
        </p:spPr>
        <p:txBody>
          <a:bodyPr wrap="square" lIns="0" rIns="0" tIns="0" bIns="0" anchor="t">
            <a:spAutoFit/>
          </a:bodyPr>
          <a:lstStyle/>
          <a:p>
            <a:pPr algn="l">
              <a:lnSpc>
                <a:spcPct val="128000"/>
              </a:lnSpc>
              <a:spcAft>
                <a:spcPts val="600"/>
              </a:spcAft>
            </a:pPr>
            <a:r>
              <a:rPr sz="1350" b="1" i="0">
                <a:solidFill>
                  <a:srgbClr val="1C7293"/>
                </a:solidFill>
                <a:latin typeface="Calibri"/>
              </a:rPr>
              <a:t>And neither figure is obtainable without the labels. With labels permuted, the same pipeline on the same folds returns 0.4959 and 0.5026, every one of the sixteen values within 0.0200 of chance.</a:t>
            </a:r>
          </a:p>
        </p:txBody>
      </p:sp>
      <p:sp>
        <p:nvSpPr>
          <p:cNvPr id="22" name="TextBox 21"/>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results/tables/rf_cv_summary.csv; results/tables/permutation_null.csv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uncertainty stack, and where it stops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Calibration, conformal coverage, an applicability band, and an asymmetry worth stating</a:t>
            </a:r>
          </a:p>
        </p:txBody>
      </p:sp>
      <p:pic>
        <p:nvPicPr>
          <p:cNvPr id="5" name="Picture 4" descr="FigureT3_uncertainty_stack.png"/>
          <p:cNvPicPr>
            <a:picLocks noChangeAspect="1"/>
          </p:cNvPicPr>
          <p:nvPr/>
        </p:nvPicPr>
        <p:blipFill>
          <a:blip r:embed="rId2"/>
          <a:stretch>
            <a:fillRect/>
          </a:stretch>
        </p:blipFill>
        <p:spPr>
          <a:xfrm>
            <a:off x="566928" y="1592678"/>
            <a:ext cx="5897880" cy="4605332"/>
          </a:xfrm>
          <a:prstGeom prst="rect">
            <a:avLst/>
          </a:prstGeom>
        </p:spPr>
      </p:pic>
      <p:sp>
        <p:nvSpPr>
          <p:cNvPr id="6" name="Oval 5"/>
          <p:cNvSpPr/>
          <p:nvPr/>
        </p:nvSpPr>
        <p:spPr>
          <a:xfrm>
            <a:off x="6830568" y="1554480"/>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7324344" y="1499616"/>
            <a:ext cx="4300423" cy="384048"/>
          </a:xfrm>
          <a:prstGeom prst="rect">
            <a:avLst/>
          </a:prstGeom>
          <a:noFill/>
        </p:spPr>
        <p:txBody>
          <a:bodyPr wrap="square" lIns="0" rIns="0" tIns="0" bIns="0" anchor="t">
            <a:spAutoFit/>
          </a:bodyPr>
          <a:lstStyle/>
          <a:p>
            <a:pPr algn="l">
              <a:spcAft>
                <a:spcPts val="600"/>
              </a:spcAft>
            </a:pPr>
            <a:r>
              <a:rPr sz="1350" b="1" i="0">
                <a:solidFill>
                  <a:srgbClr val="1C7293"/>
                </a:solidFill>
                <a:latin typeface="Calibri"/>
              </a:rPr>
              <a:t>Calibration works where it is applied</a:t>
            </a:r>
          </a:p>
        </p:txBody>
      </p:sp>
      <p:sp>
        <p:nvSpPr>
          <p:cNvPr id="8" name="TextBox 7"/>
          <p:cNvSpPr txBox="1"/>
          <p:nvPr/>
        </p:nvSpPr>
        <p:spPr>
          <a:xfrm>
            <a:off x="7324344" y="1920240"/>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A. Expected calibration error falls from 0.0801 to 0.0147 across the eight core classifiers.</a:t>
            </a:r>
          </a:p>
        </p:txBody>
      </p:sp>
      <p:sp>
        <p:nvSpPr>
          <p:cNvPr id="9" name="Oval 8"/>
          <p:cNvSpPr/>
          <p:nvPr/>
        </p:nvSpPr>
        <p:spPr>
          <a:xfrm>
            <a:off x="6830568" y="3255264"/>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 name="TextBox 9"/>
          <p:cNvSpPr txBox="1"/>
          <p:nvPr/>
        </p:nvSpPr>
        <p:spPr>
          <a:xfrm>
            <a:off x="7324344" y="3200400"/>
            <a:ext cx="4300423" cy="384048"/>
          </a:xfrm>
          <a:prstGeom prst="rect">
            <a:avLst/>
          </a:prstGeom>
          <a:noFill/>
        </p:spPr>
        <p:txBody>
          <a:bodyPr wrap="square" lIns="0" rIns="0" tIns="0" bIns="0" anchor="t">
            <a:spAutoFit/>
          </a:bodyPr>
          <a:lstStyle/>
          <a:p>
            <a:pPr algn="l">
              <a:spcAft>
                <a:spcPts val="600"/>
              </a:spcAft>
            </a:pPr>
            <a:r>
              <a:rPr sz="1350" b="1" i="0">
                <a:solidFill>
                  <a:srgbClr val="9E2A2B"/>
                </a:solidFill>
                <a:latin typeface="Calibri"/>
              </a:rPr>
              <a:t>And the gate is the worst of the eight</a:t>
            </a:r>
          </a:p>
        </p:txBody>
      </p:sp>
      <p:sp>
        <p:nvSpPr>
          <p:cNvPr id="11" name="TextBox 10"/>
          <p:cNvSpPr txBox="1"/>
          <p:nvPr/>
        </p:nvSpPr>
        <p:spPr>
          <a:xfrm>
            <a:off x="7324344" y="3621024"/>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B. 0.0412, nearly three times the mean, on the one model whose output multiplies every disease score rather than being reported alone.</a:t>
            </a:r>
          </a:p>
        </p:txBody>
      </p:sp>
      <p:sp>
        <p:nvSpPr>
          <p:cNvPr id="12" name="Oval 11"/>
          <p:cNvSpPr/>
          <p:nvPr/>
        </p:nvSpPr>
        <p:spPr>
          <a:xfrm>
            <a:off x="6830568" y="4956048"/>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7324344" y="4901184"/>
            <a:ext cx="4300423" cy="384048"/>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The stack is thinnest where it is used most</a:t>
            </a:r>
          </a:p>
        </p:txBody>
      </p:sp>
      <p:sp>
        <p:nvSpPr>
          <p:cNvPr id="14" name="TextBox 13"/>
          <p:cNvSpPr txBox="1"/>
          <p:nvPr/>
        </p:nvSpPr>
        <p:spPr>
          <a:xfrm>
            <a:off x="7324344" y="5321808"/>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D. None of the 47 deployed binder endpoints carries a conformal statement. The 38 with a measured calibration error average 0.0762; the other 9 carry none.</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Figure T3. calibration.csv, rf_conformal.csv, integrity_calibration_per_target.csv.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Thresholds are a separate problem from probabilities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disjoint background pools, and two constraints of which the harder binds</a:t>
            </a:r>
          </a:p>
        </p:txBody>
      </p:sp>
      <p:sp>
        <p:nvSpPr>
          <p:cNvPr id="5" name="Rounded Rectangle 4"/>
          <p:cNvSpPr/>
          <p:nvPr/>
        </p:nvSpPr>
        <p:spPr>
          <a:xfrm>
            <a:off x="566928" y="1719072"/>
            <a:ext cx="3533546"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4672" y="1901952"/>
            <a:ext cx="3058058" cy="384048"/>
          </a:xfrm>
          <a:prstGeom prst="rect">
            <a:avLst/>
          </a:prstGeom>
          <a:noFill/>
        </p:spPr>
        <p:txBody>
          <a:bodyPr wrap="square" lIns="0" rIns="0" tIns="0" bIns="0" anchor="t">
            <a:spAutoFit/>
          </a:bodyPr>
          <a:lstStyle/>
          <a:p>
            <a:pPr algn="l">
              <a:spcAft>
                <a:spcPts val="600"/>
              </a:spcAft>
            </a:pPr>
            <a:r>
              <a:rPr sz="1350" b="1" i="0">
                <a:solidFill>
                  <a:srgbClr val="5F6B7A"/>
                </a:solidFill>
                <a:latin typeface="Calibri"/>
              </a:rPr>
              <a:t>Decoy pool, 60%</a:t>
            </a:r>
          </a:p>
        </p:txBody>
      </p:sp>
      <p:sp>
        <p:nvSpPr>
          <p:cNvPr id="7" name="TextBox 6"/>
          <p:cNvSpPr txBox="1"/>
          <p:nvPr/>
        </p:nvSpPr>
        <p:spPr>
          <a:xfrm>
            <a:off x="804672" y="2359152"/>
            <a:ext cx="3058058" cy="73152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trains the binder classifiers against chemistry presumed inactive</a:t>
            </a:r>
          </a:p>
        </p:txBody>
      </p:sp>
      <p:sp>
        <p:nvSpPr>
          <p:cNvPr id="8" name="Rounded Rectangle 7"/>
          <p:cNvSpPr/>
          <p:nvPr/>
        </p:nvSpPr>
        <p:spPr>
          <a:xfrm>
            <a:off x="4329074" y="1719072"/>
            <a:ext cx="3533546"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6818" y="1901952"/>
            <a:ext cx="3058058" cy="384048"/>
          </a:xfrm>
          <a:prstGeom prst="rect">
            <a:avLst/>
          </a:prstGeom>
          <a:noFill/>
        </p:spPr>
        <p:txBody>
          <a:bodyPr wrap="square" lIns="0" rIns="0" tIns="0" bIns="0" anchor="t">
            <a:spAutoFit/>
          </a:bodyPr>
          <a:lstStyle/>
          <a:p>
            <a:pPr algn="l">
              <a:spcAft>
                <a:spcPts val="600"/>
              </a:spcAft>
            </a:pPr>
            <a:r>
              <a:rPr sz="1350" b="1" i="0">
                <a:solidFill>
                  <a:srgbClr val="1C7293"/>
                </a:solidFill>
                <a:latin typeface="Calibri"/>
              </a:rPr>
              <a:t>Threshold pool, 20%</a:t>
            </a:r>
          </a:p>
        </p:txBody>
      </p:sp>
      <p:sp>
        <p:nvSpPr>
          <p:cNvPr id="10" name="TextBox 9"/>
          <p:cNvSpPr txBox="1"/>
          <p:nvPr/>
        </p:nvSpPr>
        <p:spPr>
          <a:xfrm>
            <a:off x="4566818" y="2359152"/>
            <a:ext cx="3058058" cy="73152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sets each operating point</a:t>
            </a:r>
          </a:p>
        </p:txBody>
      </p:sp>
      <p:sp>
        <p:nvSpPr>
          <p:cNvPr id="11" name="Rounded Rectangle 10"/>
          <p:cNvSpPr/>
          <p:nvPr/>
        </p:nvSpPr>
        <p:spPr>
          <a:xfrm>
            <a:off x="8091220" y="1719072"/>
            <a:ext cx="3533546"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8964" y="1901952"/>
            <a:ext cx="3058058" cy="384048"/>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Evaluation pool, 20%</a:t>
            </a:r>
          </a:p>
        </p:txBody>
      </p:sp>
      <p:sp>
        <p:nvSpPr>
          <p:cNvPr id="13" name="TextBox 12"/>
          <p:cNvSpPr txBox="1"/>
          <p:nvPr/>
        </p:nvSpPr>
        <p:spPr>
          <a:xfrm>
            <a:off x="8328964" y="2359152"/>
            <a:ext cx="3058058" cy="73152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measures the false-positive rate at that point</a:t>
            </a:r>
          </a:p>
        </p:txBody>
      </p:sp>
      <p:sp>
        <p:nvSpPr>
          <p:cNvPr id="14" name="TextBox 13"/>
          <p:cNvSpPr txBox="1"/>
          <p:nvPr/>
        </p:nvSpPr>
        <p:spPr>
          <a:xfrm>
            <a:off x="566928" y="3310128"/>
            <a:ext cx="11057839" cy="365760"/>
          </a:xfrm>
          <a:prstGeom prst="rect">
            <a:avLst/>
          </a:prstGeom>
          <a:noFill/>
        </p:spPr>
        <p:txBody>
          <a:bodyPr wrap="square" lIns="0" rIns="0" tIns="0" bIns="0" anchor="t">
            <a:spAutoFit/>
          </a:bodyPr>
          <a:lstStyle/>
          <a:p>
            <a:pPr algn="l">
              <a:spcAft>
                <a:spcPts val="600"/>
              </a:spcAft>
            </a:pPr>
            <a:r>
              <a:rPr sz="1250" b="0" i="1">
                <a:solidFill>
                  <a:srgbClr val="5F6B7A"/>
                </a:solidFill>
                <a:latin typeface="Calibri"/>
              </a:rPr>
              <a:t>Assignment by blake2b(salt + canonical SMILES) mod 100, so a compound's pool is a property of the compound and never of the run.</a:t>
            </a:r>
          </a:p>
        </p:txBody>
      </p:sp>
      <p:sp>
        <p:nvSpPr>
          <p:cNvPr id="15" name="TextBox 14"/>
          <p:cNvSpPr txBox="1"/>
          <p:nvPr/>
        </p:nvSpPr>
        <p:spPr>
          <a:xfrm>
            <a:off x="566928" y="3840480"/>
            <a:ext cx="11057839" cy="41148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Each threshold is then set by the harder of two constraints</a:t>
            </a:r>
          </a:p>
        </p:txBody>
      </p:sp>
      <p:sp>
        <p:nvSpPr>
          <p:cNvPr id="16" name="Oval 15"/>
          <p:cNvSpPr/>
          <p:nvPr/>
        </p:nvSpPr>
        <p:spPr>
          <a:xfrm>
            <a:off x="566928" y="4370832"/>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7" name="TextBox 16"/>
          <p:cNvSpPr txBox="1"/>
          <p:nvPr/>
        </p:nvSpPr>
        <p:spPr>
          <a:xfrm>
            <a:off x="1042416" y="4334256"/>
            <a:ext cx="4206240" cy="402336"/>
          </a:xfrm>
          <a:prstGeom prst="rect">
            <a:avLst/>
          </a:prstGeom>
          <a:noFill/>
        </p:spPr>
        <p:txBody>
          <a:bodyPr wrap="square" lIns="0" rIns="0" tIns="0" bIns="0" anchor="t">
            <a:spAutoFit/>
          </a:bodyPr>
          <a:lstStyle/>
          <a:p>
            <a:pPr algn="l">
              <a:spcAft>
                <a:spcPts val="600"/>
              </a:spcAft>
            </a:pPr>
            <a:r>
              <a:rPr sz="1300" b="1" i="0">
                <a:solidFill>
                  <a:srgbClr val="0F1A2E"/>
                </a:solidFill>
                <a:latin typeface="Calibri"/>
              </a:rPr>
              <a:t>separation from background</a:t>
            </a:r>
          </a:p>
        </p:txBody>
      </p:sp>
      <p:sp>
        <p:nvSpPr>
          <p:cNvPr id="18" name="TextBox 17"/>
          <p:cNvSpPr txBox="1"/>
          <p:nvPr/>
        </p:nvSpPr>
        <p:spPr>
          <a:xfrm>
            <a:off x="5413248" y="4334256"/>
            <a:ext cx="6211519" cy="40233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a false-positive rate at or under 5 per cent on random chemistry</a:t>
            </a:r>
          </a:p>
        </p:txBody>
      </p:sp>
      <p:sp>
        <p:nvSpPr>
          <p:cNvPr id="19" name="Oval 18"/>
          <p:cNvSpPr/>
          <p:nvPr/>
        </p:nvSpPr>
        <p:spPr>
          <a:xfrm>
            <a:off x="566928" y="4937760"/>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20" name="TextBox 19"/>
          <p:cNvSpPr txBox="1"/>
          <p:nvPr/>
        </p:nvSpPr>
        <p:spPr>
          <a:xfrm>
            <a:off x="1042416" y="4901184"/>
            <a:ext cx="4206240" cy="402336"/>
          </a:xfrm>
          <a:prstGeom prst="rect">
            <a:avLst/>
          </a:prstGeom>
          <a:noFill/>
        </p:spPr>
        <p:txBody>
          <a:bodyPr wrap="square" lIns="0" rIns="0" tIns="0" bIns="0" anchor="t">
            <a:spAutoFit/>
          </a:bodyPr>
          <a:lstStyle/>
          <a:p>
            <a:pPr algn="l">
              <a:spcAft>
                <a:spcPts val="600"/>
              </a:spcAft>
            </a:pPr>
            <a:r>
              <a:rPr sz="1300" b="1" i="0">
                <a:solidFill>
                  <a:srgbClr val="0F1A2E"/>
                </a:solidFill>
                <a:latin typeface="Calibri"/>
              </a:rPr>
              <a:t>separation from measured inactives</a:t>
            </a:r>
          </a:p>
        </p:txBody>
      </p:sp>
      <p:sp>
        <p:nvSpPr>
          <p:cNvPr id="21" name="TextBox 20"/>
          <p:cNvSpPr txBox="1"/>
          <p:nvPr/>
        </p:nvSpPr>
        <p:spPr>
          <a:xfrm>
            <a:off x="5413248" y="4901184"/>
            <a:ext cx="6211519" cy="402336"/>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compounds tested at that same target and reported as non-binders</a:t>
            </a:r>
          </a:p>
        </p:txBody>
      </p:sp>
      <p:sp>
        <p:nvSpPr>
          <p:cNvPr id="22" name="TextBox 21"/>
          <p:cNvSpPr txBox="1"/>
          <p:nvPr/>
        </p:nvSpPr>
        <p:spPr>
          <a:xfrm>
            <a:off x="566928" y="5559552"/>
            <a:ext cx="11057839" cy="457200"/>
          </a:xfrm>
          <a:prstGeom prst="rect">
            <a:avLst/>
          </a:prstGeom>
          <a:noFill/>
        </p:spPr>
        <p:txBody>
          <a:bodyPr wrap="square" lIns="0" rIns="0" tIns="0" bIns="0" anchor="t">
            <a:spAutoFit/>
          </a:bodyPr>
          <a:lstStyle/>
          <a:p>
            <a:pPr algn="l">
              <a:lnSpc>
                <a:spcPct val="126000"/>
              </a:lnSpc>
              <a:spcAft>
                <a:spcPts val="600"/>
              </a:spcAft>
            </a:pPr>
            <a:r>
              <a:rPr sz="1300" b="0" i="0">
                <a:solidFill>
                  <a:srgbClr val="D98324"/>
                </a:solidFill>
                <a:latin typeface="Calibri"/>
              </a:rPr>
              <a:t>The second is usually the harder, and it is the reason several endpoints have low sensitivity: relaxing them would mean calling compounds an experiment has already reported as non-binders.</a:t>
            </a:r>
          </a:p>
        </p:txBody>
      </p:sp>
      <p:sp>
        <p:nvSpPr>
          <p:cNvPr id="23" name="TextBox 2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Chapter 5; results/tables/final_thresholds.csv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10</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a silence is worth</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number that makes a negative result interpretable, and the correction it required</a:t>
            </a:r>
          </a:p>
        </p:txBody>
      </p:sp>
      <p:sp>
        <p:nvSpPr>
          <p:cNvPr id="5" name="TextBox 4"/>
          <p:cNvSpPr txBox="1"/>
          <p:nvPr/>
        </p:nvSpPr>
        <p:spPr>
          <a:xfrm>
            <a:off x="566928" y="1755648"/>
            <a:ext cx="2377440" cy="603504"/>
          </a:xfrm>
          <a:prstGeom prst="rect">
            <a:avLst/>
          </a:prstGeom>
          <a:noFill/>
        </p:spPr>
        <p:txBody>
          <a:bodyPr wrap="square" lIns="0" rIns="0" tIns="0" bIns="0" anchor="t">
            <a:spAutoFit/>
          </a:bodyPr>
          <a:lstStyle/>
          <a:p>
            <a:pPr algn="l">
              <a:spcAft>
                <a:spcPts val="600"/>
              </a:spcAft>
            </a:pPr>
            <a:r>
              <a:rPr sz="3618" b="1" i="0">
                <a:solidFill>
                  <a:srgbClr val="1F3A5F"/>
                </a:solidFill>
                <a:latin typeface="Cambria"/>
              </a:rPr>
              <a:t>0.7638</a:t>
            </a:r>
          </a:p>
        </p:txBody>
      </p:sp>
      <p:sp>
        <p:nvSpPr>
          <p:cNvPr id="6" name="TextBox 5"/>
          <p:cNvSpPr txBox="1"/>
          <p:nvPr/>
        </p:nvSpPr>
        <p:spPr>
          <a:xfrm>
            <a:off x="566928" y="2395728"/>
            <a:ext cx="237744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panel mean sensitivity at the deployed threshold, on held-out actives</a:t>
            </a:r>
          </a:p>
        </p:txBody>
      </p:sp>
      <p:sp>
        <p:nvSpPr>
          <p:cNvPr id="7" name="TextBox 6"/>
          <p:cNvSpPr txBox="1"/>
          <p:nvPr/>
        </p:nvSpPr>
        <p:spPr>
          <a:xfrm>
            <a:off x="3264408" y="1755648"/>
            <a:ext cx="2377440" cy="603504"/>
          </a:xfrm>
          <a:prstGeom prst="rect">
            <a:avLst/>
          </a:prstGeom>
          <a:noFill/>
        </p:spPr>
        <p:txBody>
          <a:bodyPr wrap="square" lIns="0" rIns="0" tIns="0" bIns="0" anchor="t">
            <a:spAutoFit/>
          </a:bodyPr>
          <a:lstStyle/>
          <a:p>
            <a:pPr algn="l">
              <a:spcAft>
                <a:spcPts val="600"/>
              </a:spcAft>
            </a:pPr>
            <a:r>
              <a:rPr sz="4000" b="1" i="0">
                <a:solidFill>
                  <a:srgbClr val="1C7293"/>
                </a:solidFill>
                <a:latin typeface="Cambria"/>
              </a:rPr>
              <a:t>0.835</a:t>
            </a:r>
          </a:p>
        </p:txBody>
      </p:sp>
      <p:sp>
        <p:nvSpPr>
          <p:cNvPr id="8" name="TextBox 7"/>
          <p:cNvSpPr txBox="1"/>
          <p:nvPr/>
        </p:nvSpPr>
        <p:spPr>
          <a:xfrm>
            <a:off x="3264408" y="2395728"/>
            <a:ext cx="237744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median</a:t>
            </a:r>
          </a:p>
        </p:txBody>
      </p:sp>
      <p:sp>
        <p:nvSpPr>
          <p:cNvPr id="9" name="TextBox 8"/>
          <p:cNvSpPr txBox="1"/>
          <p:nvPr/>
        </p:nvSpPr>
        <p:spPr>
          <a:xfrm>
            <a:off x="5961888" y="1755648"/>
            <a:ext cx="2377440" cy="603504"/>
          </a:xfrm>
          <a:prstGeom prst="rect">
            <a:avLst/>
          </a:prstGeom>
          <a:noFill/>
        </p:spPr>
        <p:txBody>
          <a:bodyPr wrap="square" lIns="0" rIns="0" tIns="0" bIns="0" anchor="t">
            <a:spAutoFit/>
          </a:bodyPr>
          <a:lstStyle/>
          <a:p>
            <a:pPr algn="l">
              <a:spcAft>
                <a:spcPts val="600"/>
              </a:spcAft>
            </a:pPr>
            <a:r>
              <a:rPr sz="4000" b="1" i="0">
                <a:solidFill>
                  <a:srgbClr val="9E2A2B"/>
                </a:solidFill>
                <a:latin typeface="Cambria"/>
              </a:rPr>
              <a:t>0.303</a:t>
            </a:r>
          </a:p>
        </p:txBody>
      </p:sp>
      <p:sp>
        <p:nvSpPr>
          <p:cNvPr id="10" name="TextBox 9"/>
          <p:cNvSpPr txBox="1"/>
          <p:nvPr/>
        </p:nvSpPr>
        <p:spPr>
          <a:xfrm>
            <a:off x="5961888" y="2395728"/>
            <a:ext cx="237744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lowest, GABA-A</a:t>
            </a:r>
          </a:p>
        </p:txBody>
      </p:sp>
      <p:sp>
        <p:nvSpPr>
          <p:cNvPr id="11" name="TextBox 10"/>
          <p:cNvSpPr txBox="1"/>
          <p:nvPr/>
        </p:nvSpPr>
        <p:spPr>
          <a:xfrm>
            <a:off x="8659367" y="1755648"/>
            <a:ext cx="2377440" cy="603504"/>
          </a:xfrm>
          <a:prstGeom prst="rect">
            <a:avLst/>
          </a:prstGeom>
          <a:noFill/>
        </p:spPr>
        <p:txBody>
          <a:bodyPr wrap="square" lIns="0" rIns="0" tIns="0" bIns="0" anchor="t">
            <a:spAutoFit/>
          </a:bodyPr>
          <a:lstStyle/>
          <a:p>
            <a:pPr algn="l">
              <a:spcAft>
                <a:spcPts val="600"/>
              </a:spcAft>
            </a:pPr>
            <a:r>
              <a:rPr sz="4000" b="1" i="0">
                <a:solidFill>
                  <a:srgbClr val="1C7293"/>
                </a:solidFill>
                <a:latin typeface="Cambria"/>
              </a:rPr>
              <a:t>0.993</a:t>
            </a:r>
          </a:p>
        </p:txBody>
      </p:sp>
      <p:sp>
        <p:nvSpPr>
          <p:cNvPr id="12" name="TextBox 11"/>
          <p:cNvSpPr txBox="1"/>
          <p:nvPr/>
        </p:nvSpPr>
        <p:spPr>
          <a:xfrm>
            <a:off x="8659367" y="2395728"/>
            <a:ext cx="237744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highest, CGRP</a:t>
            </a:r>
          </a:p>
        </p:txBody>
      </p:sp>
      <p:sp>
        <p:nvSpPr>
          <p:cNvPr id="13" name="Rounded Rectangle 12"/>
          <p:cNvSpPr/>
          <p:nvPr/>
        </p:nvSpPr>
        <p:spPr>
          <a:xfrm>
            <a:off x="566928" y="3401568"/>
            <a:ext cx="11057839"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3602736"/>
            <a:ext cx="10472623" cy="1097280"/>
          </a:xfrm>
          <a:prstGeom prst="rect">
            <a:avLst/>
          </a:prstGeom>
          <a:noFill/>
        </p:spPr>
        <p:txBody>
          <a:bodyPr wrap="square" lIns="0" rIns="0" tIns="0" bIns="0" anchor="t">
            <a:spAutoFit/>
          </a:bodyPr>
          <a:lstStyle/>
          <a:p>
            <a:pPr algn="l">
              <a:lnSpc>
                <a:spcPct val="130000"/>
              </a:lnSpc>
              <a:spcAft>
                <a:spcPts val="600"/>
              </a:spcAft>
            </a:pPr>
            <a:r>
              <a:rPr sz="1300" b="0" i="0">
                <a:solidFill>
                  <a:srgbClr val="0F1A2E"/>
                </a:solidFill>
                <a:latin typeface="Calibri"/>
              </a:rPr>
              <a:t>For most of this project's life the published figure was 0.8983, under a label reading "held out by scaffold". It was not held out: the last of four scripts writing that field scored every active in each endpoint table, roughly four fifths of which the model had been fitted on. The held-out mean is 0.7638, and six endpoints fire for fewer than half their own actives where the published figure had none.</a:t>
            </a:r>
          </a:p>
        </p:txBody>
      </p:sp>
      <p:sp>
        <p:nvSpPr>
          <p:cNvPr id="15" name="TextBox 14"/>
          <p:cNvSpPr txBox="1"/>
          <p:nvPr/>
        </p:nvSpPr>
        <p:spPr>
          <a:xfrm>
            <a:off x="566928" y="5010912"/>
            <a:ext cx="11057839" cy="822960"/>
          </a:xfrm>
          <a:prstGeom prst="rect">
            <a:avLst/>
          </a:prstGeom>
          <a:noFill/>
        </p:spPr>
        <p:txBody>
          <a:bodyPr wrap="square" lIns="0" rIns="0" tIns="0" bIns="0" anchor="t">
            <a:spAutoFit/>
          </a:bodyPr>
          <a:lstStyle/>
          <a:p>
            <a:pPr algn="l">
              <a:lnSpc>
                <a:spcPct val="128000"/>
              </a:lnSpc>
              <a:spcAft>
                <a:spcPts val="600"/>
              </a:spcAft>
            </a:pPr>
            <a:r>
              <a:rPr sz="1350" b="0" i="0">
                <a:solidFill>
                  <a:srgbClr val="1F3A5F"/>
                </a:solidFill>
                <a:latin typeface="Calibri"/>
              </a:rPr>
              <a:t>A silence is therefore not evidence of inactivity, and the server reports the expected recall at that compound's distance from training chemistry beside every negative result. The falsification suite had recorded the correct figure three weeks before anything compared it with the registry.</a:t>
            </a:r>
          </a:p>
        </p:txBody>
      </p:sp>
      <p:sp>
        <p:nvSpPr>
          <p:cNvPr id="16" name="TextBox 1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models_rf/binder_modes.json; results/tables/sensitivity_reconciliation.csv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2286000"/>
            <a:ext cx="2011680" cy="914400"/>
          </a:xfrm>
          <a:prstGeom prst="rect">
            <a:avLst/>
          </a:prstGeom>
          <a:noFill/>
        </p:spPr>
        <p:txBody>
          <a:bodyPr wrap="square" lIns="0" rIns="0" tIns="0" bIns="0" anchor="t">
            <a:spAutoFit/>
          </a:bodyPr>
          <a:lstStyle/>
          <a:p>
            <a:pPr algn="l">
              <a:spcAft>
                <a:spcPts val="600"/>
              </a:spcAft>
            </a:pPr>
            <a:r>
              <a:rPr sz="6400" b="1" i="0">
                <a:solidFill>
                  <a:srgbClr val="1F3A5F"/>
                </a:solidFill>
                <a:latin typeface="Cambria"/>
              </a:rPr>
              <a:t>III</a:t>
            </a:r>
          </a:p>
        </p:txBody>
      </p:sp>
      <p:sp>
        <p:nvSpPr>
          <p:cNvPr id="3" name="TextBox 2"/>
          <p:cNvSpPr txBox="1"/>
          <p:nvPr/>
        </p:nvSpPr>
        <p:spPr>
          <a:xfrm>
            <a:off x="2807208" y="2487168"/>
            <a:ext cx="8588959" cy="822960"/>
          </a:xfrm>
          <a:prstGeom prst="rect">
            <a:avLst/>
          </a:prstGeom>
          <a:noFill/>
        </p:spPr>
        <p:txBody>
          <a:bodyPr wrap="square" lIns="0" rIns="0" tIns="0" bIns="0" anchor="t">
            <a:spAutoFit/>
          </a:bodyPr>
          <a:lstStyle/>
          <a:p>
            <a:pPr algn="l">
              <a:spcAft>
                <a:spcPts val="600"/>
              </a:spcAft>
            </a:pPr>
            <a:r>
              <a:rPr sz="3400" b="1" i="0">
                <a:solidFill>
                  <a:srgbClr val="FFFFFF"/>
                </a:solidFill>
                <a:latin typeface="Cambria"/>
              </a:rPr>
              <a:t>Does it hold outside the training set?</a:t>
            </a:r>
          </a:p>
        </p:txBody>
      </p:sp>
      <p:sp>
        <p:nvSpPr>
          <p:cNvPr id="4" name="TextBox 3"/>
          <p:cNvSpPr txBox="1"/>
          <p:nvPr/>
        </p:nvSpPr>
        <p:spPr>
          <a:xfrm>
            <a:off x="2834640" y="3401568"/>
            <a:ext cx="8588959" cy="640080"/>
          </a:xfrm>
          <a:prstGeom prst="rect">
            <a:avLst/>
          </a:prstGeom>
          <a:noFill/>
        </p:spPr>
        <p:txBody>
          <a:bodyPr wrap="square" lIns="0" rIns="0" tIns="0" bIns="0" anchor="t">
            <a:spAutoFit/>
          </a:bodyPr>
          <a:lstStyle/>
          <a:p>
            <a:pPr algn="l">
              <a:lnSpc>
                <a:spcPct val="130000"/>
              </a:lnSpc>
              <a:spcAft>
                <a:spcPts val="600"/>
              </a:spcAft>
            </a:pPr>
            <a:r>
              <a:rPr sz="1500" b="0" i="0">
                <a:solidFill>
                  <a:srgbClr val="D7DFEA"/>
                </a:solidFill>
                <a:latin typeface="Calibri"/>
              </a:rPr>
              <a:t>One genuine external set, a prospective simulation, and a different curator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one genuine external set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FDA-curated approved drugs absent from the barrier model's training database</a:t>
            </a:r>
          </a:p>
        </p:txBody>
      </p:sp>
      <p:sp>
        <p:nvSpPr>
          <p:cNvPr id="5" name="TextBox 4"/>
          <p:cNvSpPr txBox="1"/>
          <p:nvPr/>
        </p:nvSpPr>
        <p:spPr>
          <a:xfrm>
            <a:off x="841247" y="1810512"/>
            <a:ext cx="5120640" cy="274320"/>
          </a:xfrm>
          <a:prstGeom prst="rect">
            <a:avLst/>
          </a:prstGeom>
          <a:noFill/>
        </p:spPr>
        <p:txBody>
          <a:bodyPr wrap="square" lIns="0" rIns="0" tIns="0" bIns="0" anchor="t">
            <a:spAutoFit/>
          </a:bodyPr>
          <a:lstStyle/>
          <a:p>
            <a:pPr algn="l">
              <a:spcAft>
                <a:spcPts val="0"/>
              </a:spcAft>
            </a:pPr>
            <a:r>
              <a:rPr sz="1150" b="1" i="0">
                <a:solidFill>
                  <a:srgbClr val="5F6B7A"/>
                </a:solidFill>
                <a:latin typeface="Calibri"/>
              </a:rPr>
              <a:t>set</a:t>
            </a:r>
          </a:p>
        </p:txBody>
      </p:sp>
      <p:sp>
        <p:nvSpPr>
          <p:cNvPr id="6" name="TextBox 5"/>
          <p:cNvSpPr txBox="1"/>
          <p:nvPr/>
        </p:nvSpPr>
        <p:spPr>
          <a:xfrm>
            <a:off x="6144768" y="1810512"/>
            <a:ext cx="12801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n</a:t>
            </a:r>
          </a:p>
        </p:txBody>
      </p:sp>
      <p:sp>
        <p:nvSpPr>
          <p:cNvPr id="7" name="TextBox 6"/>
          <p:cNvSpPr txBox="1"/>
          <p:nvPr/>
        </p:nvSpPr>
        <p:spPr>
          <a:xfrm>
            <a:off x="7562088" y="1810512"/>
            <a:ext cx="12801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AUROC</a:t>
            </a:r>
          </a:p>
        </p:txBody>
      </p:sp>
      <p:sp>
        <p:nvSpPr>
          <p:cNvPr id="8" name="TextBox 7"/>
          <p:cNvSpPr txBox="1"/>
          <p:nvPr/>
        </p:nvSpPr>
        <p:spPr>
          <a:xfrm>
            <a:off x="8979408" y="1810512"/>
            <a:ext cx="12801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sensitivity</a:t>
            </a:r>
          </a:p>
        </p:txBody>
      </p:sp>
      <p:sp>
        <p:nvSpPr>
          <p:cNvPr id="9" name="TextBox 8"/>
          <p:cNvSpPr txBox="1"/>
          <p:nvPr/>
        </p:nvSpPr>
        <p:spPr>
          <a:xfrm>
            <a:off x="10396728" y="1810512"/>
            <a:ext cx="128016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specificity</a:t>
            </a:r>
          </a:p>
        </p:txBody>
      </p:sp>
      <p:sp>
        <p:nvSpPr>
          <p:cNvPr id="10" name="Rounded Rectangle 9"/>
          <p:cNvSpPr/>
          <p:nvPr/>
        </p:nvSpPr>
        <p:spPr>
          <a:xfrm>
            <a:off x="566928" y="2121408"/>
            <a:ext cx="11057839" cy="60350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2212848"/>
            <a:ext cx="5212080" cy="420624"/>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FDA-curated, not in B3DB by InChIKey</a:t>
            </a:r>
          </a:p>
        </p:txBody>
      </p:sp>
      <p:sp>
        <p:nvSpPr>
          <p:cNvPr id="12" name="TextBox 11"/>
          <p:cNvSpPr txBox="1"/>
          <p:nvPr/>
        </p:nvSpPr>
        <p:spPr>
          <a:xfrm>
            <a:off x="6144768" y="2212848"/>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306</a:t>
            </a:r>
          </a:p>
        </p:txBody>
      </p:sp>
      <p:sp>
        <p:nvSpPr>
          <p:cNvPr id="13" name="TextBox 12"/>
          <p:cNvSpPr txBox="1"/>
          <p:nvPr/>
        </p:nvSpPr>
        <p:spPr>
          <a:xfrm>
            <a:off x="7562088" y="2212848"/>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0.7645</a:t>
            </a:r>
          </a:p>
        </p:txBody>
      </p:sp>
      <p:sp>
        <p:nvSpPr>
          <p:cNvPr id="14" name="TextBox 13"/>
          <p:cNvSpPr txBox="1"/>
          <p:nvPr/>
        </p:nvSpPr>
        <p:spPr>
          <a:xfrm>
            <a:off x="8979408" y="2212848"/>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0.7734</a:t>
            </a:r>
          </a:p>
        </p:txBody>
      </p:sp>
      <p:sp>
        <p:nvSpPr>
          <p:cNvPr id="15" name="TextBox 14"/>
          <p:cNvSpPr txBox="1"/>
          <p:nvPr/>
        </p:nvSpPr>
        <p:spPr>
          <a:xfrm>
            <a:off x="10396728" y="2212848"/>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0.6505</a:t>
            </a:r>
          </a:p>
        </p:txBody>
      </p:sp>
      <p:sp>
        <p:nvSpPr>
          <p:cNvPr id="16" name="Rounded Rectangle 15"/>
          <p:cNvSpPr/>
          <p:nvPr/>
        </p:nvSpPr>
        <p:spPr>
          <a:xfrm>
            <a:off x="566928" y="2816351"/>
            <a:ext cx="11057839" cy="60350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7" y="2907791"/>
            <a:ext cx="5212080" cy="42062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FDA-curated, also distinguishable from training in feature s…</a:t>
            </a:r>
          </a:p>
        </p:txBody>
      </p:sp>
      <p:sp>
        <p:nvSpPr>
          <p:cNvPr id="18" name="TextBox 17"/>
          <p:cNvSpPr txBox="1"/>
          <p:nvPr/>
        </p:nvSpPr>
        <p:spPr>
          <a:xfrm>
            <a:off x="6144768" y="2907791"/>
            <a:ext cx="1280160" cy="420624"/>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241</a:t>
            </a:r>
          </a:p>
        </p:txBody>
      </p:sp>
      <p:sp>
        <p:nvSpPr>
          <p:cNvPr id="19" name="TextBox 18"/>
          <p:cNvSpPr txBox="1"/>
          <p:nvPr/>
        </p:nvSpPr>
        <p:spPr>
          <a:xfrm>
            <a:off x="7562088" y="2907791"/>
            <a:ext cx="1280160" cy="420624"/>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0.7934</a:t>
            </a:r>
          </a:p>
        </p:txBody>
      </p:sp>
      <p:sp>
        <p:nvSpPr>
          <p:cNvPr id="20" name="TextBox 19"/>
          <p:cNvSpPr txBox="1"/>
          <p:nvPr/>
        </p:nvSpPr>
        <p:spPr>
          <a:xfrm>
            <a:off x="8979408" y="2907791"/>
            <a:ext cx="1280160" cy="420624"/>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0.7661</a:t>
            </a:r>
          </a:p>
        </p:txBody>
      </p:sp>
      <p:sp>
        <p:nvSpPr>
          <p:cNvPr id="21" name="TextBox 20"/>
          <p:cNvSpPr txBox="1"/>
          <p:nvPr/>
        </p:nvSpPr>
        <p:spPr>
          <a:xfrm>
            <a:off x="10396728" y="2907791"/>
            <a:ext cx="1280160" cy="420624"/>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0.6571</a:t>
            </a:r>
          </a:p>
        </p:txBody>
      </p:sp>
      <p:sp>
        <p:nvSpPr>
          <p:cNvPr id="22" name="Rounded Rectangle 21"/>
          <p:cNvSpPr/>
          <p:nvPr/>
        </p:nvSpPr>
        <p:spPr>
          <a:xfrm>
            <a:off x="566928" y="3511295"/>
            <a:ext cx="11057839" cy="603504"/>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3602735"/>
            <a:ext cx="5212080" cy="420624"/>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of which: feature-identical to a training compound</a:t>
            </a:r>
          </a:p>
        </p:txBody>
      </p:sp>
      <p:sp>
        <p:nvSpPr>
          <p:cNvPr id="24" name="TextBox 23"/>
          <p:cNvSpPr txBox="1"/>
          <p:nvPr/>
        </p:nvSpPr>
        <p:spPr>
          <a:xfrm>
            <a:off x="6144768" y="3602735"/>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65</a:t>
            </a:r>
          </a:p>
        </p:txBody>
      </p:sp>
      <p:sp>
        <p:nvSpPr>
          <p:cNvPr id="25" name="TextBox 24"/>
          <p:cNvSpPr txBox="1"/>
          <p:nvPr/>
        </p:nvSpPr>
        <p:spPr>
          <a:xfrm>
            <a:off x="7562088" y="3602735"/>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0.7102</a:t>
            </a:r>
          </a:p>
        </p:txBody>
      </p:sp>
      <p:sp>
        <p:nvSpPr>
          <p:cNvPr id="26" name="TextBox 25"/>
          <p:cNvSpPr txBox="1"/>
          <p:nvPr/>
        </p:nvSpPr>
        <p:spPr>
          <a:xfrm>
            <a:off x="8979408" y="3602735"/>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0.8125</a:t>
            </a:r>
          </a:p>
        </p:txBody>
      </p:sp>
      <p:sp>
        <p:nvSpPr>
          <p:cNvPr id="27" name="TextBox 26"/>
          <p:cNvSpPr txBox="1"/>
          <p:nvPr/>
        </p:nvSpPr>
        <p:spPr>
          <a:xfrm>
            <a:off x="10396728" y="3602735"/>
            <a:ext cx="1280160" cy="420624"/>
          </a:xfrm>
          <a:prstGeom prst="rect">
            <a:avLst/>
          </a:prstGeom>
          <a:noFill/>
        </p:spPr>
        <p:txBody>
          <a:bodyPr wrap="square" lIns="0" rIns="0" tIns="0" bIns="0" anchor="t">
            <a:spAutoFit/>
          </a:bodyPr>
          <a:lstStyle/>
          <a:p>
            <a:pPr algn="r">
              <a:spcAft>
                <a:spcPts val="600"/>
              </a:spcAft>
            </a:pPr>
            <a:r>
              <a:rPr sz="1250" b="0" i="0">
                <a:solidFill>
                  <a:srgbClr val="5F6B7A"/>
                </a:solidFill>
                <a:latin typeface="Calibri"/>
              </a:rPr>
              <a:t>0.6364</a:t>
            </a:r>
          </a:p>
        </p:txBody>
      </p:sp>
      <p:sp>
        <p:nvSpPr>
          <p:cNvPr id="28" name="TextBox 27"/>
          <p:cNvSpPr txBox="1"/>
          <p:nvPr/>
        </p:nvSpPr>
        <p:spPr>
          <a:xfrm>
            <a:off x="566928" y="4443984"/>
            <a:ext cx="11057839" cy="822960"/>
          </a:xfrm>
          <a:prstGeom prst="rect">
            <a:avLst/>
          </a:prstGeom>
          <a:noFill/>
        </p:spPr>
        <p:txBody>
          <a:bodyPr wrap="square" lIns="0" rIns="0" tIns="0" bIns="0" anchor="t">
            <a:spAutoFit/>
          </a:bodyPr>
          <a:lstStyle/>
          <a:p>
            <a:pPr algn="l">
              <a:lnSpc>
                <a:spcPct val="130000"/>
              </a:lnSpc>
              <a:spcAft>
                <a:spcPts val="600"/>
              </a:spcAft>
            </a:pPr>
            <a:r>
              <a:rPr sz="1350" b="0" i="0">
                <a:solidFill>
                  <a:srgbClr val="0F1A2E"/>
                </a:solidFill>
                <a:latin typeface="Calibri"/>
              </a:rPr>
              <a:t>The middle row is the claim. Excluding overlap by InChIKey is not enough to call a compound unseen, because the InChIKey separates stereoisomers and salts and the featuriser does not. The third row is the memorisation the first row contains.</a:t>
            </a:r>
          </a:p>
        </p:txBody>
      </p:sp>
      <p:sp>
        <p:nvSpPr>
          <p:cNvPr id="29" name="TextBox 28"/>
          <p:cNvSpPr txBox="1"/>
          <p:nvPr/>
        </p:nvSpPr>
        <p:spPr>
          <a:xfrm>
            <a:off x="566928" y="5321808"/>
            <a:ext cx="11057839" cy="685800"/>
          </a:xfrm>
          <a:prstGeom prst="rect">
            <a:avLst/>
          </a:prstGeom>
          <a:noFill/>
        </p:spPr>
        <p:txBody>
          <a:bodyPr wrap="square" lIns="0" rIns="0" tIns="0" bIns="0" anchor="t">
            <a:spAutoFit/>
          </a:bodyPr>
          <a:lstStyle/>
          <a:p>
            <a:pPr algn="l">
              <a:lnSpc>
                <a:spcPct val="126000"/>
              </a:lnSpc>
              <a:spcAft>
                <a:spcPts val="600"/>
              </a:spcAft>
            </a:pPr>
            <a:r>
              <a:rPr sz="1300" b="0" i="0">
                <a:solidFill>
                  <a:srgbClr val="D98324"/>
                </a:solidFill>
                <a:latin typeface="Calibri"/>
              </a:rPr>
              <a:t>For the target panel no external set of this kind exists, and the reason is structural: for most of these proteins the public record is the training set.</a:t>
            </a:r>
          </a:p>
        </p:txBody>
      </p:sp>
      <p:sp>
        <p:nvSpPr>
          <p:cNvPr id="30" name="TextBox 2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results/tables/external_bbb_validation.csv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786384"/>
            <a:ext cx="1042416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An apparent temporal decay that is a composition effect</a:t>
            </a:r>
          </a:p>
        </p:txBody>
      </p:sp>
      <p:sp>
        <p:nvSpPr>
          <p:cNvPr id="3" name="TextBox 2"/>
          <p:cNvSpPr txBox="1"/>
          <p:nvPr/>
        </p:nvSpPr>
        <p:spPr>
          <a:xfrm>
            <a:off x="566928" y="1188720"/>
            <a:ext cx="10698480" cy="548640"/>
          </a:xfrm>
          <a:prstGeom prst="rect">
            <a:avLst/>
          </a:prstGeom>
          <a:noFill/>
        </p:spPr>
        <p:txBody>
          <a:bodyPr wrap="square" lIns="0" rIns="0" tIns="0" bIns="0" anchor="t">
            <a:spAutoFit/>
          </a:bodyPr>
          <a:lstStyle/>
          <a:p>
            <a:pPr algn="l">
              <a:lnSpc>
                <a:spcPct val="126000"/>
              </a:lnSpc>
              <a:spcAft>
                <a:spcPts val="600"/>
              </a:spcAft>
            </a:pPr>
            <a:r>
              <a:rPr sz="1400" b="0" i="0">
                <a:solidFill>
                  <a:srgbClr val="D7DFEA"/>
                </a:solidFill>
                <a:latin typeface="Calibri"/>
              </a:rPr>
              <a:t>Models refitted before a date cutoff, thresholds frozen, then scored on 15,854 actives measured afterwards across 39 of 47 endpoints.</a:t>
            </a:r>
          </a:p>
        </p:txBody>
      </p:sp>
      <p:graphicFrame>
        <p:nvGraphicFramePr>
          <p:cNvPr id="4" name="Chart 3"/>
          <p:cNvGraphicFramePr>
            <a:graphicFrameLocks noGrp="1"/>
          </p:cNvGraphicFramePr>
          <p:nvPr/>
        </p:nvGraphicFramePr>
        <p:xfrm>
          <a:off x="566928" y="1920240"/>
          <a:ext cx="6492240" cy="3429000"/>
        </p:xfrm>
        <a:graphic>
          <a:graphicData uri="http://schemas.openxmlformats.org/drawingml/2006/chart">
            <c:chart xmlns:c="http://schemas.openxmlformats.org/drawingml/2006/chart" r:id="rId2"/>
          </a:graphicData>
        </a:graphic>
      </p:graphicFrame>
      <p:sp>
        <p:nvSpPr>
          <p:cNvPr id="5" name="TextBox 4"/>
          <p:cNvSpPr txBox="1"/>
          <p:nvPr/>
        </p:nvSpPr>
        <p:spPr>
          <a:xfrm>
            <a:off x="7424927" y="1965960"/>
            <a:ext cx="4199839" cy="3291840"/>
          </a:xfrm>
          <a:prstGeom prst="rect">
            <a:avLst/>
          </a:prstGeom>
          <a:noFill/>
        </p:spPr>
        <p:txBody>
          <a:bodyPr wrap="square" lIns="0" rIns="0" tIns="0" bIns="0" anchor="t">
            <a:spAutoFit/>
          </a:bodyPr>
          <a:lstStyle/>
          <a:p>
            <a:pPr algn="l">
              <a:lnSpc>
                <a:spcPct val="136000"/>
              </a:lnSpc>
              <a:spcAft>
                <a:spcPts val="600"/>
              </a:spcAft>
            </a:pPr>
            <a:r>
              <a:rPr sz="1300" b="0" i="0">
                <a:solidFill>
                  <a:srgbClr val="D7DFEA"/>
                </a:solidFill>
                <a:latin typeface="Calibri"/>
              </a:rPr>
              <a:t>Read in aggregate the time split looks like decay: sensitivity 0.4886 against 0.8715 for a size-matched random control.
It is not decay. 83.3 per cent of the random split's test compounds are close analogues of its own training set, against 16.3 per cent for the time split. The two splits are not testing comparable populations.
Read band by band the AUROC gap of 0.128 falls to at most 0.081, and three test sets built by unrelated rules trace one curve.</a:t>
            </a:r>
          </a:p>
        </p:txBody>
      </p:sp>
      <p:sp>
        <p:nvSpPr>
          <p:cNvPr id="6" name="TextBox 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results/tables/external_prospective.csv, external_novelty_strata.csv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Accuracy is a function of chemical distance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limitation that bounds every other number in this deck</a:t>
            </a:r>
          </a:p>
        </p:txBody>
      </p:sp>
      <p:sp>
        <p:nvSpPr>
          <p:cNvPr id="5" name="TextBox 4"/>
          <p:cNvSpPr txBox="1"/>
          <p:nvPr/>
        </p:nvSpPr>
        <p:spPr>
          <a:xfrm>
            <a:off x="841247" y="1810512"/>
            <a:ext cx="4206240" cy="274320"/>
          </a:xfrm>
          <a:prstGeom prst="rect">
            <a:avLst/>
          </a:prstGeom>
          <a:noFill/>
        </p:spPr>
        <p:txBody>
          <a:bodyPr wrap="square" lIns="0" rIns="0" tIns="0" bIns="0" anchor="t">
            <a:spAutoFit/>
          </a:bodyPr>
          <a:lstStyle/>
          <a:p>
            <a:pPr algn="l">
              <a:spcAft>
                <a:spcPts val="0"/>
              </a:spcAft>
            </a:pPr>
            <a:r>
              <a:rPr sz="1150" b="1" i="0">
                <a:solidFill>
                  <a:srgbClr val="5F6B7A"/>
                </a:solidFill>
                <a:latin typeface="Calibri"/>
              </a:rPr>
              <a:t>nearest-training Tanimoto</a:t>
            </a:r>
          </a:p>
        </p:txBody>
      </p:sp>
      <p:sp>
        <p:nvSpPr>
          <p:cNvPr id="6" name="TextBox 5"/>
          <p:cNvSpPr txBox="1"/>
          <p:nvPr/>
        </p:nvSpPr>
        <p:spPr>
          <a:xfrm>
            <a:off x="5413248" y="1810512"/>
            <a:ext cx="146304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actives</a:t>
            </a:r>
          </a:p>
        </p:txBody>
      </p:sp>
      <p:sp>
        <p:nvSpPr>
          <p:cNvPr id="7" name="TextBox 6"/>
          <p:cNvSpPr txBox="1"/>
          <p:nvPr/>
        </p:nvSpPr>
        <p:spPr>
          <a:xfrm>
            <a:off x="7104888" y="1810512"/>
            <a:ext cx="146304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AUROC</a:t>
            </a:r>
          </a:p>
        </p:txBody>
      </p:sp>
      <p:sp>
        <p:nvSpPr>
          <p:cNvPr id="8" name="TextBox 7"/>
          <p:cNvSpPr txBox="1"/>
          <p:nvPr/>
        </p:nvSpPr>
        <p:spPr>
          <a:xfrm>
            <a:off x="8796528" y="1810512"/>
            <a:ext cx="146304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recall</a:t>
            </a:r>
          </a:p>
        </p:txBody>
      </p:sp>
      <p:sp>
        <p:nvSpPr>
          <p:cNvPr id="9" name="Rounded Rectangle 8"/>
          <p:cNvSpPr/>
          <p:nvPr/>
        </p:nvSpPr>
        <p:spPr>
          <a:xfrm>
            <a:off x="566928" y="2121408"/>
            <a:ext cx="996696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212848"/>
            <a:ext cx="4389120" cy="402336"/>
          </a:xfrm>
          <a:prstGeom prst="rect">
            <a:avLst/>
          </a:prstGeom>
          <a:noFill/>
        </p:spPr>
        <p:txBody>
          <a:bodyPr wrap="square" lIns="0" rIns="0" tIns="0" bIns="0" anchor="t">
            <a:spAutoFit/>
          </a:bodyPr>
          <a:lstStyle/>
          <a:p>
            <a:pPr algn="l">
              <a:spcAft>
                <a:spcPts val="600"/>
              </a:spcAft>
            </a:pPr>
            <a:r>
              <a:rPr sz="1300" b="1" i="0">
                <a:solidFill>
                  <a:srgbClr val="9E2A2B"/>
                </a:solidFill>
                <a:latin typeface="Calibri"/>
              </a:rPr>
              <a:t>below 0.40, a different chemotype</a:t>
            </a:r>
          </a:p>
        </p:txBody>
      </p:sp>
      <p:sp>
        <p:nvSpPr>
          <p:cNvPr id="11" name="TextBox 10"/>
          <p:cNvSpPr txBox="1"/>
          <p:nvPr/>
        </p:nvSpPr>
        <p:spPr>
          <a:xfrm>
            <a:off x="5413248" y="2212848"/>
            <a:ext cx="1463040" cy="402336"/>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4,366</a:t>
            </a:r>
          </a:p>
        </p:txBody>
      </p:sp>
      <p:sp>
        <p:nvSpPr>
          <p:cNvPr id="12" name="TextBox 11"/>
          <p:cNvSpPr txBox="1"/>
          <p:nvPr/>
        </p:nvSpPr>
        <p:spPr>
          <a:xfrm>
            <a:off x="7104888" y="2212848"/>
            <a:ext cx="1463040" cy="402336"/>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0.6711</a:t>
            </a:r>
          </a:p>
        </p:txBody>
      </p:sp>
      <p:sp>
        <p:nvSpPr>
          <p:cNvPr id="13" name="TextBox 12"/>
          <p:cNvSpPr txBox="1"/>
          <p:nvPr/>
        </p:nvSpPr>
        <p:spPr>
          <a:xfrm>
            <a:off x="8796528" y="2212848"/>
            <a:ext cx="1463040" cy="402336"/>
          </a:xfrm>
          <a:prstGeom prst="rect">
            <a:avLst/>
          </a:prstGeom>
          <a:noFill/>
        </p:spPr>
        <p:txBody>
          <a:bodyPr wrap="square" lIns="0" rIns="0" tIns="0" bIns="0" anchor="t">
            <a:spAutoFit/>
          </a:bodyPr>
          <a:lstStyle/>
          <a:p>
            <a:pPr algn="r">
              <a:spcAft>
                <a:spcPts val="600"/>
              </a:spcAft>
            </a:pPr>
            <a:r>
              <a:rPr sz="1300" b="1" i="0">
                <a:solidFill>
                  <a:srgbClr val="9E2A2B"/>
                </a:solidFill>
                <a:latin typeface="Calibri"/>
              </a:rPr>
              <a:t>0.1612</a:t>
            </a:r>
          </a:p>
        </p:txBody>
      </p:sp>
      <p:sp>
        <p:nvSpPr>
          <p:cNvPr id="14" name="Rounded Rectangle 13"/>
          <p:cNvSpPr/>
          <p:nvPr/>
        </p:nvSpPr>
        <p:spPr>
          <a:xfrm>
            <a:off x="566928" y="2779775"/>
            <a:ext cx="9966960" cy="56692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7" y="2871215"/>
            <a:ext cx="4389120" cy="40233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0.40 to 0.55, a related series</a:t>
            </a:r>
          </a:p>
        </p:txBody>
      </p:sp>
      <p:sp>
        <p:nvSpPr>
          <p:cNvPr id="16" name="TextBox 15"/>
          <p:cNvSpPr txBox="1"/>
          <p:nvPr/>
        </p:nvSpPr>
        <p:spPr>
          <a:xfrm>
            <a:off x="5413248" y="2871215"/>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5,228</a:t>
            </a:r>
          </a:p>
        </p:txBody>
      </p:sp>
      <p:sp>
        <p:nvSpPr>
          <p:cNvPr id="17" name="TextBox 16"/>
          <p:cNvSpPr txBox="1"/>
          <p:nvPr/>
        </p:nvSpPr>
        <p:spPr>
          <a:xfrm>
            <a:off x="7104888" y="2871215"/>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0.7645</a:t>
            </a:r>
          </a:p>
        </p:txBody>
      </p:sp>
      <p:sp>
        <p:nvSpPr>
          <p:cNvPr id="18" name="TextBox 17"/>
          <p:cNvSpPr txBox="1"/>
          <p:nvPr/>
        </p:nvSpPr>
        <p:spPr>
          <a:xfrm>
            <a:off x="8796528" y="2871215"/>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0.5532</a:t>
            </a:r>
          </a:p>
        </p:txBody>
      </p:sp>
      <p:sp>
        <p:nvSpPr>
          <p:cNvPr id="19" name="Rounded Rectangle 18"/>
          <p:cNvSpPr/>
          <p:nvPr/>
        </p:nvSpPr>
        <p:spPr>
          <a:xfrm>
            <a:off x="566928" y="3438143"/>
            <a:ext cx="9966960" cy="56692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3529583"/>
            <a:ext cx="4389120" cy="40233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0.55 to 0.70, the same series</a:t>
            </a:r>
          </a:p>
        </p:txBody>
      </p:sp>
      <p:sp>
        <p:nvSpPr>
          <p:cNvPr id="21" name="TextBox 20"/>
          <p:cNvSpPr txBox="1"/>
          <p:nvPr/>
        </p:nvSpPr>
        <p:spPr>
          <a:xfrm>
            <a:off x="5413248" y="3529583"/>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3,674</a:t>
            </a:r>
          </a:p>
        </p:txBody>
      </p:sp>
      <p:sp>
        <p:nvSpPr>
          <p:cNvPr id="22" name="TextBox 21"/>
          <p:cNvSpPr txBox="1"/>
          <p:nvPr/>
        </p:nvSpPr>
        <p:spPr>
          <a:xfrm>
            <a:off x="7104888" y="3529583"/>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0.7871</a:t>
            </a:r>
          </a:p>
        </p:txBody>
      </p:sp>
      <p:sp>
        <p:nvSpPr>
          <p:cNvPr id="23" name="TextBox 22"/>
          <p:cNvSpPr txBox="1"/>
          <p:nvPr/>
        </p:nvSpPr>
        <p:spPr>
          <a:xfrm>
            <a:off x="8796528" y="3529583"/>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0.7403</a:t>
            </a:r>
          </a:p>
        </p:txBody>
      </p:sp>
      <p:sp>
        <p:nvSpPr>
          <p:cNvPr id="24" name="Rounded Rectangle 23"/>
          <p:cNvSpPr/>
          <p:nvPr/>
        </p:nvSpPr>
        <p:spPr>
          <a:xfrm>
            <a:off x="566928" y="4096511"/>
            <a:ext cx="9966960" cy="56692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4187951"/>
            <a:ext cx="4389120" cy="40233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0.70 and above, a close analogue</a:t>
            </a:r>
          </a:p>
        </p:txBody>
      </p:sp>
      <p:sp>
        <p:nvSpPr>
          <p:cNvPr id="26" name="TextBox 25"/>
          <p:cNvSpPr txBox="1"/>
          <p:nvPr/>
        </p:nvSpPr>
        <p:spPr>
          <a:xfrm>
            <a:off x="5413248" y="4187951"/>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2,586</a:t>
            </a:r>
          </a:p>
        </p:txBody>
      </p:sp>
      <p:sp>
        <p:nvSpPr>
          <p:cNvPr id="27" name="TextBox 26"/>
          <p:cNvSpPr txBox="1"/>
          <p:nvPr/>
        </p:nvSpPr>
        <p:spPr>
          <a:xfrm>
            <a:off x="7104888" y="4187951"/>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0.8617</a:t>
            </a:r>
          </a:p>
        </p:txBody>
      </p:sp>
      <p:sp>
        <p:nvSpPr>
          <p:cNvPr id="28" name="TextBox 27"/>
          <p:cNvSpPr txBox="1"/>
          <p:nvPr/>
        </p:nvSpPr>
        <p:spPr>
          <a:xfrm>
            <a:off x="8796528" y="4187951"/>
            <a:ext cx="14630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0.8616</a:t>
            </a:r>
          </a:p>
        </p:txBody>
      </p:sp>
      <p:sp>
        <p:nvSpPr>
          <p:cNvPr id="29" name="TextBox 28"/>
          <p:cNvSpPr txBox="1"/>
          <p:nvPr/>
        </p:nvSpPr>
        <p:spPr>
          <a:xfrm>
            <a:off x="566928" y="4937760"/>
            <a:ext cx="11057839" cy="777240"/>
          </a:xfrm>
          <a:prstGeom prst="rect">
            <a:avLst/>
          </a:prstGeom>
          <a:noFill/>
        </p:spPr>
        <p:txBody>
          <a:bodyPr wrap="square" lIns="0" rIns="0" tIns="0" bIns="0" anchor="t">
            <a:spAutoFit/>
          </a:bodyPr>
          <a:lstStyle/>
          <a:p>
            <a:pPr algn="l">
              <a:lnSpc>
                <a:spcPct val="128000"/>
              </a:lnSpc>
              <a:spcAft>
                <a:spcPts val="600"/>
              </a:spcAft>
            </a:pPr>
            <a:r>
              <a:rPr sz="1400" b="1" i="0">
                <a:solidFill>
                  <a:srgbClr val="9E2A2B"/>
                </a:solidFill>
                <a:latin typeface="Calibri"/>
              </a:rPr>
              <a:t>Recall runs 0.1612 to 0.8616, a factor of five. Across a database boundary the lowest band falls to 0.0494. On genuinely novel chemistry the tool finds roughly one true activity in six.</a:t>
            </a:r>
          </a:p>
        </p:txBody>
      </p:sp>
      <p:sp>
        <p:nvSpPr>
          <p:cNvPr id="30" name="TextBox 29"/>
          <p:cNvSpPr txBox="1"/>
          <p:nvPr/>
        </p:nvSpPr>
        <p:spPr>
          <a:xfrm>
            <a:off x="566928" y="5779008"/>
            <a:ext cx="11057839" cy="411480"/>
          </a:xfrm>
          <a:prstGeom prst="rect">
            <a:avLst/>
          </a:prstGeom>
          <a:noFill/>
        </p:spPr>
        <p:txBody>
          <a:bodyPr wrap="square" lIns="0" rIns="0" tIns="0" bIns="0" anchor="t">
            <a:spAutoFit/>
          </a:bodyPr>
          <a:lstStyle/>
          <a:p>
            <a:pPr algn="l">
              <a:spcAft>
                <a:spcPts val="600"/>
              </a:spcAft>
            </a:pPr>
            <a:r>
              <a:rPr sz="1300" b="0" i="1">
                <a:solidFill>
                  <a:srgbClr val="1F3A5F"/>
                </a:solidFill>
                <a:latin typeface="Calibri"/>
              </a:rPr>
              <a:t>No analysis in this thesis improves that. What is established is that the figure is predictable, which is why it is reported beside every negative result.</a:t>
            </a:r>
          </a:p>
        </p:txBody>
      </p:sp>
      <p:sp>
        <p:nvSpPr>
          <p:cNvPr id="31" name="TextBox 3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results/tables/external_novelty_strata.csv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it does when there is nothing to find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behaviour a triage tool is used for most often</a:t>
            </a:r>
          </a:p>
        </p:txBody>
      </p:sp>
      <p:sp>
        <p:nvSpPr>
          <p:cNvPr id="5" name="TextBox 4"/>
          <p:cNvSpPr txBox="1"/>
          <p:nvPr/>
        </p:nvSpPr>
        <p:spPr>
          <a:xfrm>
            <a:off x="566928" y="1810512"/>
            <a:ext cx="2743200" cy="603504"/>
          </a:xfrm>
          <a:prstGeom prst="rect">
            <a:avLst/>
          </a:prstGeom>
          <a:noFill/>
        </p:spPr>
        <p:txBody>
          <a:bodyPr wrap="square" lIns="0" rIns="0" tIns="0" bIns="0" anchor="t">
            <a:spAutoFit/>
          </a:bodyPr>
          <a:lstStyle/>
          <a:p>
            <a:pPr algn="l">
              <a:spcAft>
                <a:spcPts val="600"/>
              </a:spcAft>
            </a:pPr>
            <a:r>
              <a:rPr sz="4000" b="1" i="0">
                <a:solidFill>
                  <a:srgbClr val="1F3A5F"/>
                </a:solidFill>
                <a:latin typeface="Cambria"/>
              </a:rPr>
              <a:t>0.925</a:t>
            </a:r>
          </a:p>
        </p:txBody>
      </p:sp>
      <p:sp>
        <p:nvSpPr>
          <p:cNvPr id="6" name="TextBox 5"/>
          <p:cNvSpPr txBox="1"/>
          <p:nvPr/>
        </p:nvSpPr>
        <p:spPr>
          <a:xfrm>
            <a:off x="566928" y="2450591"/>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specificity on 1,000 non-CNS compounds, interval 0.907 to 0.9397</a:t>
            </a:r>
          </a:p>
        </p:txBody>
      </p:sp>
      <p:sp>
        <p:nvSpPr>
          <p:cNvPr id="7" name="TextBox 6"/>
          <p:cNvSpPr txBox="1"/>
          <p:nvPr/>
        </p:nvSpPr>
        <p:spPr>
          <a:xfrm>
            <a:off x="3630168" y="1810512"/>
            <a:ext cx="2743200" cy="603504"/>
          </a:xfrm>
          <a:prstGeom prst="rect">
            <a:avLst/>
          </a:prstGeom>
          <a:noFill/>
        </p:spPr>
        <p:txBody>
          <a:bodyPr wrap="square" lIns="0" rIns="0" tIns="0" bIns="0" anchor="t">
            <a:spAutoFit/>
          </a:bodyPr>
          <a:lstStyle/>
          <a:p>
            <a:pPr algn="l">
              <a:spcAft>
                <a:spcPts val="600"/>
              </a:spcAft>
            </a:pPr>
            <a:r>
              <a:rPr sz="3618" b="1" i="0">
                <a:solidFill>
                  <a:srgbClr val="1C7293"/>
                </a:solidFill>
                <a:latin typeface="Cambria"/>
              </a:rPr>
              <a:t>0.0717</a:t>
            </a:r>
          </a:p>
        </p:txBody>
      </p:sp>
      <p:sp>
        <p:nvSpPr>
          <p:cNvPr id="8" name="TextBox 7"/>
          <p:cNvSpPr txBox="1"/>
          <p:nvPr/>
        </p:nvSpPr>
        <p:spPr>
          <a:xfrm>
            <a:off x="3630168" y="2450591"/>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random PubChem structures receive any user-visible finding</a:t>
            </a:r>
          </a:p>
        </p:txBody>
      </p:sp>
      <p:sp>
        <p:nvSpPr>
          <p:cNvPr id="9" name="TextBox 8"/>
          <p:cNvSpPr txBox="1"/>
          <p:nvPr/>
        </p:nvSpPr>
        <p:spPr>
          <a:xfrm>
            <a:off x="6693408" y="1810512"/>
            <a:ext cx="2743200" cy="603504"/>
          </a:xfrm>
          <a:prstGeom prst="rect">
            <a:avLst/>
          </a:prstGeom>
          <a:noFill/>
        </p:spPr>
        <p:txBody>
          <a:bodyPr wrap="square" lIns="0" rIns="0" tIns="0" bIns="0" anchor="t">
            <a:spAutoFit/>
          </a:bodyPr>
          <a:lstStyle/>
          <a:p>
            <a:pPr algn="l">
              <a:spcAft>
                <a:spcPts val="600"/>
              </a:spcAft>
            </a:pPr>
            <a:r>
              <a:rPr sz="4000" b="1" i="0">
                <a:solidFill>
                  <a:srgbClr val="1C7293"/>
                </a:solidFill>
                <a:latin typeface="Cambria"/>
              </a:rPr>
              <a:t>0.515</a:t>
            </a:r>
          </a:p>
        </p:txBody>
      </p:sp>
      <p:sp>
        <p:nvSpPr>
          <p:cNvPr id="10" name="TextBox 9"/>
          <p:cNvSpPr txBox="1"/>
          <p:nvPr/>
        </p:nvSpPr>
        <p:spPr>
          <a:xfrm>
            <a:off x="6693408" y="2450591"/>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approved drugs receive one, a set active somewhere by construction</a:t>
            </a:r>
          </a:p>
        </p:txBody>
      </p:sp>
      <p:sp>
        <p:nvSpPr>
          <p:cNvPr id="11" name="TextBox 10"/>
          <p:cNvSpPr txBox="1"/>
          <p:nvPr/>
        </p:nvSpPr>
        <p:spPr>
          <a:xfrm>
            <a:off x="9756648" y="1810512"/>
            <a:ext cx="2011680" cy="603504"/>
          </a:xfrm>
          <a:prstGeom prst="rect">
            <a:avLst/>
          </a:prstGeom>
          <a:noFill/>
        </p:spPr>
        <p:txBody>
          <a:bodyPr wrap="square" lIns="0" rIns="0" tIns="0" bIns="0" anchor="t">
            <a:spAutoFit/>
          </a:bodyPr>
          <a:lstStyle/>
          <a:p>
            <a:pPr algn="l">
              <a:spcAft>
                <a:spcPts val="600"/>
              </a:spcAft>
            </a:pPr>
            <a:r>
              <a:rPr sz="3324" b="1" i="0">
                <a:solidFill>
                  <a:srgbClr val="D98324"/>
                </a:solidFill>
                <a:latin typeface="Cambria"/>
              </a:rPr>
              <a:t>6 of 47</a:t>
            </a:r>
          </a:p>
        </p:txBody>
      </p:sp>
      <p:sp>
        <p:nvSpPr>
          <p:cNvPr id="12" name="TextBox 11"/>
          <p:cNvSpPr txBox="1"/>
          <p:nvPr/>
        </p:nvSpPr>
        <p:spPr>
          <a:xfrm>
            <a:off x="9756648" y="2450591"/>
            <a:ext cx="20116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endpoints carry a reliability flag on every result</a:t>
            </a:r>
          </a:p>
        </p:txBody>
      </p:sp>
      <p:sp>
        <p:nvSpPr>
          <p:cNvPr id="13" name="Rounded Rectangle 12"/>
          <p:cNvSpPr/>
          <p:nvPr/>
        </p:nvSpPr>
        <p:spPr>
          <a:xfrm>
            <a:off x="566928" y="3520440"/>
            <a:ext cx="11057839" cy="1325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3712463"/>
            <a:ext cx="10472623" cy="1005840"/>
          </a:xfrm>
          <a:prstGeom prst="rect">
            <a:avLst/>
          </a:prstGeom>
          <a:noFill/>
        </p:spPr>
        <p:txBody>
          <a:bodyPr wrap="square" lIns="0" rIns="0" tIns="0" bIns="0" anchor="t">
            <a:spAutoFit/>
          </a:bodyPr>
          <a:lstStyle/>
          <a:p>
            <a:pPr algn="l">
              <a:lnSpc>
                <a:spcPct val="130000"/>
              </a:lnSpc>
              <a:spcAft>
                <a:spcPts val="600"/>
              </a:spcAft>
            </a:pPr>
            <a:r>
              <a:rPr sz="1350" b="0" i="0">
                <a:solidFill>
                  <a:srgbClr val="0F1A2E"/>
                </a:solidFill>
                <a:latin typeface="Calibri"/>
              </a:rPr>
              <a:t>The specificity figure is an upper bound and the artefact labels it as one: the compounds are presumed inactive because nothing is recorded about them, not proven inactive. They are also drawn from within the applicability reference, so the figure does not bound behaviour on genuinely distant chemistry.</a:t>
            </a:r>
          </a:p>
        </p:txBody>
      </p:sp>
      <p:sp>
        <p:nvSpPr>
          <p:cNvPr id="15" name="TextBox 14"/>
          <p:cNvSpPr txBox="1"/>
          <p:nvPr/>
        </p:nvSpPr>
        <p:spPr>
          <a:xfrm>
            <a:off x="566928" y="5047488"/>
            <a:ext cx="11057839" cy="777240"/>
          </a:xfrm>
          <a:prstGeom prst="rect">
            <a:avLst/>
          </a:prstGeom>
          <a:noFill/>
        </p:spPr>
        <p:txBody>
          <a:bodyPr wrap="square" lIns="0" rIns="0" tIns="0" bIns="0" anchor="t">
            <a:spAutoFit/>
          </a:bodyPr>
          <a:lstStyle/>
          <a:p>
            <a:pPr algn="l">
              <a:lnSpc>
                <a:spcPct val="128000"/>
              </a:lnSpc>
              <a:spcAft>
                <a:spcPts val="600"/>
              </a:spcAft>
            </a:pPr>
            <a:r>
              <a:rPr sz="1300" b="0" i="0">
                <a:solidFill>
                  <a:srgbClr val="D98324"/>
                </a:solidFill>
                <a:latin typeface="Calibri"/>
              </a:rPr>
              <a:t>H4 tested exactly that and is the suite's weakest supported verdict: on 61 compounds distant from training chemistry the false-positive rate is 0.0164, but with one false positive the 95 per cent interval runs 0.0029 to 0.0872 and contains the 0.0750 comparator. Specificity does not degrade with distance; that it improves is not established.</a:t>
            </a:r>
          </a:p>
        </p:txBody>
      </p:sp>
      <p:sp>
        <p:nvSpPr>
          <p:cNvPr id="16" name="TextBox 1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results/tables/noncns_specificity_summary.csv; inversion/results/H4_*.csv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2286000"/>
            <a:ext cx="2011680" cy="914400"/>
          </a:xfrm>
          <a:prstGeom prst="rect">
            <a:avLst/>
          </a:prstGeom>
          <a:noFill/>
        </p:spPr>
        <p:txBody>
          <a:bodyPr wrap="square" lIns="0" rIns="0" tIns="0" bIns="0" anchor="t">
            <a:spAutoFit/>
          </a:bodyPr>
          <a:lstStyle/>
          <a:p>
            <a:pPr algn="l">
              <a:spcAft>
                <a:spcPts val="600"/>
              </a:spcAft>
            </a:pPr>
            <a:r>
              <a:rPr sz="6400" b="1" i="0">
                <a:solidFill>
                  <a:srgbClr val="1F3A5F"/>
                </a:solidFill>
                <a:latin typeface="Cambria"/>
              </a:rPr>
              <a:t>IV</a:t>
            </a:r>
          </a:p>
        </p:txBody>
      </p:sp>
      <p:sp>
        <p:nvSpPr>
          <p:cNvPr id="3" name="TextBox 2"/>
          <p:cNvSpPr txBox="1"/>
          <p:nvPr/>
        </p:nvSpPr>
        <p:spPr>
          <a:xfrm>
            <a:off x="2807208" y="2487168"/>
            <a:ext cx="8588959" cy="822960"/>
          </a:xfrm>
          <a:prstGeom prst="rect">
            <a:avLst/>
          </a:prstGeom>
          <a:noFill/>
        </p:spPr>
        <p:txBody>
          <a:bodyPr wrap="square" lIns="0" rIns="0" tIns="0" bIns="0" anchor="t">
            <a:spAutoFit/>
          </a:bodyPr>
          <a:lstStyle/>
          <a:p>
            <a:pPr algn="l">
              <a:spcAft>
                <a:spcPts val="600"/>
              </a:spcAft>
            </a:pPr>
            <a:r>
              <a:rPr sz="3400" b="1" i="0">
                <a:solidFill>
                  <a:srgbClr val="FFFFFF"/>
                </a:solidFill>
                <a:latin typeface="Cambria"/>
              </a:rPr>
              <a:t>Trying to break it</a:t>
            </a:r>
          </a:p>
        </p:txBody>
      </p:sp>
      <p:sp>
        <p:nvSpPr>
          <p:cNvPr id="4" name="TextBox 3"/>
          <p:cNvSpPr txBox="1"/>
          <p:nvPr/>
        </p:nvSpPr>
        <p:spPr>
          <a:xfrm>
            <a:off x="2834640" y="3401568"/>
            <a:ext cx="8588959" cy="640080"/>
          </a:xfrm>
          <a:prstGeom prst="rect">
            <a:avLst/>
          </a:prstGeom>
          <a:noFill/>
        </p:spPr>
        <p:txBody>
          <a:bodyPr wrap="square" lIns="0" rIns="0" tIns="0" bIns="0" anchor="t">
            <a:spAutoFit/>
          </a:bodyPr>
          <a:lstStyle/>
          <a:p>
            <a:pPr algn="l">
              <a:lnSpc>
                <a:spcPct val="130000"/>
              </a:lnSpc>
              <a:spcAft>
                <a:spcPts val="600"/>
              </a:spcAft>
            </a:pPr>
            <a:r>
              <a:rPr sz="1500" b="0" i="0">
                <a:solidFill>
                  <a:srgbClr val="D7DFEA"/>
                </a:solidFill>
                <a:latin typeface="Calibri"/>
              </a:rPr>
              <a:t>Ten hypotheses stated so that they could fail, and what the four refutations cost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falsification suite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4 of 10 hypotheses refuted, 2 weakened</a:t>
            </a:r>
          </a:p>
        </p:txBody>
      </p:sp>
      <p:pic>
        <p:nvPicPr>
          <p:cNvPr id="5" name="Picture 4" descr="FigureT4_falsification.png"/>
          <p:cNvPicPr>
            <a:picLocks noChangeAspect="1"/>
          </p:cNvPicPr>
          <p:nvPr/>
        </p:nvPicPr>
        <p:blipFill>
          <a:blip r:embed="rId2"/>
          <a:stretch>
            <a:fillRect/>
          </a:stretch>
        </p:blipFill>
        <p:spPr>
          <a:xfrm>
            <a:off x="566928" y="1497047"/>
            <a:ext cx="5897880" cy="4796593"/>
          </a:xfrm>
          <a:prstGeom prst="rect">
            <a:avLst/>
          </a:prstGeom>
        </p:spPr>
      </p:pic>
      <p:sp>
        <p:nvSpPr>
          <p:cNvPr id="6" name="Oval 5"/>
          <p:cNvSpPr/>
          <p:nvPr/>
        </p:nvSpPr>
        <p:spPr>
          <a:xfrm>
            <a:off x="6830568" y="1554480"/>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7324344" y="1499616"/>
            <a:ext cx="4300423" cy="384048"/>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Every hypothesis has a null that could win</a:t>
            </a:r>
          </a:p>
        </p:txBody>
      </p:sp>
      <p:sp>
        <p:nvSpPr>
          <p:cNvPr id="8" name="TextBox 7"/>
          <p:cNvSpPr txBox="1"/>
          <p:nvPr/>
        </p:nvSpPr>
        <p:spPr>
          <a:xfrm>
            <a:off x="7324344" y="1920240"/>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A. A test that cannot fail is not evidence, so each claim is paired with a model capable of producing the same apparent success by accident.</a:t>
            </a:r>
          </a:p>
        </p:txBody>
      </p:sp>
      <p:sp>
        <p:nvSpPr>
          <p:cNvPr id="9" name="Oval 8"/>
          <p:cNvSpPr/>
          <p:nvPr/>
        </p:nvSpPr>
        <p:spPr>
          <a:xfrm>
            <a:off x="6830568" y="3255264"/>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 name="TextBox 9"/>
          <p:cNvSpPr txBox="1"/>
          <p:nvPr/>
        </p:nvSpPr>
        <p:spPr>
          <a:xfrm>
            <a:off x="7324344" y="3200400"/>
            <a:ext cx="4300423" cy="384048"/>
          </a:xfrm>
          <a:prstGeom prst="rect">
            <a:avLst/>
          </a:prstGeom>
          <a:noFill/>
        </p:spPr>
        <p:txBody>
          <a:bodyPr wrap="square" lIns="0" rIns="0" tIns="0" bIns="0" anchor="t">
            <a:spAutoFit/>
          </a:bodyPr>
          <a:lstStyle/>
          <a:p>
            <a:pPr algn="l">
              <a:spcAft>
                <a:spcPts val="600"/>
              </a:spcAft>
            </a:pPr>
            <a:r>
              <a:rPr sz="1350" b="1" i="0">
                <a:solidFill>
                  <a:srgbClr val="1C7293"/>
                </a:solidFill>
                <a:latin typeface="Calibri"/>
              </a:rPr>
              <a:t>The cross-validation is not leakage</a:t>
            </a:r>
          </a:p>
        </p:txBody>
      </p:sp>
      <p:sp>
        <p:nvSpPr>
          <p:cNvPr id="11" name="TextBox 10"/>
          <p:cNvSpPr txBox="1"/>
          <p:nvPr/>
        </p:nvSpPr>
        <p:spPr>
          <a:xfrm>
            <a:off x="7324344" y="3621024"/>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B. Under permuted labels the same folds return 0.4959 and 0.5026, and scaffold grouping alone confers nothing.</a:t>
            </a:r>
          </a:p>
        </p:txBody>
      </p:sp>
      <p:sp>
        <p:nvSpPr>
          <p:cNvPr id="12" name="Oval 11"/>
          <p:cNvSpPr/>
          <p:nvPr/>
        </p:nvSpPr>
        <p:spPr>
          <a:xfrm>
            <a:off x="6830568" y="4956048"/>
            <a:ext cx="329184" cy="329184"/>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7324344" y="4901184"/>
            <a:ext cx="4300423" cy="384048"/>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The newest hypothesis weakened a claim</a:t>
            </a:r>
          </a:p>
        </p:txBody>
      </p:sp>
      <p:sp>
        <p:nvSpPr>
          <p:cNvPr id="14" name="TextBox 13"/>
          <p:cNvSpPr txBox="1"/>
          <p:nvPr/>
        </p:nvSpPr>
        <p:spPr>
          <a:xfrm>
            <a:off x="7324344" y="5321808"/>
            <a:ext cx="4300423" cy="1188720"/>
          </a:xfrm>
          <a:prstGeom prst="rect">
            <a:avLst/>
          </a:prstGeom>
          <a:noFill/>
        </p:spPr>
        <p:txBody>
          <a:bodyPr wrap="square" lIns="0" rIns="0" tIns="0" bIns="0" anchor="t">
            <a:spAutoFit/>
          </a:bodyPr>
          <a:lstStyle/>
          <a:p>
            <a:pPr algn="l">
              <a:lnSpc>
                <a:spcPct val="128000"/>
              </a:lnSpc>
              <a:spcAft>
                <a:spcPts val="600"/>
              </a:spcAft>
            </a:pPr>
            <a:r>
              <a:rPr sz="1250" b="0" i="0">
                <a:solidFill>
                  <a:srgbClr val="0F1A2E"/>
                </a:solidFill>
                <a:latin typeface="Calibri"/>
              </a:rPr>
              <a:t>Panel C. H10 tests the barrier model against descriptor rules, and its interval on unseen drugs crosses zero.</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Figure T4. VERDICTS.csv, permutation_null.csv, H10_barrier_necessity.csv.</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disease layer does and does not establish</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hypotheses, answering three different questions</a:t>
            </a:r>
          </a:p>
        </p:txBody>
      </p:sp>
      <p:sp>
        <p:nvSpPr>
          <p:cNvPr id="5" name="Rounded Rectangle 4"/>
          <p:cNvSpPr/>
          <p:nvPr/>
        </p:nvSpPr>
        <p:spPr>
          <a:xfrm>
            <a:off x="566928" y="1664207"/>
            <a:ext cx="11057839" cy="1188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2011680"/>
            <a:ext cx="731520" cy="402336"/>
          </a:xfrm>
          <a:prstGeom prst="rect">
            <a:avLst/>
          </a:prstGeom>
          <a:noFill/>
        </p:spPr>
        <p:txBody>
          <a:bodyPr wrap="square" lIns="0" rIns="0" tIns="0" bIns="0" anchor="t">
            <a:spAutoFit/>
          </a:bodyPr>
          <a:lstStyle/>
          <a:p>
            <a:pPr algn="l">
              <a:spcAft>
                <a:spcPts val="600"/>
              </a:spcAft>
            </a:pPr>
            <a:r>
              <a:rPr sz="1700" b="1" i="0">
                <a:solidFill>
                  <a:srgbClr val="1C7293"/>
                </a:solidFill>
                <a:latin typeface="Cambria"/>
              </a:rPr>
              <a:t>H1</a:t>
            </a:r>
          </a:p>
        </p:txBody>
      </p:sp>
      <p:sp>
        <p:nvSpPr>
          <p:cNvPr id="7" name="TextBox 6"/>
          <p:cNvSpPr txBox="1"/>
          <p:nvPr/>
        </p:nvSpPr>
        <p:spPr>
          <a:xfrm>
            <a:off x="1618488" y="1810512"/>
            <a:ext cx="3474720" cy="731520"/>
          </a:xfrm>
          <a:prstGeom prst="rect">
            <a:avLst/>
          </a:prstGeom>
          <a:noFill/>
        </p:spPr>
        <p:txBody>
          <a:bodyPr wrap="square" lIns="0" rIns="0" tIns="0" bIns="0" anchor="t">
            <a:spAutoFit/>
          </a:bodyPr>
          <a:lstStyle/>
          <a:p>
            <a:pPr algn="l">
              <a:lnSpc>
                <a:spcPct val="118000"/>
              </a:lnSpc>
              <a:spcAft>
                <a:spcPts val="600"/>
              </a:spcAft>
            </a:pPr>
            <a:r>
              <a:rPr sz="1300" b="1" i="0">
                <a:solidFill>
                  <a:srgbClr val="0F1A2E"/>
                </a:solidFill>
                <a:latin typeface="Calibri"/>
              </a:rPr>
              <a:t>against the project's own map</a:t>
            </a:r>
          </a:p>
        </p:txBody>
      </p:sp>
      <p:sp>
        <p:nvSpPr>
          <p:cNvPr id="8" name="TextBox 7"/>
          <p:cNvSpPr txBox="1"/>
          <p:nvPr/>
        </p:nvSpPr>
        <p:spPr>
          <a:xfrm>
            <a:off x="5367528" y="1773936"/>
            <a:ext cx="6001207"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Top-3 accuracy 0.7901 on 7,008 held-out compounds, against a permutation null of 0.1625 and a frequency null of 0.5508. The layer carries real information about mechanism.</a:t>
            </a:r>
          </a:p>
        </p:txBody>
      </p:sp>
      <p:sp>
        <p:nvSpPr>
          <p:cNvPr id="9" name="Rounded Rectangle 8"/>
          <p:cNvSpPr/>
          <p:nvPr/>
        </p:nvSpPr>
        <p:spPr>
          <a:xfrm>
            <a:off x="566928" y="2962656"/>
            <a:ext cx="11057839" cy="1188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3310128"/>
            <a:ext cx="731520" cy="402336"/>
          </a:xfrm>
          <a:prstGeom prst="rect">
            <a:avLst/>
          </a:prstGeom>
          <a:noFill/>
        </p:spPr>
        <p:txBody>
          <a:bodyPr wrap="square" lIns="0" rIns="0" tIns="0" bIns="0" anchor="t">
            <a:spAutoFit/>
          </a:bodyPr>
          <a:lstStyle/>
          <a:p>
            <a:pPr algn="l">
              <a:spcAft>
                <a:spcPts val="600"/>
              </a:spcAft>
            </a:pPr>
            <a:r>
              <a:rPr sz="1700" b="1" i="0">
                <a:solidFill>
                  <a:srgbClr val="D98324"/>
                </a:solidFill>
                <a:latin typeface="Cambria"/>
              </a:rPr>
              <a:t>H6</a:t>
            </a:r>
          </a:p>
        </p:txBody>
      </p:sp>
      <p:sp>
        <p:nvSpPr>
          <p:cNvPr id="11" name="TextBox 10"/>
          <p:cNvSpPr txBox="1"/>
          <p:nvPr/>
        </p:nvSpPr>
        <p:spPr>
          <a:xfrm>
            <a:off x="1618488" y="3108960"/>
            <a:ext cx="3474720" cy="731520"/>
          </a:xfrm>
          <a:prstGeom prst="rect">
            <a:avLst/>
          </a:prstGeom>
          <a:noFill/>
        </p:spPr>
        <p:txBody>
          <a:bodyPr wrap="square" lIns="0" rIns="0" tIns="0" bIns="0" anchor="t">
            <a:spAutoFit/>
          </a:bodyPr>
          <a:lstStyle/>
          <a:p>
            <a:pPr algn="l">
              <a:lnSpc>
                <a:spcPct val="118000"/>
              </a:lnSpc>
              <a:spcAft>
                <a:spcPts val="600"/>
              </a:spcAft>
            </a:pPr>
            <a:r>
              <a:rPr sz="1300" b="1" i="0">
                <a:solidFill>
                  <a:srgbClr val="0F1A2E"/>
                </a:solidFill>
                <a:latin typeface="Calibri"/>
              </a:rPr>
              <a:t>against real clinical indications</a:t>
            </a:r>
          </a:p>
        </p:txBody>
      </p:sp>
      <p:sp>
        <p:nvSpPr>
          <p:cNvPr id="12" name="TextBox 11"/>
          <p:cNvSpPr txBox="1"/>
          <p:nvPr/>
        </p:nvSpPr>
        <p:spPr>
          <a:xfrm>
            <a:off x="5367528" y="3072384"/>
            <a:ext cx="6001207"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On 162 drugs whose structure appears nowhere in training, top-3 accuracy is 0.3519 against a frequency null of 0.6543. It beats the permutation null decisively and does not beat a constant answer naming the three commonest CNS indications.</a:t>
            </a:r>
          </a:p>
        </p:txBody>
      </p:sp>
      <p:sp>
        <p:nvSpPr>
          <p:cNvPr id="13" name="Rounded Rectangle 12"/>
          <p:cNvSpPr/>
          <p:nvPr/>
        </p:nvSpPr>
        <p:spPr>
          <a:xfrm>
            <a:off x="566928" y="4261104"/>
            <a:ext cx="11057839" cy="1188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 y="4608576"/>
            <a:ext cx="731520" cy="402336"/>
          </a:xfrm>
          <a:prstGeom prst="rect">
            <a:avLst/>
          </a:prstGeom>
          <a:noFill/>
        </p:spPr>
        <p:txBody>
          <a:bodyPr wrap="square" lIns="0" rIns="0" tIns="0" bIns="0" anchor="t">
            <a:spAutoFit/>
          </a:bodyPr>
          <a:lstStyle/>
          <a:p>
            <a:pPr algn="l">
              <a:spcAft>
                <a:spcPts val="600"/>
              </a:spcAft>
            </a:pPr>
            <a:r>
              <a:rPr sz="1700" b="1" i="0">
                <a:solidFill>
                  <a:srgbClr val="1C7293"/>
                </a:solidFill>
                <a:latin typeface="Cambria"/>
              </a:rPr>
              <a:t>H9</a:t>
            </a:r>
          </a:p>
        </p:txBody>
      </p:sp>
      <p:sp>
        <p:nvSpPr>
          <p:cNvPr id="15" name="TextBox 14"/>
          <p:cNvSpPr txBox="1"/>
          <p:nvPr/>
        </p:nvSpPr>
        <p:spPr>
          <a:xfrm>
            <a:off x="1618488" y="4407407"/>
            <a:ext cx="3474720" cy="731520"/>
          </a:xfrm>
          <a:prstGeom prst="rect">
            <a:avLst/>
          </a:prstGeom>
          <a:noFill/>
        </p:spPr>
        <p:txBody>
          <a:bodyPr wrap="square" lIns="0" rIns="0" tIns="0" bIns="0" anchor="t">
            <a:spAutoFit/>
          </a:bodyPr>
          <a:lstStyle/>
          <a:p>
            <a:pPr algn="l">
              <a:lnSpc>
                <a:spcPct val="118000"/>
              </a:lnSpc>
              <a:spcAft>
                <a:spcPts val="600"/>
              </a:spcAft>
            </a:pPr>
            <a:r>
              <a:rPr sz="1300" b="1" i="0">
                <a:solidFill>
                  <a:srgbClr val="0F1A2E"/>
                </a:solidFill>
                <a:latin typeface="Calibri"/>
              </a:rPr>
              <a:t>on metrics a constant answer cannot pass</a:t>
            </a:r>
          </a:p>
        </p:txBody>
      </p:sp>
      <p:sp>
        <p:nvSpPr>
          <p:cNvPr id="16" name="TextBox 15"/>
          <p:cNvSpPr txBox="1"/>
          <p:nvPr/>
        </p:nvSpPr>
        <p:spPr>
          <a:xfrm>
            <a:off x="5367528" y="4370831"/>
            <a:ext cx="6001207"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Mean per-indication AUROC 0.6158 against 0.500, beating chance on 7 of 9 indications, from 0.7981 for depression down to 0.4898 for epilepsy.</a:t>
            </a:r>
          </a:p>
        </p:txBody>
      </p:sp>
      <p:sp>
        <p:nvSpPr>
          <p:cNvPr id="17" name="TextBox 16"/>
          <p:cNvSpPr txBox="1"/>
          <p:nvPr/>
        </p:nvSpPr>
        <p:spPr>
          <a:xfrm>
            <a:off x="566928" y="5705856"/>
            <a:ext cx="11057839" cy="566928"/>
          </a:xfrm>
          <a:prstGeom prst="rect">
            <a:avLst/>
          </a:prstGeom>
          <a:noFill/>
        </p:spPr>
        <p:txBody>
          <a:bodyPr wrap="square" lIns="0" rIns="0" tIns="0" bIns="0" anchor="t">
            <a:spAutoFit/>
          </a:bodyPr>
          <a:lstStyle/>
          <a:p>
            <a:pPr algn="l">
              <a:lnSpc>
                <a:spcPct val="126000"/>
              </a:lnSpc>
              <a:spcAft>
                <a:spcPts val="600"/>
              </a:spcAft>
            </a:pPr>
            <a:r>
              <a:rPr sz="1350" b="1" i="0">
                <a:solidFill>
                  <a:srgbClr val="1F3A5F"/>
                </a:solidFill>
                <a:latin typeface="Calibri"/>
              </a:rPr>
              <a:t>The honest description: the layer ranks mechanisms and the conditions they touch. It does not predict indication, and two of the nine conditions are not being predicted at all.</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inversion/results/H1_disease_layer.csv, H6_clinical_indication.csv, H9_disease_discrimination.csv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hypothesis the suite lacked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component the architecture is named for had no test until a thesis audit named the gap</a:t>
            </a:r>
          </a:p>
        </p:txBody>
      </p:sp>
      <p:sp>
        <p:nvSpPr>
          <p:cNvPr id="5" name="TextBox 4"/>
          <p:cNvSpPr txBox="1"/>
          <p:nvPr/>
        </p:nvSpPr>
        <p:spPr>
          <a:xfrm>
            <a:off x="566928" y="1609344"/>
            <a:ext cx="11057839" cy="566928"/>
          </a:xfrm>
          <a:prstGeom prst="rect">
            <a:avLst/>
          </a:prstGeom>
          <a:noFill/>
        </p:spPr>
        <p:txBody>
          <a:bodyPr wrap="square" lIns="0" rIns="0" tIns="0" bIns="0" anchor="t">
            <a:spAutoFit/>
          </a:bodyPr>
          <a:lstStyle/>
          <a:p>
            <a:pPr algn="l">
              <a:lnSpc>
                <a:spcPct val="126000"/>
              </a:lnSpc>
              <a:spcAft>
                <a:spcPts val="600"/>
              </a:spcAft>
            </a:pPr>
            <a:r>
              <a:rPr sz="1350" b="0" i="1">
                <a:solidFill>
                  <a:srgbClr val="1F3A5F"/>
                </a:solidFill>
                <a:latin typeface="Calibri"/>
              </a:rPr>
              <a:t>Null: permeability is a bulk property, the twelve descriptors already in the feature vector encode it, and the fingerprint adds nothing.</a:t>
            </a:r>
          </a:p>
        </p:txBody>
      </p:sp>
      <p:sp>
        <p:nvSpPr>
          <p:cNvPr id="6" name="TextBox 5"/>
          <p:cNvSpPr txBox="1"/>
          <p:nvPr/>
        </p:nvSpPr>
        <p:spPr>
          <a:xfrm>
            <a:off x="841247" y="2212848"/>
            <a:ext cx="4572000" cy="274320"/>
          </a:xfrm>
          <a:prstGeom prst="rect">
            <a:avLst/>
          </a:prstGeom>
          <a:noFill/>
        </p:spPr>
        <p:txBody>
          <a:bodyPr wrap="square" lIns="0" rIns="0" tIns="0" bIns="0" anchor="t">
            <a:spAutoFit/>
          </a:bodyPr>
          <a:lstStyle/>
          <a:p>
            <a:pPr algn="l">
              <a:spcAft>
                <a:spcPts val="0"/>
              </a:spcAft>
            </a:pPr>
            <a:r>
              <a:rPr sz="1100" b="0" i="0">
                <a:solidFill>
                  <a:srgbClr val="0F1A2E"/>
                </a:solidFill>
                <a:latin typeface="Calibri"/>
              </a:rPr>
              <a:t/>
            </a:r>
          </a:p>
        </p:txBody>
      </p:sp>
      <p:sp>
        <p:nvSpPr>
          <p:cNvPr id="7" name="TextBox 6"/>
          <p:cNvSpPr txBox="1"/>
          <p:nvPr/>
        </p:nvSpPr>
        <p:spPr>
          <a:xfrm>
            <a:off x="5413248" y="2212848"/>
            <a:ext cx="237744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scaffold hold-out</a:t>
            </a:r>
          </a:p>
        </p:txBody>
      </p:sp>
      <p:sp>
        <p:nvSpPr>
          <p:cNvPr id="8" name="TextBox 7"/>
          <p:cNvSpPr txBox="1"/>
          <p:nvPr/>
        </p:nvSpPr>
        <p:spPr>
          <a:xfrm>
            <a:off x="8019288" y="2212848"/>
            <a:ext cx="2377440" cy="274320"/>
          </a:xfrm>
          <a:prstGeom prst="rect">
            <a:avLst/>
          </a:prstGeom>
          <a:noFill/>
        </p:spPr>
        <p:txBody>
          <a:bodyPr wrap="square" lIns="0" rIns="0" tIns="0" bIns="0" anchor="t">
            <a:spAutoFit/>
          </a:bodyPr>
          <a:lstStyle/>
          <a:p>
            <a:pPr algn="r">
              <a:spcAft>
                <a:spcPts val="0"/>
              </a:spcAft>
            </a:pPr>
            <a:r>
              <a:rPr sz="1150" b="1" i="0">
                <a:solidFill>
                  <a:srgbClr val="5F6B7A"/>
                </a:solidFill>
                <a:latin typeface="Calibri"/>
              </a:rPr>
              <a:t>241 unseen approved drugs</a:t>
            </a:r>
          </a:p>
        </p:txBody>
      </p:sp>
      <p:sp>
        <p:nvSpPr>
          <p:cNvPr id="9" name="Rounded Rectangle 8"/>
          <p:cNvSpPr/>
          <p:nvPr/>
        </p:nvSpPr>
        <p:spPr>
          <a:xfrm>
            <a:off x="566928" y="2523744"/>
            <a:ext cx="996696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615184"/>
            <a:ext cx="4572000" cy="402336"/>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Deployed forest, 1,036 features</a:t>
            </a:r>
          </a:p>
        </p:txBody>
      </p:sp>
      <p:sp>
        <p:nvSpPr>
          <p:cNvPr id="11" name="TextBox 10"/>
          <p:cNvSpPr txBox="1"/>
          <p:nvPr/>
        </p:nvSpPr>
        <p:spPr>
          <a:xfrm>
            <a:off x="5413248" y="2615184"/>
            <a:ext cx="2377440" cy="40233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0.8779</a:t>
            </a:r>
          </a:p>
        </p:txBody>
      </p:sp>
      <p:sp>
        <p:nvSpPr>
          <p:cNvPr id="12" name="TextBox 11"/>
          <p:cNvSpPr txBox="1"/>
          <p:nvPr/>
        </p:nvSpPr>
        <p:spPr>
          <a:xfrm>
            <a:off x="8019288" y="2615184"/>
            <a:ext cx="2377440" cy="40233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0.7934</a:t>
            </a:r>
          </a:p>
        </p:txBody>
      </p:sp>
      <p:sp>
        <p:nvSpPr>
          <p:cNvPr id="13" name="Rounded Rectangle 12"/>
          <p:cNvSpPr/>
          <p:nvPr/>
        </p:nvSpPr>
        <p:spPr>
          <a:xfrm>
            <a:off x="566928" y="3182112"/>
            <a:ext cx="9966960" cy="566928"/>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73552"/>
            <a:ext cx="4572000" cy="40233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Random forest, 12 descriptors only</a:t>
            </a:r>
          </a:p>
        </p:txBody>
      </p:sp>
      <p:sp>
        <p:nvSpPr>
          <p:cNvPr id="15" name="TextBox 14"/>
          <p:cNvSpPr txBox="1"/>
          <p:nvPr/>
        </p:nvSpPr>
        <p:spPr>
          <a:xfrm>
            <a:off x="5413248" y="3273552"/>
            <a:ext cx="23774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0.8441</a:t>
            </a:r>
          </a:p>
        </p:txBody>
      </p:sp>
      <p:sp>
        <p:nvSpPr>
          <p:cNvPr id="16" name="TextBox 15"/>
          <p:cNvSpPr txBox="1"/>
          <p:nvPr/>
        </p:nvSpPr>
        <p:spPr>
          <a:xfrm>
            <a:off x="8019288" y="3273552"/>
            <a:ext cx="2377440" cy="40233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0.7701</a:t>
            </a:r>
          </a:p>
        </p:txBody>
      </p:sp>
      <p:sp>
        <p:nvSpPr>
          <p:cNvPr id="17" name="Rounded Rectangle 16"/>
          <p:cNvSpPr/>
          <p:nvPr/>
        </p:nvSpPr>
        <p:spPr>
          <a:xfrm>
            <a:off x="566928" y="4023360"/>
            <a:ext cx="11057839"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9536" y="4206240"/>
            <a:ext cx="10472623" cy="914400"/>
          </a:xfrm>
          <a:prstGeom prst="rect">
            <a:avLst/>
          </a:prstGeom>
          <a:noFill/>
        </p:spPr>
        <p:txBody>
          <a:bodyPr wrap="square" lIns="0" rIns="0" tIns="0" bIns="0" anchor="t">
            <a:spAutoFit/>
          </a:bodyPr>
          <a:lstStyle/>
          <a:p>
            <a:pPr algn="l">
              <a:lnSpc>
                <a:spcPct val="130000"/>
              </a:lnSpc>
              <a:spcAft>
                <a:spcPts val="600"/>
              </a:spcAft>
            </a:pPr>
            <a:r>
              <a:rPr sz="1350" b="0" i="0">
                <a:solidFill>
                  <a:srgbClr val="0F1A2E"/>
                </a:solidFill>
                <a:latin typeface="Calibri"/>
              </a:rPr>
              <a:t>Read as point estimates the fingerprint wins on both. Read with a paired bootstrap of 2,000 resamples, the external interval runs -0.0553 to +0.0106, p = 0.083. It crosses zero.</a:t>
            </a:r>
          </a:p>
        </p:txBody>
      </p:sp>
      <p:sp>
        <p:nvSpPr>
          <p:cNvPr id="19" name="TextBox 18"/>
          <p:cNvSpPr txBox="1"/>
          <p:nvPr/>
        </p:nvSpPr>
        <p:spPr>
          <a:xfrm>
            <a:off x="566928" y="5376672"/>
            <a:ext cx="11057839" cy="777240"/>
          </a:xfrm>
          <a:prstGeom prst="rect">
            <a:avLst/>
          </a:prstGeom>
          <a:noFill/>
        </p:spPr>
        <p:txBody>
          <a:bodyPr wrap="square" lIns="0" rIns="0" tIns="0" bIns="0" anchor="t">
            <a:spAutoFit/>
          </a:bodyPr>
          <a:lstStyle/>
          <a:p>
            <a:pPr algn="l">
              <a:lnSpc>
                <a:spcPct val="128000"/>
              </a:lnSpc>
              <a:spcAft>
                <a:spcPts val="600"/>
              </a:spcAft>
            </a:pPr>
            <a:r>
              <a:rPr sz="1350" b="1" i="0">
                <a:solidFill>
                  <a:srgbClr val="9E2A2B"/>
                </a:solidFill>
                <a:latin typeface="Calibri"/>
              </a:rPr>
              <a:t>VERDICT WEAKENED. On the training distribution the fingerprint demonstrably earns its place; on chemistry the model has never seen, its advantage over twelve descriptors is not established. Under a point-estimate rule this would read SUPPORTED, and the suite's own criticism of H4 is why it does not.</a:t>
            </a:r>
          </a:p>
        </p:txBody>
      </p:sp>
      <p:sp>
        <p:nvSpPr>
          <p:cNvPr id="20" name="TextBox 1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inversion/results/H10_barrier_necessity.csv</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786384"/>
            <a:ext cx="1042416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the system cannot do</a:t>
            </a:r>
          </a:p>
        </p:txBody>
      </p:sp>
      <p:sp>
        <p:nvSpPr>
          <p:cNvPr id="3" name="TextBox 2"/>
          <p:cNvSpPr txBox="1"/>
          <p:nvPr/>
        </p:nvSpPr>
        <p:spPr>
          <a:xfrm>
            <a:off x="566928" y="1188720"/>
            <a:ext cx="10698480" cy="411480"/>
          </a:xfrm>
          <a:prstGeom prst="rect">
            <a:avLst/>
          </a:prstGeom>
          <a:noFill/>
        </p:spPr>
        <p:txBody>
          <a:bodyPr wrap="square" lIns="0" rIns="0" tIns="0" bIns="0" anchor="t">
            <a:spAutoFit/>
          </a:bodyPr>
          <a:lstStyle/>
          <a:p>
            <a:pPr algn="l">
              <a:spcAft>
                <a:spcPts val="600"/>
              </a:spcAft>
            </a:pPr>
            <a:r>
              <a:rPr sz="1400" b="0" i="0">
                <a:solidFill>
                  <a:srgbClr val="D7DFEA"/>
                </a:solidFill>
                <a:latin typeface="Calibri"/>
              </a:rPr>
              <a:t>Properties of the science rather than of the housekeeping, and none of them is fixed by tidying.</a:t>
            </a:r>
          </a:p>
        </p:txBody>
      </p:sp>
      <p:sp>
        <p:nvSpPr>
          <p:cNvPr id="4" name="Oval 3"/>
          <p:cNvSpPr/>
          <p:nvPr/>
        </p:nvSpPr>
        <p:spPr>
          <a:xfrm>
            <a:off x="566928" y="1828800"/>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1</a:t>
            </a:r>
          </a:p>
        </p:txBody>
      </p:sp>
      <p:sp>
        <p:nvSpPr>
          <p:cNvPr id="5" name="TextBox 4"/>
          <p:cNvSpPr txBox="1"/>
          <p:nvPr/>
        </p:nvSpPr>
        <p:spPr>
          <a:xfrm>
            <a:off x="1133856" y="1792224"/>
            <a:ext cx="3200400" cy="777240"/>
          </a:xfrm>
          <a:prstGeom prst="rect">
            <a:avLst/>
          </a:prstGeom>
          <a:noFill/>
        </p:spPr>
        <p:txBody>
          <a:bodyPr wrap="square" lIns="0" rIns="0" tIns="0" bIns="0" anchor="t">
            <a:spAutoFit/>
          </a:bodyPr>
          <a:lstStyle/>
          <a:p>
            <a:pPr algn="l">
              <a:lnSpc>
                <a:spcPct val="114000"/>
              </a:lnSpc>
              <a:spcAft>
                <a:spcPts val="600"/>
              </a:spcAft>
            </a:pPr>
            <a:r>
              <a:rPr sz="1450" b="1" i="0">
                <a:solidFill>
                  <a:srgbClr val="D98324"/>
                </a:solidFill>
                <a:latin typeface="Calibri"/>
              </a:rPr>
              <a:t>Novel chemistry</a:t>
            </a:r>
          </a:p>
        </p:txBody>
      </p:sp>
      <p:sp>
        <p:nvSpPr>
          <p:cNvPr id="6" name="TextBox 5"/>
          <p:cNvSpPr txBox="1"/>
          <p:nvPr/>
        </p:nvSpPr>
        <p:spPr>
          <a:xfrm>
            <a:off x="4544568" y="1773936"/>
            <a:ext cx="690372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Recall 0.1612 on a different chemotype and 0.0494 across a database boundary. A silence there is close to uninformative.</a:t>
            </a:r>
          </a:p>
        </p:txBody>
      </p:sp>
      <p:sp>
        <p:nvSpPr>
          <p:cNvPr id="7" name="Oval 6"/>
          <p:cNvSpPr/>
          <p:nvPr/>
        </p:nvSpPr>
        <p:spPr>
          <a:xfrm>
            <a:off x="566928" y="2944368"/>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2</a:t>
            </a:r>
          </a:p>
        </p:txBody>
      </p:sp>
      <p:sp>
        <p:nvSpPr>
          <p:cNvPr id="8" name="TextBox 7"/>
          <p:cNvSpPr txBox="1"/>
          <p:nvPr/>
        </p:nvSpPr>
        <p:spPr>
          <a:xfrm>
            <a:off x="1133856" y="2907791"/>
            <a:ext cx="3200400" cy="777240"/>
          </a:xfrm>
          <a:prstGeom prst="rect">
            <a:avLst/>
          </a:prstGeom>
          <a:noFill/>
        </p:spPr>
        <p:txBody>
          <a:bodyPr wrap="square" lIns="0" rIns="0" tIns="0" bIns="0" anchor="t">
            <a:spAutoFit/>
          </a:bodyPr>
          <a:lstStyle/>
          <a:p>
            <a:pPr algn="l">
              <a:lnSpc>
                <a:spcPct val="114000"/>
              </a:lnSpc>
              <a:spcAft>
                <a:spcPts val="600"/>
              </a:spcAft>
            </a:pPr>
            <a:r>
              <a:rPr sz="1450" b="1" i="0">
                <a:solidFill>
                  <a:srgbClr val="D98324"/>
                </a:solidFill>
                <a:latin typeface="Calibri"/>
              </a:rPr>
              <a:t>Uncertainty coverage</a:t>
            </a:r>
          </a:p>
        </p:txBody>
      </p:sp>
      <p:sp>
        <p:nvSpPr>
          <p:cNvPr id="9" name="TextBox 8"/>
          <p:cNvSpPr txBox="1"/>
          <p:nvPr/>
        </p:nvSpPr>
        <p:spPr>
          <a:xfrm>
            <a:off x="4544568" y="2889503"/>
            <a:ext cx="690372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The full stack reaches 8 core classifiers. None of the 47 deployed binder endpoints has a conformal statement; the 38 with a measured calibration error average 0.0762, about five times the core figure, and 9 carry no calibration measurement at all.</a:t>
            </a:r>
          </a:p>
        </p:txBody>
      </p:sp>
      <p:sp>
        <p:nvSpPr>
          <p:cNvPr id="10" name="Oval 9"/>
          <p:cNvSpPr/>
          <p:nvPr/>
        </p:nvSpPr>
        <p:spPr>
          <a:xfrm>
            <a:off x="566928" y="4059935"/>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3</a:t>
            </a:r>
          </a:p>
        </p:txBody>
      </p:sp>
      <p:sp>
        <p:nvSpPr>
          <p:cNvPr id="11" name="TextBox 10"/>
          <p:cNvSpPr txBox="1"/>
          <p:nvPr/>
        </p:nvSpPr>
        <p:spPr>
          <a:xfrm>
            <a:off x="1133856" y="4023359"/>
            <a:ext cx="3200400" cy="777240"/>
          </a:xfrm>
          <a:prstGeom prst="rect">
            <a:avLst/>
          </a:prstGeom>
          <a:noFill/>
        </p:spPr>
        <p:txBody>
          <a:bodyPr wrap="square" lIns="0" rIns="0" tIns="0" bIns="0" anchor="t">
            <a:spAutoFit/>
          </a:bodyPr>
          <a:lstStyle/>
          <a:p>
            <a:pPr algn="l">
              <a:lnSpc>
                <a:spcPct val="114000"/>
              </a:lnSpc>
              <a:spcAft>
                <a:spcPts val="600"/>
              </a:spcAft>
            </a:pPr>
            <a:r>
              <a:rPr sz="1450" b="1" i="0">
                <a:solidFill>
                  <a:srgbClr val="D98324"/>
                </a:solidFill>
                <a:latin typeface="Calibri"/>
              </a:rPr>
              <a:t>Natural products</a:t>
            </a:r>
          </a:p>
        </p:txBody>
      </p:sp>
      <p:sp>
        <p:nvSpPr>
          <p:cNvPr id="12" name="TextBox 11"/>
          <p:cNvSpPr txBox="1"/>
          <p:nvPr/>
        </p:nvSpPr>
        <p:spPr>
          <a:xfrm>
            <a:off x="4544568" y="4005072"/>
            <a:ext cx="690372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Median fraction sp3 of the library is 0.3448 and only 9.23 per cent of it is sp3-rich and largely non-aromatic. Three endpoints could be scored externally, with two to five actives each.</a:t>
            </a:r>
          </a:p>
        </p:txBody>
      </p:sp>
      <p:sp>
        <p:nvSpPr>
          <p:cNvPr id="13" name="Oval 12"/>
          <p:cNvSpPr/>
          <p:nvPr/>
        </p:nvSpPr>
        <p:spPr>
          <a:xfrm>
            <a:off x="566928" y="5175503"/>
            <a:ext cx="347472" cy="347472"/>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F1A2E"/>
                </a:solidFill>
                <a:latin typeface="Calibri"/>
              </a:rPr>
              <a:t>4</a:t>
            </a:r>
          </a:p>
        </p:txBody>
      </p:sp>
      <p:sp>
        <p:nvSpPr>
          <p:cNvPr id="14" name="TextBox 13"/>
          <p:cNvSpPr txBox="1"/>
          <p:nvPr/>
        </p:nvSpPr>
        <p:spPr>
          <a:xfrm>
            <a:off x="1133856" y="5138927"/>
            <a:ext cx="3200400" cy="777240"/>
          </a:xfrm>
          <a:prstGeom prst="rect">
            <a:avLst/>
          </a:prstGeom>
          <a:noFill/>
        </p:spPr>
        <p:txBody>
          <a:bodyPr wrap="square" lIns="0" rIns="0" tIns="0" bIns="0" anchor="t">
            <a:spAutoFit/>
          </a:bodyPr>
          <a:lstStyle/>
          <a:p>
            <a:pPr algn="l">
              <a:lnSpc>
                <a:spcPct val="114000"/>
              </a:lnSpc>
              <a:spcAft>
                <a:spcPts val="600"/>
              </a:spcAft>
            </a:pPr>
            <a:r>
              <a:rPr sz="1450" b="1" i="0">
                <a:solidFill>
                  <a:srgbClr val="D98324"/>
                </a:solidFill>
                <a:latin typeface="Calibri"/>
              </a:rPr>
              <a:t>Nothing prospective</a:t>
            </a:r>
          </a:p>
        </p:txBody>
      </p:sp>
      <p:sp>
        <p:nvSpPr>
          <p:cNvPr id="15" name="TextBox 14"/>
          <p:cNvSpPr txBox="1"/>
          <p:nvPr/>
        </p:nvSpPr>
        <p:spPr>
          <a:xfrm>
            <a:off x="4544568" y="5120640"/>
            <a:ext cx="6903720" cy="1051560"/>
          </a:xfrm>
          <a:prstGeom prst="rect">
            <a:avLst/>
          </a:prstGeom>
          <a:noFill/>
        </p:spPr>
        <p:txBody>
          <a:bodyPr wrap="square" lIns="0" rIns="0" tIns="0" bIns="0" anchor="t">
            <a:spAutoFit/>
          </a:bodyPr>
          <a:lstStyle/>
          <a:p>
            <a:pPr algn="l">
              <a:lnSpc>
                <a:spcPct val="126000"/>
              </a:lnSpc>
              <a:spcAft>
                <a:spcPts val="600"/>
              </a:spcAft>
            </a:pPr>
            <a:r>
              <a:rPr sz="1250" b="0" i="0">
                <a:solidFill>
                  <a:srgbClr val="D7DFEA"/>
                </a:solidFill>
                <a:latin typeface="Calibri"/>
              </a:rPr>
              <a:t>Every result here is retrospective. The dates are real, but no compound was predicted before it was measured.</a:t>
            </a:r>
          </a:p>
        </p:txBody>
      </p:sp>
      <p:sp>
        <p:nvSpPr>
          <p:cNvPr id="16" name="TextBox 15"/>
          <p:cNvSpPr txBox="1"/>
          <p:nvPr/>
        </p:nvSpPr>
        <p:spPr>
          <a:xfrm>
            <a:off x="566928" y="6272784"/>
            <a:ext cx="10698480" cy="365760"/>
          </a:xfrm>
          <a:prstGeom prst="rect">
            <a:avLst/>
          </a:prstGeom>
          <a:noFill/>
        </p:spPr>
        <p:txBody>
          <a:bodyPr wrap="square" lIns="0" rIns="0" tIns="0" bIns="0" anchor="t">
            <a:spAutoFit/>
          </a:bodyPr>
          <a:lstStyle/>
          <a:p>
            <a:pPr algn="l">
              <a:spcAft>
                <a:spcPts val="600"/>
              </a:spcAft>
            </a:pPr>
            <a:r>
              <a:rPr sz="1300" b="0" i="1">
                <a:solidFill>
                  <a:srgbClr val="FFFFFF"/>
                </a:solidFill>
                <a:latin typeface="Calibri"/>
              </a:rPr>
              <a:t>Stated because the alternative is a referee finding them unaided.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749808"/>
            <a:ext cx="10424160" cy="45720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What this establishes</a:t>
            </a:r>
          </a:p>
        </p:txBody>
      </p:sp>
      <p:sp>
        <p:nvSpPr>
          <p:cNvPr id="3" name="TextBox 2"/>
          <p:cNvSpPr txBox="1"/>
          <p:nvPr/>
        </p:nvSpPr>
        <p:spPr>
          <a:xfrm>
            <a:off x="566928" y="1133856"/>
            <a:ext cx="10698480" cy="384048"/>
          </a:xfrm>
          <a:prstGeom prst="rect">
            <a:avLst/>
          </a:prstGeom>
          <a:noFill/>
        </p:spPr>
        <p:txBody>
          <a:bodyPr wrap="square" lIns="0" rIns="0" tIns="0" bIns="0" anchor="t">
            <a:spAutoFit/>
          </a:bodyPr>
          <a:lstStyle/>
          <a:p>
            <a:pPr algn="l">
              <a:spcAft>
                <a:spcPts val="600"/>
              </a:spcAft>
            </a:pPr>
            <a:r>
              <a:rPr sz="1350" b="0" i="1">
                <a:solidFill>
                  <a:srgbClr val="D7DFEA"/>
                </a:solidFill>
                <a:latin typeface="Calibri"/>
              </a:rPr>
              <a:t>With the spread rather than the mean wherever one exists.</a:t>
            </a:r>
          </a:p>
        </p:txBody>
      </p:sp>
      <p:sp>
        <p:nvSpPr>
          <p:cNvPr id="4" name="TextBox 3"/>
          <p:cNvSpPr txBox="1"/>
          <p:nvPr/>
        </p:nvSpPr>
        <p:spPr>
          <a:xfrm>
            <a:off x="566928" y="1700784"/>
            <a:ext cx="2377440" cy="402336"/>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0.8777 to 0.9648</a:t>
            </a:r>
          </a:p>
        </p:txBody>
      </p:sp>
      <p:sp>
        <p:nvSpPr>
          <p:cNvPr id="5" name="TextBox 4"/>
          <p:cNvSpPr txBox="1"/>
          <p:nvPr/>
        </p:nvSpPr>
        <p:spPr>
          <a:xfrm>
            <a:off x="3264408" y="1682496"/>
            <a:ext cx="8183879"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scaffold-grouped AUROC across the 8 core classifiers, against permuted-label nulls of 0.4959 and 0.5026</a:t>
            </a:r>
          </a:p>
        </p:txBody>
      </p:sp>
      <p:sp>
        <p:nvSpPr>
          <p:cNvPr id="6" name="TextBox 5"/>
          <p:cNvSpPr txBox="1"/>
          <p:nvPr/>
        </p:nvSpPr>
        <p:spPr>
          <a:xfrm>
            <a:off x="566928" y="2542032"/>
            <a:ext cx="2377440" cy="402336"/>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0.1612 to 0.8616</a:t>
            </a:r>
          </a:p>
        </p:txBody>
      </p:sp>
      <p:sp>
        <p:nvSpPr>
          <p:cNvPr id="7" name="TextBox 6"/>
          <p:cNvSpPr txBox="1"/>
          <p:nvPr/>
        </p:nvSpPr>
        <p:spPr>
          <a:xfrm>
            <a:off x="3264408" y="2523744"/>
            <a:ext cx="8183879"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recall across four novelty bands, the same curve traced by three independently built test sets</a:t>
            </a:r>
          </a:p>
        </p:txBody>
      </p:sp>
      <p:sp>
        <p:nvSpPr>
          <p:cNvPr id="8" name="TextBox 7"/>
          <p:cNvSpPr txBox="1"/>
          <p:nvPr/>
        </p:nvSpPr>
        <p:spPr>
          <a:xfrm>
            <a:off x="566928" y="3383280"/>
            <a:ext cx="2377440" cy="402336"/>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0.7638</a:t>
            </a:r>
          </a:p>
        </p:txBody>
      </p:sp>
      <p:sp>
        <p:nvSpPr>
          <p:cNvPr id="9" name="TextBox 8"/>
          <p:cNvSpPr txBox="1"/>
          <p:nvPr/>
        </p:nvSpPr>
        <p:spPr>
          <a:xfrm>
            <a:off x="3264408" y="3364992"/>
            <a:ext cx="8183879"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panel sensitivity on held-out actives, median 0.835, from 0.303 to 0.993</a:t>
            </a:r>
          </a:p>
        </p:txBody>
      </p:sp>
      <p:sp>
        <p:nvSpPr>
          <p:cNvPr id="10" name="TextBox 9"/>
          <p:cNvSpPr txBox="1"/>
          <p:nvPr/>
        </p:nvSpPr>
        <p:spPr>
          <a:xfrm>
            <a:off x="566928" y="4224528"/>
            <a:ext cx="2377440" cy="402336"/>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0.925</a:t>
            </a:r>
          </a:p>
        </p:txBody>
      </p:sp>
      <p:sp>
        <p:nvSpPr>
          <p:cNvPr id="11" name="TextBox 10"/>
          <p:cNvSpPr txBox="1"/>
          <p:nvPr/>
        </p:nvSpPr>
        <p:spPr>
          <a:xfrm>
            <a:off x="3264408" y="4206240"/>
            <a:ext cx="8183879"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specificity on presumed-inactive non-CNS chemistry, an upper bound rather than an estimate</a:t>
            </a:r>
          </a:p>
        </p:txBody>
      </p:sp>
      <p:sp>
        <p:nvSpPr>
          <p:cNvPr id="12" name="TextBox 11"/>
          <p:cNvSpPr txBox="1"/>
          <p:nvPr/>
        </p:nvSpPr>
        <p:spPr>
          <a:xfrm>
            <a:off x="566928" y="5065776"/>
            <a:ext cx="2377440" cy="402336"/>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4 of 10</a:t>
            </a:r>
          </a:p>
        </p:txBody>
      </p:sp>
      <p:sp>
        <p:nvSpPr>
          <p:cNvPr id="13" name="TextBox 12"/>
          <p:cNvSpPr txBox="1"/>
          <p:nvPr/>
        </p:nvSpPr>
        <p:spPr>
          <a:xfrm>
            <a:off x="3264408" y="5047488"/>
            <a:ext cx="8183879"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falsification hypotheses refuted, 2 weakened, at the cost of two claims, one interface change and four withdrawn endpoints</a:t>
            </a:r>
          </a:p>
        </p:txBody>
      </p:sp>
      <p:sp>
        <p:nvSpPr>
          <p:cNvPr id="14" name="Rounded Rectangle 13"/>
          <p:cNvSpPr/>
          <p:nvPr/>
        </p:nvSpPr>
        <p:spPr>
          <a:xfrm>
            <a:off x="566928" y="5888736"/>
            <a:ext cx="10698480" cy="676656"/>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6016752"/>
            <a:ext cx="10241280" cy="512064"/>
          </a:xfrm>
          <a:prstGeom prst="rect">
            <a:avLst/>
          </a:prstGeom>
          <a:noFill/>
        </p:spPr>
        <p:txBody>
          <a:bodyPr wrap="square" lIns="0" rIns="0" tIns="0" bIns="0" anchor="t">
            <a:spAutoFit/>
          </a:bodyPr>
          <a:lstStyle/>
          <a:p>
            <a:pPr algn="l">
              <a:lnSpc>
                <a:spcPct val="120000"/>
              </a:lnSpc>
              <a:spcAft>
                <a:spcPts val="600"/>
              </a:spcAft>
            </a:pPr>
            <a:r>
              <a:rPr sz="1300" b="1" i="0">
                <a:solidFill>
                  <a:srgbClr val="FFFFFF"/>
                </a:solidFill>
                <a:latin typeface="Calibri"/>
              </a:rPr>
              <a:t>Not established: anything prospective, anything about natural-product chemistry, and any advantage for the barrier model over twelve descriptors on chemistry it has not seen.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