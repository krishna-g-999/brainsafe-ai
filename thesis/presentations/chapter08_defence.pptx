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time split</c:v>
                </c:pt>
              </c:strCache>
            </c:strRef>
          </c:tx>
          <c:spPr>
            <a:solidFill>
              <a:srgbClr val="D98324"/>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Sheet1!$B$2:$B$5</c:f>
              <c:numCache>
                <c:formatCode>General</c:formatCode>
                <c:ptCount val="4"/>
                <c:pt idx="0">
                  <c:v>27.538791472183675</c:v>
                </c:pt>
                <c:pt idx="1">
                  <c:v>32.97590513435095</c:v>
                </c:pt>
                <c:pt idx="2">
                  <c:v>23.173962406963543</c:v>
                </c:pt>
                <c:pt idx="3">
                  <c:v>16.31134098650183</c:v>
                </c:pt>
              </c:numCache>
            </c:numRef>
          </c:val>
        </c:ser>
        <c:ser>
          <c:idx val="1"/>
          <c:order val="1"/>
          <c:tx>
            <c:strRef>
              <c:f>Sheet1!$C$1</c:f>
              <c:strCache>
                <c:ptCount val="1"/>
                <c:pt idx="0">
                  <c:v>size-matched random</c:v>
                </c:pt>
              </c:strCache>
            </c:strRef>
          </c:tx>
          <c:spPr>
            <a:solidFill>
              <a:srgbClr val="D7DFEA"/>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Sheet1!$C$2:$C$5</c:f>
              <c:numCache>
                <c:formatCode>General</c:formatCode>
                <c:ptCount val="4"/>
                <c:pt idx="0">
                  <c:v>1.3372019679576133</c:v>
                </c:pt>
                <c:pt idx="1">
                  <c:v>2.8573230730415036</c:v>
                </c:pt>
                <c:pt idx="2">
                  <c:v>12.495269332660527</c:v>
                </c:pt>
                <c:pt idx="3">
                  <c:v>83.31020562634036</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D7DFEA"/>
                </a:solidFill>
              </a:defRPr>
            </a:pPr>
          </a:p>
        </c:txPr>
        <c:crossAx val="-2113994440"/>
        <c:crosses val="autoZero"/>
        <c:auto val="1"/>
        <c:lblAlgn val="ctr"/>
        <c:lblOffset val="100"/>
        <c:noMultiLvlLbl val="0"/>
      </c:catAx>
      <c:valAx>
        <c:axId val="-2113994440"/>
        <c:scaling>
          <c:max val="90.0"/>
          <c:min val="0.0"/>
        </c:scaling>
        <c:delete val="0"/>
        <c:axPos val="l"/>
        <c:majorGridlines>
          <c:spPr>
            <a:ln>
              <a:solidFill>
                <a:srgbClr val="1F3A5F"/>
              </a:solidFill>
            </a:ln>
          </c:spPr>
        </c:majorGridlines>
        <c:majorTickMark val="out"/>
        <c:minorTickMark val="none"/>
        <c:tickLblPos val="nextTo"/>
        <c:txPr>
          <a:bodyPr/>
          <a:lstStyle/>
          <a:p>
            <a:pPr>
              <a:defRPr sz="1000">
                <a:solidFill>
                  <a:srgbClr val="D7DFEA"/>
                </a:solidFill>
              </a:defRPr>
            </a:pPr>
          </a:p>
        </c:txPr>
        <c:crossAx val="-2068027336"/>
        <c:crosses val="autoZero"/>
      </c:valAx>
    </c:plotArea>
    <c:legend>
      <c:legendPos val="b"/>
      <c:overlay val="0"/>
      <c:txPr>
        <a:bodyPr/>
        <a:lstStyle/>
        <a:p>
          <a:pPr>
            <a:defRPr sz="1100">
              <a:solidFill>
                <a:srgbClr val="D7DFEA"/>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recall, withheld by date</c:v>
                </c:pt>
              </c:strCache>
            </c:strRef>
          </c:tx>
          <c:spPr>
            <a:solidFill>
              <a:srgbClr val="1F3A5F"/>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Sheet1!$B$2:$B$5</c:f>
              <c:numCache>
                <c:formatCode>General</c:formatCode>
                <c:ptCount val="4"/>
                <c:pt idx="0">
                  <c:v>0.1612</c:v>
                </c:pt>
                <c:pt idx="1">
                  <c:v>0.5532</c:v>
                </c:pt>
                <c:pt idx="2">
                  <c:v>0.7403</c:v>
                </c:pt>
                <c:pt idx="3">
                  <c:v>0.8616</c:v>
                </c:pt>
              </c:numCache>
            </c:numRef>
          </c:val>
        </c:ser>
        <c:ser>
          <c:idx val="1"/>
          <c:order val="1"/>
          <c:tx>
            <c:strRef>
              <c:f>Sheet1!$C$1</c:f>
              <c:strCache>
                <c:ptCount val="1"/>
                <c:pt idx="0">
                  <c:v>recall, withheld at random</c:v>
                </c:pt>
              </c:strCache>
            </c:strRef>
          </c:tx>
          <c:spPr>
            <a:solidFill>
              <a:srgbClr val="D7DFEA"/>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Sheet1!$C$2:$C$5</c:f>
              <c:numCache>
                <c:formatCode>General</c:formatCode>
                <c:ptCount val="4"/>
                <c:pt idx="0">
                  <c:v>0.1179</c:v>
                </c:pt>
                <c:pt idx="1">
                  <c:v>0.5232</c:v>
                </c:pt>
                <c:pt idx="2">
                  <c:v>0.7683</c:v>
                </c:pt>
                <c:pt idx="3">
                  <c:v>0.9334</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F6B7A"/>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withheld by date</c:v>
                </c:pt>
              </c:strCache>
            </c:strRef>
          </c:tx>
          <c:spPr>
            <a:ln w="31750">
              <a:solidFill>
                <a:srgbClr val="1F3A5F"/>
              </a:solidFill>
            </a:ln>
          </c:spPr>
          <c:marker>
            <c:spPr>
              <a:solidFill>
                <a:srgbClr val="1F3A5F"/>
              </a:solidFill>
              <a:ln>
                <a:solidFill>
                  <a:srgbClr val="1F3A5F"/>
                </a:solidFill>
              </a:ln>
            </c:spPr>
          </c:marker>
          <c:cat>
            <c:strRef>
              <c:f>Sheet1!$A$2:$A$5</c:f>
              <c:strCache>
                <c:ptCount val="4"/>
                <c:pt idx="0">
                  <c:v>below 0.40
different chemotype</c:v>
                </c:pt>
                <c:pt idx="1">
                  <c:v>0.40 to 0.55
related series</c:v>
                </c:pt>
                <c:pt idx="2">
                  <c:v>0.55 to 0.70
same series</c:v>
                </c:pt>
                <c:pt idx="3">
                  <c:v>0.70 and above
close analogue</c:v>
                </c:pt>
              </c:strCache>
            </c:strRef>
          </c:cat>
          <c:val>
            <c:numRef>
              <c:f>Sheet1!$B$2:$B$5</c:f>
              <c:numCache>
                <c:formatCode>General</c:formatCode>
                <c:ptCount val="4"/>
                <c:pt idx="0">
                  <c:v>0.1612</c:v>
                </c:pt>
                <c:pt idx="1">
                  <c:v>0.5532</c:v>
                </c:pt>
                <c:pt idx="2">
                  <c:v>0.7403</c:v>
                </c:pt>
                <c:pt idx="3">
                  <c:v>0.8616</c:v>
                </c:pt>
              </c:numCache>
            </c:numRef>
          </c:val>
          <c:smooth val="0"/>
        </c:ser>
        <c:ser>
          <c:idx val="1"/>
          <c:order val="1"/>
          <c:tx>
            <c:strRef>
              <c:f>Sheet1!$C$1</c:f>
              <c:strCache>
                <c:ptCount val="1"/>
                <c:pt idx="0">
                  <c:v>withheld at random</c:v>
                </c:pt>
              </c:strCache>
            </c:strRef>
          </c:tx>
          <c:spPr>
            <a:ln w="31750">
              <a:solidFill>
                <a:srgbClr val="1C7293"/>
              </a:solidFill>
            </a:ln>
          </c:spPr>
          <c:marker>
            <c:spPr>
              <a:solidFill>
                <a:srgbClr val="1C7293"/>
              </a:solidFill>
              <a:ln>
                <a:solidFill>
                  <a:srgbClr val="1C7293"/>
                </a:solidFill>
              </a:ln>
            </c:spPr>
          </c:marker>
          <c:cat>
            <c:strRef>
              <c:f>Sheet1!$A$2:$A$5</c:f>
              <c:strCache>
                <c:ptCount val="4"/>
                <c:pt idx="0">
                  <c:v>below 0.40
different chemotype</c:v>
                </c:pt>
                <c:pt idx="1">
                  <c:v>0.40 to 0.55
related series</c:v>
                </c:pt>
                <c:pt idx="2">
                  <c:v>0.55 to 0.70
same series</c:v>
                </c:pt>
                <c:pt idx="3">
                  <c:v>0.70 and above
close analogue</c:v>
                </c:pt>
              </c:strCache>
            </c:strRef>
          </c:cat>
          <c:val>
            <c:numRef>
              <c:f>Sheet1!$C$2:$C$5</c:f>
              <c:numCache>
                <c:formatCode>General</c:formatCode>
                <c:ptCount val="4"/>
                <c:pt idx="0">
                  <c:v>0.1179</c:v>
                </c:pt>
                <c:pt idx="1">
                  <c:v>0.5232</c:v>
                </c:pt>
                <c:pt idx="2">
                  <c:v>0.7683</c:v>
                </c:pt>
                <c:pt idx="3">
                  <c:v>0.9334</c:v>
                </c:pt>
              </c:numCache>
            </c:numRef>
          </c:val>
          <c:smooth val="0"/>
        </c:ser>
        <c:ser>
          <c:idx val="2"/>
          <c:order val="2"/>
          <c:tx>
            <c:strRef>
              <c:f>Sheet1!$D$1</c:f>
              <c:strCache>
                <c:ptCount val="1"/>
                <c:pt idx="0">
                  <c:v>withheld by curator</c:v>
                </c:pt>
              </c:strCache>
            </c:strRef>
          </c:tx>
          <c:spPr>
            <a:ln w="31750">
              <a:solidFill>
                <a:srgbClr val="D98324"/>
              </a:solidFill>
            </a:ln>
          </c:spPr>
          <c:marker>
            <c:spPr>
              <a:solidFill>
                <a:srgbClr val="D98324"/>
              </a:solidFill>
              <a:ln>
                <a:solidFill>
                  <a:srgbClr val="D98324"/>
                </a:solidFill>
              </a:ln>
            </c:spPr>
          </c:marker>
          <c:cat>
            <c:strRef>
              <c:f>Sheet1!$A$2:$A$5</c:f>
              <c:strCache>
                <c:ptCount val="4"/>
                <c:pt idx="0">
                  <c:v>below 0.40
different chemotype</c:v>
                </c:pt>
                <c:pt idx="1">
                  <c:v>0.40 to 0.55
related series</c:v>
                </c:pt>
                <c:pt idx="2">
                  <c:v>0.55 to 0.70
same series</c:v>
                </c:pt>
                <c:pt idx="3">
                  <c:v>0.70 and above
close analogue</c:v>
                </c:pt>
              </c:strCache>
            </c:strRef>
          </c:cat>
          <c:val>
            <c:numRef>
              <c:f>Sheet1!$D$2:$D$5</c:f>
              <c:numCache>
                <c:formatCode>General</c:formatCode>
                <c:ptCount val="4"/>
                <c:pt idx="0">
                  <c:v>0.0494</c:v>
                </c:pt>
                <c:pt idx="1">
                  <c:v>0.4641</c:v>
                </c:pt>
                <c:pt idx="2">
                  <c:v>0.8264</c:v>
                </c:pt>
                <c:pt idx="3">
                  <c:v>0.9011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solidFill>
                  <a:srgbClr val="5F6B7A"/>
                </a:solidFill>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aggregate looks like decay. It is not. That reversal is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column is the reason this is a programme. No single test answers the question, and saying what each cannot do is what makes the set of them credible.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target panel no external set exists, and the reason is structural: for most of these targets the public measured chemistry IS the training 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refitted, thresholds frozen before the cutoff, decoys matched to pre-cutoff actives only, and a size-matched control so a drop can be attributed.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stratification was built to check whether the time split was too easy. It showed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Chemical distance accounts for most of the apparent temporal effect and not demonstrably all of it. Say the second half too.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evidence in the chapter and the reason the composition reading is believed rather than merely preferred.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is paired with the background false-positive rate at the same threshold, because recall alone is meaningless: a model answering active to everything scores 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Presumed inactive, not proven inactive, so the artefact labels the paired false-positive rate an upper bound and the specificity a lower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fourth. A referee who finds an uncheckable null model unaided will discount every cross-validation figure in the thesis.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591056"/>
            <a:ext cx="11057839" cy="457200"/>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Chapter 8</a:t>
            </a:r>
          </a:p>
        </p:txBody>
      </p:sp>
      <p:sp>
        <p:nvSpPr>
          <p:cNvPr id="3" name="TextBox 2"/>
          <p:cNvSpPr txBox="1"/>
          <p:nvPr/>
        </p:nvSpPr>
        <p:spPr>
          <a:xfrm>
            <a:off x="566928" y="1993392"/>
            <a:ext cx="10143439" cy="146304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Validation, external and prospective, and the composition finding</a:t>
            </a:r>
          </a:p>
        </p:txBody>
      </p:sp>
      <p:sp>
        <p:nvSpPr>
          <p:cNvPr id="4" name="TextBox 3"/>
          <p:cNvSpPr txBox="1"/>
          <p:nvPr/>
        </p:nvSpPr>
        <p:spPr>
          <a:xfrm>
            <a:off x="566928" y="3794760"/>
            <a:ext cx="9594799" cy="914400"/>
          </a:xfrm>
          <a:prstGeom prst="rect">
            <a:avLst/>
          </a:prstGeom>
          <a:noFill/>
        </p:spPr>
        <p:txBody>
          <a:bodyPr wrap="square" lIns="0" rIns="0" tIns="0" bIns="0" anchor="t">
            <a:spAutoFit/>
          </a:bodyPr>
          <a:lstStyle/>
          <a:p>
            <a:pPr algn="l">
              <a:lnSpc>
                <a:spcPct val="125000"/>
              </a:lnSpc>
              <a:spcAft>
                <a:spcPts val="600"/>
              </a:spcAft>
            </a:pPr>
            <a:r>
              <a:rPr sz="1600" b="0" i="1">
                <a:solidFill>
                  <a:srgbClr val="D7DFEA"/>
                </a:solidFill>
                <a:latin typeface="Calibri"/>
              </a:rPr>
              <a:t>A programme in which each test answers a question the previous one cannot, and one result that changes what every other number in it means</a:t>
            </a:r>
          </a:p>
        </p:txBody>
      </p:sp>
      <p:sp>
        <p:nvSpPr>
          <p:cNvPr id="5" name="TextBox 4"/>
          <p:cNvSpPr txBox="1"/>
          <p:nvPr/>
        </p:nvSpPr>
        <p:spPr>
          <a:xfrm>
            <a:off x="566928" y="5212080"/>
            <a:ext cx="11057839" cy="457200"/>
          </a:xfrm>
          <a:prstGeom prst="rect">
            <a:avLst/>
          </a:prstGeom>
          <a:noFill/>
        </p:spPr>
        <p:txBody>
          <a:bodyPr wrap="square" lIns="0" rIns="0" tIns="0" bIns="0" anchor="t">
            <a:spAutoFit/>
          </a:bodyPr>
          <a:lstStyle/>
          <a:p>
            <a:pPr algn="l">
              <a:spcAft>
                <a:spcPts val="600"/>
              </a:spcAft>
            </a:pPr>
            <a:r>
              <a:rPr sz="1300" b="0" i="0">
                <a:solidFill>
                  <a:srgbClr val="1C7293"/>
                </a:solidFill>
                <a:latin typeface="Calibri"/>
              </a:rPr>
              <a:t>39 of 47 endpoints refitted before a temporal wall, 15,854 post-cutoff test actives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A programme, not a number</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Each test answers a question the previous one cannot</a:t>
            </a:r>
          </a:p>
        </p:txBody>
      </p:sp>
      <p:sp>
        <p:nvSpPr>
          <p:cNvPr id="5" name="TextBox 4"/>
          <p:cNvSpPr txBox="1"/>
          <p:nvPr/>
        </p:nvSpPr>
        <p:spPr>
          <a:xfrm>
            <a:off x="841247" y="1700784"/>
            <a:ext cx="274320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test</a:t>
            </a:r>
          </a:p>
        </p:txBody>
      </p:sp>
      <p:sp>
        <p:nvSpPr>
          <p:cNvPr id="6" name="TextBox 5"/>
          <p:cNvSpPr txBox="1"/>
          <p:nvPr/>
        </p:nvSpPr>
        <p:spPr>
          <a:xfrm>
            <a:off x="3813048" y="1700784"/>
            <a:ext cx="3840480" cy="274320"/>
          </a:xfrm>
          <a:prstGeom prst="rect">
            <a:avLst/>
          </a:prstGeom>
          <a:noFill/>
        </p:spPr>
        <p:txBody>
          <a:bodyPr wrap="square" lIns="0" rIns="0" tIns="0" bIns="0" anchor="t">
            <a:spAutoFit/>
          </a:bodyPr>
          <a:lstStyle/>
          <a:p>
            <a:pPr algn="l">
              <a:spcAft>
                <a:spcPts val="600"/>
              </a:spcAft>
            </a:pPr>
            <a:r>
              <a:rPr sz="1100" b="1" i="0">
                <a:solidFill>
                  <a:srgbClr val="1F3A5F"/>
                </a:solidFill>
                <a:latin typeface="Calibri"/>
              </a:rPr>
              <a:t>what it answers</a:t>
            </a:r>
          </a:p>
        </p:txBody>
      </p:sp>
      <p:sp>
        <p:nvSpPr>
          <p:cNvPr id="7" name="TextBox 6"/>
          <p:cNvSpPr txBox="1"/>
          <p:nvPr/>
        </p:nvSpPr>
        <p:spPr>
          <a:xfrm>
            <a:off x="7973567" y="1700784"/>
            <a:ext cx="3657600" cy="274320"/>
          </a:xfrm>
          <a:prstGeom prst="rect">
            <a:avLst/>
          </a:prstGeom>
          <a:noFill/>
        </p:spPr>
        <p:txBody>
          <a:bodyPr wrap="square" lIns="0" rIns="0" tIns="0" bIns="0" anchor="t">
            <a:spAutoFit/>
          </a:bodyPr>
          <a:lstStyle/>
          <a:p>
            <a:pPr algn="l">
              <a:spcAft>
                <a:spcPts val="600"/>
              </a:spcAft>
            </a:pPr>
            <a:r>
              <a:rPr sz="1100" b="1" i="0">
                <a:solidFill>
                  <a:srgbClr val="D98324"/>
                </a:solidFill>
                <a:latin typeface="Calibri"/>
              </a:rPr>
              <a:t>what it cannot</a:t>
            </a:r>
          </a:p>
        </p:txBody>
      </p:sp>
      <p:sp>
        <p:nvSpPr>
          <p:cNvPr id="8" name="Rounded Rectangle 7"/>
          <p:cNvSpPr/>
          <p:nvPr/>
        </p:nvSpPr>
        <p:spPr>
          <a:xfrm>
            <a:off x="566928" y="1947672"/>
            <a:ext cx="11057839" cy="5120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2029968"/>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Random cross-validation</a:t>
            </a:r>
          </a:p>
        </p:txBody>
      </p:sp>
      <p:sp>
        <p:nvSpPr>
          <p:cNvPr id="10" name="TextBox 9"/>
          <p:cNvSpPr txBox="1"/>
          <p:nvPr/>
        </p:nvSpPr>
        <p:spPr>
          <a:xfrm>
            <a:off x="3813048" y="2029968"/>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interpolation within known chemistry</a:t>
            </a:r>
          </a:p>
        </p:txBody>
      </p:sp>
      <p:sp>
        <p:nvSpPr>
          <p:cNvPr id="11" name="TextBox 10"/>
          <p:cNvSpPr txBox="1"/>
          <p:nvPr/>
        </p:nvSpPr>
        <p:spPr>
          <a:xfrm>
            <a:off x="7973567" y="2029968"/>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nothing about new chemistry</a:t>
            </a:r>
          </a:p>
        </p:txBody>
      </p:sp>
      <p:sp>
        <p:nvSpPr>
          <p:cNvPr id="12" name="TextBox 11"/>
          <p:cNvSpPr txBox="1"/>
          <p:nvPr/>
        </p:nvSpPr>
        <p:spPr>
          <a:xfrm>
            <a:off x="841247" y="2542032"/>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Scaffold-grouped split</a:t>
            </a:r>
          </a:p>
        </p:txBody>
      </p:sp>
      <p:sp>
        <p:nvSpPr>
          <p:cNvPr id="13" name="TextBox 12"/>
          <p:cNvSpPr txBox="1"/>
          <p:nvPr/>
        </p:nvSpPr>
        <p:spPr>
          <a:xfrm>
            <a:off x="3813048" y="2542032"/>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generalisation to a withheld structural class</a:t>
            </a:r>
          </a:p>
        </p:txBody>
      </p:sp>
      <p:sp>
        <p:nvSpPr>
          <p:cNvPr id="14" name="TextBox 13"/>
          <p:cNvSpPr txBox="1"/>
          <p:nvPr/>
        </p:nvSpPr>
        <p:spPr>
          <a:xfrm>
            <a:off x="7973567" y="2542032"/>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whether the class was withheld realistically</a:t>
            </a:r>
          </a:p>
        </p:txBody>
      </p:sp>
      <p:sp>
        <p:nvSpPr>
          <p:cNvPr id="15" name="Rounded Rectangle 14"/>
          <p:cNvSpPr/>
          <p:nvPr/>
        </p:nvSpPr>
        <p:spPr>
          <a:xfrm>
            <a:off x="566928" y="2971800"/>
            <a:ext cx="11057839" cy="5120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41247" y="3054096"/>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Temporal refit</a:t>
            </a:r>
          </a:p>
        </p:txBody>
      </p:sp>
      <p:sp>
        <p:nvSpPr>
          <p:cNvPr id="17" name="TextBox 16"/>
          <p:cNvSpPr txBox="1"/>
          <p:nvPr/>
        </p:nvSpPr>
        <p:spPr>
          <a:xfrm>
            <a:off x="3813048" y="3054096"/>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what it would have said about chemistry that did not exist</a:t>
            </a:r>
          </a:p>
        </p:txBody>
      </p:sp>
      <p:sp>
        <p:nvSpPr>
          <p:cNvPr id="18" name="TextBox 17"/>
          <p:cNvSpPr txBox="1"/>
          <p:nvPr/>
        </p:nvSpPr>
        <p:spPr>
          <a:xfrm>
            <a:off x="7973567" y="3054096"/>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whether a drop is the wall or the smaller training set</a:t>
            </a:r>
          </a:p>
        </p:txBody>
      </p:sp>
      <p:sp>
        <p:nvSpPr>
          <p:cNvPr id="19" name="TextBox 18"/>
          <p:cNvSpPr txBox="1"/>
          <p:nvPr/>
        </p:nvSpPr>
        <p:spPr>
          <a:xfrm>
            <a:off x="841247" y="3566160"/>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Size-matched random control</a:t>
            </a:r>
          </a:p>
        </p:txBody>
      </p:sp>
      <p:sp>
        <p:nvSpPr>
          <p:cNvPr id="20" name="TextBox 19"/>
          <p:cNvSpPr txBox="1"/>
          <p:nvPr/>
        </p:nvSpPr>
        <p:spPr>
          <a:xfrm>
            <a:off x="3813048" y="3566160"/>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which of those two it was</a:t>
            </a:r>
          </a:p>
        </p:txBody>
      </p:sp>
      <p:sp>
        <p:nvSpPr>
          <p:cNvPr id="21" name="TextBox 20"/>
          <p:cNvSpPr txBox="1"/>
          <p:nvPr/>
        </p:nvSpPr>
        <p:spPr>
          <a:xfrm>
            <a:off x="7973567" y="3566160"/>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the composition of the test set</a:t>
            </a:r>
          </a:p>
        </p:txBody>
      </p:sp>
      <p:sp>
        <p:nvSpPr>
          <p:cNvPr id="22" name="Rounded Rectangle 21"/>
          <p:cNvSpPr/>
          <p:nvPr/>
        </p:nvSpPr>
        <p:spPr>
          <a:xfrm>
            <a:off x="566928" y="3995928"/>
            <a:ext cx="11057839" cy="5120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4078224"/>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Novelty stratification</a:t>
            </a:r>
          </a:p>
        </p:txBody>
      </p:sp>
      <p:sp>
        <p:nvSpPr>
          <p:cNvPr id="24" name="TextBox 23"/>
          <p:cNvSpPr txBox="1"/>
          <p:nvPr/>
        </p:nvSpPr>
        <p:spPr>
          <a:xfrm>
            <a:off x="3813048" y="4078224"/>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whether the effect is date or distance</a:t>
            </a:r>
          </a:p>
        </p:txBody>
      </p:sp>
      <p:sp>
        <p:nvSpPr>
          <p:cNvPr id="25" name="TextBox 24"/>
          <p:cNvSpPr txBox="1"/>
          <p:nvPr/>
        </p:nvSpPr>
        <p:spPr>
          <a:xfrm>
            <a:off x="7973567" y="4078224"/>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absolute performance on distant chemistry</a:t>
            </a:r>
          </a:p>
        </p:txBody>
      </p:sp>
      <p:sp>
        <p:nvSpPr>
          <p:cNvPr id="26" name="TextBox 25"/>
          <p:cNvSpPr txBox="1"/>
          <p:nvPr/>
        </p:nvSpPr>
        <p:spPr>
          <a:xfrm>
            <a:off x="841247" y="4590288"/>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Cross-provenance refit</a:t>
            </a:r>
          </a:p>
        </p:txBody>
      </p:sp>
      <p:sp>
        <p:nvSpPr>
          <p:cNvPr id="27" name="TextBox 26"/>
          <p:cNvSpPr txBox="1"/>
          <p:nvPr/>
        </p:nvSpPr>
        <p:spPr>
          <a:xfrm>
            <a:off x="3813048" y="4590288"/>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does the signal survive a change of curator</a:t>
            </a:r>
          </a:p>
        </p:txBody>
      </p:sp>
      <p:sp>
        <p:nvSpPr>
          <p:cNvPr id="28" name="TextBox 27"/>
          <p:cNvSpPr txBox="1"/>
          <p:nvPr/>
        </p:nvSpPr>
        <p:spPr>
          <a:xfrm>
            <a:off x="7973567" y="4590288"/>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anything, on more than three endpoints</a:t>
            </a:r>
          </a:p>
        </p:txBody>
      </p:sp>
      <p:sp>
        <p:nvSpPr>
          <p:cNvPr id="29" name="Rounded Rectangle 28"/>
          <p:cNvSpPr/>
          <p:nvPr/>
        </p:nvSpPr>
        <p:spPr>
          <a:xfrm>
            <a:off x="566928" y="5020056"/>
            <a:ext cx="11057839" cy="5120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102352"/>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Non-CNS specificity</a:t>
            </a:r>
          </a:p>
        </p:txBody>
      </p:sp>
      <p:sp>
        <p:nvSpPr>
          <p:cNvPr id="31" name="TextBox 30"/>
          <p:cNvSpPr txBox="1"/>
          <p:nvPr/>
        </p:nvSpPr>
        <p:spPr>
          <a:xfrm>
            <a:off x="3813048" y="5102352"/>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does it stay quiet when it should</a:t>
            </a:r>
          </a:p>
        </p:txBody>
      </p:sp>
      <p:sp>
        <p:nvSpPr>
          <p:cNvPr id="32" name="TextBox 31"/>
          <p:cNvSpPr txBox="1"/>
          <p:nvPr/>
        </p:nvSpPr>
        <p:spPr>
          <a:xfrm>
            <a:off x="7973567" y="5102352"/>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behaviour on proven inactives</a:t>
            </a:r>
          </a:p>
        </p:txBody>
      </p:sp>
      <p:sp>
        <p:nvSpPr>
          <p:cNvPr id="33" name="TextBox 32"/>
          <p:cNvSpPr txBox="1"/>
          <p:nvPr/>
        </p:nvSpPr>
        <p:spPr>
          <a:xfrm>
            <a:off x="841247" y="5614416"/>
            <a:ext cx="2834640" cy="457200"/>
          </a:xfrm>
          <a:prstGeom prst="rect">
            <a:avLst/>
          </a:prstGeom>
          <a:noFill/>
        </p:spPr>
        <p:txBody>
          <a:bodyPr wrap="square" lIns="0" rIns="0" tIns="0" bIns="0" anchor="t">
            <a:spAutoFit/>
          </a:bodyPr>
          <a:lstStyle/>
          <a:p>
            <a:pPr algn="l">
              <a:lnSpc>
                <a:spcPct val="115000"/>
              </a:lnSpc>
              <a:spcAft>
                <a:spcPts val="600"/>
              </a:spcAft>
            </a:pPr>
            <a:r>
              <a:rPr sz="1250" b="1" i="0">
                <a:solidFill>
                  <a:srgbClr val="0F1A2E"/>
                </a:solidFill>
                <a:latin typeface="Calibri"/>
              </a:rPr>
              <a:t>Adversarial suite</a:t>
            </a:r>
          </a:p>
        </p:txBody>
      </p:sp>
      <p:sp>
        <p:nvSpPr>
          <p:cNvPr id="34" name="TextBox 33"/>
          <p:cNvSpPr txBox="1"/>
          <p:nvPr/>
        </p:nvSpPr>
        <p:spPr>
          <a:xfrm>
            <a:off x="3813048" y="5614416"/>
            <a:ext cx="4023360"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can any check fail</a:t>
            </a:r>
          </a:p>
        </p:txBody>
      </p:sp>
      <p:sp>
        <p:nvSpPr>
          <p:cNvPr id="35" name="TextBox 34"/>
          <p:cNvSpPr txBox="1"/>
          <p:nvPr/>
        </p:nvSpPr>
        <p:spPr>
          <a:xfrm>
            <a:off x="7973567" y="5614416"/>
            <a:ext cx="3559759" cy="457200"/>
          </a:xfrm>
          <a:prstGeom prst="rect">
            <a:avLst/>
          </a:prstGeom>
          <a:noFill/>
        </p:spPr>
        <p:txBody>
          <a:bodyPr wrap="square" lIns="0" rIns="0" tIns="0" bIns="0" anchor="t">
            <a:spAutoFit/>
          </a:bodyPr>
          <a:lstStyle/>
          <a:p>
            <a:pPr algn="l">
              <a:lnSpc>
                <a:spcPct val="118000"/>
              </a:lnSpc>
              <a:spcAft>
                <a:spcPts val="600"/>
              </a:spcAft>
            </a:pPr>
            <a:r>
              <a:rPr sz="1200" b="0" i="0">
                <a:solidFill>
                  <a:srgbClr val="5F6B7A"/>
                </a:solidFill>
                <a:latin typeface="Calibri"/>
              </a:rPr>
              <a:t>what nobody thought to check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one genuine external set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FDA-curated approved drugs absent from the barrier model's training source</a:t>
            </a:r>
          </a:p>
        </p:txBody>
      </p:sp>
      <p:sp>
        <p:nvSpPr>
          <p:cNvPr id="5" name="TextBox 4"/>
          <p:cNvSpPr txBox="1"/>
          <p:nvPr/>
        </p:nvSpPr>
        <p:spPr>
          <a:xfrm>
            <a:off x="841247" y="1755648"/>
            <a:ext cx="493776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set</a:t>
            </a:r>
          </a:p>
        </p:txBody>
      </p:sp>
      <p:sp>
        <p:nvSpPr>
          <p:cNvPr id="6" name="TextBox 5"/>
          <p:cNvSpPr txBox="1"/>
          <p:nvPr/>
        </p:nvSpPr>
        <p:spPr>
          <a:xfrm>
            <a:off x="5961888" y="1755648"/>
            <a:ext cx="12344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n</a:t>
            </a:r>
          </a:p>
        </p:txBody>
      </p:sp>
      <p:sp>
        <p:nvSpPr>
          <p:cNvPr id="7" name="TextBox 6"/>
          <p:cNvSpPr txBox="1"/>
          <p:nvPr/>
        </p:nvSpPr>
        <p:spPr>
          <a:xfrm>
            <a:off x="7379208" y="1755648"/>
            <a:ext cx="12344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AUROC</a:t>
            </a:r>
          </a:p>
        </p:txBody>
      </p:sp>
      <p:sp>
        <p:nvSpPr>
          <p:cNvPr id="8" name="TextBox 7"/>
          <p:cNvSpPr txBox="1"/>
          <p:nvPr/>
        </p:nvSpPr>
        <p:spPr>
          <a:xfrm>
            <a:off x="8796528" y="1755648"/>
            <a:ext cx="12344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sensitivity</a:t>
            </a:r>
          </a:p>
        </p:txBody>
      </p:sp>
      <p:sp>
        <p:nvSpPr>
          <p:cNvPr id="9" name="TextBox 8"/>
          <p:cNvSpPr txBox="1"/>
          <p:nvPr/>
        </p:nvSpPr>
        <p:spPr>
          <a:xfrm>
            <a:off x="10213848" y="1755648"/>
            <a:ext cx="12344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specificity</a:t>
            </a:r>
          </a:p>
        </p:txBody>
      </p:sp>
      <p:sp>
        <p:nvSpPr>
          <p:cNvPr id="10" name="Rounded Rectangle 9"/>
          <p:cNvSpPr/>
          <p:nvPr/>
        </p:nvSpPr>
        <p:spPr>
          <a:xfrm>
            <a:off x="566928" y="2048255"/>
            <a:ext cx="11057839" cy="60350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2139696"/>
            <a:ext cx="4937760" cy="365760"/>
          </a:xfrm>
          <a:prstGeom prst="rect">
            <a:avLst/>
          </a:prstGeom>
          <a:noFill/>
        </p:spPr>
        <p:txBody>
          <a:bodyPr wrap="square" lIns="0" rIns="0" tIns="0" bIns="0" anchor="t">
            <a:spAutoFit/>
          </a:bodyPr>
          <a:lstStyle/>
          <a:p>
            <a:pPr algn="l">
              <a:spcAft>
                <a:spcPts val="600"/>
              </a:spcAft>
            </a:pPr>
            <a:r>
              <a:rPr sz="1300" b="0" i="0">
                <a:solidFill>
                  <a:srgbClr val="5F6B7A"/>
                </a:solidFill>
                <a:latin typeface="Calibri"/>
              </a:rPr>
              <a:t>Not in B3DB by InChIKey</a:t>
            </a:r>
          </a:p>
        </p:txBody>
      </p:sp>
      <p:sp>
        <p:nvSpPr>
          <p:cNvPr id="12" name="TextBox 11"/>
          <p:cNvSpPr txBox="1"/>
          <p:nvPr/>
        </p:nvSpPr>
        <p:spPr>
          <a:xfrm>
            <a:off x="5961888" y="2139696"/>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306</a:t>
            </a:r>
          </a:p>
        </p:txBody>
      </p:sp>
      <p:sp>
        <p:nvSpPr>
          <p:cNvPr id="13" name="TextBox 12"/>
          <p:cNvSpPr txBox="1"/>
          <p:nvPr/>
        </p:nvSpPr>
        <p:spPr>
          <a:xfrm>
            <a:off x="7379208" y="2139696"/>
            <a:ext cx="1234440" cy="365760"/>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0.7645</a:t>
            </a:r>
          </a:p>
        </p:txBody>
      </p:sp>
      <p:sp>
        <p:nvSpPr>
          <p:cNvPr id="14" name="TextBox 13"/>
          <p:cNvSpPr txBox="1"/>
          <p:nvPr/>
        </p:nvSpPr>
        <p:spPr>
          <a:xfrm>
            <a:off x="8796528" y="2139696"/>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0.7734</a:t>
            </a:r>
          </a:p>
        </p:txBody>
      </p:sp>
      <p:sp>
        <p:nvSpPr>
          <p:cNvPr id="15" name="TextBox 14"/>
          <p:cNvSpPr txBox="1"/>
          <p:nvPr/>
        </p:nvSpPr>
        <p:spPr>
          <a:xfrm>
            <a:off x="10213848" y="2139696"/>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0.6505</a:t>
            </a:r>
          </a:p>
        </p:txBody>
      </p:sp>
      <p:sp>
        <p:nvSpPr>
          <p:cNvPr id="16" name="Rounded Rectangle 15"/>
          <p:cNvSpPr/>
          <p:nvPr/>
        </p:nvSpPr>
        <p:spPr>
          <a:xfrm>
            <a:off x="566928" y="2761488"/>
            <a:ext cx="11057839" cy="60350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247" y="2852928"/>
            <a:ext cx="4937760" cy="365760"/>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Also distinguishable in feature space</a:t>
            </a:r>
          </a:p>
        </p:txBody>
      </p:sp>
      <p:sp>
        <p:nvSpPr>
          <p:cNvPr id="18" name="TextBox 17"/>
          <p:cNvSpPr txBox="1"/>
          <p:nvPr/>
        </p:nvSpPr>
        <p:spPr>
          <a:xfrm>
            <a:off x="5961888" y="2852928"/>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241</a:t>
            </a:r>
          </a:p>
        </p:txBody>
      </p:sp>
      <p:sp>
        <p:nvSpPr>
          <p:cNvPr id="19" name="TextBox 18"/>
          <p:cNvSpPr txBox="1"/>
          <p:nvPr/>
        </p:nvSpPr>
        <p:spPr>
          <a:xfrm>
            <a:off x="7379208" y="2852928"/>
            <a:ext cx="1234440" cy="365760"/>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0.7934</a:t>
            </a:r>
          </a:p>
        </p:txBody>
      </p:sp>
      <p:sp>
        <p:nvSpPr>
          <p:cNvPr id="20" name="TextBox 19"/>
          <p:cNvSpPr txBox="1"/>
          <p:nvPr/>
        </p:nvSpPr>
        <p:spPr>
          <a:xfrm>
            <a:off x="8796528" y="2852928"/>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0.7661</a:t>
            </a:r>
          </a:p>
        </p:txBody>
      </p:sp>
      <p:sp>
        <p:nvSpPr>
          <p:cNvPr id="21" name="TextBox 20"/>
          <p:cNvSpPr txBox="1"/>
          <p:nvPr/>
        </p:nvSpPr>
        <p:spPr>
          <a:xfrm>
            <a:off x="10213848" y="2852928"/>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0.6571</a:t>
            </a:r>
          </a:p>
        </p:txBody>
      </p:sp>
      <p:sp>
        <p:nvSpPr>
          <p:cNvPr id="22" name="Rounded Rectangle 21"/>
          <p:cNvSpPr/>
          <p:nvPr/>
        </p:nvSpPr>
        <p:spPr>
          <a:xfrm>
            <a:off x="566928" y="3474720"/>
            <a:ext cx="11057839" cy="60350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3566160"/>
            <a:ext cx="4937760" cy="365760"/>
          </a:xfrm>
          <a:prstGeom prst="rect">
            <a:avLst/>
          </a:prstGeom>
          <a:noFill/>
        </p:spPr>
        <p:txBody>
          <a:bodyPr wrap="square" lIns="0" rIns="0" tIns="0" bIns="0" anchor="t">
            <a:spAutoFit/>
          </a:bodyPr>
          <a:lstStyle/>
          <a:p>
            <a:pPr algn="l">
              <a:spcAft>
                <a:spcPts val="600"/>
              </a:spcAft>
            </a:pPr>
            <a:r>
              <a:rPr sz="1300" b="0" i="0">
                <a:solidFill>
                  <a:srgbClr val="9E2A2B"/>
                </a:solidFill>
                <a:latin typeface="Calibri"/>
              </a:rPr>
              <a:t>Of which feature-identical to training</a:t>
            </a:r>
          </a:p>
        </p:txBody>
      </p:sp>
      <p:sp>
        <p:nvSpPr>
          <p:cNvPr id="24" name="TextBox 23"/>
          <p:cNvSpPr txBox="1"/>
          <p:nvPr/>
        </p:nvSpPr>
        <p:spPr>
          <a:xfrm>
            <a:off x="5961888" y="3566160"/>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65</a:t>
            </a:r>
          </a:p>
        </p:txBody>
      </p:sp>
      <p:sp>
        <p:nvSpPr>
          <p:cNvPr id="25" name="TextBox 24"/>
          <p:cNvSpPr txBox="1"/>
          <p:nvPr/>
        </p:nvSpPr>
        <p:spPr>
          <a:xfrm>
            <a:off x="7379208" y="3566160"/>
            <a:ext cx="1234440" cy="365760"/>
          </a:xfrm>
          <a:prstGeom prst="rect">
            <a:avLst/>
          </a:prstGeom>
          <a:noFill/>
        </p:spPr>
        <p:txBody>
          <a:bodyPr wrap="square" lIns="0" rIns="0" tIns="0" bIns="0" anchor="t">
            <a:spAutoFit/>
          </a:bodyPr>
          <a:lstStyle/>
          <a:p>
            <a:pPr algn="r">
              <a:spcAft>
                <a:spcPts val="600"/>
              </a:spcAft>
            </a:pPr>
            <a:r>
              <a:rPr sz="1300" b="0" i="0">
                <a:solidFill>
                  <a:srgbClr val="9E2A2B"/>
                </a:solidFill>
                <a:latin typeface="Calibri"/>
              </a:rPr>
              <a:t>0.7102</a:t>
            </a:r>
          </a:p>
        </p:txBody>
      </p:sp>
      <p:sp>
        <p:nvSpPr>
          <p:cNvPr id="26" name="TextBox 25"/>
          <p:cNvSpPr txBox="1"/>
          <p:nvPr/>
        </p:nvSpPr>
        <p:spPr>
          <a:xfrm>
            <a:off x="8796528" y="3566160"/>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0.8125</a:t>
            </a:r>
          </a:p>
        </p:txBody>
      </p:sp>
      <p:sp>
        <p:nvSpPr>
          <p:cNvPr id="27" name="TextBox 26"/>
          <p:cNvSpPr txBox="1"/>
          <p:nvPr/>
        </p:nvSpPr>
        <p:spPr>
          <a:xfrm>
            <a:off x="10213848" y="3566160"/>
            <a:ext cx="1234440" cy="365760"/>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0.6364</a:t>
            </a:r>
          </a:p>
        </p:txBody>
      </p:sp>
      <p:sp>
        <p:nvSpPr>
          <p:cNvPr id="28" name="TextBox 27"/>
          <p:cNvSpPr txBox="1"/>
          <p:nvPr/>
        </p:nvSpPr>
        <p:spPr>
          <a:xfrm>
            <a:off x="566928" y="4343400"/>
            <a:ext cx="11057839" cy="457200"/>
          </a:xfrm>
          <a:prstGeom prst="rect">
            <a:avLst/>
          </a:prstGeom>
          <a:noFill/>
        </p:spPr>
        <p:txBody>
          <a:bodyPr wrap="square" lIns="0" rIns="0" tIns="0" bIns="0" anchor="t">
            <a:spAutoFit/>
          </a:bodyPr>
          <a:lstStyle/>
          <a:p>
            <a:pPr algn="l">
              <a:spcAft>
                <a:spcPts val="600"/>
              </a:spcAft>
            </a:pPr>
            <a:r>
              <a:rPr sz="1700" b="1" i="0">
                <a:solidFill>
                  <a:srgbClr val="1F3A5F"/>
                </a:solidFill>
                <a:latin typeface="Cambria"/>
              </a:rPr>
              <a:t>The second row is the one that supports an external claim.</a:t>
            </a:r>
          </a:p>
        </p:txBody>
      </p:sp>
      <p:sp>
        <p:nvSpPr>
          <p:cNvPr id="29" name="TextBox 28"/>
          <p:cNvSpPr txBox="1"/>
          <p:nvPr/>
        </p:nvSpPr>
        <p:spPr>
          <a:xfrm>
            <a:off x="566928" y="4846320"/>
            <a:ext cx="11057839" cy="100584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Excluding overlap by InChIKey is not enough to call a compound unseen: the InChIKey separates stereoisomers, salts and protonation states, and the featuriser does not, so a compound can pass that check and still be one the model has memorised. The third row is the memorisation the first contains.</a:t>
            </a:r>
          </a:p>
        </p:txBody>
      </p:sp>
      <p:sp>
        <p:nvSpPr>
          <p:cNvPr id="30" name="TextBox 29"/>
          <p:cNvSpPr txBox="1"/>
          <p:nvPr/>
        </p:nvSpPr>
        <p:spPr>
          <a:xfrm>
            <a:off x="566928" y="5897880"/>
            <a:ext cx="11057839" cy="365760"/>
          </a:xfrm>
          <a:prstGeom prst="rect">
            <a:avLst/>
          </a:prstGeom>
          <a:noFill/>
        </p:spPr>
        <p:txBody>
          <a:bodyPr wrap="square" lIns="0" rIns="0" tIns="0" bIns="0" anchor="t">
            <a:spAutoFit/>
          </a:bodyPr>
          <a:lstStyle/>
          <a:p>
            <a:pPr algn="l">
              <a:lnSpc>
                <a:spcPct val="124000"/>
              </a:lnSpc>
              <a:spcAft>
                <a:spcPts val="600"/>
              </a:spcAft>
            </a:pPr>
            <a:r>
              <a:rPr sz="1300" b="0" i="1">
                <a:solidFill>
                  <a:srgbClr val="D98324"/>
                </a:solidFill>
                <a:latin typeface="Calibri"/>
              </a:rPr>
              <a:t>0.793 on genuinely unseen approved drugs, against 0.925 from the scaffold split. The most honest single number in this thesis about the barrier model.</a:t>
            </a:r>
          </a:p>
        </p:txBody>
      </p:sp>
      <p:sp>
        <p:nvSpPr>
          <p:cNvPr id="31" name="TextBox 3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results/tables/external_bbb_validation.csv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aggregate result, which looks like decay</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39 endpoints refitted before a temporal wall, each with a size-matched random control</a:t>
            </a:r>
          </a:p>
        </p:txBody>
      </p:sp>
      <p:sp>
        <p:nvSpPr>
          <p:cNvPr id="5" name="TextBox 4"/>
          <p:cNvSpPr txBox="1"/>
          <p:nvPr/>
        </p:nvSpPr>
        <p:spPr>
          <a:xfrm>
            <a:off x="5641848" y="1755648"/>
            <a:ext cx="2011680" cy="274320"/>
          </a:xfrm>
          <a:prstGeom prst="rect">
            <a:avLst/>
          </a:prstGeom>
          <a:noFill/>
        </p:spPr>
        <p:txBody>
          <a:bodyPr wrap="square" lIns="0" rIns="0" tIns="0" bIns="0" anchor="t">
            <a:spAutoFit/>
          </a:bodyPr>
          <a:lstStyle/>
          <a:p>
            <a:pPr algn="r">
              <a:spcAft>
                <a:spcPts val="600"/>
              </a:spcAft>
            </a:pPr>
            <a:r>
              <a:rPr sz="1150" b="1" i="0">
                <a:solidFill>
                  <a:srgbClr val="5F6B7A"/>
                </a:solidFill>
                <a:latin typeface="Calibri"/>
              </a:rPr>
              <a:t>time split</a:t>
            </a:r>
          </a:p>
        </p:txBody>
      </p:sp>
      <p:sp>
        <p:nvSpPr>
          <p:cNvPr id="6" name="TextBox 5"/>
          <p:cNvSpPr txBox="1"/>
          <p:nvPr/>
        </p:nvSpPr>
        <p:spPr>
          <a:xfrm>
            <a:off x="7927848" y="1755648"/>
            <a:ext cx="2011680" cy="274320"/>
          </a:xfrm>
          <a:prstGeom prst="rect">
            <a:avLst/>
          </a:prstGeom>
          <a:noFill/>
        </p:spPr>
        <p:txBody>
          <a:bodyPr wrap="square" lIns="0" rIns="0" tIns="0" bIns="0" anchor="t">
            <a:spAutoFit/>
          </a:bodyPr>
          <a:lstStyle/>
          <a:p>
            <a:pPr algn="r">
              <a:spcAft>
                <a:spcPts val="600"/>
              </a:spcAft>
            </a:pPr>
            <a:r>
              <a:rPr sz="1150" b="1" i="0">
                <a:solidFill>
                  <a:srgbClr val="5F6B7A"/>
                </a:solidFill>
                <a:latin typeface="Calibri"/>
              </a:rPr>
              <a:t>size-matched random</a:t>
            </a:r>
          </a:p>
        </p:txBody>
      </p:sp>
      <p:sp>
        <p:nvSpPr>
          <p:cNvPr id="7" name="TextBox 6"/>
          <p:cNvSpPr txBox="1"/>
          <p:nvPr/>
        </p:nvSpPr>
        <p:spPr>
          <a:xfrm>
            <a:off x="10213848" y="1755648"/>
            <a:ext cx="1371600" cy="274320"/>
          </a:xfrm>
          <a:prstGeom prst="rect">
            <a:avLst/>
          </a:prstGeom>
          <a:noFill/>
        </p:spPr>
        <p:txBody>
          <a:bodyPr wrap="square" lIns="0" rIns="0" tIns="0" bIns="0" anchor="t">
            <a:spAutoFit/>
          </a:bodyPr>
          <a:lstStyle/>
          <a:p>
            <a:pPr algn="r">
              <a:spcAft>
                <a:spcPts val="600"/>
              </a:spcAft>
            </a:pPr>
            <a:r>
              <a:rPr sz="1150" b="1" i="0">
                <a:solidFill>
                  <a:srgbClr val="1F3A5F"/>
                </a:solidFill>
                <a:latin typeface="Calibri"/>
              </a:rPr>
              <a:t>difference</a:t>
            </a:r>
          </a:p>
        </p:txBody>
      </p:sp>
      <p:sp>
        <p:nvSpPr>
          <p:cNvPr id="8" name="Rounded Rectangle 7"/>
          <p:cNvSpPr/>
          <p:nvPr/>
        </p:nvSpPr>
        <p:spPr>
          <a:xfrm>
            <a:off x="566928" y="2057400"/>
            <a:ext cx="11057839" cy="62179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2148840"/>
            <a:ext cx="4663440" cy="384048"/>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false-positive rate on background</a:t>
            </a:r>
          </a:p>
        </p:txBody>
      </p:sp>
      <p:sp>
        <p:nvSpPr>
          <p:cNvPr id="10" name="TextBox 9"/>
          <p:cNvSpPr txBox="1"/>
          <p:nvPr/>
        </p:nvSpPr>
        <p:spPr>
          <a:xfrm>
            <a:off x="5641848" y="2148840"/>
            <a:ext cx="2011680" cy="384048"/>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0.0373</a:t>
            </a:r>
          </a:p>
        </p:txBody>
      </p:sp>
      <p:sp>
        <p:nvSpPr>
          <p:cNvPr id="11" name="TextBox 10"/>
          <p:cNvSpPr txBox="1"/>
          <p:nvPr/>
        </p:nvSpPr>
        <p:spPr>
          <a:xfrm>
            <a:off x="7927848" y="2148840"/>
            <a:ext cx="2011680" cy="384048"/>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0.0376</a:t>
            </a:r>
          </a:p>
        </p:txBody>
      </p:sp>
      <p:sp>
        <p:nvSpPr>
          <p:cNvPr id="12" name="TextBox 11"/>
          <p:cNvSpPr txBox="1"/>
          <p:nvPr/>
        </p:nvSpPr>
        <p:spPr>
          <a:xfrm>
            <a:off x="10213848" y="2148840"/>
            <a:ext cx="1371600" cy="384048"/>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-0.0003</a:t>
            </a:r>
          </a:p>
        </p:txBody>
      </p:sp>
      <p:sp>
        <p:nvSpPr>
          <p:cNvPr id="13" name="Rounded Rectangle 12"/>
          <p:cNvSpPr/>
          <p:nvPr/>
        </p:nvSpPr>
        <p:spPr>
          <a:xfrm>
            <a:off x="566928" y="2788920"/>
            <a:ext cx="11057839" cy="621792"/>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880360"/>
            <a:ext cx="4663440" cy="384048"/>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AUROC against background chemistry</a:t>
            </a:r>
          </a:p>
        </p:txBody>
      </p:sp>
      <p:sp>
        <p:nvSpPr>
          <p:cNvPr id="15" name="TextBox 14"/>
          <p:cNvSpPr txBox="1"/>
          <p:nvPr/>
        </p:nvSpPr>
        <p:spPr>
          <a:xfrm>
            <a:off x="5641848" y="2880360"/>
            <a:ext cx="2011680" cy="384048"/>
          </a:xfrm>
          <a:prstGeom prst="rect">
            <a:avLst/>
          </a:prstGeom>
          <a:noFill/>
        </p:spPr>
        <p:txBody>
          <a:bodyPr wrap="square" lIns="0" rIns="0" tIns="0" bIns="0" anchor="t">
            <a:spAutoFit/>
          </a:bodyPr>
          <a:lstStyle/>
          <a:p>
            <a:pPr algn="r">
              <a:spcAft>
                <a:spcPts val="600"/>
              </a:spcAft>
            </a:pPr>
            <a:r>
              <a:rPr sz="1350" b="0" i="0">
                <a:solidFill>
                  <a:srgbClr val="0F1A2E"/>
                </a:solidFill>
                <a:latin typeface="Calibri"/>
              </a:rPr>
              <a:t>0.9131</a:t>
            </a:r>
          </a:p>
        </p:txBody>
      </p:sp>
      <p:sp>
        <p:nvSpPr>
          <p:cNvPr id="16" name="TextBox 15"/>
          <p:cNvSpPr txBox="1"/>
          <p:nvPr/>
        </p:nvSpPr>
        <p:spPr>
          <a:xfrm>
            <a:off x="7927848" y="2880360"/>
            <a:ext cx="2011680" cy="384048"/>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0.9752</a:t>
            </a:r>
          </a:p>
        </p:txBody>
      </p:sp>
      <p:sp>
        <p:nvSpPr>
          <p:cNvPr id="17" name="TextBox 16"/>
          <p:cNvSpPr txBox="1"/>
          <p:nvPr/>
        </p:nvSpPr>
        <p:spPr>
          <a:xfrm>
            <a:off x="10213848" y="2880360"/>
            <a:ext cx="1371600" cy="384048"/>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-0.0621</a:t>
            </a:r>
          </a:p>
        </p:txBody>
      </p:sp>
      <p:sp>
        <p:nvSpPr>
          <p:cNvPr id="18" name="Rounded Rectangle 17"/>
          <p:cNvSpPr/>
          <p:nvPr/>
        </p:nvSpPr>
        <p:spPr>
          <a:xfrm>
            <a:off x="566928" y="3520440"/>
            <a:ext cx="11057839" cy="62179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3611880"/>
            <a:ext cx="4663440" cy="384048"/>
          </a:xfrm>
          <a:prstGeom prst="rect">
            <a:avLst/>
          </a:prstGeom>
          <a:noFill/>
        </p:spPr>
        <p:txBody>
          <a:bodyPr wrap="square" lIns="0" rIns="0" tIns="0" bIns="0" anchor="t">
            <a:spAutoFit/>
          </a:bodyPr>
          <a:lstStyle/>
          <a:p>
            <a:pPr algn="l">
              <a:spcAft>
                <a:spcPts val="600"/>
              </a:spcAft>
            </a:pPr>
            <a:r>
              <a:rPr sz="1350" b="1" i="0">
                <a:solidFill>
                  <a:srgbClr val="9E2A2B"/>
                </a:solidFill>
                <a:latin typeface="Calibri"/>
              </a:rPr>
              <a:t>AUROC against measured inactives</a:t>
            </a:r>
          </a:p>
        </p:txBody>
      </p:sp>
      <p:sp>
        <p:nvSpPr>
          <p:cNvPr id="20" name="TextBox 19"/>
          <p:cNvSpPr txBox="1"/>
          <p:nvPr/>
        </p:nvSpPr>
        <p:spPr>
          <a:xfrm>
            <a:off x="5641848" y="3611880"/>
            <a:ext cx="2011680" cy="384048"/>
          </a:xfrm>
          <a:prstGeom prst="rect">
            <a:avLst/>
          </a:prstGeom>
          <a:noFill/>
        </p:spPr>
        <p:txBody>
          <a:bodyPr wrap="square" lIns="0" rIns="0" tIns="0" bIns="0" anchor="t">
            <a:spAutoFit/>
          </a:bodyPr>
          <a:lstStyle/>
          <a:p>
            <a:pPr algn="r">
              <a:spcAft>
                <a:spcPts val="600"/>
              </a:spcAft>
            </a:pPr>
            <a:r>
              <a:rPr sz="1350" b="1" i="0">
                <a:solidFill>
                  <a:srgbClr val="9E2A2B"/>
                </a:solidFill>
                <a:latin typeface="Calibri"/>
              </a:rPr>
              <a:t>0.8231</a:t>
            </a:r>
          </a:p>
        </p:txBody>
      </p:sp>
      <p:sp>
        <p:nvSpPr>
          <p:cNvPr id="21" name="TextBox 20"/>
          <p:cNvSpPr txBox="1"/>
          <p:nvPr/>
        </p:nvSpPr>
        <p:spPr>
          <a:xfrm>
            <a:off x="7927848" y="3611880"/>
            <a:ext cx="2011680" cy="384048"/>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0.9507</a:t>
            </a:r>
          </a:p>
        </p:txBody>
      </p:sp>
      <p:sp>
        <p:nvSpPr>
          <p:cNvPr id="22" name="TextBox 21"/>
          <p:cNvSpPr txBox="1"/>
          <p:nvPr/>
        </p:nvSpPr>
        <p:spPr>
          <a:xfrm>
            <a:off x="10213848" y="3611880"/>
            <a:ext cx="1371600" cy="384048"/>
          </a:xfrm>
          <a:prstGeom prst="rect">
            <a:avLst/>
          </a:prstGeom>
          <a:noFill/>
        </p:spPr>
        <p:txBody>
          <a:bodyPr wrap="square" lIns="0" rIns="0" tIns="0" bIns="0" anchor="t">
            <a:spAutoFit/>
          </a:bodyPr>
          <a:lstStyle/>
          <a:p>
            <a:pPr algn="r">
              <a:spcAft>
                <a:spcPts val="600"/>
              </a:spcAft>
            </a:pPr>
            <a:r>
              <a:rPr sz="1350" b="1" i="0">
                <a:solidFill>
                  <a:srgbClr val="9E2A2B"/>
                </a:solidFill>
                <a:latin typeface="Calibri"/>
              </a:rPr>
              <a:t>-0.1276</a:t>
            </a:r>
          </a:p>
        </p:txBody>
      </p:sp>
      <p:sp>
        <p:nvSpPr>
          <p:cNvPr id="23" name="Rounded Rectangle 22"/>
          <p:cNvSpPr/>
          <p:nvPr/>
        </p:nvSpPr>
        <p:spPr>
          <a:xfrm>
            <a:off x="566928" y="4251960"/>
            <a:ext cx="11057839" cy="621792"/>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1247" y="4343400"/>
            <a:ext cx="4663440" cy="384048"/>
          </a:xfrm>
          <a:prstGeom prst="rect">
            <a:avLst/>
          </a:prstGeom>
          <a:noFill/>
        </p:spPr>
        <p:txBody>
          <a:bodyPr wrap="square" lIns="0" rIns="0" tIns="0" bIns="0" anchor="t">
            <a:spAutoFit/>
          </a:bodyPr>
          <a:lstStyle/>
          <a:p>
            <a:pPr algn="l">
              <a:spcAft>
                <a:spcPts val="600"/>
              </a:spcAft>
            </a:pPr>
            <a:r>
              <a:rPr sz="1350" b="1" i="0">
                <a:solidFill>
                  <a:srgbClr val="9E2A2B"/>
                </a:solidFill>
                <a:latin typeface="Calibri"/>
              </a:rPr>
              <a:t>sensitivity at the frozen threshold</a:t>
            </a:r>
          </a:p>
        </p:txBody>
      </p:sp>
      <p:sp>
        <p:nvSpPr>
          <p:cNvPr id="25" name="TextBox 24"/>
          <p:cNvSpPr txBox="1"/>
          <p:nvPr/>
        </p:nvSpPr>
        <p:spPr>
          <a:xfrm>
            <a:off x="5641848" y="4343400"/>
            <a:ext cx="2011680" cy="384048"/>
          </a:xfrm>
          <a:prstGeom prst="rect">
            <a:avLst/>
          </a:prstGeom>
          <a:noFill/>
        </p:spPr>
        <p:txBody>
          <a:bodyPr wrap="square" lIns="0" rIns="0" tIns="0" bIns="0" anchor="t">
            <a:spAutoFit/>
          </a:bodyPr>
          <a:lstStyle/>
          <a:p>
            <a:pPr algn="r">
              <a:spcAft>
                <a:spcPts val="600"/>
              </a:spcAft>
            </a:pPr>
            <a:r>
              <a:rPr sz="1350" b="1" i="0">
                <a:solidFill>
                  <a:srgbClr val="9E2A2B"/>
                </a:solidFill>
                <a:latin typeface="Calibri"/>
              </a:rPr>
              <a:t>0.4886</a:t>
            </a:r>
          </a:p>
        </p:txBody>
      </p:sp>
      <p:sp>
        <p:nvSpPr>
          <p:cNvPr id="26" name="TextBox 25"/>
          <p:cNvSpPr txBox="1"/>
          <p:nvPr/>
        </p:nvSpPr>
        <p:spPr>
          <a:xfrm>
            <a:off x="7927848" y="4343400"/>
            <a:ext cx="2011680" cy="384048"/>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0.8715</a:t>
            </a:r>
          </a:p>
        </p:txBody>
      </p:sp>
      <p:sp>
        <p:nvSpPr>
          <p:cNvPr id="27" name="TextBox 26"/>
          <p:cNvSpPr txBox="1"/>
          <p:nvPr/>
        </p:nvSpPr>
        <p:spPr>
          <a:xfrm>
            <a:off x="10213848" y="4343400"/>
            <a:ext cx="1371600" cy="384048"/>
          </a:xfrm>
          <a:prstGeom prst="rect">
            <a:avLst/>
          </a:prstGeom>
          <a:noFill/>
        </p:spPr>
        <p:txBody>
          <a:bodyPr wrap="square" lIns="0" rIns="0" tIns="0" bIns="0" anchor="t">
            <a:spAutoFit/>
          </a:bodyPr>
          <a:lstStyle/>
          <a:p>
            <a:pPr algn="r">
              <a:spcAft>
                <a:spcPts val="600"/>
              </a:spcAft>
            </a:pPr>
            <a:r>
              <a:rPr sz="1350" b="1" i="0">
                <a:solidFill>
                  <a:srgbClr val="9E2A2B"/>
                </a:solidFill>
                <a:latin typeface="Calibri"/>
              </a:rPr>
              <a:t>-0.3829</a:t>
            </a:r>
          </a:p>
        </p:txBody>
      </p:sp>
      <p:sp>
        <p:nvSpPr>
          <p:cNvPr id="28" name="TextBox 27"/>
          <p:cNvSpPr txBox="1"/>
          <p:nvPr/>
        </p:nvSpPr>
        <p:spPr>
          <a:xfrm>
            <a:off x="566928" y="5257800"/>
            <a:ext cx="11057839" cy="86868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Two rows are reassuring and two are not. Specificity transfers essentially unchanged, so a temporal wall does not make the panel reckless. Ranking against measured inactives falls by 0.128 and sensitivity by 0.383.</a:t>
            </a:r>
          </a:p>
        </p:txBody>
      </p:sp>
      <p:sp>
        <p:nvSpPr>
          <p:cNvPr id="29" name="TextBox 28"/>
          <p:cNvSpPr txBox="1"/>
          <p:nvPr/>
        </p:nvSpPr>
        <p:spPr>
          <a:xfrm>
            <a:off x="566928" y="6144768"/>
            <a:ext cx="11057839" cy="365760"/>
          </a:xfrm>
          <a:prstGeom prst="rect">
            <a:avLst/>
          </a:prstGeom>
          <a:noFill/>
        </p:spPr>
        <p:txBody>
          <a:bodyPr wrap="square" lIns="0" rIns="0" tIns="0" bIns="0" anchor="t">
            <a:spAutoFit/>
          </a:bodyPr>
          <a:lstStyle/>
          <a:p>
            <a:pPr algn="l">
              <a:spcAft>
                <a:spcPts val="600"/>
              </a:spcAft>
            </a:pPr>
            <a:r>
              <a:rPr sz="1300" b="0" i="1">
                <a:solidFill>
                  <a:srgbClr val="D98324"/>
                </a:solidFill>
                <a:latin typeface="Calibri"/>
              </a:rPr>
              <a:t>Read at face value, the deployed figures overstate what a user should expect. The first draft said exactly that. It is the wrong reading.</a:t>
            </a:r>
          </a:p>
        </p:txBody>
      </p:sp>
      <p:sp>
        <p:nvSpPr>
          <p:cNvPr id="30" name="TextBox 2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results/tables/external_prospective.csv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841248"/>
            <a:ext cx="82296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The composition finding</a:t>
            </a:r>
          </a:p>
        </p:txBody>
      </p:sp>
      <p:sp>
        <p:nvSpPr>
          <p:cNvPr id="3" name="TextBox 2"/>
          <p:cNvSpPr txBox="1"/>
          <p:nvPr/>
        </p:nvSpPr>
        <p:spPr>
          <a:xfrm>
            <a:off x="566928" y="1243584"/>
            <a:ext cx="10698480" cy="713232"/>
          </a:xfrm>
          <a:prstGeom prst="rect">
            <a:avLst/>
          </a:prstGeom>
          <a:noFill/>
        </p:spPr>
        <p:txBody>
          <a:bodyPr wrap="square" lIns="0" rIns="0" tIns="0" bIns="0" anchor="t">
            <a:spAutoFit/>
          </a:bodyPr>
          <a:lstStyle/>
          <a:p>
            <a:pPr algn="l">
              <a:lnSpc>
                <a:spcPct val="110000"/>
              </a:lnSpc>
              <a:spcAft>
                <a:spcPts val="600"/>
              </a:spcAft>
            </a:pPr>
            <a:r>
              <a:rPr sz="3000" b="1" i="0">
                <a:solidFill>
                  <a:srgbClr val="FFFFFF"/>
                </a:solidFill>
                <a:latin typeface="Cambria"/>
              </a:rPr>
              <a:t>The two splits are not testing comparable populations.</a:t>
            </a:r>
          </a:p>
        </p:txBody>
      </p:sp>
      <p:graphicFrame>
        <p:nvGraphicFramePr>
          <p:cNvPr id="4" name="Chart 3"/>
          <p:cNvGraphicFramePr>
            <a:graphicFrameLocks noGrp="1"/>
          </p:cNvGraphicFramePr>
          <p:nvPr/>
        </p:nvGraphicFramePr>
        <p:xfrm>
          <a:off x="566928" y="2103120"/>
          <a:ext cx="6583680" cy="3520440"/>
        </p:xfrm>
        <a:graphic>
          <a:graphicData uri="http://schemas.openxmlformats.org/drawingml/2006/chart">
            <c:chart xmlns:c="http://schemas.openxmlformats.org/drawingml/2006/chart" r:id="rId2"/>
          </a:graphicData>
        </a:graphic>
      </p:graphicFrame>
      <p:sp>
        <p:nvSpPr>
          <p:cNvPr id="5" name="TextBox 4"/>
          <p:cNvSpPr txBox="1"/>
          <p:nvPr/>
        </p:nvSpPr>
        <p:spPr>
          <a:xfrm>
            <a:off x="7470648" y="2194560"/>
            <a:ext cx="4154119" cy="1371600"/>
          </a:xfrm>
          <a:prstGeom prst="rect">
            <a:avLst/>
          </a:prstGeom>
          <a:noFill/>
        </p:spPr>
        <p:txBody>
          <a:bodyPr wrap="square" lIns="0" rIns="0" tIns="0" bIns="0" anchor="t">
            <a:spAutoFit/>
          </a:bodyPr>
          <a:lstStyle/>
          <a:p>
            <a:pPr algn="l">
              <a:lnSpc>
                <a:spcPct val="124000"/>
              </a:lnSpc>
              <a:spcAft>
                <a:spcPts val="600"/>
              </a:spcAft>
            </a:pPr>
            <a:r>
              <a:rPr sz="1600" b="1" i="0">
                <a:solidFill>
                  <a:srgbClr val="D98324"/>
                </a:solidFill>
                <a:latin typeface="Calibri"/>
              </a:rPr>
              <a:t>83.3 per cent of the random split's test compounds are close analogues of something in its own training set.</a:t>
            </a:r>
          </a:p>
        </p:txBody>
      </p:sp>
      <p:sp>
        <p:nvSpPr>
          <p:cNvPr id="6" name="TextBox 5"/>
          <p:cNvSpPr txBox="1"/>
          <p:nvPr/>
        </p:nvSpPr>
        <p:spPr>
          <a:xfrm>
            <a:off x="7470648" y="3657600"/>
            <a:ext cx="4154119" cy="1737360"/>
          </a:xfrm>
          <a:prstGeom prst="rect">
            <a:avLst/>
          </a:prstGeom>
          <a:noFill/>
        </p:spPr>
        <p:txBody>
          <a:bodyPr wrap="square" lIns="0" rIns="0" tIns="0" bIns="0" anchor="t">
            <a:spAutoFit/>
          </a:bodyPr>
          <a:lstStyle/>
          <a:p>
            <a:pPr algn="l">
              <a:lnSpc>
                <a:spcPct val="128000"/>
              </a:lnSpc>
              <a:spcAft>
                <a:spcPts val="600"/>
              </a:spcAft>
            </a:pPr>
            <a:r>
              <a:rPr sz="1250" b="0" i="0">
                <a:solidFill>
                  <a:srgbClr val="D7DFEA"/>
                </a:solidFill>
                <a:latin typeface="Calibri"/>
              </a:rPr>
              <a:t>The published record is series, and a random draw keeps most of a series on both sides of the split. A random split of medicinal-chemistry data is barely a test.
Median similarity to training: 0.479 by date against 0.800 at random. 4,366 actives below Tanimoto 0.40 against 212.</a:t>
            </a:r>
          </a:p>
        </p:txBody>
      </p:sp>
      <p:sp>
        <p:nvSpPr>
          <p:cNvPr id="7" name="TextBox 6"/>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results/tables/external_novelty_strata.csv. Both classes are binned, so each band compares actives against measured inactives at a comparable distance.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Read band by band, most of the gap disappears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Conditioned on distance, it makes no difference how the compound was withheld</a:t>
            </a:r>
          </a:p>
        </p:txBody>
      </p:sp>
      <p:graphicFrame>
        <p:nvGraphicFramePr>
          <p:cNvPr id="5" name="Chart 4"/>
          <p:cNvGraphicFramePr>
            <a:graphicFrameLocks noGrp="1"/>
          </p:cNvGraphicFramePr>
          <p:nvPr/>
        </p:nvGraphicFramePr>
        <p:xfrm>
          <a:off x="566928" y="1627632"/>
          <a:ext cx="6858000" cy="3886200"/>
        </p:xfrm>
        <a:graphic>
          <a:graphicData uri="http://schemas.openxmlformats.org/drawingml/2006/chart">
            <c:chart xmlns:c="http://schemas.openxmlformats.org/drawingml/2006/chart" r:id="rId2"/>
          </a:graphicData>
        </a:graphic>
      </p:graphicFrame>
      <p:sp>
        <p:nvSpPr>
          <p:cNvPr id="6" name="Rounded Rectangle 5"/>
          <p:cNvSpPr/>
          <p:nvPr/>
        </p:nvSpPr>
        <p:spPr>
          <a:xfrm>
            <a:off x="7699248" y="1691640"/>
            <a:ext cx="3925519" cy="2103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91856" y="1901952"/>
            <a:ext cx="3331159" cy="173736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The aggregate AUROC gap of 0.128 falls, within a band, to at most 0.081, and the time split is the better of the two in 1 of 4 bands.
The aggregate recall gap of 0.383 falls to at most 0.072, and the time split is better in 2 of 4.</a:t>
            </a:r>
          </a:p>
        </p:txBody>
      </p:sp>
      <p:sp>
        <p:nvSpPr>
          <p:cNvPr id="8" name="TextBox 7"/>
          <p:cNvSpPr txBox="1"/>
          <p:nvPr/>
        </p:nvSpPr>
        <p:spPr>
          <a:xfrm>
            <a:off x="7699248" y="3977639"/>
            <a:ext cx="3925519" cy="1188720"/>
          </a:xfrm>
          <a:prstGeom prst="rect">
            <a:avLst/>
          </a:prstGeom>
          <a:noFill/>
        </p:spPr>
        <p:txBody>
          <a:bodyPr wrap="square" lIns="0" rIns="0" tIns="0" bIns="0" anchor="t">
            <a:spAutoFit/>
          </a:bodyPr>
          <a:lstStyle/>
          <a:p>
            <a:pPr algn="l">
              <a:lnSpc>
                <a:spcPct val="126000"/>
              </a:lnSpc>
              <a:spcAft>
                <a:spcPts val="600"/>
              </a:spcAft>
            </a:pPr>
            <a:r>
              <a:rPr sz="1450" b="1" i="0">
                <a:solidFill>
                  <a:srgbClr val="1F3A5F"/>
                </a:solidFill>
                <a:latin typeface="Calibri"/>
              </a:rPr>
              <a:t>Accuracy is a function of chemical distance, not of date. What time changes is the input distribution.</a:t>
            </a:r>
          </a:p>
        </p:txBody>
      </p:sp>
      <p:sp>
        <p:nvSpPr>
          <p:cNvPr id="9" name="TextBox 8"/>
          <p:cNvSpPr txBox="1"/>
          <p:nvPr/>
        </p:nvSpPr>
        <p:spPr>
          <a:xfrm>
            <a:off x="7699248" y="5166360"/>
            <a:ext cx="3925519" cy="914400"/>
          </a:xfrm>
          <a:prstGeom prst="rect">
            <a:avLst/>
          </a:prstGeom>
          <a:noFill/>
        </p:spPr>
        <p:txBody>
          <a:bodyPr wrap="square" lIns="0" rIns="0" tIns="0" bIns="0" anchor="t">
            <a:spAutoFit/>
          </a:bodyPr>
          <a:lstStyle/>
          <a:p>
            <a:pPr algn="l">
              <a:lnSpc>
                <a:spcPct val="126000"/>
              </a:lnSpc>
              <a:spcAft>
                <a:spcPts val="600"/>
              </a:spcAft>
            </a:pPr>
            <a:r>
              <a:rPr sz="1250" b="0" i="1">
                <a:solidFill>
                  <a:srgbClr val="1C7293"/>
                </a:solidFill>
                <a:latin typeface="Calibri"/>
              </a:rPr>
              <a:t>Decay would mean the scores expire. A stable distance-dependence means they do not, and can be quoted for the compound in hand.</a:t>
            </a:r>
          </a:p>
        </p:txBody>
      </p:sp>
      <p:sp>
        <p:nvSpPr>
          <p:cNvPr id="10" name="TextBox 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A residual remains and is not explained away: the random split yields only 212 novel actives across 39 endpoints, too few for a paired within-band comparison.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Three test sets built by unrelated rules trace one curve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They share no construction principle, so their ways of misleading do not overlap</a:t>
            </a:r>
          </a:p>
        </p:txBody>
      </p:sp>
      <p:graphicFrame>
        <p:nvGraphicFramePr>
          <p:cNvPr id="5" name="Chart 4"/>
          <p:cNvGraphicFramePr>
            <a:graphicFrameLocks noGrp="1"/>
          </p:cNvGraphicFramePr>
          <p:nvPr/>
        </p:nvGraphicFramePr>
        <p:xfrm>
          <a:off x="566928" y="1645920"/>
          <a:ext cx="7315200" cy="3886200"/>
        </p:xfrm>
        <a:graphic>
          <a:graphicData uri="http://schemas.openxmlformats.org/drawingml/2006/chart">
            <c:chart xmlns:c="http://schemas.openxmlformats.org/drawingml/2006/chart" r:id="rId2"/>
          </a:graphicData>
        </a:graphic>
      </p:graphicFrame>
      <p:sp>
        <p:nvSpPr>
          <p:cNvPr id="6" name="TextBox 5"/>
          <p:cNvSpPr txBox="1"/>
          <p:nvPr/>
        </p:nvSpPr>
        <p:spPr>
          <a:xfrm>
            <a:off x="8156448" y="1783080"/>
            <a:ext cx="3468319" cy="1280160"/>
          </a:xfrm>
          <a:prstGeom prst="rect">
            <a:avLst/>
          </a:prstGeom>
          <a:noFill/>
        </p:spPr>
        <p:txBody>
          <a:bodyPr wrap="square" lIns="0" rIns="0" tIns="0" bIns="0" anchor="t">
            <a:spAutoFit/>
          </a:bodyPr>
          <a:lstStyle/>
          <a:p>
            <a:pPr algn="l">
              <a:lnSpc>
                <a:spcPct val="126000"/>
              </a:lnSpc>
              <a:spcAft>
                <a:spcPts val="600"/>
              </a:spcAft>
            </a:pPr>
            <a:r>
              <a:rPr sz="1400" b="1" i="0">
                <a:solidFill>
                  <a:srgbClr val="1F3A5F"/>
                </a:solidFill>
                <a:latin typeface="Calibri"/>
              </a:rPr>
              <a:t>A cross-provenance test set, built by a rule that knows nothing about dates and nothing about the random seed, reproduces the curve of both others.</a:t>
            </a:r>
          </a:p>
        </p:txBody>
      </p:sp>
      <p:sp>
        <p:nvSpPr>
          <p:cNvPr id="7" name="TextBox 6"/>
          <p:cNvSpPr txBox="1"/>
          <p:nvPr/>
        </p:nvSpPr>
        <p:spPr>
          <a:xfrm>
            <a:off x="8156448" y="3154680"/>
            <a:ext cx="3468319" cy="146304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That is convergent evidence, and it is worth more than any single one of the three, because the ways in which these sets could individually mislead do not overlap.</a:t>
            </a:r>
          </a:p>
        </p:txBody>
      </p:sp>
      <p:sp>
        <p:nvSpPr>
          <p:cNvPr id="8" name="Rounded Rectangle 7"/>
          <p:cNvSpPr/>
          <p:nvPr/>
        </p:nvSpPr>
        <p:spPr>
          <a:xfrm>
            <a:off x="8156448" y="4709160"/>
            <a:ext cx="3468319" cy="822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30768" y="4882896"/>
            <a:ext cx="2919679" cy="548640"/>
          </a:xfrm>
          <a:prstGeom prst="rect">
            <a:avLst/>
          </a:prstGeom>
          <a:noFill/>
        </p:spPr>
        <p:txBody>
          <a:bodyPr wrap="square" lIns="0" rIns="0" tIns="0" bIns="0" anchor="t">
            <a:spAutoFit/>
          </a:bodyPr>
          <a:lstStyle/>
          <a:p>
            <a:pPr algn="l">
              <a:lnSpc>
                <a:spcPct val="124000"/>
              </a:lnSpc>
              <a:spcAft>
                <a:spcPts val="600"/>
              </a:spcAft>
            </a:pPr>
            <a:r>
              <a:rPr sz="1250" b="0" i="1">
                <a:solidFill>
                  <a:srgbClr val="0F1A2E"/>
                </a:solidFill>
                <a:latin typeface="Calibri"/>
              </a:rPr>
              <a:t>If recall were a property of the split, they would disagree.</a:t>
            </a:r>
          </a:p>
        </p:txBody>
      </p:sp>
      <p:sp>
        <p:nvSpPr>
          <p:cNvPr id="10" name="TextBox 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results/tables/external_novelty_strata.csv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A different curator</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Compounds deposited in BindingDB and absent from ChEMBL</a:t>
            </a:r>
          </a:p>
        </p:txBody>
      </p:sp>
      <p:sp>
        <p:nvSpPr>
          <p:cNvPr id="5" name="Rounded Rectangle 4"/>
          <p:cNvSpPr/>
          <p:nvPr/>
        </p:nvSpPr>
        <p:spPr>
          <a:xfrm>
            <a:off x="566928" y="1645920"/>
            <a:ext cx="5120640"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32688" y="1847088"/>
            <a:ext cx="457200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This test cannot report AUROC, and the reason belongs before the numbers. Every BindingDB-only row is an active, because BindingDB deposits affinities. There are no independently curated negatives to rank against, and manufacturing them from the background pool would test the background pool.</a:t>
            </a:r>
          </a:p>
        </p:txBody>
      </p:sp>
      <p:sp>
        <p:nvSpPr>
          <p:cNvPr id="7" name="TextBox 6"/>
          <p:cNvSpPr txBox="1"/>
          <p:nvPr/>
        </p:nvSpPr>
        <p:spPr>
          <a:xfrm>
            <a:off x="841247" y="3337560"/>
            <a:ext cx="155448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endpoint</a:t>
            </a:r>
          </a:p>
        </p:txBody>
      </p:sp>
      <p:sp>
        <p:nvSpPr>
          <p:cNvPr id="8" name="TextBox 7"/>
          <p:cNvSpPr txBox="1"/>
          <p:nvPr/>
        </p:nvSpPr>
        <p:spPr>
          <a:xfrm>
            <a:off x="2487168" y="33375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actives</a:t>
            </a:r>
          </a:p>
        </p:txBody>
      </p:sp>
      <p:sp>
        <p:nvSpPr>
          <p:cNvPr id="9" name="TextBox 8"/>
          <p:cNvSpPr txBox="1"/>
          <p:nvPr/>
        </p:nvSpPr>
        <p:spPr>
          <a:xfrm>
            <a:off x="3904488" y="33375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recall</a:t>
            </a:r>
          </a:p>
        </p:txBody>
      </p:sp>
      <p:sp>
        <p:nvSpPr>
          <p:cNvPr id="10" name="TextBox 9"/>
          <p:cNvSpPr txBox="1"/>
          <p:nvPr/>
        </p:nvSpPr>
        <p:spPr>
          <a:xfrm>
            <a:off x="5321808" y="33375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bg FPR</a:t>
            </a:r>
          </a:p>
        </p:txBody>
      </p:sp>
      <p:sp>
        <p:nvSpPr>
          <p:cNvPr id="11" name="TextBox 10"/>
          <p:cNvSpPr txBox="1"/>
          <p:nvPr/>
        </p:nvSpPr>
        <p:spPr>
          <a:xfrm>
            <a:off x="6739128" y="3337560"/>
            <a:ext cx="12801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median novelty</a:t>
            </a:r>
          </a:p>
        </p:txBody>
      </p:sp>
      <p:sp>
        <p:nvSpPr>
          <p:cNvPr id="12" name="Rounded Rectangle 11"/>
          <p:cNvSpPr/>
          <p:nvPr/>
        </p:nvSpPr>
        <p:spPr>
          <a:xfrm>
            <a:off x="566928" y="3593591"/>
            <a:ext cx="7315200" cy="5120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7" y="3675887"/>
            <a:ext cx="1554480" cy="329184"/>
          </a:xfrm>
          <a:prstGeom prst="rect">
            <a:avLst/>
          </a:prstGeom>
          <a:noFill/>
        </p:spPr>
        <p:txBody>
          <a:bodyPr wrap="square" lIns="0" rIns="0" tIns="0" bIns="0" anchor="t">
            <a:spAutoFit/>
          </a:bodyPr>
          <a:lstStyle/>
          <a:p>
            <a:pPr algn="l">
              <a:spcAft>
                <a:spcPts val="600"/>
              </a:spcAft>
            </a:pPr>
            <a:r>
              <a:rPr sz="1300" b="1" i="0">
                <a:solidFill>
                  <a:srgbClr val="0F1A2E"/>
                </a:solidFill>
                <a:latin typeface="Calibri"/>
              </a:rPr>
              <a:t>A2A</a:t>
            </a:r>
          </a:p>
        </p:txBody>
      </p:sp>
      <p:sp>
        <p:nvSpPr>
          <p:cNvPr id="14" name="TextBox 13"/>
          <p:cNvSpPr txBox="1"/>
          <p:nvPr/>
        </p:nvSpPr>
        <p:spPr>
          <a:xfrm>
            <a:off x="2487168" y="3675887"/>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758</a:t>
            </a:r>
          </a:p>
        </p:txBody>
      </p:sp>
      <p:sp>
        <p:nvSpPr>
          <p:cNvPr id="15" name="TextBox 14"/>
          <p:cNvSpPr txBox="1"/>
          <p:nvPr/>
        </p:nvSpPr>
        <p:spPr>
          <a:xfrm>
            <a:off x="3904488" y="3675887"/>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0.6332</a:t>
            </a:r>
          </a:p>
        </p:txBody>
      </p:sp>
      <p:sp>
        <p:nvSpPr>
          <p:cNvPr id="16" name="TextBox 15"/>
          <p:cNvSpPr txBox="1"/>
          <p:nvPr/>
        </p:nvSpPr>
        <p:spPr>
          <a:xfrm>
            <a:off x="5321808" y="3675887"/>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0.0332</a:t>
            </a:r>
          </a:p>
        </p:txBody>
      </p:sp>
      <p:sp>
        <p:nvSpPr>
          <p:cNvPr id="17" name="TextBox 16"/>
          <p:cNvSpPr txBox="1"/>
          <p:nvPr/>
        </p:nvSpPr>
        <p:spPr>
          <a:xfrm>
            <a:off x="6739128" y="3675887"/>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0.5145</a:t>
            </a:r>
          </a:p>
        </p:txBody>
      </p:sp>
      <p:sp>
        <p:nvSpPr>
          <p:cNvPr id="18" name="TextBox 17"/>
          <p:cNvSpPr txBox="1"/>
          <p:nvPr/>
        </p:nvSpPr>
        <p:spPr>
          <a:xfrm>
            <a:off x="841247" y="4187952"/>
            <a:ext cx="1554480" cy="329184"/>
          </a:xfrm>
          <a:prstGeom prst="rect">
            <a:avLst/>
          </a:prstGeom>
          <a:noFill/>
        </p:spPr>
        <p:txBody>
          <a:bodyPr wrap="square" lIns="0" rIns="0" tIns="0" bIns="0" anchor="t">
            <a:spAutoFit/>
          </a:bodyPr>
          <a:lstStyle/>
          <a:p>
            <a:pPr algn="l">
              <a:spcAft>
                <a:spcPts val="600"/>
              </a:spcAft>
            </a:pPr>
            <a:r>
              <a:rPr sz="1300" b="1" i="0">
                <a:solidFill>
                  <a:srgbClr val="0F1A2E"/>
                </a:solidFill>
                <a:latin typeface="Calibri"/>
              </a:rPr>
              <a:t>D2</a:t>
            </a:r>
          </a:p>
        </p:txBody>
      </p:sp>
      <p:sp>
        <p:nvSpPr>
          <p:cNvPr id="19" name="TextBox 18"/>
          <p:cNvSpPr txBox="1"/>
          <p:nvPr/>
        </p:nvSpPr>
        <p:spPr>
          <a:xfrm>
            <a:off x="2487168" y="4187952"/>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86</a:t>
            </a:r>
          </a:p>
        </p:txBody>
      </p:sp>
      <p:sp>
        <p:nvSpPr>
          <p:cNvPr id="20" name="TextBox 19"/>
          <p:cNvSpPr txBox="1"/>
          <p:nvPr/>
        </p:nvSpPr>
        <p:spPr>
          <a:xfrm>
            <a:off x="3904488" y="4187952"/>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0.6163</a:t>
            </a:r>
          </a:p>
        </p:txBody>
      </p:sp>
      <p:sp>
        <p:nvSpPr>
          <p:cNvPr id="21" name="TextBox 20"/>
          <p:cNvSpPr txBox="1"/>
          <p:nvPr/>
        </p:nvSpPr>
        <p:spPr>
          <a:xfrm>
            <a:off x="5321808" y="4187952"/>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0.069</a:t>
            </a:r>
          </a:p>
        </p:txBody>
      </p:sp>
      <p:sp>
        <p:nvSpPr>
          <p:cNvPr id="22" name="TextBox 21"/>
          <p:cNvSpPr txBox="1"/>
          <p:nvPr/>
        </p:nvSpPr>
        <p:spPr>
          <a:xfrm>
            <a:off x="6739128" y="4187952"/>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0.6257</a:t>
            </a:r>
          </a:p>
        </p:txBody>
      </p:sp>
      <p:sp>
        <p:nvSpPr>
          <p:cNvPr id="23" name="Rounded Rectangle 22"/>
          <p:cNvSpPr/>
          <p:nvPr/>
        </p:nvSpPr>
        <p:spPr>
          <a:xfrm>
            <a:off x="566928" y="4617720"/>
            <a:ext cx="7315200" cy="5120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1247" y="4700016"/>
            <a:ext cx="1554480" cy="329184"/>
          </a:xfrm>
          <a:prstGeom prst="rect">
            <a:avLst/>
          </a:prstGeom>
          <a:noFill/>
        </p:spPr>
        <p:txBody>
          <a:bodyPr wrap="square" lIns="0" rIns="0" tIns="0" bIns="0" anchor="t">
            <a:spAutoFit/>
          </a:bodyPr>
          <a:lstStyle/>
          <a:p>
            <a:pPr algn="l">
              <a:spcAft>
                <a:spcPts val="600"/>
              </a:spcAft>
            </a:pPr>
            <a:r>
              <a:rPr sz="1300" b="1" i="0">
                <a:solidFill>
                  <a:srgbClr val="0F1A2E"/>
                </a:solidFill>
                <a:latin typeface="Calibri"/>
              </a:rPr>
              <a:t>HT2A</a:t>
            </a:r>
          </a:p>
        </p:txBody>
      </p:sp>
      <p:sp>
        <p:nvSpPr>
          <p:cNvPr id="25" name="TextBox 24"/>
          <p:cNvSpPr txBox="1"/>
          <p:nvPr/>
        </p:nvSpPr>
        <p:spPr>
          <a:xfrm>
            <a:off x="2487168" y="4700016"/>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459</a:t>
            </a:r>
          </a:p>
        </p:txBody>
      </p:sp>
      <p:sp>
        <p:nvSpPr>
          <p:cNvPr id="26" name="TextBox 25"/>
          <p:cNvSpPr txBox="1"/>
          <p:nvPr/>
        </p:nvSpPr>
        <p:spPr>
          <a:xfrm>
            <a:off x="3904488" y="4700016"/>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0.3508</a:t>
            </a:r>
          </a:p>
        </p:txBody>
      </p:sp>
      <p:sp>
        <p:nvSpPr>
          <p:cNvPr id="27" name="TextBox 26"/>
          <p:cNvSpPr txBox="1"/>
          <p:nvPr/>
        </p:nvSpPr>
        <p:spPr>
          <a:xfrm>
            <a:off x="5321808" y="4700016"/>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0.0657</a:t>
            </a:r>
          </a:p>
        </p:txBody>
      </p:sp>
      <p:sp>
        <p:nvSpPr>
          <p:cNvPr id="28" name="TextBox 27"/>
          <p:cNvSpPr txBox="1"/>
          <p:nvPr/>
        </p:nvSpPr>
        <p:spPr>
          <a:xfrm>
            <a:off x="6739128" y="4700016"/>
            <a:ext cx="1280160" cy="329184"/>
          </a:xfrm>
          <a:prstGeom prst="rect">
            <a:avLst/>
          </a:prstGeom>
          <a:noFill/>
        </p:spPr>
        <p:txBody>
          <a:bodyPr wrap="square" lIns="0" rIns="0" tIns="0" bIns="0" anchor="t">
            <a:spAutoFit/>
          </a:bodyPr>
          <a:lstStyle/>
          <a:p>
            <a:pPr algn="r">
              <a:spcAft>
                <a:spcPts val="600"/>
              </a:spcAft>
            </a:pPr>
            <a:r>
              <a:rPr sz="1300" b="0" i="0">
                <a:solidFill>
                  <a:srgbClr val="0F1A2E"/>
                </a:solidFill>
                <a:latin typeface="Calibri"/>
              </a:rPr>
              <a:t>0.5195</a:t>
            </a:r>
          </a:p>
        </p:txBody>
      </p:sp>
      <p:sp>
        <p:nvSpPr>
          <p:cNvPr id="29" name="TextBox 28"/>
          <p:cNvSpPr txBox="1"/>
          <p:nvPr/>
        </p:nvSpPr>
        <p:spPr>
          <a:xfrm>
            <a:off x="566928" y="5394960"/>
            <a:ext cx="7315200" cy="73152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Across 3 endpoints and 1,303 independently curated actives, mean recall 0.5334 at a mean background false-positive rate of 0.0560, against a mean deployed sensitivity of 0.7160.</a:t>
            </a:r>
          </a:p>
        </p:txBody>
      </p:sp>
      <p:sp>
        <p:nvSpPr>
          <p:cNvPr id="30" name="Rounded Rectangle 29"/>
          <p:cNvSpPr/>
          <p:nvPr/>
        </p:nvSpPr>
        <p:spPr>
          <a:xfrm>
            <a:off x="8156448" y="1691640"/>
            <a:ext cx="3468319" cy="38404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449056" y="1920240"/>
            <a:ext cx="2873959" cy="338328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Read alone that looks like a heavy cost for a change of curator.
It is not. The median distance from training of these test sets is 0.5195, the middle of the range, and the recall observed is what the previous slide predicts for compounds at that distance.
A change of curator costs almost nothing once distance is accounted for. What it changes is which compounds are available to test on, and the compounds one database holds and another does not are not the ones both already agreed about.</a:t>
            </a:r>
          </a:p>
        </p:txBody>
      </p:sp>
      <p:sp>
        <p:nvSpPr>
          <p:cNvPr id="32" name="TextBox 31"/>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results/tables/external_cross_source.csv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Specificity, adversarial checks and leakage</a:t>
            </a:r>
          </a:p>
        </p:txBody>
      </p:sp>
      <p:sp>
        <p:nvSpPr>
          <p:cNvPr id="4" name="Rounded Rectangle 3"/>
          <p:cNvSpPr/>
          <p:nvPr/>
        </p:nvSpPr>
        <p:spPr>
          <a:xfrm>
            <a:off x="566928" y="1645920"/>
            <a:ext cx="3520440" cy="2148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86968" y="1920240"/>
            <a:ext cx="2926080" cy="603504"/>
          </a:xfrm>
          <a:prstGeom prst="rect">
            <a:avLst/>
          </a:prstGeom>
          <a:noFill/>
        </p:spPr>
        <p:txBody>
          <a:bodyPr wrap="square" lIns="0" rIns="0" tIns="0" bIns="0" anchor="t">
            <a:spAutoFit/>
          </a:bodyPr>
          <a:lstStyle/>
          <a:p>
            <a:pPr algn="l">
              <a:spcAft>
                <a:spcPts val="600"/>
              </a:spcAft>
            </a:pPr>
            <a:r>
              <a:rPr sz="4200" b="1" i="0">
                <a:solidFill>
                  <a:srgbClr val="1F3A5F"/>
                </a:solidFill>
                <a:latin typeface="Cambria"/>
              </a:rPr>
              <a:t>0.925</a:t>
            </a:r>
          </a:p>
        </p:txBody>
      </p:sp>
      <p:sp>
        <p:nvSpPr>
          <p:cNvPr id="6" name="TextBox 5"/>
          <p:cNvSpPr txBox="1"/>
          <p:nvPr/>
        </p:nvSpPr>
        <p:spPr>
          <a:xfrm>
            <a:off x="886968" y="2560320"/>
            <a:ext cx="29260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of 1,000 non-CNS compounds returned no actionable disease signal</a:t>
            </a:r>
          </a:p>
        </p:txBody>
      </p:sp>
      <p:sp>
        <p:nvSpPr>
          <p:cNvPr id="7" name="TextBox 6"/>
          <p:cNvSpPr txBox="1"/>
          <p:nvPr/>
        </p:nvSpPr>
        <p:spPr>
          <a:xfrm>
            <a:off x="886968" y="3310128"/>
            <a:ext cx="2926080" cy="365760"/>
          </a:xfrm>
          <a:prstGeom prst="rect">
            <a:avLst/>
          </a:prstGeom>
          <a:noFill/>
        </p:spPr>
        <p:txBody>
          <a:bodyPr wrap="square" lIns="0" rIns="0" tIns="0" bIns="0" anchor="t">
            <a:spAutoFit/>
          </a:bodyPr>
          <a:lstStyle/>
          <a:p>
            <a:pPr algn="l">
              <a:spcAft>
                <a:spcPts val="600"/>
              </a:spcAft>
            </a:pPr>
            <a:r>
              <a:rPr sz="1200" b="0" i="0">
                <a:solidFill>
                  <a:srgbClr val="5F6B7A"/>
                </a:solidFill>
                <a:latin typeface="Calibri"/>
              </a:rPr>
              <a:t>95% interval 0.907 to 0.9397</a:t>
            </a:r>
          </a:p>
        </p:txBody>
      </p:sp>
      <p:sp>
        <p:nvSpPr>
          <p:cNvPr id="8" name="Rounded Rectangle 7"/>
          <p:cNvSpPr/>
          <p:nvPr/>
        </p:nvSpPr>
        <p:spPr>
          <a:xfrm>
            <a:off x="4407408" y="1645920"/>
            <a:ext cx="3520440" cy="2148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27448" y="1920240"/>
            <a:ext cx="2926080" cy="603504"/>
          </a:xfrm>
          <a:prstGeom prst="rect">
            <a:avLst/>
          </a:prstGeom>
          <a:noFill/>
        </p:spPr>
        <p:txBody>
          <a:bodyPr wrap="square" lIns="0" rIns="0" tIns="0" bIns="0" anchor="t">
            <a:spAutoFit/>
          </a:bodyPr>
          <a:lstStyle/>
          <a:p>
            <a:pPr algn="l">
              <a:spcAft>
                <a:spcPts val="600"/>
              </a:spcAft>
            </a:pPr>
            <a:r>
              <a:rPr sz="3799" b="1" i="0">
                <a:solidFill>
                  <a:srgbClr val="1C7293"/>
                </a:solidFill>
                <a:latin typeface="Cambria"/>
              </a:rPr>
              <a:t>6 of 6</a:t>
            </a:r>
          </a:p>
        </p:txBody>
      </p:sp>
      <p:sp>
        <p:nvSpPr>
          <p:cNvPr id="10" name="TextBox 9"/>
          <p:cNvSpPr txBox="1"/>
          <p:nvPr/>
        </p:nvSpPr>
        <p:spPr>
          <a:xfrm>
            <a:off x="4727448" y="2560320"/>
            <a:ext cx="29260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adversarial checks pass, each written so that it could fail</a:t>
            </a:r>
          </a:p>
        </p:txBody>
      </p:sp>
      <p:sp>
        <p:nvSpPr>
          <p:cNvPr id="11" name="Rounded Rectangle 10"/>
          <p:cNvSpPr/>
          <p:nvPr/>
        </p:nvSpPr>
        <p:spPr>
          <a:xfrm>
            <a:off x="8247888" y="1645920"/>
            <a:ext cx="3376879" cy="2148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567928" y="1920240"/>
            <a:ext cx="2926080" cy="603504"/>
          </a:xfrm>
          <a:prstGeom prst="rect">
            <a:avLst/>
          </a:prstGeom>
          <a:noFill/>
        </p:spPr>
        <p:txBody>
          <a:bodyPr wrap="square" lIns="0" rIns="0" tIns="0" bIns="0" anchor="t">
            <a:spAutoFit/>
          </a:bodyPr>
          <a:lstStyle/>
          <a:p>
            <a:pPr algn="l">
              <a:spcAft>
                <a:spcPts val="600"/>
              </a:spcAft>
            </a:pPr>
            <a:r>
              <a:rPr sz="3490" b="1" i="0">
                <a:solidFill>
                  <a:srgbClr val="1F3A5F"/>
                </a:solidFill>
                <a:latin typeface="Cambria"/>
              </a:rPr>
              <a:t>0 of 52</a:t>
            </a:r>
          </a:p>
        </p:txBody>
      </p:sp>
      <p:sp>
        <p:nvSpPr>
          <p:cNvPr id="13" name="TextBox 12"/>
          <p:cNvSpPr txBox="1"/>
          <p:nvPr/>
        </p:nvSpPr>
        <p:spPr>
          <a:xfrm>
            <a:off x="8567928" y="2560320"/>
            <a:ext cx="29260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targets share a scaffold between training and test</a:t>
            </a:r>
          </a:p>
        </p:txBody>
      </p:sp>
      <p:sp>
        <p:nvSpPr>
          <p:cNvPr id="14" name="TextBox 13"/>
          <p:cNvSpPr txBox="1"/>
          <p:nvPr/>
        </p:nvSpPr>
        <p:spPr>
          <a:xfrm>
            <a:off x="566928" y="4023360"/>
            <a:ext cx="5669280" cy="384048"/>
          </a:xfrm>
          <a:prstGeom prst="rect">
            <a:avLst/>
          </a:prstGeom>
          <a:noFill/>
        </p:spPr>
        <p:txBody>
          <a:bodyPr wrap="square" lIns="0" rIns="0" tIns="0" bIns="0" anchor="t">
            <a:spAutoFit/>
          </a:bodyPr>
          <a:lstStyle/>
          <a:p>
            <a:pPr algn="l">
              <a:spcAft>
                <a:spcPts val="600"/>
              </a:spcAft>
            </a:pPr>
            <a:r>
              <a:rPr sz="1700" b="1" i="0">
                <a:solidFill>
                  <a:srgbClr val="1F3A5F"/>
                </a:solidFill>
                <a:latin typeface="Cambria"/>
              </a:rPr>
              <a:t>Prospective scaffold hold-out</a:t>
            </a:r>
          </a:p>
        </p:txBody>
      </p:sp>
      <p:sp>
        <p:nvSpPr>
          <p:cNvPr id="15" name="TextBox 14"/>
          <p:cNvSpPr txBox="1"/>
          <p:nvPr/>
        </p:nvSpPr>
        <p:spPr>
          <a:xfrm>
            <a:off x="566928" y="4462272"/>
            <a:ext cx="5669280" cy="100584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Whole scaffold classes withheld before training, recall measured at the deployed threshold over 41 targets: median 0.8180, mean 0.7362, from 0.000 to 0.970. The minimum of zero is one of the six endpoints Chapter 6 identifies.</a:t>
            </a:r>
          </a:p>
        </p:txBody>
      </p:sp>
      <p:sp>
        <p:nvSpPr>
          <p:cNvPr id="16" name="Rounded Rectangle 15"/>
          <p:cNvSpPr/>
          <p:nvPr/>
        </p:nvSpPr>
        <p:spPr>
          <a:xfrm>
            <a:off x="6601968" y="4023360"/>
            <a:ext cx="5022799"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67728" y="4224528"/>
            <a:ext cx="4291279" cy="123444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The specificity figure was 0.949 before 25 August. Chapter 7 traces the change: stale base rates were suppressing real engagement signal, so the old number was inflated by a false-negative bug. This is a correction, not a degradation.</a:t>
            </a:r>
          </a:p>
        </p:txBody>
      </p:sp>
      <p:sp>
        <p:nvSpPr>
          <p:cNvPr id="18" name="TextBox 1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noncns_specificity_summary.csv; inversion_validation.csv; integrity_audit.csv; scaffold_holdout_results.csv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960120"/>
            <a:ext cx="82296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What the programme does not establish</a:t>
            </a:r>
          </a:p>
        </p:txBody>
      </p:sp>
      <p:sp>
        <p:nvSpPr>
          <p:cNvPr id="3" name="Oval 2"/>
          <p:cNvSpPr/>
          <p:nvPr/>
        </p:nvSpPr>
        <p:spPr>
          <a:xfrm>
            <a:off x="566928" y="1636776"/>
            <a:ext cx="347472" cy="347472"/>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1</a:t>
            </a:r>
          </a:p>
        </p:txBody>
      </p:sp>
      <p:sp>
        <p:nvSpPr>
          <p:cNvPr id="4" name="TextBox 3"/>
          <p:cNvSpPr txBox="1"/>
          <p:nvPr/>
        </p:nvSpPr>
        <p:spPr>
          <a:xfrm>
            <a:off x="1133856" y="1600200"/>
            <a:ext cx="4114800" cy="822960"/>
          </a:xfrm>
          <a:prstGeom prst="rect">
            <a:avLst/>
          </a:prstGeom>
          <a:noFill/>
        </p:spPr>
        <p:txBody>
          <a:bodyPr wrap="square" lIns="0" rIns="0" tIns="0" bIns="0" anchor="t">
            <a:spAutoFit/>
          </a:bodyPr>
          <a:lstStyle/>
          <a:p>
            <a:pPr algn="l">
              <a:lnSpc>
                <a:spcPct val="116000"/>
              </a:lnSpc>
              <a:spcAft>
                <a:spcPts val="600"/>
              </a:spcAft>
            </a:pPr>
            <a:r>
              <a:rPr sz="1450" b="1" i="0">
                <a:solidFill>
                  <a:srgbClr val="D98324"/>
                </a:solidFill>
                <a:latin typeface="Calibri"/>
              </a:rPr>
              <a:t>Recall on genuinely distant chemistry is poor in absolute terms</a:t>
            </a:r>
          </a:p>
        </p:txBody>
      </p:sp>
      <p:sp>
        <p:nvSpPr>
          <p:cNvPr id="5" name="TextBox 4"/>
          <p:cNvSpPr txBox="1"/>
          <p:nvPr/>
        </p:nvSpPr>
        <p:spPr>
          <a:xfrm>
            <a:off x="5504688" y="1581912"/>
            <a:ext cx="594360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0.161 below Tanimoto 0.40, and no analysis here improves it. The finding is that the poor number is predictable, not that it is better than it looked.</a:t>
            </a:r>
          </a:p>
        </p:txBody>
      </p:sp>
      <p:sp>
        <p:nvSpPr>
          <p:cNvPr id="6" name="Oval 5"/>
          <p:cNvSpPr/>
          <p:nvPr/>
        </p:nvSpPr>
        <p:spPr>
          <a:xfrm>
            <a:off x="566928" y="2807208"/>
            <a:ext cx="347472" cy="347472"/>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2</a:t>
            </a:r>
          </a:p>
        </p:txBody>
      </p:sp>
      <p:sp>
        <p:nvSpPr>
          <p:cNvPr id="7" name="TextBox 6"/>
          <p:cNvSpPr txBox="1"/>
          <p:nvPr/>
        </p:nvSpPr>
        <p:spPr>
          <a:xfrm>
            <a:off x="1133856" y="2770632"/>
            <a:ext cx="4114800" cy="822960"/>
          </a:xfrm>
          <a:prstGeom prst="rect">
            <a:avLst/>
          </a:prstGeom>
          <a:noFill/>
        </p:spPr>
        <p:txBody>
          <a:bodyPr wrap="square" lIns="0" rIns="0" tIns="0" bIns="0" anchor="t">
            <a:spAutoFit/>
          </a:bodyPr>
          <a:lstStyle/>
          <a:p>
            <a:pPr algn="l">
              <a:lnSpc>
                <a:spcPct val="116000"/>
              </a:lnSpc>
              <a:spcAft>
                <a:spcPts val="600"/>
              </a:spcAft>
            </a:pPr>
            <a:r>
              <a:rPr sz="1450" b="1" i="0">
                <a:solidFill>
                  <a:srgbClr val="D98324"/>
                </a:solidFill>
                <a:latin typeface="Calibri"/>
              </a:rPr>
              <a:t>None of this is prospective in the strict sense</a:t>
            </a:r>
          </a:p>
        </p:txBody>
      </p:sp>
      <p:sp>
        <p:nvSpPr>
          <p:cNvPr id="8" name="TextBox 7"/>
          <p:cNvSpPr txBox="1"/>
          <p:nvPr/>
        </p:nvSpPr>
        <p:spPr>
          <a:xfrm>
            <a:off x="5504688" y="2752344"/>
            <a:ext cx="594360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No compound here was predicted before it was measured. The dates are real; the analysis is retrospective.</a:t>
            </a:r>
          </a:p>
        </p:txBody>
      </p:sp>
      <p:sp>
        <p:nvSpPr>
          <p:cNvPr id="9" name="Oval 8"/>
          <p:cNvSpPr/>
          <p:nvPr/>
        </p:nvSpPr>
        <p:spPr>
          <a:xfrm>
            <a:off x="566928" y="3977640"/>
            <a:ext cx="347472" cy="347472"/>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3</a:t>
            </a:r>
          </a:p>
        </p:txBody>
      </p:sp>
      <p:sp>
        <p:nvSpPr>
          <p:cNvPr id="10" name="TextBox 9"/>
          <p:cNvSpPr txBox="1"/>
          <p:nvPr/>
        </p:nvSpPr>
        <p:spPr>
          <a:xfrm>
            <a:off x="1133856" y="3941064"/>
            <a:ext cx="4114800" cy="822960"/>
          </a:xfrm>
          <a:prstGeom prst="rect">
            <a:avLst/>
          </a:prstGeom>
          <a:noFill/>
        </p:spPr>
        <p:txBody>
          <a:bodyPr wrap="square" lIns="0" rIns="0" tIns="0" bIns="0" anchor="t">
            <a:spAutoFit/>
          </a:bodyPr>
          <a:lstStyle/>
          <a:p>
            <a:pPr algn="l">
              <a:lnSpc>
                <a:spcPct val="116000"/>
              </a:lnSpc>
              <a:spcAft>
                <a:spcPts val="600"/>
              </a:spcAft>
            </a:pPr>
            <a:r>
              <a:rPr sz="1450" b="1" i="0">
                <a:solidFill>
                  <a:srgbClr val="D98324"/>
                </a:solidFill>
                <a:latin typeface="Calibri"/>
              </a:rPr>
              <a:t>The cross-provenance arm rests on three endpoints</a:t>
            </a:r>
          </a:p>
        </p:txBody>
      </p:sp>
      <p:sp>
        <p:nvSpPr>
          <p:cNvPr id="11" name="TextBox 10"/>
          <p:cNvSpPr txBox="1"/>
          <p:nvPr/>
        </p:nvSpPr>
        <p:spPr>
          <a:xfrm>
            <a:off x="5504688" y="3922776"/>
            <a:ext cx="594360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The number of compounds one database holds at pChEMBL 7 or above and the other lacks is small.</a:t>
            </a:r>
          </a:p>
        </p:txBody>
      </p:sp>
      <p:sp>
        <p:nvSpPr>
          <p:cNvPr id="12" name="Oval 11"/>
          <p:cNvSpPr/>
          <p:nvPr/>
        </p:nvSpPr>
        <p:spPr>
          <a:xfrm>
            <a:off x="566928" y="5148072"/>
            <a:ext cx="347472" cy="347472"/>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4</a:t>
            </a:r>
          </a:p>
        </p:txBody>
      </p:sp>
      <p:sp>
        <p:nvSpPr>
          <p:cNvPr id="13" name="TextBox 12"/>
          <p:cNvSpPr txBox="1"/>
          <p:nvPr/>
        </p:nvSpPr>
        <p:spPr>
          <a:xfrm>
            <a:off x="1133856" y="5111496"/>
            <a:ext cx="4114800" cy="822960"/>
          </a:xfrm>
          <a:prstGeom prst="rect">
            <a:avLst/>
          </a:prstGeom>
          <a:noFill/>
        </p:spPr>
        <p:txBody>
          <a:bodyPr wrap="square" lIns="0" rIns="0" tIns="0" bIns="0" anchor="t">
            <a:spAutoFit/>
          </a:bodyPr>
          <a:lstStyle/>
          <a:p>
            <a:pPr algn="l">
              <a:lnSpc>
                <a:spcPct val="116000"/>
              </a:lnSpc>
              <a:spcAft>
                <a:spcPts val="600"/>
              </a:spcAft>
            </a:pPr>
            <a:r>
              <a:rPr sz="1450" b="1" i="0">
                <a:solidFill>
                  <a:srgbClr val="9E2A2B"/>
                </a:solidFill>
                <a:latin typeface="Calibri"/>
              </a:rPr>
              <a:t>The null models have no artefact</a:t>
            </a:r>
          </a:p>
        </p:txBody>
      </p:sp>
      <p:sp>
        <p:nvSpPr>
          <p:cNvPr id="14" name="TextBox 13"/>
          <p:cNvSpPr txBox="1"/>
          <p:nvPr/>
        </p:nvSpPr>
        <p:spPr>
          <a:xfrm>
            <a:off x="5504688" y="5093208"/>
            <a:ext cx="594360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The label-permutation null, 0.4938 random and 0.4921 scaffold, and the independent reproduction of 26 values to 4.7e-5, are hard-coded in the report generator. No file holds them. It is the one claim here a reader cannot check, and it is the evidence that the cross-validation is not inflated by leakage.</a:t>
            </a:r>
          </a:p>
        </p:txBody>
      </p:sp>
      <p:sp>
        <p:nvSpPr>
          <p:cNvPr id="15" name="TextBox 14"/>
          <p:cNvSpPr txBox="1"/>
          <p:nvPr/>
        </p:nvSpPr>
        <p:spPr>
          <a:xfrm>
            <a:off x="566928" y="6263640"/>
            <a:ext cx="10698480" cy="365760"/>
          </a:xfrm>
          <a:prstGeom prst="rect">
            <a:avLst/>
          </a:prstGeom>
          <a:noFill/>
        </p:spPr>
        <p:txBody>
          <a:bodyPr wrap="square" lIns="0" rIns="0" tIns="0" bIns="0" anchor="t">
            <a:spAutoFit/>
          </a:bodyPr>
          <a:lstStyle/>
          <a:p>
            <a:pPr algn="l">
              <a:spcAft>
                <a:spcPts val="600"/>
              </a:spcAft>
            </a:pPr>
            <a:r>
              <a:rPr sz="1300" b="0" i="1">
                <a:solidFill>
                  <a:srgbClr val="FFFFFF"/>
                </a:solidFill>
                <a:latin typeface="Calibri"/>
              </a:rPr>
              <a:t>The fourth is a defect rather than a limitation, and it should be regenerated into an artefact and declared.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