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before calibration</c:v>
                </c:pt>
              </c:strCache>
            </c:strRef>
          </c:tx>
          <c:spPr>
            <a:solidFill>
              <a:srgbClr val="D7DFEA"/>
            </a:solidFill>
          </c:spPr>
          <c:cat>
            <c:strRef>
              <c:f>Sheet1!$A$2:$A$9</c:f>
              <c:strCache>
                <c:ptCount val="8"/>
                <c:pt idx="0">
                  <c:v>BBB</c:v>
                </c:pt>
                <c:pt idx="1">
                  <c:v>AChE</c:v>
                </c:pt>
                <c:pt idx="2">
                  <c:v>BChE</c:v>
                </c:pt>
                <c:pt idx="3">
                  <c:v>BACE1</c:v>
                </c:pt>
                <c:pt idx="4">
                  <c:v>GSK3B</c:v>
                </c:pt>
                <c:pt idx="5">
                  <c:v>MAO-A</c:v>
                </c:pt>
                <c:pt idx="6">
                  <c:v>MAO-B</c:v>
                </c:pt>
                <c:pt idx="7">
                  <c:v>hERG</c:v>
                </c:pt>
              </c:strCache>
            </c:strRef>
          </c:cat>
          <c:val>
            <c:numRef>
              <c:f>Sheet1!$B$2:$B$9</c:f>
              <c:numCache>
                <c:formatCode>General</c:formatCode>
                <c:ptCount val="8"/>
                <c:pt idx="0">
                  <c:v>0.0657</c:v>
                </c:pt>
                <c:pt idx="1">
                  <c:v>0.0942</c:v>
                </c:pt>
                <c:pt idx="2">
                  <c:v>0.0735</c:v>
                </c:pt>
                <c:pt idx="3">
                  <c:v>0.0497</c:v>
                </c:pt>
                <c:pt idx="4">
                  <c:v>0.0847</c:v>
                </c:pt>
                <c:pt idx="5">
                  <c:v>0.094</c:v>
                </c:pt>
                <c:pt idx="6">
                  <c:v>0.0881</c:v>
                </c:pt>
                <c:pt idx="7">
                  <c:v>0.0911</c:v>
                </c:pt>
              </c:numCache>
            </c:numRef>
          </c:val>
        </c:ser>
        <c:ser>
          <c:idx val="1"/>
          <c:order val="1"/>
          <c:tx>
            <c:strRef>
              <c:f>Sheet1!$C$1</c:f>
              <c:strCache>
                <c:ptCount val="1"/>
                <c:pt idx="0">
                  <c:v>after isotonic calibration</c:v>
                </c:pt>
              </c:strCache>
            </c:strRef>
          </c:tx>
          <c:spPr>
            <a:solidFill>
              <a:srgbClr val="1F3A5F"/>
            </a:solidFill>
          </c:spPr>
          <c:cat>
            <c:strRef>
              <c:f>Sheet1!$A$2:$A$9</c:f>
              <c:strCache>
                <c:ptCount val="8"/>
                <c:pt idx="0">
                  <c:v>BBB</c:v>
                </c:pt>
                <c:pt idx="1">
                  <c:v>AChE</c:v>
                </c:pt>
                <c:pt idx="2">
                  <c:v>BChE</c:v>
                </c:pt>
                <c:pt idx="3">
                  <c:v>BACE1</c:v>
                </c:pt>
                <c:pt idx="4">
                  <c:v>GSK3B</c:v>
                </c:pt>
                <c:pt idx="5">
                  <c:v>MAO-A</c:v>
                </c:pt>
                <c:pt idx="6">
                  <c:v>MAO-B</c:v>
                </c:pt>
                <c:pt idx="7">
                  <c:v>hERG</c:v>
                </c:pt>
              </c:strCache>
            </c:strRef>
          </c:cat>
          <c:val>
            <c:numRef>
              <c:f>Sheet1!$C$2:$C$9</c:f>
              <c:numCache>
                <c:formatCode>General</c:formatCode>
                <c:ptCount val="8"/>
                <c:pt idx="0">
                  <c:v>0.0412</c:v>
                </c:pt>
                <c:pt idx="1">
                  <c:v>0.011</c:v>
                </c:pt>
                <c:pt idx="2">
                  <c:v>0.0127</c:v>
                </c:pt>
                <c:pt idx="3">
                  <c:v>0.0049</c:v>
                </c:pt>
                <c:pt idx="4">
                  <c:v>0.0175</c:v>
                </c:pt>
                <c:pt idx="5">
                  <c:v>0.0089</c:v>
                </c:pt>
                <c:pt idx="6">
                  <c:v>0.0148</c:v>
                </c:pt>
                <c:pt idx="7">
                  <c:v>0.0069</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5F6B7A"/>
                </a:solidFill>
              </a:defRPr>
            </a:pPr>
          </a:p>
        </c:txPr>
        <c:crossAx val="-2113994440"/>
        <c:crosses val="autoZero"/>
        <c:auto val="1"/>
        <c:lblAlgn val="ctr"/>
        <c:lblOffset val="100"/>
        <c:noMultiLvlLbl val="0"/>
      </c:catAx>
      <c:valAx>
        <c:axId val="-2113994440"/>
        <c:scaling>
          <c:max val="0.1"/>
          <c:min val="0.0"/>
        </c:scaling>
        <c:delete val="0"/>
        <c:axPos val="l"/>
        <c:majorGridlines>
          <c:spPr>
            <a:ln>
              <a:solidFill>
                <a:srgbClr val="E2E8F0"/>
              </a:solidFill>
            </a:ln>
          </c:spPr>
        </c:majorGridlines>
        <c:majorTickMark val="out"/>
        <c:minorTickMark val="none"/>
        <c:tickLblPos val="nextTo"/>
        <c:txPr>
          <a:bodyPr/>
          <a:lstStyle/>
          <a:p>
            <a:pPr>
              <a:defRPr sz="1100">
                <a:solidFill>
                  <a:srgbClr val="5F6B7A"/>
                </a:solidFill>
              </a:defRPr>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withheld by date</c:v>
                </c:pt>
              </c:strCache>
            </c:strRef>
          </c:tx>
          <c:spPr>
            <a:solidFill>
              <a:srgbClr val="1F3A5F"/>
            </a:solidFill>
          </c:spPr>
          <c:cat>
            <c:strRef>
              <c:f>Sheet1!$A$2:$A$5</c:f>
              <c:strCache>
                <c:ptCount val="4"/>
                <c:pt idx="0">
                  <c:v>below 0.40
different chemotype</c:v>
                </c:pt>
                <c:pt idx="1">
                  <c:v>0.40 to 0.55
related series</c:v>
                </c:pt>
                <c:pt idx="2">
                  <c:v>0.55 to 0.70
same series</c:v>
                </c:pt>
                <c:pt idx="3">
                  <c:v>0.70 and above
close analogue</c:v>
                </c:pt>
              </c:strCache>
            </c:strRef>
          </c:cat>
          <c:val>
            <c:numRef>
              <c:f>Sheet1!$B$2:$B$5</c:f>
              <c:numCache>
                <c:formatCode>General</c:formatCode>
                <c:ptCount val="4"/>
                <c:pt idx="0">
                  <c:v>0.1612</c:v>
                </c:pt>
                <c:pt idx="1">
                  <c:v>0.5532</c:v>
                </c:pt>
                <c:pt idx="2">
                  <c:v>0.7403</c:v>
                </c:pt>
                <c:pt idx="3">
                  <c:v>0.8616</c:v>
                </c:pt>
              </c:numCache>
            </c:numRef>
          </c:val>
        </c:ser>
        <c:ser>
          <c:idx val="1"/>
          <c:order val="1"/>
          <c:tx>
            <c:strRef>
              <c:f>Sheet1!$C$1</c:f>
              <c:strCache>
                <c:ptCount val="1"/>
                <c:pt idx="0">
                  <c:v>withheld at random</c:v>
                </c:pt>
              </c:strCache>
            </c:strRef>
          </c:tx>
          <c:spPr>
            <a:solidFill>
              <a:srgbClr val="1C7293"/>
            </a:solidFill>
          </c:spPr>
          <c:cat>
            <c:strRef>
              <c:f>Sheet1!$A$2:$A$5</c:f>
              <c:strCache>
                <c:ptCount val="4"/>
                <c:pt idx="0">
                  <c:v>below 0.40
different chemotype</c:v>
                </c:pt>
                <c:pt idx="1">
                  <c:v>0.40 to 0.55
related series</c:v>
                </c:pt>
                <c:pt idx="2">
                  <c:v>0.55 to 0.70
same series</c:v>
                </c:pt>
                <c:pt idx="3">
                  <c:v>0.70 and above
close analogue</c:v>
                </c:pt>
              </c:strCache>
            </c:strRef>
          </c:cat>
          <c:val>
            <c:numRef>
              <c:f>Sheet1!$C$2:$C$5</c:f>
              <c:numCache>
                <c:formatCode>General</c:formatCode>
                <c:ptCount val="4"/>
                <c:pt idx="0">
                  <c:v>0.1179</c:v>
                </c:pt>
                <c:pt idx="1">
                  <c:v>0.5232</c:v>
                </c:pt>
                <c:pt idx="2">
                  <c:v>0.7683</c:v>
                </c:pt>
                <c:pt idx="3">
                  <c:v>0.9334</c:v>
                </c:pt>
              </c:numCache>
            </c:numRef>
          </c:val>
        </c:ser>
        <c:ser>
          <c:idx val="2"/>
          <c:order val="2"/>
          <c:tx>
            <c:strRef>
              <c:f>Sheet1!$D$1</c:f>
              <c:strCache>
                <c:ptCount val="1"/>
                <c:pt idx="0">
                  <c:v>withheld by curator</c:v>
                </c:pt>
              </c:strCache>
            </c:strRef>
          </c:tx>
          <c:spPr>
            <a:solidFill>
              <a:srgbClr val="D98324"/>
            </a:solidFill>
          </c:spPr>
          <c:cat>
            <c:strRef>
              <c:f>Sheet1!$A$2:$A$5</c:f>
              <c:strCache>
                <c:ptCount val="4"/>
                <c:pt idx="0">
                  <c:v>below 0.40
different chemotype</c:v>
                </c:pt>
                <c:pt idx="1">
                  <c:v>0.40 to 0.55
related series</c:v>
                </c:pt>
                <c:pt idx="2">
                  <c:v>0.55 to 0.70
same series</c:v>
                </c:pt>
                <c:pt idx="3">
                  <c:v>0.70 and above
close analogue</c:v>
                </c:pt>
              </c:strCache>
            </c:strRef>
          </c:cat>
          <c:val>
            <c:numRef>
              <c:f>Sheet1!$D$2:$D$5</c:f>
              <c:numCache>
                <c:formatCode>General</c:formatCode>
                <c:ptCount val="4"/>
                <c:pt idx="0">
                  <c:v>0.0494</c:v>
                </c:pt>
                <c:pt idx="1">
                  <c:v>0.4641</c:v>
                </c:pt>
                <c:pt idx="2">
                  <c:v>0.8264</c:v>
                </c:pt>
                <c:pt idx="3">
                  <c:v>0.9011</c:v>
                </c:pt>
              </c:numCache>
            </c:numRef>
          </c:val>
        </c:ser>
        <c:gapWidth val="7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5F6B7A"/>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2E8F0"/>
              </a:solidFill>
            </a:ln>
          </c:spPr>
        </c:majorGridlines>
        <c:majorTickMark val="out"/>
        <c:minorTickMark val="none"/>
        <c:tickLblPos val="nextTo"/>
        <c:txPr>
          <a:bodyPr/>
          <a:lstStyle/>
          <a:p>
            <a:pPr>
              <a:defRPr sz="1100">
                <a:solidFill>
                  <a:srgbClr val="5F6B7A"/>
                </a:solidFill>
              </a:defRPr>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fraction at T ≥ 0.30</c:v>
                </c:pt>
              </c:strCache>
            </c:strRef>
          </c:tx>
          <c:spPr>
            <a:solidFill>
              <a:srgbClr val="1F3A5F"/>
            </a:solidFill>
          </c:spPr>
          <c:cat>
            <c:strRef>
              <c:f>Sheet1!$A$2:$A$9</c:f>
              <c:strCache>
                <c:ptCount val="8"/>
                <c:pt idx="0">
                  <c:v>BBB</c:v>
                </c:pt>
                <c:pt idx="1">
                  <c:v>hERG</c:v>
                </c:pt>
                <c:pt idx="2">
                  <c:v>AChE</c:v>
                </c:pt>
                <c:pt idx="3">
                  <c:v>BChE</c:v>
                </c:pt>
                <c:pt idx="4">
                  <c:v>GSK3B</c:v>
                </c:pt>
                <c:pt idx="5">
                  <c:v>MAO-B</c:v>
                </c:pt>
                <c:pt idx="6">
                  <c:v>MAO-A</c:v>
                </c:pt>
                <c:pt idx="7">
                  <c:v>BACE1</c:v>
                </c:pt>
              </c:strCache>
            </c:strRef>
          </c:cat>
          <c:val>
            <c:numRef>
              <c:f>Sheet1!$B$2:$B$9</c:f>
              <c:numCache>
                <c:formatCode>General</c:formatCode>
                <c:ptCount val="8"/>
                <c:pt idx="0">
                  <c:v>0.7171</c:v>
                </c:pt>
                <c:pt idx="1">
                  <c:v>0.483</c:v>
                </c:pt>
                <c:pt idx="2">
                  <c:v>0.4042</c:v>
                </c:pt>
                <c:pt idx="3">
                  <c:v>0.3423</c:v>
                </c:pt>
                <c:pt idx="4">
                  <c:v>0.3293</c:v>
                </c:pt>
                <c:pt idx="5">
                  <c:v>0.3245</c:v>
                </c:pt>
                <c:pt idx="6">
                  <c:v>0.3064</c:v>
                </c:pt>
                <c:pt idx="7">
                  <c:v>0.2189</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F6B7A"/>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2E8F0"/>
              </a:solidFill>
            </a:ln>
          </c:spPr>
        </c:majorGridlines>
        <c:majorTickMark val="out"/>
        <c:minorTickMark val="none"/>
        <c:tickLblPos val="nextTo"/>
        <c:txPr>
          <a:bodyPr/>
          <a:lstStyle/>
          <a:p>
            <a:pPr>
              <a:defRPr sz="1100">
                <a:solidFill>
                  <a:srgbClr val="5F6B7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chapter's two hardest findings are that the headline calibration figure covers eight of seventy estimators, and that the domain flag does not predict discrimination.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 on the third row. It is the one most tools do not have at 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out-of-fold point is the one a statistician will probe first. Have it ready.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BBB Brier regression. It is the only place calibration makes something worse and a referee who finds it unaided will wonder what else is unmentioned.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TAAR1, worst at 0.178, has 403 rows in its endpoint table and 82 in the fitted binder set. The constraint that forced Platt scaling was real; the price is now measured. The remedy is specific: isotonic where there are enough held-out positives, and a per-endpoint calibration error beside every other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Class-conditional matters here: the median deployed endpoint is 0.825 active, and marginal coverage can be met while the rare class fails almost completely.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 previously failed and the fix was to the controls, not the criterion: 28 controls were measured compounds in the flag's own reference library. Chapter 9 has the full history.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rescues the applicability domain. It earns its place in a role it was not designed for.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artefact was six days stale and disagreed with external_bbb_validation.csv on the same 306 compounds, 0.7608 against 0.7645. Regenerated, they agree exactly. It is now declared in the freshness graph.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quantitative basis for the Chapter 1 claim that silence is the weakest of the system's outputs.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gap, not on the achievement. It is the honest state of the chapter.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591056"/>
            <a:ext cx="11057839" cy="457200"/>
          </a:xfrm>
          <a:prstGeom prst="rect">
            <a:avLst/>
          </a:prstGeom>
          <a:noFill/>
        </p:spPr>
        <p:txBody>
          <a:bodyPr wrap="square" lIns="0" rIns="0" tIns="0" bIns="0" anchor="t">
            <a:spAutoFit/>
          </a:bodyPr>
          <a:lstStyle/>
          <a:p>
            <a:pPr algn="l">
              <a:spcAft>
                <a:spcPts val="600"/>
              </a:spcAft>
            </a:pPr>
            <a:r>
              <a:rPr sz="1600" b="1" i="0">
                <a:solidFill>
                  <a:srgbClr val="1C7293"/>
                </a:solidFill>
                <a:latin typeface="Calibri"/>
              </a:rPr>
              <a:t>Chapter 4</a:t>
            </a:r>
          </a:p>
        </p:txBody>
      </p:sp>
      <p:sp>
        <p:nvSpPr>
          <p:cNvPr id="3" name="TextBox 2"/>
          <p:cNvSpPr txBox="1"/>
          <p:nvPr/>
        </p:nvSpPr>
        <p:spPr>
          <a:xfrm>
            <a:off x="566928" y="1993392"/>
            <a:ext cx="10143439" cy="146304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Calibration, conformal prediction and the applicability domain</a:t>
            </a:r>
          </a:p>
        </p:txBody>
      </p:sp>
      <p:sp>
        <p:nvSpPr>
          <p:cNvPr id="4" name="TextBox 3"/>
          <p:cNvSpPr txBox="1"/>
          <p:nvPr/>
        </p:nvSpPr>
        <p:spPr>
          <a:xfrm>
            <a:off x="566928" y="3794760"/>
            <a:ext cx="9594799" cy="914400"/>
          </a:xfrm>
          <a:prstGeom prst="rect">
            <a:avLst/>
          </a:prstGeom>
          <a:noFill/>
        </p:spPr>
        <p:txBody>
          <a:bodyPr wrap="square" lIns="0" rIns="0" tIns="0" bIns="0" anchor="t">
            <a:spAutoFit/>
          </a:bodyPr>
          <a:lstStyle/>
          <a:p>
            <a:pPr algn="l">
              <a:lnSpc>
                <a:spcPct val="125000"/>
              </a:lnSpc>
              <a:spcAft>
                <a:spcPts val="600"/>
              </a:spcAft>
            </a:pPr>
            <a:r>
              <a:rPr sz="1600" b="0" i="1">
                <a:solidFill>
                  <a:srgbClr val="D7DFEA"/>
                </a:solidFill>
                <a:latin typeface="Calibri"/>
              </a:rPr>
              <a:t>Three instruments answering three different questions, one of which turns out to answer a question it was not built for</a:t>
            </a:r>
          </a:p>
        </p:txBody>
      </p:sp>
      <p:sp>
        <p:nvSpPr>
          <p:cNvPr id="5" name="TextBox 4"/>
          <p:cNvSpPr txBox="1"/>
          <p:nvPr/>
        </p:nvSpPr>
        <p:spPr>
          <a:xfrm>
            <a:off x="566928" y="5212080"/>
            <a:ext cx="11057839" cy="457200"/>
          </a:xfrm>
          <a:prstGeom prst="rect">
            <a:avLst/>
          </a:prstGeom>
          <a:noFill/>
        </p:spPr>
        <p:txBody>
          <a:bodyPr wrap="square" lIns="0" rIns="0" tIns="0" bIns="0" anchor="t">
            <a:spAutoFit/>
          </a:bodyPr>
          <a:lstStyle/>
          <a:p>
            <a:pPr algn="l">
              <a:spcAft>
                <a:spcPts val="600"/>
              </a:spcAft>
            </a:pPr>
            <a:r>
              <a:rPr sz="1300" b="0" i="0">
                <a:solidFill>
                  <a:srgbClr val="1C7293"/>
                </a:solidFill>
                <a:latin typeface="Calibri"/>
              </a:rPr>
              <a:t>Calibration measured on 8 core classifiers and 38 binder endpoints, coverage on 10,000 held-out compounds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Three questions, and why one answer will not do</a:t>
            </a:r>
          </a:p>
        </p:txBody>
      </p:sp>
      <p:sp>
        <p:nvSpPr>
          <p:cNvPr id="4" name="Rounded Rectangle 3"/>
          <p:cNvSpPr/>
          <p:nvPr/>
        </p:nvSpPr>
        <p:spPr>
          <a:xfrm>
            <a:off x="566928" y="1645920"/>
            <a:ext cx="11057839" cy="135331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86968" y="2103120"/>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1527048" y="1883664"/>
            <a:ext cx="3383280" cy="731520"/>
          </a:xfrm>
          <a:prstGeom prst="rect">
            <a:avLst/>
          </a:prstGeom>
          <a:noFill/>
        </p:spPr>
        <p:txBody>
          <a:bodyPr wrap="square" lIns="0" rIns="0" tIns="0" bIns="0" anchor="t">
            <a:spAutoFit/>
          </a:bodyPr>
          <a:lstStyle/>
          <a:p>
            <a:pPr algn="l">
              <a:lnSpc>
                <a:spcPct val="112000"/>
              </a:lnSpc>
              <a:spcAft>
                <a:spcPts val="600"/>
              </a:spcAft>
            </a:pPr>
            <a:r>
              <a:rPr sz="1600" b="1" i="0">
                <a:solidFill>
                  <a:srgbClr val="1F3A5F"/>
                </a:solidFill>
                <a:latin typeface="Cambria"/>
              </a:rPr>
              <a:t>Is 0.84 a probability?</a:t>
            </a:r>
          </a:p>
        </p:txBody>
      </p:sp>
      <p:sp>
        <p:nvSpPr>
          <p:cNvPr id="7" name="TextBox 6"/>
          <p:cNvSpPr txBox="1"/>
          <p:nvPr/>
        </p:nvSpPr>
        <p:spPr>
          <a:xfrm>
            <a:off x="5138928" y="1847088"/>
            <a:ext cx="3657600" cy="960120"/>
          </a:xfrm>
          <a:prstGeom prst="rect">
            <a:avLst/>
          </a:prstGeom>
          <a:noFill/>
        </p:spPr>
        <p:txBody>
          <a:bodyPr wrap="square" lIns="0" rIns="0" tIns="0" bIns="0" anchor="t">
            <a:spAutoFit/>
          </a:bodyPr>
          <a:lstStyle/>
          <a:p>
            <a:pPr algn="l">
              <a:lnSpc>
                <a:spcPct val="124000"/>
              </a:lnSpc>
              <a:spcAft>
                <a:spcPts val="600"/>
              </a:spcAft>
            </a:pPr>
            <a:r>
              <a:rPr sz="1200" b="0" i="0">
                <a:solidFill>
                  <a:srgbClr val="0F1A2E"/>
                </a:solidFill>
                <a:latin typeface="Calibri"/>
              </a:rPr>
              <a:t>A forest returns a vote share. Averaging 300 trees gives a number that behaves like a probability, clusters toward the middle, and is not one.</a:t>
            </a:r>
          </a:p>
        </p:txBody>
      </p:sp>
      <p:sp>
        <p:nvSpPr>
          <p:cNvPr id="8" name="TextBox 7"/>
          <p:cNvSpPr txBox="1"/>
          <p:nvPr/>
        </p:nvSpPr>
        <p:spPr>
          <a:xfrm>
            <a:off x="9025128" y="1920240"/>
            <a:ext cx="2325319" cy="868680"/>
          </a:xfrm>
          <a:prstGeom prst="rect">
            <a:avLst/>
          </a:prstGeom>
          <a:noFill/>
        </p:spPr>
        <p:txBody>
          <a:bodyPr wrap="square" lIns="0" rIns="0" tIns="0" bIns="0" anchor="t">
            <a:spAutoFit/>
          </a:bodyPr>
          <a:lstStyle/>
          <a:p>
            <a:pPr algn="l">
              <a:lnSpc>
                <a:spcPct val="124000"/>
              </a:lnSpc>
              <a:spcAft>
                <a:spcPts val="600"/>
              </a:spcAft>
            </a:pPr>
            <a:r>
              <a:rPr sz="1200" b="1" i="0">
                <a:solidFill>
                  <a:srgbClr val="1F3A5F"/>
                </a:solidFill>
                <a:latin typeface="Calibri"/>
              </a:rPr>
              <a:t>Calibration. A statement about a population of predictions.</a:t>
            </a:r>
          </a:p>
        </p:txBody>
      </p:sp>
      <p:sp>
        <p:nvSpPr>
          <p:cNvPr id="9" name="Rounded Rectangle 8"/>
          <p:cNvSpPr/>
          <p:nvPr/>
        </p:nvSpPr>
        <p:spPr>
          <a:xfrm>
            <a:off x="566928" y="3127248"/>
            <a:ext cx="11057839" cy="135331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86968" y="358444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1" name="TextBox 10"/>
          <p:cNvSpPr txBox="1"/>
          <p:nvPr/>
        </p:nvSpPr>
        <p:spPr>
          <a:xfrm>
            <a:off x="1527048" y="3364991"/>
            <a:ext cx="3383280" cy="731520"/>
          </a:xfrm>
          <a:prstGeom prst="rect">
            <a:avLst/>
          </a:prstGeom>
          <a:noFill/>
        </p:spPr>
        <p:txBody>
          <a:bodyPr wrap="square" lIns="0" rIns="0" tIns="0" bIns="0" anchor="t">
            <a:spAutoFit/>
          </a:bodyPr>
          <a:lstStyle/>
          <a:p>
            <a:pPr algn="l">
              <a:lnSpc>
                <a:spcPct val="112000"/>
              </a:lnSpc>
              <a:spcAft>
                <a:spcPts val="600"/>
              </a:spcAft>
            </a:pPr>
            <a:r>
              <a:rPr sz="1600" b="1" i="0">
                <a:solidFill>
                  <a:srgbClr val="1C7293"/>
                </a:solidFill>
                <a:latin typeface="Cambria"/>
              </a:rPr>
              <a:t>How confident is it about this compound?</a:t>
            </a:r>
          </a:p>
        </p:txBody>
      </p:sp>
      <p:sp>
        <p:nvSpPr>
          <p:cNvPr id="12" name="TextBox 11"/>
          <p:cNvSpPr txBox="1"/>
          <p:nvPr/>
        </p:nvSpPr>
        <p:spPr>
          <a:xfrm>
            <a:off x="5138928" y="3328416"/>
            <a:ext cx="3657600" cy="960120"/>
          </a:xfrm>
          <a:prstGeom prst="rect">
            <a:avLst/>
          </a:prstGeom>
          <a:noFill/>
        </p:spPr>
        <p:txBody>
          <a:bodyPr wrap="square" lIns="0" rIns="0" tIns="0" bIns="0" anchor="t">
            <a:spAutoFit/>
          </a:bodyPr>
          <a:lstStyle/>
          <a:p>
            <a:pPr algn="l">
              <a:lnSpc>
                <a:spcPct val="124000"/>
              </a:lnSpc>
              <a:spcAft>
                <a:spcPts val="600"/>
              </a:spcAft>
            </a:pPr>
            <a:r>
              <a:rPr sz="1200" b="0" i="0">
                <a:solidFill>
                  <a:srgbClr val="0F1A2E"/>
                </a:solidFill>
                <a:latin typeface="Calibri"/>
              </a:rPr>
              <a:t>Calibration cannot answer this. A model can be well calibrated and uniformly uncertain, and the average tells you nothing about the case in front of you.</a:t>
            </a:r>
          </a:p>
        </p:txBody>
      </p:sp>
      <p:sp>
        <p:nvSpPr>
          <p:cNvPr id="13" name="TextBox 12"/>
          <p:cNvSpPr txBox="1"/>
          <p:nvPr/>
        </p:nvSpPr>
        <p:spPr>
          <a:xfrm>
            <a:off x="9025128" y="3401568"/>
            <a:ext cx="2325319" cy="868680"/>
          </a:xfrm>
          <a:prstGeom prst="rect">
            <a:avLst/>
          </a:prstGeom>
          <a:noFill/>
        </p:spPr>
        <p:txBody>
          <a:bodyPr wrap="square" lIns="0" rIns="0" tIns="0" bIns="0" anchor="t">
            <a:spAutoFit/>
          </a:bodyPr>
          <a:lstStyle/>
          <a:p>
            <a:pPr algn="l">
              <a:lnSpc>
                <a:spcPct val="124000"/>
              </a:lnSpc>
              <a:spcAft>
                <a:spcPts val="600"/>
              </a:spcAft>
            </a:pPr>
            <a:r>
              <a:rPr sz="1200" b="1" i="0">
                <a:solidFill>
                  <a:srgbClr val="1C7293"/>
                </a:solidFill>
                <a:latin typeface="Calibri"/>
              </a:rPr>
              <a:t>Conformal prediction. A coverage guarantee, measured rather than assumed.</a:t>
            </a:r>
          </a:p>
        </p:txBody>
      </p:sp>
      <p:sp>
        <p:nvSpPr>
          <p:cNvPr id="14" name="Rounded Rectangle 13"/>
          <p:cNvSpPr/>
          <p:nvPr/>
        </p:nvSpPr>
        <p:spPr>
          <a:xfrm>
            <a:off x="566928" y="4608576"/>
            <a:ext cx="11057839" cy="135331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86968" y="5065776"/>
            <a:ext cx="384048" cy="384048"/>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1527048" y="4846320"/>
            <a:ext cx="3383280" cy="731520"/>
          </a:xfrm>
          <a:prstGeom prst="rect">
            <a:avLst/>
          </a:prstGeom>
          <a:noFill/>
        </p:spPr>
        <p:txBody>
          <a:bodyPr wrap="square" lIns="0" rIns="0" tIns="0" bIns="0" anchor="t">
            <a:spAutoFit/>
          </a:bodyPr>
          <a:lstStyle/>
          <a:p>
            <a:pPr algn="l">
              <a:lnSpc>
                <a:spcPct val="112000"/>
              </a:lnSpc>
              <a:spcAft>
                <a:spcPts val="600"/>
              </a:spcAft>
            </a:pPr>
            <a:r>
              <a:rPr sz="1600" b="1" i="0">
                <a:solidFill>
                  <a:srgbClr val="D98324"/>
                </a:solidFill>
                <a:latin typeface="Cambria"/>
              </a:rPr>
              <a:t>Has it seen anything like this compound?</a:t>
            </a:r>
          </a:p>
        </p:txBody>
      </p:sp>
      <p:sp>
        <p:nvSpPr>
          <p:cNvPr id="17" name="TextBox 16"/>
          <p:cNvSpPr txBox="1"/>
          <p:nvPr/>
        </p:nvSpPr>
        <p:spPr>
          <a:xfrm>
            <a:off x="5138928" y="4809744"/>
            <a:ext cx="3657600" cy="960120"/>
          </a:xfrm>
          <a:prstGeom prst="rect">
            <a:avLst/>
          </a:prstGeom>
          <a:noFill/>
        </p:spPr>
        <p:txBody>
          <a:bodyPr wrap="square" lIns="0" rIns="0" tIns="0" bIns="0" anchor="t">
            <a:spAutoFit/>
          </a:bodyPr>
          <a:lstStyle/>
          <a:p>
            <a:pPr algn="l">
              <a:lnSpc>
                <a:spcPct val="124000"/>
              </a:lnSpc>
              <a:spcAft>
                <a:spcPts val="600"/>
              </a:spcAft>
            </a:pPr>
            <a:r>
              <a:rPr sz="1200" b="0" i="0">
                <a:solidFill>
                  <a:srgbClr val="0F1A2E"/>
                </a:solidFill>
                <a:latin typeface="Calibri"/>
              </a:rPr>
              <a:t>Neither of the above answers this. Both are computed on held-out chemistry from the same distribution as training. A compound from outside it can get a confident, well-calibrated, tightly-covered prediction that is worthless.</a:t>
            </a:r>
          </a:p>
        </p:txBody>
      </p:sp>
      <p:sp>
        <p:nvSpPr>
          <p:cNvPr id="18" name="TextBox 17"/>
          <p:cNvSpPr txBox="1"/>
          <p:nvPr/>
        </p:nvSpPr>
        <p:spPr>
          <a:xfrm>
            <a:off x="9025128" y="4882896"/>
            <a:ext cx="2325319" cy="868680"/>
          </a:xfrm>
          <a:prstGeom prst="rect">
            <a:avLst/>
          </a:prstGeom>
          <a:noFill/>
        </p:spPr>
        <p:txBody>
          <a:bodyPr wrap="square" lIns="0" rIns="0" tIns="0" bIns="0" anchor="t">
            <a:spAutoFit/>
          </a:bodyPr>
          <a:lstStyle/>
          <a:p>
            <a:pPr algn="l">
              <a:lnSpc>
                <a:spcPct val="124000"/>
              </a:lnSpc>
              <a:spcAft>
                <a:spcPts val="600"/>
              </a:spcAft>
            </a:pPr>
            <a:r>
              <a:rPr sz="1200" b="1" i="0">
                <a:solidFill>
                  <a:srgbClr val="D98324"/>
                </a:solidFill>
                <a:latin typeface="Calibri"/>
              </a:rPr>
              <a:t>The applicability domain. And it answers a different question from the one it was built for.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400" b="1" i="0">
                <a:solidFill>
                  <a:srgbClr val="0F1A2E"/>
                </a:solidFill>
                <a:latin typeface="Cambria"/>
              </a:rPr>
              <a:t>Calibration is fitted out of fold, and that carries the weight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Isotonic regression for the core classifiers, Platt scaling for the binder panel</a:t>
            </a:r>
          </a:p>
        </p:txBody>
      </p:sp>
      <p:sp>
        <p:nvSpPr>
          <p:cNvPr id="5" name="Rounded Rectangle 4"/>
          <p:cNvSpPr/>
          <p:nvPr/>
        </p:nvSpPr>
        <p:spPr>
          <a:xfrm>
            <a:off x="566928" y="1645920"/>
            <a:ext cx="5394960" cy="1965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50976" y="1883664"/>
            <a:ext cx="4572000" cy="365760"/>
          </a:xfrm>
          <a:prstGeom prst="rect">
            <a:avLst/>
          </a:prstGeom>
          <a:noFill/>
        </p:spPr>
        <p:txBody>
          <a:bodyPr wrap="square" lIns="0" rIns="0" tIns="0" bIns="0" anchor="t">
            <a:spAutoFit/>
          </a:bodyPr>
          <a:lstStyle/>
          <a:p>
            <a:pPr algn="l">
              <a:spcAft>
                <a:spcPts val="600"/>
              </a:spcAft>
            </a:pPr>
            <a:r>
              <a:rPr sz="1700" b="1" i="0">
                <a:solidFill>
                  <a:srgbClr val="1F3A5F"/>
                </a:solidFill>
                <a:latin typeface="Cambria"/>
              </a:rPr>
              <a:t>Why out of fold</a:t>
            </a:r>
          </a:p>
        </p:txBody>
      </p:sp>
      <p:sp>
        <p:nvSpPr>
          <p:cNvPr id="7" name="TextBox 6"/>
          <p:cNvSpPr txBox="1"/>
          <p:nvPr/>
        </p:nvSpPr>
        <p:spPr>
          <a:xfrm>
            <a:off x="950976" y="2340864"/>
            <a:ext cx="4617720" cy="11430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Fitting a calibrator on the predictions a model made about its own training data corrects an optimism the deployed model does not have. The reported improvement would then be an artefact of the procedure. No compound contributes to the calibrator that scores it.</a:t>
            </a:r>
          </a:p>
        </p:txBody>
      </p:sp>
      <p:sp>
        <p:nvSpPr>
          <p:cNvPr id="8" name="Rounded Rectangle 7"/>
          <p:cNvSpPr/>
          <p:nvPr/>
        </p:nvSpPr>
        <p:spPr>
          <a:xfrm>
            <a:off x="6281928" y="1645920"/>
            <a:ext cx="5342839" cy="1965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65976" y="1883664"/>
            <a:ext cx="4572000" cy="365760"/>
          </a:xfrm>
          <a:prstGeom prst="rect">
            <a:avLst/>
          </a:prstGeom>
          <a:noFill/>
        </p:spPr>
        <p:txBody>
          <a:bodyPr wrap="square" lIns="0" rIns="0" tIns="0" bIns="0" anchor="t">
            <a:spAutoFit/>
          </a:bodyPr>
          <a:lstStyle/>
          <a:p>
            <a:pPr algn="l">
              <a:spcAft>
                <a:spcPts val="600"/>
              </a:spcAft>
            </a:pPr>
            <a:r>
              <a:rPr sz="1700" b="1" i="0">
                <a:solidFill>
                  <a:srgbClr val="1C7293"/>
                </a:solidFill>
                <a:latin typeface="Cambria"/>
              </a:rPr>
              <a:t>Two consequences of monotonicity</a:t>
            </a:r>
          </a:p>
        </p:txBody>
      </p:sp>
      <p:sp>
        <p:nvSpPr>
          <p:cNvPr id="10" name="TextBox 9"/>
          <p:cNvSpPr txBox="1"/>
          <p:nvPr/>
        </p:nvSpPr>
        <p:spPr>
          <a:xfrm>
            <a:off x="6665976" y="2340864"/>
            <a:ext cx="4617720" cy="11430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An isotonic map cannot reorder compounds, so AUROC is invariant under calibration and every discrimination figure in this thesis is unaffected by anything here. And being free rather than parametric, it can correct an arbitrary distortion, given enough held-out data.</a:t>
            </a:r>
          </a:p>
        </p:txBody>
      </p:sp>
      <p:sp>
        <p:nvSpPr>
          <p:cNvPr id="11" name="TextBox 10"/>
          <p:cNvSpPr txBox="1"/>
          <p:nvPr/>
        </p:nvSpPr>
        <p:spPr>
          <a:xfrm>
            <a:off x="566928" y="3913632"/>
            <a:ext cx="11057839" cy="457200"/>
          </a:xfrm>
          <a:prstGeom prst="rect">
            <a:avLst/>
          </a:prstGeom>
          <a:noFill/>
        </p:spPr>
        <p:txBody>
          <a:bodyPr wrap="square" lIns="0" rIns="0" tIns="0" bIns="0" anchor="t">
            <a:spAutoFit/>
          </a:bodyPr>
          <a:lstStyle/>
          <a:p>
            <a:pPr algn="l">
              <a:spcAft>
                <a:spcPts val="600"/>
              </a:spcAft>
            </a:pPr>
            <a:r>
              <a:rPr sz="1900" b="1" i="0">
                <a:solidFill>
                  <a:srgbClr val="D98324"/>
                </a:solidFill>
                <a:latin typeface="Cambria"/>
              </a:rPr>
              <a:t>The binder panel cannot afford that.</a:t>
            </a:r>
          </a:p>
        </p:txBody>
      </p:sp>
      <p:sp>
        <p:nvSpPr>
          <p:cNvPr id="12" name="TextBox 11"/>
          <p:cNvSpPr txBox="1"/>
          <p:nvPr/>
        </p:nvSpPr>
        <p:spPr>
          <a:xfrm>
            <a:off x="566928" y="4434840"/>
            <a:ext cx="11057839" cy="1097280"/>
          </a:xfrm>
          <a:prstGeom prst="rect">
            <a:avLst/>
          </a:prstGeom>
          <a:noFill/>
        </p:spPr>
        <p:txBody>
          <a:bodyPr wrap="square" lIns="0" rIns="0" tIns="0" bIns="0" anchor="t">
            <a:spAutoFit/>
          </a:bodyPr>
          <a:lstStyle/>
          <a:p>
            <a:pPr algn="l">
              <a:lnSpc>
                <a:spcPct val="128000"/>
              </a:lnSpc>
              <a:spcAft>
                <a:spcPts val="600"/>
              </a:spcAft>
            </a:pPr>
            <a:r>
              <a:rPr sz="1400" b="0" i="0">
                <a:solidFill>
                  <a:srgbClr val="0F1A2E"/>
                </a:solidFill>
                <a:latin typeface="Calibri"/>
              </a:rPr>
              <a:t>Platt scaling fits two parameters, a logistic curve, on a stratified fifth withheld from the forest's own fit. It is used because the positive class at one binder endpoint is often too small for an isotonic step function to be anything but overfitting. That constraint is real. Slide 5 measures what it costs.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calibration achieves on the core classifiers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Expected calibration error falls on all 8 of 8</a:t>
            </a:r>
          </a:p>
        </p:txBody>
      </p:sp>
      <p:graphicFrame>
        <p:nvGraphicFramePr>
          <p:cNvPr id="5" name="Chart 4"/>
          <p:cNvGraphicFramePr>
            <a:graphicFrameLocks noGrp="1"/>
          </p:cNvGraphicFramePr>
          <p:nvPr/>
        </p:nvGraphicFramePr>
        <p:xfrm>
          <a:off x="566928" y="1572768"/>
          <a:ext cx="7315200" cy="3931920"/>
        </p:xfrm>
        <a:graphic>
          <a:graphicData uri="http://schemas.openxmlformats.org/drawingml/2006/chart">
            <c:chart xmlns:c="http://schemas.openxmlformats.org/drawingml/2006/chart" r:id="rId2"/>
          </a:graphicData>
        </a:graphic>
      </p:graphicFrame>
      <p:sp>
        <p:nvSpPr>
          <p:cNvPr id="6" name="TextBox 5"/>
          <p:cNvSpPr txBox="1"/>
          <p:nvPr/>
        </p:nvSpPr>
        <p:spPr>
          <a:xfrm>
            <a:off x="8156448" y="1737360"/>
            <a:ext cx="3474720" cy="603504"/>
          </a:xfrm>
          <a:prstGeom prst="rect">
            <a:avLst/>
          </a:prstGeom>
          <a:noFill/>
        </p:spPr>
        <p:txBody>
          <a:bodyPr wrap="square" lIns="0" rIns="0" tIns="0" bIns="0" anchor="t">
            <a:spAutoFit/>
          </a:bodyPr>
          <a:lstStyle/>
          <a:p>
            <a:pPr algn="l">
              <a:spcAft>
                <a:spcPts val="600"/>
              </a:spcAft>
            </a:pPr>
            <a:r>
              <a:rPr sz="1475" b="1" i="0">
                <a:solidFill>
                  <a:srgbClr val="1F3A5F"/>
                </a:solidFill>
                <a:latin typeface="Cambria"/>
              </a:rPr>
              <a:t>0.0801 → 0.0147</a:t>
            </a:r>
          </a:p>
        </p:txBody>
      </p:sp>
      <p:sp>
        <p:nvSpPr>
          <p:cNvPr id="7" name="TextBox 6"/>
          <p:cNvSpPr txBox="1"/>
          <p:nvPr/>
        </p:nvSpPr>
        <p:spPr>
          <a:xfrm>
            <a:off x="8156448" y="2377439"/>
            <a:ext cx="347472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mean expected calibration error, a factor of 5.4</a:t>
            </a:r>
          </a:p>
        </p:txBody>
      </p:sp>
      <p:sp>
        <p:nvSpPr>
          <p:cNvPr id="8" name="TextBox 7"/>
          <p:cNvSpPr txBox="1"/>
          <p:nvPr/>
        </p:nvSpPr>
        <p:spPr>
          <a:xfrm>
            <a:off x="8156448" y="3246120"/>
            <a:ext cx="3474720"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Per endpoint, 0.0049 at BACE1 to 0.0412 at BBB, worst by a factor of eight.</a:t>
            </a:r>
          </a:p>
        </p:txBody>
      </p:sp>
      <p:sp>
        <p:nvSpPr>
          <p:cNvPr id="9" name="Rounded Rectangle 8"/>
          <p:cNvSpPr/>
          <p:nvPr/>
        </p:nvSpPr>
        <p:spPr>
          <a:xfrm>
            <a:off x="8156448" y="4206240"/>
            <a:ext cx="3474720" cy="13258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49056" y="4407408"/>
            <a:ext cx="2926080" cy="960120"/>
          </a:xfrm>
          <a:prstGeom prst="rect">
            <a:avLst/>
          </a:prstGeom>
          <a:noFill/>
        </p:spPr>
        <p:txBody>
          <a:bodyPr wrap="square" lIns="0" rIns="0" tIns="0" bIns="0" anchor="t">
            <a:spAutoFit/>
          </a:bodyPr>
          <a:lstStyle/>
          <a:p>
            <a:pPr algn="l">
              <a:lnSpc>
                <a:spcPct val="124000"/>
              </a:lnSpc>
              <a:spcAft>
                <a:spcPts val="600"/>
              </a:spcAft>
            </a:pPr>
            <a:r>
              <a:rPr sz="1150" b="0" i="0">
                <a:solidFill>
                  <a:srgbClr val="0F1A2E"/>
                </a:solidFill>
                <a:latin typeface="Calibri"/>
              </a:rPr>
              <a:t>One endpoint gets worse on the other metric. The Brier score improves on 7 of 8 and degrades at BBB, 0.1289 to 0.1358: calibration bought reliability there at a cost in sharpness.</a:t>
            </a:r>
          </a:p>
        </p:txBody>
      </p:sp>
      <p:sp>
        <p:nvSpPr>
          <p:cNvPr id="11" name="TextBox 10"/>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results/tables/calibration.csv, measured on out-of-fold predictions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868680"/>
            <a:ext cx="8229600" cy="45720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What the headline figure does not cover</a:t>
            </a:r>
          </a:p>
        </p:txBody>
      </p:sp>
      <p:sp>
        <p:nvSpPr>
          <p:cNvPr id="3" name="TextBox 2"/>
          <p:cNvSpPr txBox="1"/>
          <p:nvPr/>
        </p:nvSpPr>
        <p:spPr>
          <a:xfrm>
            <a:off x="566928" y="1261872"/>
            <a:ext cx="10607040" cy="713232"/>
          </a:xfrm>
          <a:prstGeom prst="rect">
            <a:avLst/>
          </a:prstGeom>
          <a:noFill/>
        </p:spPr>
        <p:txBody>
          <a:bodyPr wrap="square" lIns="0" rIns="0" tIns="0" bIns="0" anchor="t">
            <a:spAutoFit/>
          </a:bodyPr>
          <a:lstStyle/>
          <a:p>
            <a:pPr algn="l">
              <a:lnSpc>
                <a:spcPct val="110000"/>
              </a:lnSpc>
              <a:spcAft>
                <a:spcPts val="600"/>
              </a:spcAft>
            </a:pPr>
            <a:r>
              <a:rPr sz="2700" b="1" i="0">
                <a:solidFill>
                  <a:srgbClr val="FFFFFF"/>
                </a:solidFill>
                <a:latin typeface="Cambria"/>
              </a:rPr>
              <a:t>0.0801 to 0.0147 describes 8 of the 70 deployed estimators.</a:t>
            </a:r>
          </a:p>
        </p:txBody>
      </p:sp>
      <p:sp>
        <p:nvSpPr>
          <p:cNvPr id="4" name="TextBox 3"/>
          <p:cNvSpPr txBox="1"/>
          <p:nvPr/>
        </p:nvSpPr>
        <p:spPr>
          <a:xfrm>
            <a:off x="566928" y="2084831"/>
            <a:ext cx="10058400" cy="548640"/>
          </a:xfrm>
          <a:prstGeom prst="rect">
            <a:avLst/>
          </a:prstGeom>
          <a:noFill/>
        </p:spPr>
        <p:txBody>
          <a:bodyPr wrap="square" lIns="0" rIns="0" tIns="0" bIns="0" anchor="t">
            <a:spAutoFit/>
          </a:bodyPr>
          <a:lstStyle/>
          <a:p>
            <a:pPr algn="l">
              <a:lnSpc>
                <a:spcPct val="126000"/>
              </a:lnSpc>
              <a:spcAft>
                <a:spcPts val="600"/>
              </a:spcAft>
            </a:pPr>
            <a:r>
              <a:rPr sz="1400" b="0" i="0">
                <a:solidFill>
                  <a:srgbClr val="D7DFEA"/>
                </a:solidFill>
                <a:latin typeface="Calibri"/>
              </a:rPr>
              <a:t>It is quoted in the manuscript abstract, the technical report, the evidence map and Chapter 1 of this thesis. No document says so.</a:t>
            </a:r>
          </a:p>
        </p:txBody>
      </p:sp>
      <p:sp>
        <p:nvSpPr>
          <p:cNvPr id="5" name="TextBox 4"/>
          <p:cNvSpPr txBox="1"/>
          <p:nvPr/>
        </p:nvSpPr>
        <p:spPr>
          <a:xfrm>
            <a:off x="4727448" y="3017520"/>
            <a:ext cx="2743200" cy="292608"/>
          </a:xfrm>
          <a:prstGeom prst="rect">
            <a:avLst/>
          </a:prstGeom>
          <a:noFill/>
        </p:spPr>
        <p:txBody>
          <a:bodyPr wrap="square" lIns="0" rIns="0" tIns="0" bIns="0" anchor="t">
            <a:spAutoFit/>
          </a:bodyPr>
          <a:lstStyle/>
          <a:p>
            <a:pPr algn="r">
              <a:spcAft>
                <a:spcPts val="600"/>
              </a:spcAft>
            </a:pPr>
            <a:r>
              <a:rPr sz="1200" b="1" i="0">
                <a:solidFill>
                  <a:srgbClr val="D7DFEA"/>
                </a:solidFill>
                <a:latin typeface="Calibri"/>
              </a:rPr>
              <a:t>core, isotonic  (n=8)</a:t>
            </a:r>
          </a:p>
        </p:txBody>
      </p:sp>
      <p:sp>
        <p:nvSpPr>
          <p:cNvPr id="6" name="TextBox 5"/>
          <p:cNvSpPr txBox="1"/>
          <p:nvPr/>
        </p:nvSpPr>
        <p:spPr>
          <a:xfrm>
            <a:off x="7882127" y="3017520"/>
            <a:ext cx="2926080" cy="292608"/>
          </a:xfrm>
          <a:prstGeom prst="rect">
            <a:avLst/>
          </a:prstGeom>
          <a:noFill/>
        </p:spPr>
        <p:txBody>
          <a:bodyPr wrap="square" lIns="0" rIns="0" tIns="0" bIns="0" anchor="t">
            <a:spAutoFit/>
          </a:bodyPr>
          <a:lstStyle/>
          <a:p>
            <a:pPr algn="r">
              <a:spcAft>
                <a:spcPts val="600"/>
              </a:spcAft>
            </a:pPr>
            <a:r>
              <a:rPr sz="1200" b="1" i="0">
                <a:solidFill>
                  <a:srgbClr val="D98324"/>
                </a:solidFill>
                <a:latin typeface="Calibri"/>
              </a:rPr>
              <a:t>binder panel, Platt  (n=38)</a:t>
            </a:r>
          </a:p>
        </p:txBody>
      </p:sp>
      <p:sp>
        <p:nvSpPr>
          <p:cNvPr id="7" name="TextBox 6"/>
          <p:cNvSpPr txBox="1"/>
          <p:nvPr/>
        </p:nvSpPr>
        <p:spPr>
          <a:xfrm>
            <a:off x="658368" y="3429000"/>
            <a:ext cx="3931920" cy="310896"/>
          </a:xfrm>
          <a:prstGeom prst="rect">
            <a:avLst/>
          </a:prstGeom>
          <a:noFill/>
        </p:spPr>
        <p:txBody>
          <a:bodyPr wrap="square" lIns="0" rIns="0" tIns="0" bIns="0" anchor="t">
            <a:spAutoFit/>
          </a:bodyPr>
          <a:lstStyle/>
          <a:p>
            <a:pPr algn="l">
              <a:spcAft>
                <a:spcPts val="600"/>
              </a:spcAft>
            </a:pPr>
            <a:r>
              <a:rPr sz="1300" b="0" i="0">
                <a:solidFill>
                  <a:srgbClr val="FFFFFF"/>
                </a:solidFill>
                <a:latin typeface="Calibri"/>
              </a:rPr>
              <a:t>mean expected calibration error</a:t>
            </a:r>
          </a:p>
        </p:txBody>
      </p:sp>
      <p:sp>
        <p:nvSpPr>
          <p:cNvPr id="8" name="TextBox 7"/>
          <p:cNvSpPr txBox="1"/>
          <p:nvPr/>
        </p:nvSpPr>
        <p:spPr>
          <a:xfrm>
            <a:off x="4727448" y="3429000"/>
            <a:ext cx="2743200" cy="310896"/>
          </a:xfrm>
          <a:prstGeom prst="rect">
            <a:avLst/>
          </a:prstGeom>
          <a:noFill/>
        </p:spPr>
        <p:txBody>
          <a:bodyPr wrap="square" lIns="0" rIns="0" tIns="0" bIns="0" anchor="t">
            <a:spAutoFit/>
          </a:bodyPr>
          <a:lstStyle/>
          <a:p>
            <a:pPr algn="r">
              <a:spcAft>
                <a:spcPts val="600"/>
              </a:spcAft>
            </a:pPr>
            <a:r>
              <a:rPr sz="1300" b="0" i="0">
                <a:solidFill>
                  <a:srgbClr val="D7DFEA"/>
                </a:solidFill>
                <a:latin typeface="Calibri"/>
              </a:rPr>
              <a:t>0.0147</a:t>
            </a:r>
          </a:p>
        </p:txBody>
      </p:sp>
      <p:sp>
        <p:nvSpPr>
          <p:cNvPr id="9" name="TextBox 8"/>
          <p:cNvSpPr txBox="1"/>
          <p:nvPr/>
        </p:nvSpPr>
        <p:spPr>
          <a:xfrm>
            <a:off x="7882127" y="3429000"/>
            <a:ext cx="2926080" cy="310896"/>
          </a:xfrm>
          <a:prstGeom prst="rect">
            <a:avLst/>
          </a:prstGeom>
          <a:noFill/>
        </p:spPr>
        <p:txBody>
          <a:bodyPr wrap="square" lIns="0" rIns="0" tIns="0" bIns="0" anchor="t">
            <a:spAutoFit/>
          </a:bodyPr>
          <a:lstStyle/>
          <a:p>
            <a:pPr algn="r">
              <a:spcAft>
                <a:spcPts val="600"/>
              </a:spcAft>
            </a:pPr>
            <a:r>
              <a:rPr sz="1300" b="1" i="0">
                <a:solidFill>
                  <a:srgbClr val="D98324"/>
                </a:solidFill>
                <a:latin typeface="Calibri"/>
              </a:rPr>
              <a:t>0.0762</a:t>
            </a:r>
          </a:p>
        </p:txBody>
      </p:sp>
      <p:sp>
        <p:nvSpPr>
          <p:cNvPr id="10" name="TextBox 9"/>
          <p:cNvSpPr txBox="1"/>
          <p:nvPr/>
        </p:nvSpPr>
        <p:spPr>
          <a:xfrm>
            <a:off x="658368" y="3849624"/>
            <a:ext cx="3931920" cy="310896"/>
          </a:xfrm>
          <a:prstGeom prst="rect">
            <a:avLst/>
          </a:prstGeom>
          <a:noFill/>
        </p:spPr>
        <p:txBody>
          <a:bodyPr wrap="square" lIns="0" rIns="0" tIns="0" bIns="0" anchor="t">
            <a:spAutoFit/>
          </a:bodyPr>
          <a:lstStyle/>
          <a:p>
            <a:pPr algn="l">
              <a:spcAft>
                <a:spcPts val="600"/>
              </a:spcAft>
            </a:pPr>
            <a:r>
              <a:rPr sz="1300" b="0" i="0">
                <a:solidFill>
                  <a:srgbClr val="FFFFFF"/>
                </a:solidFill>
                <a:latin typeface="Calibri"/>
              </a:rPr>
              <a:t>median</a:t>
            </a:r>
          </a:p>
        </p:txBody>
      </p:sp>
      <p:sp>
        <p:nvSpPr>
          <p:cNvPr id="11" name="TextBox 10"/>
          <p:cNvSpPr txBox="1"/>
          <p:nvPr/>
        </p:nvSpPr>
        <p:spPr>
          <a:xfrm>
            <a:off x="4727448" y="3849624"/>
            <a:ext cx="2743200" cy="310896"/>
          </a:xfrm>
          <a:prstGeom prst="rect">
            <a:avLst/>
          </a:prstGeom>
          <a:noFill/>
        </p:spPr>
        <p:txBody>
          <a:bodyPr wrap="square" lIns="0" rIns="0" tIns="0" bIns="0" anchor="t">
            <a:spAutoFit/>
          </a:bodyPr>
          <a:lstStyle/>
          <a:p>
            <a:pPr algn="r">
              <a:spcAft>
                <a:spcPts val="600"/>
              </a:spcAft>
            </a:pPr>
            <a:r>
              <a:rPr sz="1300" b="0" i="0">
                <a:solidFill>
                  <a:srgbClr val="D7DFEA"/>
                </a:solidFill>
                <a:latin typeface="Calibri"/>
              </a:rPr>
              <a:t>0.0118</a:t>
            </a:r>
          </a:p>
        </p:txBody>
      </p:sp>
      <p:sp>
        <p:nvSpPr>
          <p:cNvPr id="12" name="TextBox 11"/>
          <p:cNvSpPr txBox="1"/>
          <p:nvPr/>
        </p:nvSpPr>
        <p:spPr>
          <a:xfrm>
            <a:off x="7882127" y="3849624"/>
            <a:ext cx="2926080" cy="310896"/>
          </a:xfrm>
          <a:prstGeom prst="rect">
            <a:avLst/>
          </a:prstGeom>
          <a:noFill/>
        </p:spPr>
        <p:txBody>
          <a:bodyPr wrap="square" lIns="0" rIns="0" tIns="0" bIns="0" anchor="t">
            <a:spAutoFit/>
          </a:bodyPr>
          <a:lstStyle/>
          <a:p>
            <a:pPr algn="r">
              <a:spcAft>
                <a:spcPts val="600"/>
              </a:spcAft>
            </a:pPr>
            <a:r>
              <a:rPr sz="1300" b="1" i="0">
                <a:solidFill>
                  <a:srgbClr val="D98324"/>
                </a:solidFill>
                <a:latin typeface="Calibri"/>
              </a:rPr>
              <a:t>0.0675</a:t>
            </a:r>
          </a:p>
        </p:txBody>
      </p:sp>
      <p:sp>
        <p:nvSpPr>
          <p:cNvPr id="13" name="TextBox 12"/>
          <p:cNvSpPr txBox="1"/>
          <p:nvPr/>
        </p:nvSpPr>
        <p:spPr>
          <a:xfrm>
            <a:off x="658368" y="4270248"/>
            <a:ext cx="3931920" cy="310896"/>
          </a:xfrm>
          <a:prstGeom prst="rect">
            <a:avLst/>
          </a:prstGeom>
          <a:noFill/>
        </p:spPr>
        <p:txBody>
          <a:bodyPr wrap="square" lIns="0" rIns="0" tIns="0" bIns="0" anchor="t">
            <a:spAutoFit/>
          </a:bodyPr>
          <a:lstStyle/>
          <a:p>
            <a:pPr algn="l">
              <a:spcAft>
                <a:spcPts val="600"/>
              </a:spcAft>
            </a:pPr>
            <a:r>
              <a:rPr sz="1300" b="0" i="0">
                <a:solidFill>
                  <a:srgbClr val="FFFFFF"/>
                </a:solidFill>
                <a:latin typeface="Calibri"/>
              </a:rPr>
              <a:t>best endpoint</a:t>
            </a:r>
          </a:p>
        </p:txBody>
      </p:sp>
      <p:sp>
        <p:nvSpPr>
          <p:cNvPr id="14" name="TextBox 13"/>
          <p:cNvSpPr txBox="1"/>
          <p:nvPr/>
        </p:nvSpPr>
        <p:spPr>
          <a:xfrm>
            <a:off x="4727448" y="4270248"/>
            <a:ext cx="2743200" cy="310896"/>
          </a:xfrm>
          <a:prstGeom prst="rect">
            <a:avLst/>
          </a:prstGeom>
          <a:noFill/>
        </p:spPr>
        <p:txBody>
          <a:bodyPr wrap="square" lIns="0" rIns="0" tIns="0" bIns="0" anchor="t">
            <a:spAutoFit/>
          </a:bodyPr>
          <a:lstStyle/>
          <a:p>
            <a:pPr algn="r">
              <a:spcAft>
                <a:spcPts val="600"/>
              </a:spcAft>
            </a:pPr>
            <a:r>
              <a:rPr sz="1300" b="0" i="0">
                <a:solidFill>
                  <a:srgbClr val="D7DFEA"/>
                </a:solidFill>
                <a:latin typeface="Calibri"/>
              </a:rPr>
              <a:t>0.0049  BACE1</a:t>
            </a:r>
          </a:p>
        </p:txBody>
      </p:sp>
      <p:sp>
        <p:nvSpPr>
          <p:cNvPr id="15" name="TextBox 14"/>
          <p:cNvSpPr txBox="1"/>
          <p:nvPr/>
        </p:nvSpPr>
        <p:spPr>
          <a:xfrm>
            <a:off x="7882127" y="4270248"/>
            <a:ext cx="2926080" cy="310896"/>
          </a:xfrm>
          <a:prstGeom prst="rect">
            <a:avLst/>
          </a:prstGeom>
          <a:noFill/>
        </p:spPr>
        <p:txBody>
          <a:bodyPr wrap="square" lIns="0" rIns="0" tIns="0" bIns="0" anchor="t">
            <a:spAutoFit/>
          </a:bodyPr>
          <a:lstStyle/>
          <a:p>
            <a:pPr algn="r">
              <a:spcAft>
                <a:spcPts val="600"/>
              </a:spcAft>
            </a:pPr>
            <a:r>
              <a:rPr sz="1300" b="1" i="0">
                <a:solidFill>
                  <a:srgbClr val="D98324"/>
                </a:solidFill>
                <a:latin typeface="Calibri"/>
              </a:rPr>
              <a:t>0.030  H3</a:t>
            </a:r>
          </a:p>
        </p:txBody>
      </p:sp>
      <p:sp>
        <p:nvSpPr>
          <p:cNvPr id="16" name="TextBox 15"/>
          <p:cNvSpPr txBox="1"/>
          <p:nvPr/>
        </p:nvSpPr>
        <p:spPr>
          <a:xfrm>
            <a:off x="658368" y="4690872"/>
            <a:ext cx="3931920" cy="310896"/>
          </a:xfrm>
          <a:prstGeom prst="rect">
            <a:avLst/>
          </a:prstGeom>
          <a:noFill/>
        </p:spPr>
        <p:txBody>
          <a:bodyPr wrap="square" lIns="0" rIns="0" tIns="0" bIns="0" anchor="t">
            <a:spAutoFit/>
          </a:bodyPr>
          <a:lstStyle/>
          <a:p>
            <a:pPr algn="l">
              <a:spcAft>
                <a:spcPts val="600"/>
              </a:spcAft>
            </a:pPr>
            <a:r>
              <a:rPr sz="1300" b="0" i="0">
                <a:solidFill>
                  <a:srgbClr val="FFFFFF"/>
                </a:solidFill>
                <a:latin typeface="Calibri"/>
              </a:rPr>
              <a:t>worst endpoint</a:t>
            </a:r>
          </a:p>
        </p:txBody>
      </p:sp>
      <p:sp>
        <p:nvSpPr>
          <p:cNvPr id="17" name="TextBox 16"/>
          <p:cNvSpPr txBox="1"/>
          <p:nvPr/>
        </p:nvSpPr>
        <p:spPr>
          <a:xfrm>
            <a:off x="4727448" y="4690872"/>
            <a:ext cx="2743200" cy="310896"/>
          </a:xfrm>
          <a:prstGeom prst="rect">
            <a:avLst/>
          </a:prstGeom>
          <a:noFill/>
        </p:spPr>
        <p:txBody>
          <a:bodyPr wrap="square" lIns="0" rIns="0" tIns="0" bIns="0" anchor="t">
            <a:spAutoFit/>
          </a:bodyPr>
          <a:lstStyle/>
          <a:p>
            <a:pPr algn="r">
              <a:spcAft>
                <a:spcPts val="600"/>
              </a:spcAft>
            </a:pPr>
            <a:r>
              <a:rPr sz="1300" b="0" i="0">
                <a:solidFill>
                  <a:srgbClr val="D7DFEA"/>
                </a:solidFill>
                <a:latin typeface="Calibri"/>
              </a:rPr>
              <a:t>0.0412  BBB</a:t>
            </a:r>
          </a:p>
        </p:txBody>
      </p:sp>
      <p:sp>
        <p:nvSpPr>
          <p:cNvPr id="18" name="TextBox 17"/>
          <p:cNvSpPr txBox="1"/>
          <p:nvPr/>
        </p:nvSpPr>
        <p:spPr>
          <a:xfrm>
            <a:off x="7882127" y="4690872"/>
            <a:ext cx="2926080" cy="310896"/>
          </a:xfrm>
          <a:prstGeom prst="rect">
            <a:avLst/>
          </a:prstGeom>
          <a:noFill/>
        </p:spPr>
        <p:txBody>
          <a:bodyPr wrap="square" lIns="0" rIns="0" tIns="0" bIns="0" anchor="t">
            <a:spAutoFit/>
          </a:bodyPr>
          <a:lstStyle/>
          <a:p>
            <a:pPr algn="r">
              <a:spcAft>
                <a:spcPts val="600"/>
              </a:spcAft>
            </a:pPr>
            <a:r>
              <a:rPr sz="1300" b="1" i="0">
                <a:solidFill>
                  <a:srgbClr val="D98324"/>
                </a:solidFill>
                <a:latin typeface="Calibri"/>
              </a:rPr>
              <a:t>0.178  TAAR1</a:t>
            </a:r>
          </a:p>
        </p:txBody>
      </p:sp>
      <p:sp>
        <p:nvSpPr>
          <p:cNvPr id="19" name="TextBox 18"/>
          <p:cNvSpPr txBox="1"/>
          <p:nvPr/>
        </p:nvSpPr>
        <p:spPr>
          <a:xfrm>
            <a:off x="658368" y="5111496"/>
            <a:ext cx="3931920" cy="310896"/>
          </a:xfrm>
          <a:prstGeom prst="rect">
            <a:avLst/>
          </a:prstGeom>
          <a:noFill/>
        </p:spPr>
        <p:txBody>
          <a:bodyPr wrap="square" lIns="0" rIns="0" tIns="0" bIns="0" anchor="t">
            <a:spAutoFit/>
          </a:bodyPr>
          <a:lstStyle/>
          <a:p>
            <a:pPr algn="l">
              <a:spcAft>
                <a:spcPts val="600"/>
              </a:spcAft>
            </a:pPr>
            <a:r>
              <a:rPr sz="1300" b="0" i="0">
                <a:solidFill>
                  <a:srgbClr val="FFFFFF"/>
                </a:solidFill>
                <a:latin typeface="Calibri"/>
              </a:rPr>
              <a:t>endpoints above 0.10</a:t>
            </a:r>
          </a:p>
        </p:txBody>
      </p:sp>
      <p:sp>
        <p:nvSpPr>
          <p:cNvPr id="20" name="TextBox 19"/>
          <p:cNvSpPr txBox="1"/>
          <p:nvPr/>
        </p:nvSpPr>
        <p:spPr>
          <a:xfrm>
            <a:off x="4727448" y="5111496"/>
            <a:ext cx="2743200" cy="310896"/>
          </a:xfrm>
          <a:prstGeom prst="rect">
            <a:avLst/>
          </a:prstGeom>
          <a:noFill/>
        </p:spPr>
        <p:txBody>
          <a:bodyPr wrap="square" lIns="0" rIns="0" tIns="0" bIns="0" anchor="t">
            <a:spAutoFit/>
          </a:bodyPr>
          <a:lstStyle/>
          <a:p>
            <a:pPr algn="r">
              <a:spcAft>
                <a:spcPts val="600"/>
              </a:spcAft>
            </a:pPr>
            <a:r>
              <a:rPr sz="1300" b="0" i="0">
                <a:solidFill>
                  <a:srgbClr val="D7DFEA"/>
                </a:solidFill>
                <a:latin typeface="Calibri"/>
              </a:rPr>
              <a:t>0 of 8</a:t>
            </a:r>
          </a:p>
        </p:txBody>
      </p:sp>
      <p:sp>
        <p:nvSpPr>
          <p:cNvPr id="21" name="TextBox 20"/>
          <p:cNvSpPr txBox="1"/>
          <p:nvPr/>
        </p:nvSpPr>
        <p:spPr>
          <a:xfrm>
            <a:off x="7882127" y="5111496"/>
            <a:ext cx="2926080" cy="310896"/>
          </a:xfrm>
          <a:prstGeom prst="rect">
            <a:avLst/>
          </a:prstGeom>
          <a:noFill/>
        </p:spPr>
        <p:txBody>
          <a:bodyPr wrap="square" lIns="0" rIns="0" tIns="0" bIns="0" anchor="t">
            <a:spAutoFit/>
          </a:bodyPr>
          <a:lstStyle/>
          <a:p>
            <a:pPr algn="r">
              <a:spcAft>
                <a:spcPts val="600"/>
              </a:spcAft>
            </a:pPr>
            <a:r>
              <a:rPr sz="1300" b="1" i="0">
                <a:solidFill>
                  <a:srgbClr val="D98324"/>
                </a:solidFill>
                <a:latin typeface="Calibri"/>
              </a:rPr>
              <a:t>8 of 38</a:t>
            </a:r>
          </a:p>
        </p:txBody>
      </p:sp>
      <p:sp>
        <p:nvSpPr>
          <p:cNvPr id="22" name="TextBox 21"/>
          <p:cNvSpPr txBox="1"/>
          <p:nvPr/>
        </p:nvSpPr>
        <p:spPr>
          <a:xfrm>
            <a:off x="566928" y="5715000"/>
            <a:ext cx="10607040" cy="640080"/>
          </a:xfrm>
          <a:prstGeom prst="rect">
            <a:avLst/>
          </a:prstGeom>
          <a:noFill/>
        </p:spPr>
        <p:txBody>
          <a:bodyPr wrap="square" lIns="0" rIns="0" tIns="0" bIns="0" anchor="t">
            <a:spAutoFit/>
          </a:bodyPr>
          <a:lstStyle/>
          <a:p>
            <a:pPr algn="l">
              <a:lnSpc>
                <a:spcPct val="126000"/>
              </a:lnSpc>
              <a:spcAft>
                <a:spcPts val="600"/>
              </a:spcAft>
            </a:pPr>
            <a:r>
              <a:rPr sz="1350" b="0" i="1">
                <a:solidFill>
                  <a:srgbClr val="FFFFFF"/>
                </a:solidFill>
                <a:latin typeface="Calibri"/>
              </a:rPr>
              <a:t>The binder panel's calibrated error, 0.0762, is five times the core classifiers' and almost exactly what the core classifiers read before calibration, 0.0801. On this evidence Platt scaling on these endpoints buys very little.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400" b="1" i="0">
                <a:solidFill>
                  <a:srgbClr val="0F1A2E"/>
                </a:solidFill>
                <a:latin typeface="Cambria"/>
              </a:rPr>
              <a:t>Conformal prediction, and what it says that calibration cannot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Mondrian, class-conditional, at a 0.90 target, on 10,000 held-out compounds</a:t>
            </a:r>
          </a:p>
        </p:txBody>
      </p:sp>
      <p:sp>
        <p:nvSpPr>
          <p:cNvPr id="5" name="TextBox 4"/>
          <p:cNvSpPr txBox="1"/>
          <p:nvPr/>
        </p:nvSpPr>
        <p:spPr>
          <a:xfrm>
            <a:off x="841247" y="1691640"/>
            <a:ext cx="201168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endpoint</a:t>
            </a:r>
          </a:p>
        </p:txBody>
      </p:sp>
      <p:sp>
        <p:nvSpPr>
          <p:cNvPr id="6" name="TextBox 5"/>
          <p:cNvSpPr txBox="1"/>
          <p:nvPr/>
        </p:nvSpPr>
        <p:spPr>
          <a:xfrm>
            <a:off x="2944368" y="1691640"/>
            <a:ext cx="137160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n test</a:t>
            </a:r>
          </a:p>
        </p:txBody>
      </p:sp>
      <p:sp>
        <p:nvSpPr>
          <p:cNvPr id="7" name="TextBox 6"/>
          <p:cNvSpPr txBox="1"/>
          <p:nvPr/>
        </p:nvSpPr>
        <p:spPr>
          <a:xfrm>
            <a:off x="4544568" y="1691640"/>
            <a:ext cx="164592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coverage</a:t>
            </a:r>
          </a:p>
        </p:txBody>
      </p:sp>
      <p:sp>
        <p:nvSpPr>
          <p:cNvPr id="8" name="TextBox 7"/>
          <p:cNvSpPr txBox="1"/>
          <p:nvPr/>
        </p:nvSpPr>
        <p:spPr>
          <a:xfrm>
            <a:off x="6373368" y="1691640"/>
            <a:ext cx="146304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set size</a:t>
            </a:r>
          </a:p>
        </p:txBody>
      </p:sp>
      <p:sp>
        <p:nvSpPr>
          <p:cNvPr id="9" name="Rounded Rectangle 8"/>
          <p:cNvSpPr/>
          <p:nvPr/>
        </p:nvSpPr>
        <p:spPr>
          <a:xfrm>
            <a:off x="566928" y="1956816"/>
            <a:ext cx="7452360" cy="457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029968"/>
            <a:ext cx="201168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BBB</a:t>
            </a:r>
          </a:p>
        </p:txBody>
      </p:sp>
      <p:sp>
        <p:nvSpPr>
          <p:cNvPr id="11" name="TextBox 10"/>
          <p:cNvSpPr txBox="1"/>
          <p:nvPr/>
        </p:nvSpPr>
        <p:spPr>
          <a:xfrm>
            <a:off x="2944368" y="2029968"/>
            <a:ext cx="1371600" cy="292608"/>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1,561</a:t>
            </a:r>
          </a:p>
        </p:txBody>
      </p:sp>
      <p:sp>
        <p:nvSpPr>
          <p:cNvPr id="12" name="TextBox 11"/>
          <p:cNvSpPr txBox="1"/>
          <p:nvPr/>
        </p:nvSpPr>
        <p:spPr>
          <a:xfrm>
            <a:off x="4544568" y="2029968"/>
            <a:ext cx="1645920" cy="292608"/>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0.904</a:t>
            </a:r>
          </a:p>
        </p:txBody>
      </p:sp>
      <p:sp>
        <p:nvSpPr>
          <p:cNvPr id="13" name="TextBox 12"/>
          <p:cNvSpPr txBox="1"/>
          <p:nvPr/>
        </p:nvSpPr>
        <p:spPr>
          <a:xfrm>
            <a:off x="6373368" y="2029968"/>
            <a:ext cx="1463040" cy="292608"/>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1.013</a:t>
            </a:r>
          </a:p>
        </p:txBody>
      </p:sp>
      <p:sp>
        <p:nvSpPr>
          <p:cNvPr id="14" name="TextBox 13"/>
          <p:cNvSpPr txBox="1"/>
          <p:nvPr/>
        </p:nvSpPr>
        <p:spPr>
          <a:xfrm>
            <a:off x="841247" y="2487168"/>
            <a:ext cx="201168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AChE</a:t>
            </a:r>
          </a:p>
        </p:txBody>
      </p:sp>
      <p:sp>
        <p:nvSpPr>
          <p:cNvPr id="15" name="TextBox 14"/>
          <p:cNvSpPr txBox="1"/>
          <p:nvPr/>
        </p:nvSpPr>
        <p:spPr>
          <a:xfrm>
            <a:off x="2944368" y="2487168"/>
            <a:ext cx="1371600" cy="292608"/>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1,064</a:t>
            </a:r>
          </a:p>
        </p:txBody>
      </p:sp>
      <p:sp>
        <p:nvSpPr>
          <p:cNvPr id="16" name="TextBox 15"/>
          <p:cNvSpPr txBox="1"/>
          <p:nvPr/>
        </p:nvSpPr>
        <p:spPr>
          <a:xfrm>
            <a:off x="4544568" y="2487168"/>
            <a:ext cx="1645920" cy="292608"/>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0.921</a:t>
            </a:r>
          </a:p>
        </p:txBody>
      </p:sp>
      <p:sp>
        <p:nvSpPr>
          <p:cNvPr id="17" name="TextBox 16"/>
          <p:cNvSpPr txBox="1"/>
          <p:nvPr/>
        </p:nvSpPr>
        <p:spPr>
          <a:xfrm>
            <a:off x="6373368" y="2487168"/>
            <a:ext cx="1463040" cy="292608"/>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1.019</a:t>
            </a:r>
          </a:p>
        </p:txBody>
      </p:sp>
      <p:sp>
        <p:nvSpPr>
          <p:cNvPr id="18" name="Rounded Rectangle 17"/>
          <p:cNvSpPr/>
          <p:nvPr/>
        </p:nvSpPr>
        <p:spPr>
          <a:xfrm>
            <a:off x="566928" y="2871216"/>
            <a:ext cx="7452360" cy="457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7" y="2944368"/>
            <a:ext cx="201168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BChE</a:t>
            </a:r>
          </a:p>
        </p:txBody>
      </p:sp>
      <p:sp>
        <p:nvSpPr>
          <p:cNvPr id="20" name="TextBox 19"/>
          <p:cNvSpPr txBox="1"/>
          <p:nvPr/>
        </p:nvSpPr>
        <p:spPr>
          <a:xfrm>
            <a:off x="2944368" y="2944368"/>
            <a:ext cx="1371600" cy="292608"/>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678</a:t>
            </a:r>
          </a:p>
        </p:txBody>
      </p:sp>
      <p:sp>
        <p:nvSpPr>
          <p:cNvPr id="21" name="TextBox 20"/>
          <p:cNvSpPr txBox="1"/>
          <p:nvPr/>
        </p:nvSpPr>
        <p:spPr>
          <a:xfrm>
            <a:off x="4544568" y="2944368"/>
            <a:ext cx="1645920" cy="292608"/>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0.917</a:t>
            </a:r>
          </a:p>
        </p:txBody>
      </p:sp>
      <p:sp>
        <p:nvSpPr>
          <p:cNvPr id="22" name="TextBox 21"/>
          <p:cNvSpPr txBox="1"/>
          <p:nvPr/>
        </p:nvSpPr>
        <p:spPr>
          <a:xfrm>
            <a:off x="6373368" y="2944368"/>
            <a:ext cx="1463040" cy="292608"/>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1.009</a:t>
            </a:r>
          </a:p>
        </p:txBody>
      </p:sp>
      <p:sp>
        <p:nvSpPr>
          <p:cNvPr id="23" name="TextBox 22"/>
          <p:cNvSpPr txBox="1"/>
          <p:nvPr/>
        </p:nvSpPr>
        <p:spPr>
          <a:xfrm>
            <a:off x="841247" y="3401568"/>
            <a:ext cx="201168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BACE1</a:t>
            </a:r>
          </a:p>
        </p:txBody>
      </p:sp>
      <p:sp>
        <p:nvSpPr>
          <p:cNvPr id="24" name="TextBox 23"/>
          <p:cNvSpPr txBox="1"/>
          <p:nvPr/>
        </p:nvSpPr>
        <p:spPr>
          <a:xfrm>
            <a:off x="2944368" y="3401568"/>
            <a:ext cx="1371600" cy="292608"/>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1,793</a:t>
            </a:r>
          </a:p>
        </p:txBody>
      </p:sp>
      <p:sp>
        <p:nvSpPr>
          <p:cNvPr id="25" name="TextBox 24"/>
          <p:cNvSpPr txBox="1"/>
          <p:nvPr/>
        </p:nvSpPr>
        <p:spPr>
          <a:xfrm>
            <a:off x="4544568" y="3401568"/>
            <a:ext cx="1645920" cy="292608"/>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0.906</a:t>
            </a:r>
          </a:p>
        </p:txBody>
      </p:sp>
      <p:sp>
        <p:nvSpPr>
          <p:cNvPr id="26" name="TextBox 25"/>
          <p:cNvSpPr txBox="1"/>
          <p:nvPr/>
        </p:nvSpPr>
        <p:spPr>
          <a:xfrm>
            <a:off x="6373368" y="3401568"/>
            <a:ext cx="1463040" cy="292608"/>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1.007</a:t>
            </a:r>
          </a:p>
        </p:txBody>
      </p:sp>
      <p:sp>
        <p:nvSpPr>
          <p:cNvPr id="27" name="Rounded Rectangle 26"/>
          <p:cNvSpPr/>
          <p:nvPr/>
        </p:nvSpPr>
        <p:spPr>
          <a:xfrm>
            <a:off x="566928" y="3785616"/>
            <a:ext cx="7452360" cy="457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41247" y="3858768"/>
            <a:ext cx="201168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GSK3B</a:t>
            </a:r>
          </a:p>
        </p:txBody>
      </p:sp>
      <p:sp>
        <p:nvSpPr>
          <p:cNvPr id="29" name="TextBox 28"/>
          <p:cNvSpPr txBox="1"/>
          <p:nvPr/>
        </p:nvSpPr>
        <p:spPr>
          <a:xfrm>
            <a:off x="2944368" y="3858768"/>
            <a:ext cx="1371600" cy="292608"/>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1,128</a:t>
            </a:r>
          </a:p>
        </p:txBody>
      </p:sp>
      <p:sp>
        <p:nvSpPr>
          <p:cNvPr id="30" name="TextBox 29"/>
          <p:cNvSpPr txBox="1"/>
          <p:nvPr/>
        </p:nvSpPr>
        <p:spPr>
          <a:xfrm>
            <a:off x="4544568" y="3858768"/>
            <a:ext cx="1645920" cy="292608"/>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0.908</a:t>
            </a:r>
          </a:p>
        </p:txBody>
      </p:sp>
      <p:sp>
        <p:nvSpPr>
          <p:cNvPr id="31" name="TextBox 30"/>
          <p:cNvSpPr txBox="1"/>
          <p:nvPr/>
        </p:nvSpPr>
        <p:spPr>
          <a:xfrm>
            <a:off x="6373368" y="3858768"/>
            <a:ext cx="1463040" cy="292608"/>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1.030</a:t>
            </a:r>
          </a:p>
        </p:txBody>
      </p:sp>
      <p:sp>
        <p:nvSpPr>
          <p:cNvPr id="32" name="TextBox 31"/>
          <p:cNvSpPr txBox="1"/>
          <p:nvPr/>
        </p:nvSpPr>
        <p:spPr>
          <a:xfrm>
            <a:off x="841247" y="4315968"/>
            <a:ext cx="201168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MAO-A</a:t>
            </a:r>
          </a:p>
        </p:txBody>
      </p:sp>
      <p:sp>
        <p:nvSpPr>
          <p:cNvPr id="33" name="TextBox 32"/>
          <p:cNvSpPr txBox="1"/>
          <p:nvPr/>
        </p:nvSpPr>
        <p:spPr>
          <a:xfrm>
            <a:off x="2944368" y="4315968"/>
            <a:ext cx="1371600" cy="292608"/>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758</a:t>
            </a:r>
          </a:p>
        </p:txBody>
      </p:sp>
      <p:sp>
        <p:nvSpPr>
          <p:cNvPr id="34" name="TextBox 33"/>
          <p:cNvSpPr txBox="1"/>
          <p:nvPr/>
        </p:nvSpPr>
        <p:spPr>
          <a:xfrm>
            <a:off x="4544568" y="4315968"/>
            <a:ext cx="1645920" cy="292608"/>
          </a:xfrm>
          <a:prstGeom prst="rect">
            <a:avLst/>
          </a:prstGeom>
          <a:noFill/>
        </p:spPr>
        <p:txBody>
          <a:bodyPr wrap="square" lIns="0" rIns="0" tIns="0" bIns="0" anchor="t">
            <a:spAutoFit/>
          </a:bodyPr>
          <a:lstStyle/>
          <a:p>
            <a:pPr algn="r">
              <a:spcAft>
                <a:spcPts val="600"/>
              </a:spcAft>
            </a:pPr>
            <a:r>
              <a:rPr sz="1300" b="1" i="0">
                <a:solidFill>
                  <a:srgbClr val="9E2A2B"/>
                </a:solidFill>
                <a:latin typeface="Calibri"/>
              </a:rPr>
              <a:t>0.889</a:t>
            </a:r>
          </a:p>
        </p:txBody>
      </p:sp>
      <p:sp>
        <p:nvSpPr>
          <p:cNvPr id="35" name="TextBox 34"/>
          <p:cNvSpPr txBox="1"/>
          <p:nvPr/>
        </p:nvSpPr>
        <p:spPr>
          <a:xfrm>
            <a:off x="6373368" y="4315968"/>
            <a:ext cx="1463040" cy="292608"/>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1.012</a:t>
            </a:r>
          </a:p>
        </p:txBody>
      </p:sp>
      <p:sp>
        <p:nvSpPr>
          <p:cNvPr id="36" name="Rounded Rectangle 35"/>
          <p:cNvSpPr/>
          <p:nvPr/>
        </p:nvSpPr>
        <p:spPr>
          <a:xfrm>
            <a:off x="566928" y="4700016"/>
            <a:ext cx="7452360" cy="457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1247" y="4773168"/>
            <a:ext cx="201168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MAO-B</a:t>
            </a:r>
          </a:p>
        </p:txBody>
      </p:sp>
      <p:sp>
        <p:nvSpPr>
          <p:cNvPr id="38" name="TextBox 37"/>
          <p:cNvSpPr txBox="1"/>
          <p:nvPr/>
        </p:nvSpPr>
        <p:spPr>
          <a:xfrm>
            <a:off x="2944368" y="4773168"/>
            <a:ext cx="1371600" cy="292608"/>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962</a:t>
            </a:r>
          </a:p>
        </p:txBody>
      </p:sp>
      <p:sp>
        <p:nvSpPr>
          <p:cNvPr id="39" name="TextBox 38"/>
          <p:cNvSpPr txBox="1"/>
          <p:nvPr/>
        </p:nvSpPr>
        <p:spPr>
          <a:xfrm>
            <a:off x="4544568" y="4773168"/>
            <a:ext cx="1645920" cy="292608"/>
          </a:xfrm>
          <a:prstGeom prst="rect">
            <a:avLst/>
          </a:prstGeom>
          <a:noFill/>
        </p:spPr>
        <p:txBody>
          <a:bodyPr wrap="square" lIns="0" rIns="0" tIns="0" bIns="0" anchor="t">
            <a:spAutoFit/>
          </a:bodyPr>
          <a:lstStyle/>
          <a:p>
            <a:pPr algn="r">
              <a:spcAft>
                <a:spcPts val="600"/>
              </a:spcAft>
            </a:pPr>
            <a:r>
              <a:rPr sz="1300" b="1" i="0">
                <a:solidFill>
                  <a:srgbClr val="9E2A2B"/>
                </a:solidFill>
                <a:latin typeface="Calibri"/>
              </a:rPr>
              <a:t>0.899</a:t>
            </a:r>
          </a:p>
        </p:txBody>
      </p:sp>
      <p:sp>
        <p:nvSpPr>
          <p:cNvPr id="40" name="TextBox 39"/>
          <p:cNvSpPr txBox="1"/>
          <p:nvPr/>
        </p:nvSpPr>
        <p:spPr>
          <a:xfrm>
            <a:off x="6373368" y="4773168"/>
            <a:ext cx="1463040" cy="292608"/>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1.025</a:t>
            </a:r>
          </a:p>
        </p:txBody>
      </p:sp>
      <p:sp>
        <p:nvSpPr>
          <p:cNvPr id="41" name="TextBox 40"/>
          <p:cNvSpPr txBox="1"/>
          <p:nvPr/>
        </p:nvSpPr>
        <p:spPr>
          <a:xfrm>
            <a:off x="841247" y="5230368"/>
            <a:ext cx="201168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hERG</a:t>
            </a:r>
          </a:p>
        </p:txBody>
      </p:sp>
      <p:sp>
        <p:nvSpPr>
          <p:cNvPr id="42" name="TextBox 41"/>
          <p:cNvSpPr txBox="1"/>
          <p:nvPr/>
        </p:nvSpPr>
        <p:spPr>
          <a:xfrm>
            <a:off x="2944368" y="5230368"/>
            <a:ext cx="1371600" cy="292608"/>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2,056</a:t>
            </a:r>
          </a:p>
        </p:txBody>
      </p:sp>
      <p:sp>
        <p:nvSpPr>
          <p:cNvPr id="43" name="TextBox 42"/>
          <p:cNvSpPr txBox="1"/>
          <p:nvPr/>
        </p:nvSpPr>
        <p:spPr>
          <a:xfrm>
            <a:off x="4544568" y="5230368"/>
            <a:ext cx="1645920" cy="292608"/>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0.904</a:t>
            </a:r>
          </a:p>
        </p:txBody>
      </p:sp>
      <p:sp>
        <p:nvSpPr>
          <p:cNvPr id="44" name="TextBox 43"/>
          <p:cNvSpPr txBox="1"/>
          <p:nvPr/>
        </p:nvSpPr>
        <p:spPr>
          <a:xfrm>
            <a:off x="6373368" y="5230368"/>
            <a:ext cx="1463040" cy="292608"/>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1.079</a:t>
            </a:r>
          </a:p>
        </p:txBody>
      </p:sp>
      <p:sp>
        <p:nvSpPr>
          <p:cNvPr id="45" name="TextBox 44"/>
          <p:cNvSpPr txBox="1"/>
          <p:nvPr/>
        </p:nvSpPr>
        <p:spPr>
          <a:xfrm>
            <a:off x="8339327" y="1737360"/>
            <a:ext cx="3285439" cy="914400"/>
          </a:xfrm>
          <a:prstGeom prst="rect">
            <a:avLst/>
          </a:prstGeom>
          <a:noFill/>
        </p:spPr>
        <p:txBody>
          <a:bodyPr wrap="square" lIns="0" rIns="0" tIns="0" bIns="0" anchor="t">
            <a:spAutoFit/>
          </a:bodyPr>
          <a:lstStyle/>
          <a:p>
            <a:pPr algn="l">
              <a:lnSpc>
                <a:spcPct val="126000"/>
              </a:lnSpc>
              <a:spcAft>
                <a:spcPts val="600"/>
              </a:spcAft>
            </a:pPr>
            <a:r>
              <a:rPr sz="1400" b="1" i="0">
                <a:solidFill>
                  <a:srgbClr val="1F3A5F"/>
                </a:solidFill>
                <a:latin typeface="Calibri"/>
              </a:rPr>
              <a:t>Coverage 0.889 to 0.921 against 0.90. 6 of 8 at or above target.</a:t>
            </a:r>
          </a:p>
        </p:txBody>
      </p:sp>
      <p:sp>
        <p:nvSpPr>
          <p:cNvPr id="46" name="TextBox 45"/>
          <p:cNvSpPr txBox="1"/>
          <p:nvPr/>
        </p:nvSpPr>
        <p:spPr>
          <a:xfrm>
            <a:off x="8339327" y="2697480"/>
            <a:ext cx="3285439" cy="118872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The two that fall short are the monoamine oxidases, MAO-B by one thousandth and MAO-A by eleven. They are also the two endpoints that degrade most under a scaffold split, and coverage is a guarantee under exchangeability.</a:t>
            </a:r>
          </a:p>
        </p:txBody>
      </p:sp>
      <p:sp>
        <p:nvSpPr>
          <p:cNvPr id="47" name="Rounded Rectangle 46"/>
          <p:cNvSpPr/>
          <p:nvPr/>
        </p:nvSpPr>
        <p:spPr>
          <a:xfrm>
            <a:off x="8339327" y="3913632"/>
            <a:ext cx="3285439" cy="1874519"/>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631936" y="4114800"/>
            <a:ext cx="2691079" cy="1554480"/>
          </a:xfrm>
          <a:prstGeom prst="rect">
            <a:avLst/>
          </a:prstGeom>
          <a:noFill/>
        </p:spPr>
        <p:txBody>
          <a:bodyPr wrap="square" lIns="0" rIns="0" tIns="0" bIns="0" anchor="t">
            <a:spAutoFit/>
          </a:bodyPr>
          <a:lstStyle/>
          <a:p>
            <a:pPr algn="l">
              <a:lnSpc>
                <a:spcPct val="124000"/>
              </a:lnSpc>
              <a:spcAft>
                <a:spcPts val="600"/>
              </a:spcAft>
            </a:pPr>
            <a:r>
              <a:rPr sz="1150" b="0" i="0">
                <a:solidFill>
                  <a:srgbClr val="0F1A2E"/>
                </a:solidFill>
                <a:latin typeface="Calibri"/>
              </a:rPr>
              <a:t>Mean set size 1.007 to 1.079 on a two-class problem. So 0.7 to 7.9 per cent of compounds get an empty set, meaning the compound conforms to neither class, or a set with both, meaning it separates neither. Neither statement is available from a point probability.</a:t>
            </a:r>
          </a:p>
        </p:txBody>
      </p:sp>
      <p:sp>
        <p:nvSpPr>
          <p:cNvPr id="49" name="TextBox 4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results/tables/rf_conformal.csv. Same eight core classifiers: the binder panel has no measured coverage statement at 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applicability domain, and choosing its measure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Maximum Tanimoto to that endpoint's own measured chemistry, on 2,048-bit fingerprints</a:t>
            </a:r>
          </a:p>
        </p:txBody>
      </p:sp>
      <p:sp>
        <p:nvSpPr>
          <p:cNvPr id="5" name="TextBox 4"/>
          <p:cNvSpPr txBox="1"/>
          <p:nvPr/>
        </p:nvSpPr>
        <p:spPr>
          <a:xfrm>
            <a:off x="841247" y="1719072"/>
            <a:ext cx="265176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measure</a:t>
            </a:r>
          </a:p>
        </p:txBody>
      </p:sp>
      <p:sp>
        <p:nvSpPr>
          <p:cNvPr id="6" name="TextBox 5"/>
          <p:cNvSpPr txBox="1"/>
          <p:nvPr/>
        </p:nvSpPr>
        <p:spPr>
          <a:xfrm>
            <a:off x="3584448" y="1719072"/>
            <a:ext cx="1463040" cy="274320"/>
          </a:xfrm>
          <a:prstGeom prst="rect">
            <a:avLst/>
          </a:prstGeom>
          <a:noFill/>
        </p:spPr>
        <p:txBody>
          <a:bodyPr wrap="square" lIns="0" rIns="0" tIns="0" bIns="0" anchor="t">
            <a:spAutoFit/>
          </a:bodyPr>
          <a:lstStyle/>
          <a:p>
            <a:pPr algn="r">
              <a:spcAft>
                <a:spcPts val="600"/>
              </a:spcAft>
            </a:pPr>
            <a:r>
              <a:rPr sz="1050" b="1" i="0">
                <a:solidFill>
                  <a:srgbClr val="5F6B7A"/>
                </a:solidFill>
                <a:latin typeface="Calibri"/>
              </a:rPr>
              <a:t>unseen drugs</a:t>
            </a:r>
          </a:p>
        </p:txBody>
      </p:sp>
      <p:sp>
        <p:nvSpPr>
          <p:cNvPr id="7" name="TextBox 6"/>
          <p:cNvSpPr txBox="1"/>
          <p:nvPr/>
        </p:nvSpPr>
        <p:spPr>
          <a:xfrm>
            <a:off x="5184648" y="1719072"/>
            <a:ext cx="1463040" cy="274320"/>
          </a:xfrm>
          <a:prstGeom prst="rect">
            <a:avLst/>
          </a:prstGeom>
          <a:noFill/>
        </p:spPr>
        <p:txBody>
          <a:bodyPr wrap="square" lIns="0" rIns="0" tIns="0" bIns="0" anchor="t">
            <a:spAutoFit/>
          </a:bodyPr>
          <a:lstStyle/>
          <a:p>
            <a:pPr algn="r">
              <a:spcAft>
                <a:spcPts val="600"/>
              </a:spcAft>
            </a:pPr>
            <a:r>
              <a:rPr sz="1050" b="1" i="0">
                <a:solidFill>
                  <a:srgbClr val="5F6B7A"/>
                </a:solidFill>
                <a:latin typeface="Calibri"/>
              </a:rPr>
              <a:t>non-drug-like</a:t>
            </a:r>
          </a:p>
        </p:txBody>
      </p:sp>
      <p:sp>
        <p:nvSpPr>
          <p:cNvPr id="8" name="TextBox 7"/>
          <p:cNvSpPr txBox="1"/>
          <p:nvPr/>
        </p:nvSpPr>
        <p:spPr>
          <a:xfrm>
            <a:off x="6784848" y="1719072"/>
            <a:ext cx="1463040" cy="274320"/>
          </a:xfrm>
          <a:prstGeom prst="rect">
            <a:avLst/>
          </a:prstGeom>
          <a:noFill/>
        </p:spPr>
        <p:txBody>
          <a:bodyPr wrap="square" lIns="0" rIns="0" tIns="0" bIns="0" anchor="t">
            <a:spAutoFit/>
          </a:bodyPr>
          <a:lstStyle/>
          <a:p>
            <a:pPr algn="r">
              <a:spcAft>
                <a:spcPts val="600"/>
              </a:spcAft>
            </a:pPr>
            <a:r>
              <a:rPr sz="1050" b="1" i="0">
                <a:solidFill>
                  <a:srgbClr val="5F6B7A"/>
                </a:solidFill>
                <a:latin typeface="Calibri"/>
              </a:rPr>
              <a:t>p</a:t>
            </a:r>
          </a:p>
        </p:txBody>
      </p:sp>
      <p:sp>
        <p:nvSpPr>
          <p:cNvPr id="9" name="TextBox 8"/>
          <p:cNvSpPr txBox="1"/>
          <p:nvPr/>
        </p:nvSpPr>
        <p:spPr>
          <a:xfrm>
            <a:off x="8385048" y="1719072"/>
            <a:ext cx="1463040" cy="274320"/>
          </a:xfrm>
          <a:prstGeom prst="rect">
            <a:avLst/>
          </a:prstGeom>
          <a:noFill/>
        </p:spPr>
        <p:txBody>
          <a:bodyPr wrap="square" lIns="0" rIns="0" tIns="0" bIns="0" anchor="t">
            <a:spAutoFit/>
          </a:bodyPr>
          <a:lstStyle/>
          <a:p>
            <a:pPr algn="r">
              <a:spcAft>
                <a:spcPts val="600"/>
              </a:spcAft>
            </a:pPr>
            <a:r>
              <a:rPr sz="1050" b="1" i="0">
                <a:solidFill>
                  <a:srgbClr val="5F6B7A"/>
                </a:solidFill>
                <a:latin typeface="Calibri"/>
              </a:rPr>
              <a:t>separates</a:t>
            </a:r>
          </a:p>
        </p:txBody>
      </p:sp>
      <p:sp>
        <p:nvSpPr>
          <p:cNvPr id="10" name="TextBox 9"/>
          <p:cNvSpPr txBox="1"/>
          <p:nvPr/>
        </p:nvSpPr>
        <p:spPr>
          <a:xfrm>
            <a:off x="9985248" y="1719072"/>
            <a:ext cx="1463040" cy="274320"/>
          </a:xfrm>
          <a:prstGeom prst="rect">
            <a:avLst/>
          </a:prstGeom>
          <a:noFill/>
        </p:spPr>
        <p:txBody>
          <a:bodyPr wrap="square" lIns="0" rIns="0" tIns="0" bIns="0" anchor="t">
            <a:spAutoFit/>
          </a:bodyPr>
          <a:lstStyle/>
          <a:p>
            <a:pPr algn="r">
              <a:spcAft>
                <a:spcPts val="600"/>
              </a:spcAft>
            </a:pPr>
            <a:r>
              <a:rPr sz="1050" b="1" i="0">
                <a:solidFill>
                  <a:srgbClr val="5F6B7A"/>
                </a:solidFill>
                <a:latin typeface="Calibri"/>
              </a:rPr>
              <a:t>caught at 10% drug loss</a:t>
            </a:r>
          </a:p>
        </p:txBody>
      </p:sp>
      <p:sp>
        <p:nvSpPr>
          <p:cNvPr id="11" name="Rounded Rectangle 10"/>
          <p:cNvSpPr/>
          <p:nvPr/>
        </p:nvSpPr>
        <p:spPr>
          <a:xfrm>
            <a:off x="566928" y="2002536"/>
            <a:ext cx="11057839" cy="49377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7" y="2084831"/>
            <a:ext cx="2651760" cy="310896"/>
          </a:xfrm>
          <a:prstGeom prst="rect">
            <a:avLst/>
          </a:prstGeom>
          <a:noFill/>
        </p:spPr>
        <p:txBody>
          <a:bodyPr wrap="square" lIns="0" rIns="0" tIns="0" bIns="0" anchor="t">
            <a:spAutoFit/>
          </a:bodyPr>
          <a:lstStyle/>
          <a:p>
            <a:pPr algn="l">
              <a:spcAft>
                <a:spcPts val="600"/>
              </a:spcAft>
            </a:pPr>
            <a:r>
              <a:rPr sz="1250" b="1" i="0">
                <a:solidFill>
                  <a:srgbClr val="1F3A5F"/>
                </a:solidFill>
                <a:latin typeface="Calibri"/>
              </a:rPr>
              <a:t>maximum similarity</a:t>
            </a:r>
          </a:p>
        </p:txBody>
      </p:sp>
      <p:sp>
        <p:nvSpPr>
          <p:cNvPr id="13" name="TextBox 12"/>
          <p:cNvSpPr txBox="1"/>
          <p:nvPr/>
        </p:nvSpPr>
        <p:spPr>
          <a:xfrm>
            <a:off x="3584448" y="2084831"/>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0.5909</a:t>
            </a:r>
          </a:p>
        </p:txBody>
      </p:sp>
      <p:sp>
        <p:nvSpPr>
          <p:cNvPr id="14" name="TextBox 13"/>
          <p:cNvSpPr txBox="1"/>
          <p:nvPr/>
        </p:nvSpPr>
        <p:spPr>
          <a:xfrm>
            <a:off x="5184648" y="2084831"/>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0.4606</a:t>
            </a:r>
          </a:p>
        </p:txBody>
      </p:sp>
      <p:sp>
        <p:nvSpPr>
          <p:cNvPr id="15" name="TextBox 14"/>
          <p:cNvSpPr txBox="1"/>
          <p:nvPr/>
        </p:nvSpPr>
        <p:spPr>
          <a:xfrm>
            <a:off x="6784848" y="2084831"/>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0.0072</a:t>
            </a:r>
          </a:p>
        </p:txBody>
      </p:sp>
      <p:sp>
        <p:nvSpPr>
          <p:cNvPr id="16" name="TextBox 15"/>
          <p:cNvSpPr txBox="1"/>
          <p:nvPr/>
        </p:nvSpPr>
        <p:spPr>
          <a:xfrm>
            <a:off x="8385048" y="2084831"/>
            <a:ext cx="1463040" cy="310896"/>
          </a:xfrm>
          <a:prstGeom prst="rect">
            <a:avLst/>
          </a:prstGeom>
          <a:noFill/>
        </p:spPr>
        <p:txBody>
          <a:bodyPr wrap="square" lIns="0" rIns="0" tIns="0" bIns="0" anchor="t">
            <a:spAutoFit/>
          </a:bodyPr>
          <a:lstStyle/>
          <a:p>
            <a:pPr algn="r">
              <a:spcAft>
                <a:spcPts val="600"/>
              </a:spcAft>
            </a:pPr>
            <a:r>
              <a:rPr sz="1250" b="1" i="0">
                <a:solidFill>
                  <a:srgbClr val="1F3A5F"/>
                </a:solidFill>
                <a:latin typeface="Calibri"/>
              </a:rPr>
              <a:t>yes</a:t>
            </a:r>
          </a:p>
        </p:txBody>
      </p:sp>
      <p:sp>
        <p:nvSpPr>
          <p:cNvPr id="17" name="TextBox 16"/>
          <p:cNvSpPr txBox="1"/>
          <p:nvPr/>
        </p:nvSpPr>
        <p:spPr>
          <a:xfrm>
            <a:off x="9985248" y="2084831"/>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0.375</a:t>
            </a:r>
          </a:p>
        </p:txBody>
      </p:sp>
      <p:sp>
        <p:nvSpPr>
          <p:cNvPr id="18" name="TextBox 17"/>
          <p:cNvSpPr txBox="1"/>
          <p:nvPr/>
        </p:nvSpPr>
        <p:spPr>
          <a:xfrm>
            <a:off x="841247" y="2578608"/>
            <a:ext cx="26517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mean of top 5</a:t>
            </a:r>
          </a:p>
        </p:txBody>
      </p:sp>
      <p:sp>
        <p:nvSpPr>
          <p:cNvPr id="19" name="TextBox 18"/>
          <p:cNvSpPr txBox="1"/>
          <p:nvPr/>
        </p:nvSpPr>
        <p:spPr>
          <a:xfrm>
            <a:off x="3584448" y="2578608"/>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0.5224</a:t>
            </a:r>
          </a:p>
        </p:txBody>
      </p:sp>
      <p:sp>
        <p:nvSpPr>
          <p:cNvPr id="20" name="TextBox 19"/>
          <p:cNvSpPr txBox="1"/>
          <p:nvPr/>
        </p:nvSpPr>
        <p:spPr>
          <a:xfrm>
            <a:off x="5184648" y="2578608"/>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0.3781</a:t>
            </a:r>
          </a:p>
        </p:txBody>
      </p:sp>
      <p:sp>
        <p:nvSpPr>
          <p:cNvPr id="21" name="TextBox 20"/>
          <p:cNvSpPr txBox="1"/>
          <p:nvPr/>
        </p:nvSpPr>
        <p:spPr>
          <a:xfrm>
            <a:off x="6784848" y="2578608"/>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0.0075</a:t>
            </a:r>
          </a:p>
        </p:txBody>
      </p:sp>
      <p:sp>
        <p:nvSpPr>
          <p:cNvPr id="22" name="TextBox 21"/>
          <p:cNvSpPr txBox="1"/>
          <p:nvPr/>
        </p:nvSpPr>
        <p:spPr>
          <a:xfrm>
            <a:off x="8385048" y="2578608"/>
            <a:ext cx="1463040" cy="310896"/>
          </a:xfrm>
          <a:prstGeom prst="rect">
            <a:avLst/>
          </a:prstGeom>
          <a:noFill/>
        </p:spPr>
        <p:txBody>
          <a:bodyPr wrap="square" lIns="0" rIns="0" tIns="0" bIns="0" anchor="t">
            <a:spAutoFit/>
          </a:bodyPr>
          <a:lstStyle/>
          <a:p>
            <a:pPr algn="r">
              <a:spcAft>
                <a:spcPts val="600"/>
              </a:spcAft>
            </a:pPr>
            <a:r>
              <a:rPr sz="1250" b="1" i="0">
                <a:solidFill>
                  <a:srgbClr val="1F3A5F"/>
                </a:solidFill>
                <a:latin typeface="Calibri"/>
              </a:rPr>
              <a:t>yes</a:t>
            </a:r>
          </a:p>
        </p:txBody>
      </p:sp>
      <p:sp>
        <p:nvSpPr>
          <p:cNvPr id="23" name="TextBox 22"/>
          <p:cNvSpPr txBox="1"/>
          <p:nvPr/>
        </p:nvSpPr>
        <p:spPr>
          <a:xfrm>
            <a:off x="9985248" y="2578608"/>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0.375</a:t>
            </a:r>
          </a:p>
        </p:txBody>
      </p:sp>
      <p:sp>
        <p:nvSpPr>
          <p:cNvPr id="24" name="Rounded Rectangle 23"/>
          <p:cNvSpPr/>
          <p:nvPr/>
        </p:nvSpPr>
        <p:spPr>
          <a:xfrm>
            <a:off x="566928" y="2990088"/>
            <a:ext cx="11057839" cy="49377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1247" y="3072384"/>
            <a:ext cx="26517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5th nearest neighbour</a:t>
            </a:r>
          </a:p>
        </p:txBody>
      </p:sp>
      <p:sp>
        <p:nvSpPr>
          <p:cNvPr id="26" name="TextBox 25"/>
          <p:cNvSpPr txBox="1"/>
          <p:nvPr/>
        </p:nvSpPr>
        <p:spPr>
          <a:xfrm>
            <a:off x="3584448" y="3072384"/>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0.4444</a:t>
            </a:r>
          </a:p>
        </p:txBody>
      </p:sp>
      <p:sp>
        <p:nvSpPr>
          <p:cNvPr id="27" name="TextBox 26"/>
          <p:cNvSpPr txBox="1"/>
          <p:nvPr/>
        </p:nvSpPr>
        <p:spPr>
          <a:xfrm>
            <a:off x="5184648" y="3072384"/>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0.3287</a:t>
            </a:r>
          </a:p>
        </p:txBody>
      </p:sp>
      <p:sp>
        <p:nvSpPr>
          <p:cNvPr id="28" name="TextBox 27"/>
          <p:cNvSpPr txBox="1"/>
          <p:nvPr/>
        </p:nvSpPr>
        <p:spPr>
          <a:xfrm>
            <a:off x="6784848" y="3072384"/>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0.0171</a:t>
            </a:r>
          </a:p>
        </p:txBody>
      </p:sp>
      <p:sp>
        <p:nvSpPr>
          <p:cNvPr id="29" name="TextBox 28"/>
          <p:cNvSpPr txBox="1"/>
          <p:nvPr/>
        </p:nvSpPr>
        <p:spPr>
          <a:xfrm>
            <a:off x="8385048" y="3072384"/>
            <a:ext cx="1463040" cy="310896"/>
          </a:xfrm>
          <a:prstGeom prst="rect">
            <a:avLst/>
          </a:prstGeom>
          <a:noFill/>
        </p:spPr>
        <p:txBody>
          <a:bodyPr wrap="square" lIns="0" rIns="0" tIns="0" bIns="0" anchor="t">
            <a:spAutoFit/>
          </a:bodyPr>
          <a:lstStyle/>
          <a:p>
            <a:pPr algn="r">
              <a:spcAft>
                <a:spcPts val="600"/>
              </a:spcAft>
            </a:pPr>
            <a:r>
              <a:rPr sz="1250" b="1" i="0">
                <a:solidFill>
                  <a:srgbClr val="9E2A2B"/>
                </a:solidFill>
                <a:latin typeface="Calibri"/>
              </a:rPr>
              <a:t>no</a:t>
            </a:r>
          </a:p>
        </p:txBody>
      </p:sp>
      <p:sp>
        <p:nvSpPr>
          <p:cNvPr id="30" name="TextBox 29"/>
          <p:cNvSpPr txBox="1"/>
          <p:nvPr/>
        </p:nvSpPr>
        <p:spPr>
          <a:xfrm>
            <a:off x="9985248" y="3072384"/>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0.5</a:t>
            </a:r>
          </a:p>
        </p:txBody>
      </p:sp>
      <p:sp>
        <p:nvSpPr>
          <p:cNvPr id="31" name="TextBox 30"/>
          <p:cNvSpPr txBox="1"/>
          <p:nvPr/>
        </p:nvSpPr>
        <p:spPr>
          <a:xfrm>
            <a:off x="841247" y="3566160"/>
            <a:ext cx="26517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density within 0.4</a:t>
            </a:r>
          </a:p>
        </p:txBody>
      </p:sp>
      <p:sp>
        <p:nvSpPr>
          <p:cNvPr id="32" name="TextBox 31"/>
          <p:cNvSpPr txBox="1"/>
          <p:nvPr/>
        </p:nvSpPr>
        <p:spPr>
          <a:xfrm>
            <a:off x="3584448" y="3566160"/>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8.0</a:t>
            </a:r>
          </a:p>
        </p:txBody>
      </p:sp>
      <p:sp>
        <p:nvSpPr>
          <p:cNvPr id="33" name="TextBox 32"/>
          <p:cNvSpPr txBox="1"/>
          <p:nvPr/>
        </p:nvSpPr>
        <p:spPr>
          <a:xfrm>
            <a:off x="5184648" y="3566160"/>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1.5</a:t>
            </a:r>
          </a:p>
        </p:txBody>
      </p:sp>
      <p:sp>
        <p:nvSpPr>
          <p:cNvPr id="34" name="TextBox 33"/>
          <p:cNvSpPr txBox="1"/>
          <p:nvPr/>
        </p:nvSpPr>
        <p:spPr>
          <a:xfrm>
            <a:off x="6784848" y="3566160"/>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0.0536</a:t>
            </a:r>
          </a:p>
        </p:txBody>
      </p:sp>
      <p:sp>
        <p:nvSpPr>
          <p:cNvPr id="35" name="TextBox 34"/>
          <p:cNvSpPr txBox="1"/>
          <p:nvPr/>
        </p:nvSpPr>
        <p:spPr>
          <a:xfrm>
            <a:off x="8385048" y="3566160"/>
            <a:ext cx="1463040" cy="310896"/>
          </a:xfrm>
          <a:prstGeom prst="rect">
            <a:avLst/>
          </a:prstGeom>
          <a:noFill/>
        </p:spPr>
        <p:txBody>
          <a:bodyPr wrap="square" lIns="0" rIns="0" tIns="0" bIns="0" anchor="t">
            <a:spAutoFit/>
          </a:bodyPr>
          <a:lstStyle/>
          <a:p>
            <a:pPr algn="r">
              <a:spcAft>
                <a:spcPts val="600"/>
              </a:spcAft>
            </a:pPr>
            <a:r>
              <a:rPr sz="1250" b="1" i="0">
                <a:solidFill>
                  <a:srgbClr val="9E2A2B"/>
                </a:solidFill>
                <a:latin typeface="Calibri"/>
              </a:rPr>
              <a:t>no</a:t>
            </a:r>
          </a:p>
        </p:txBody>
      </p:sp>
      <p:sp>
        <p:nvSpPr>
          <p:cNvPr id="36" name="TextBox 35"/>
          <p:cNvSpPr txBox="1"/>
          <p:nvPr/>
        </p:nvSpPr>
        <p:spPr>
          <a:xfrm>
            <a:off x="9985248" y="3566160"/>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0.375</a:t>
            </a:r>
          </a:p>
        </p:txBody>
      </p:sp>
      <p:sp>
        <p:nvSpPr>
          <p:cNvPr id="37" name="TextBox 36"/>
          <p:cNvSpPr txBox="1"/>
          <p:nvPr/>
        </p:nvSpPr>
        <p:spPr>
          <a:xfrm>
            <a:off x="566928" y="4343400"/>
            <a:ext cx="11057839" cy="457200"/>
          </a:xfrm>
          <a:prstGeom prst="rect">
            <a:avLst/>
          </a:prstGeom>
          <a:noFill/>
        </p:spPr>
        <p:txBody>
          <a:bodyPr wrap="square" lIns="0" rIns="0" tIns="0" bIns="0" anchor="t">
            <a:spAutoFit/>
          </a:bodyPr>
          <a:lstStyle/>
          <a:p>
            <a:pPr algn="l">
              <a:spcAft>
                <a:spcPts val="600"/>
              </a:spcAft>
            </a:pPr>
            <a:r>
              <a:rPr sz="1600" b="1" i="0">
                <a:solidFill>
                  <a:srgbClr val="1F3A5F"/>
                </a:solidFill>
                <a:latin typeface="Cambria"/>
              </a:rPr>
              <a:t>Two of the four separate at p &lt; 0.01, and no alternative beats the deployed one.</a:t>
            </a:r>
          </a:p>
        </p:txBody>
      </p:sp>
      <p:sp>
        <p:nvSpPr>
          <p:cNvPr id="38" name="Rounded Rectangle 37"/>
          <p:cNvSpPr/>
          <p:nvPr/>
        </p:nvSpPr>
        <p:spPr>
          <a:xfrm>
            <a:off x="566928" y="4892040"/>
            <a:ext cx="11057839" cy="10515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32688" y="5084064"/>
            <a:ext cx="10326319" cy="77724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Passing is not the same as being useful. At a threshold rejecting a tenth of genuine drugs the flag catches 0.375 of genuinely distant chemistry; at the deployed cut of 0.30 it catches 0.20. Four in five non-drug-like structures are waved through. It separates in the aggregate and discriminates poorly on the individual case.</a:t>
            </a:r>
          </a:p>
        </p:txBody>
      </p:sp>
      <p:sp>
        <p:nvSpPr>
          <p:cNvPr id="40" name="TextBox 3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results/tables/applicability_measures.csv; results/tables/inversion_validation.csv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400" b="1" i="0">
                <a:solidFill>
                  <a:srgbClr val="0F1A2E"/>
                </a:solidFill>
                <a:latin typeface="Cambria"/>
              </a:rPr>
              <a:t>What the flag actually predicts, which is not what it was built for</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Recall is a monotone function of domain distance, across three unrelated test sets</a:t>
            </a:r>
          </a:p>
        </p:txBody>
      </p:sp>
      <p:graphicFrame>
        <p:nvGraphicFramePr>
          <p:cNvPr id="5" name="Chart 4"/>
          <p:cNvGraphicFramePr>
            <a:graphicFrameLocks noGrp="1"/>
          </p:cNvGraphicFramePr>
          <p:nvPr/>
        </p:nvGraphicFramePr>
        <p:xfrm>
          <a:off x="566928" y="1600200"/>
          <a:ext cx="7223760" cy="3886200"/>
        </p:xfrm>
        <a:graphic>
          <a:graphicData uri="http://schemas.openxmlformats.org/drawingml/2006/chart">
            <c:chart xmlns:c="http://schemas.openxmlformats.org/drawingml/2006/chart" r:id="rId2"/>
          </a:graphicData>
        </a:graphic>
      </p:graphicFrame>
      <p:sp>
        <p:nvSpPr>
          <p:cNvPr id="6" name="TextBox 5"/>
          <p:cNvSpPr txBox="1"/>
          <p:nvPr/>
        </p:nvSpPr>
        <p:spPr>
          <a:xfrm>
            <a:off x="8065007" y="1737360"/>
            <a:ext cx="3559759" cy="1188720"/>
          </a:xfrm>
          <a:prstGeom prst="rect">
            <a:avLst/>
          </a:prstGeom>
          <a:noFill/>
        </p:spPr>
        <p:txBody>
          <a:bodyPr wrap="square" lIns="0" rIns="0" tIns="0" bIns="0" anchor="t">
            <a:spAutoFit/>
          </a:bodyPr>
          <a:lstStyle/>
          <a:p>
            <a:pPr algn="l">
              <a:lnSpc>
                <a:spcPct val="124000"/>
              </a:lnSpc>
              <a:spcAft>
                <a:spcPts val="600"/>
              </a:spcAft>
            </a:pPr>
            <a:r>
              <a:rPr sz="1500" b="1" i="0">
                <a:solidFill>
                  <a:srgbClr val="1F3A5F"/>
                </a:solidFill>
                <a:latin typeface="Calibri"/>
              </a:rPr>
              <a:t>The quantity the server already computes and already shows predicts the recall that query will receive.</a:t>
            </a:r>
          </a:p>
        </p:txBody>
      </p:sp>
      <p:sp>
        <p:nvSpPr>
          <p:cNvPr id="7" name="TextBox 6"/>
          <p:cNvSpPr txBox="1"/>
          <p:nvPr/>
        </p:nvSpPr>
        <p:spPr>
          <a:xfrm>
            <a:off x="8065007" y="2926080"/>
            <a:ext cx="3559759" cy="146304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A compound the flag places near the edge of the domain is precisely the compound whose activity the panel is most likely to miss. So the expected recall for the compound in hand is knowable at the moment of the query.</a:t>
            </a:r>
          </a:p>
        </p:txBody>
      </p:sp>
      <p:sp>
        <p:nvSpPr>
          <p:cNvPr id="8" name="TextBox 7"/>
          <p:cNvSpPr txBox="1"/>
          <p:nvPr/>
        </p:nvSpPr>
        <p:spPr>
          <a:xfrm>
            <a:off x="8065007" y="4526280"/>
            <a:ext cx="3559759" cy="1005840"/>
          </a:xfrm>
          <a:prstGeom prst="rect">
            <a:avLst/>
          </a:prstGeom>
          <a:noFill/>
        </p:spPr>
        <p:txBody>
          <a:bodyPr wrap="square" lIns="0" rIns="0" tIns="0" bIns="0" anchor="t">
            <a:spAutoFit/>
          </a:bodyPr>
          <a:lstStyle/>
          <a:p>
            <a:pPr algn="l">
              <a:lnSpc>
                <a:spcPct val="124000"/>
              </a:lnSpc>
              <a:spcAft>
                <a:spcPts val="600"/>
              </a:spcAft>
            </a:pPr>
            <a:r>
              <a:rPr sz="1300" b="1" i="1">
                <a:solidFill>
                  <a:srgbClr val="1C7293"/>
                </a:solidFill>
                <a:latin typeface="Calibri"/>
              </a:rPr>
              <a:t>The flag is a poor detector of alien chemistry and a good predictor of when the panel will fall silent on a real active.</a:t>
            </a:r>
          </a:p>
        </p:txBody>
      </p:sp>
      <p:sp>
        <p:nvSpPr>
          <p:cNvPr id="9" name="TextBox 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results/tables/external_novelty_strata.csv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But the flag does not predict discrimination</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On the one external set where this can be tested, the direction reverses</a:t>
            </a:r>
          </a:p>
        </p:txBody>
      </p:sp>
      <p:sp>
        <p:nvSpPr>
          <p:cNvPr id="5" name="TextBox 4"/>
          <p:cNvSpPr txBox="1"/>
          <p:nvPr/>
        </p:nvSpPr>
        <p:spPr>
          <a:xfrm>
            <a:off x="841247" y="1737360"/>
            <a:ext cx="292608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subset</a:t>
            </a:r>
          </a:p>
        </p:txBody>
      </p:sp>
      <p:sp>
        <p:nvSpPr>
          <p:cNvPr id="6" name="TextBox 5"/>
          <p:cNvSpPr txBox="1"/>
          <p:nvPr/>
        </p:nvSpPr>
        <p:spPr>
          <a:xfrm>
            <a:off x="3858768" y="1737360"/>
            <a:ext cx="12801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n</a:t>
            </a:r>
          </a:p>
        </p:txBody>
      </p:sp>
      <p:sp>
        <p:nvSpPr>
          <p:cNvPr id="7" name="TextBox 6"/>
          <p:cNvSpPr txBox="1"/>
          <p:nvPr/>
        </p:nvSpPr>
        <p:spPr>
          <a:xfrm>
            <a:off x="5276088" y="1737360"/>
            <a:ext cx="12801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mean max Tanimoto</a:t>
            </a:r>
          </a:p>
        </p:txBody>
      </p:sp>
      <p:sp>
        <p:nvSpPr>
          <p:cNvPr id="8" name="TextBox 7"/>
          <p:cNvSpPr txBox="1"/>
          <p:nvPr/>
        </p:nvSpPr>
        <p:spPr>
          <a:xfrm>
            <a:off x="6693408" y="1737360"/>
            <a:ext cx="12801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AUROC</a:t>
            </a:r>
          </a:p>
        </p:txBody>
      </p:sp>
      <p:sp>
        <p:nvSpPr>
          <p:cNvPr id="9" name="TextBox 8"/>
          <p:cNvSpPr txBox="1"/>
          <p:nvPr/>
        </p:nvSpPr>
        <p:spPr>
          <a:xfrm>
            <a:off x="8110728" y="1737360"/>
            <a:ext cx="12801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accuracy</a:t>
            </a:r>
          </a:p>
        </p:txBody>
      </p:sp>
      <p:sp>
        <p:nvSpPr>
          <p:cNvPr id="10" name="Rounded Rectangle 9"/>
          <p:cNvSpPr/>
          <p:nvPr/>
        </p:nvSpPr>
        <p:spPr>
          <a:xfrm>
            <a:off x="566928" y="2029967"/>
            <a:ext cx="9052560"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2121408"/>
            <a:ext cx="2926080" cy="329184"/>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In domain, T ≥ 0.30</a:t>
            </a:r>
          </a:p>
        </p:txBody>
      </p:sp>
      <p:sp>
        <p:nvSpPr>
          <p:cNvPr id="12" name="TextBox 11"/>
          <p:cNvSpPr txBox="1"/>
          <p:nvPr/>
        </p:nvSpPr>
        <p:spPr>
          <a:xfrm>
            <a:off x="3858768" y="2121408"/>
            <a:ext cx="1280160" cy="329184"/>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258</a:t>
            </a:r>
          </a:p>
        </p:txBody>
      </p:sp>
      <p:sp>
        <p:nvSpPr>
          <p:cNvPr id="13" name="TextBox 12"/>
          <p:cNvSpPr txBox="1"/>
          <p:nvPr/>
        </p:nvSpPr>
        <p:spPr>
          <a:xfrm>
            <a:off x="5276088" y="2121408"/>
            <a:ext cx="1280160" cy="329184"/>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0.646</a:t>
            </a:r>
          </a:p>
        </p:txBody>
      </p:sp>
      <p:sp>
        <p:nvSpPr>
          <p:cNvPr id="14" name="TextBox 13"/>
          <p:cNvSpPr txBox="1"/>
          <p:nvPr/>
        </p:nvSpPr>
        <p:spPr>
          <a:xfrm>
            <a:off x="6693408" y="2121408"/>
            <a:ext cx="1280160" cy="329184"/>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0.7597</a:t>
            </a:r>
          </a:p>
        </p:txBody>
      </p:sp>
      <p:sp>
        <p:nvSpPr>
          <p:cNvPr id="15" name="TextBox 14"/>
          <p:cNvSpPr txBox="1"/>
          <p:nvPr/>
        </p:nvSpPr>
        <p:spPr>
          <a:xfrm>
            <a:off x="8110728" y="2121408"/>
            <a:ext cx="1280160" cy="329184"/>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0.7326</a:t>
            </a:r>
          </a:p>
        </p:txBody>
      </p:sp>
      <p:sp>
        <p:nvSpPr>
          <p:cNvPr id="16" name="Rounded Rectangle 15"/>
          <p:cNvSpPr/>
          <p:nvPr/>
        </p:nvSpPr>
        <p:spPr>
          <a:xfrm>
            <a:off x="566928" y="2706623"/>
            <a:ext cx="9052560"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41247" y="2798063"/>
            <a:ext cx="2926080" cy="329184"/>
          </a:xfrm>
          <a:prstGeom prst="rect">
            <a:avLst/>
          </a:prstGeom>
          <a:noFill/>
        </p:spPr>
        <p:txBody>
          <a:bodyPr wrap="square" lIns="0" rIns="0" tIns="0" bIns="0" anchor="t">
            <a:spAutoFit/>
          </a:bodyPr>
          <a:lstStyle/>
          <a:p>
            <a:pPr algn="l">
              <a:spcAft>
                <a:spcPts val="600"/>
              </a:spcAft>
            </a:pPr>
            <a:r>
              <a:rPr sz="1350" b="1" i="0">
                <a:solidFill>
                  <a:srgbClr val="D98324"/>
                </a:solidFill>
                <a:latin typeface="Calibri"/>
              </a:rPr>
              <a:t>Out of domain, T &lt; 0.30</a:t>
            </a:r>
          </a:p>
        </p:txBody>
      </p:sp>
      <p:sp>
        <p:nvSpPr>
          <p:cNvPr id="18" name="TextBox 17"/>
          <p:cNvSpPr txBox="1"/>
          <p:nvPr/>
        </p:nvSpPr>
        <p:spPr>
          <a:xfrm>
            <a:off x="3858768" y="2798063"/>
            <a:ext cx="1280160" cy="329184"/>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48</a:t>
            </a:r>
          </a:p>
        </p:txBody>
      </p:sp>
      <p:sp>
        <p:nvSpPr>
          <p:cNvPr id="19" name="TextBox 18"/>
          <p:cNvSpPr txBox="1"/>
          <p:nvPr/>
        </p:nvSpPr>
        <p:spPr>
          <a:xfrm>
            <a:off x="5276088" y="2798063"/>
            <a:ext cx="1280160" cy="329184"/>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0.248</a:t>
            </a:r>
          </a:p>
        </p:txBody>
      </p:sp>
      <p:sp>
        <p:nvSpPr>
          <p:cNvPr id="20" name="TextBox 19"/>
          <p:cNvSpPr txBox="1"/>
          <p:nvPr/>
        </p:nvSpPr>
        <p:spPr>
          <a:xfrm>
            <a:off x="6693408" y="2798063"/>
            <a:ext cx="1280160" cy="329184"/>
          </a:xfrm>
          <a:prstGeom prst="rect">
            <a:avLst/>
          </a:prstGeom>
          <a:noFill/>
        </p:spPr>
        <p:txBody>
          <a:bodyPr wrap="square" lIns="0" rIns="0" tIns="0" bIns="0" anchor="t">
            <a:spAutoFit/>
          </a:bodyPr>
          <a:lstStyle/>
          <a:p>
            <a:pPr algn="r">
              <a:spcAft>
                <a:spcPts val="600"/>
              </a:spcAft>
            </a:pPr>
            <a:r>
              <a:rPr sz="1350" b="1" i="0">
                <a:solidFill>
                  <a:srgbClr val="D98324"/>
                </a:solidFill>
                <a:latin typeface="Calibri"/>
              </a:rPr>
              <a:t>0.8059</a:t>
            </a:r>
          </a:p>
        </p:txBody>
      </p:sp>
      <p:sp>
        <p:nvSpPr>
          <p:cNvPr id="21" name="TextBox 20"/>
          <p:cNvSpPr txBox="1"/>
          <p:nvPr/>
        </p:nvSpPr>
        <p:spPr>
          <a:xfrm>
            <a:off x="8110728" y="2798063"/>
            <a:ext cx="1280160" cy="329184"/>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0.7292</a:t>
            </a:r>
          </a:p>
        </p:txBody>
      </p:sp>
      <p:sp>
        <p:nvSpPr>
          <p:cNvPr id="22" name="Rounded Rectangle 21"/>
          <p:cNvSpPr/>
          <p:nvPr/>
        </p:nvSpPr>
        <p:spPr>
          <a:xfrm>
            <a:off x="566928" y="3383279"/>
            <a:ext cx="9052560"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3474720"/>
            <a:ext cx="2926080" cy="329184"/>
          </a:xfrm>
          <a:prstGeom prst="rect">
            <a:avLst/>
          </a:prstGeom>
          <a:noFill/>
        </p:spPr>
        <p:txBody>
          <a:bodyPr wrap="square" lIns="0" rIns="0" tIns="0" bIns="0" anchor="t">
            <a:spAutoFit/>
          </a:bodyPr>
          <a:lstStyle/>
          <a:p>
            <a:pPr algn="l">
              <a:spcAft>
                <a:spcPts val="600"/>
              </a:spcAft>
            </a:pPr>
            <a:r>
              <a:rPr sz="1350" b="1" i="0">
                <a:solidFill>
                  <a:srgbClr val="5F6B7A"/>
                </a:solidFill>
                <a:latin typeface="Calibri"/>
              </a:rPr>
              <a:t>All</a:t>
            </a:r>
          </a:p>
        </p:txBody>
      </p:sp>
      <p:sp>
        <p:nvSpPr>
          <p:cNvPr id="24" name="TextBox 23"/>
          <p:cNvSpPr txBox="1"/>
          <p:nvPr/>
        </p:nvSpPr>
        <p:spPr>
          <a:xfrm>
            <a:off x="3858768" y="3474720"/>
            <a:ext cx="1280160" cy="329184"/>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306</a:t>
            </a:r>
          </a:p>
        </p:txBody>
      </p:sp>
      <p:sp>
        <p:nvSpPr>
          <p:cNvPr id="25" name="TextBox 24"/>
          <p:cNvSpPr txBox="1"/>
          <p:nvPr/>
        </p:nvSpPr>
        <p:spPr>
          <a:xfrm>
            <a:off x="5276088" y="3474720"/>
            <a:ext cx="1280160" cy="329184"/>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0.584</a:t>
            </a:r>
          </a:p>
        </p:txBody>
      </p:sp>
      <p:sp>
        <p:nvSpPr>
          <p:cNvPr id="26" name="TextBox 25"/>
          <p:cNvSpPr txBox="1"/>
          <p:nvPr/>
        </p:nvSpPr>
        <p:spPr>
          <a:xfrm>
            <a:off x="6693408" y="3474720"/>
            <a:ext cx="1280160" cy="329184"/>
          </a:xfrm>
          <a:prstGeom prst="rect">
            <a:avLst/>
          </a:prstGeom>
          <a:noFill/>
        </p:spPr>
        <p:txBody>
          <a:bodyPr wrap="square" lIns="0" rIns="0" tIns="0" bIns="0" anchor="t">
            <a:spAutoFit/>
          </a:bodyPr>
          <a:lstStyle/>
          <a:p>
            <a:pPr algn="r">
              <a:spcAft>
                <a:spcPts val="600"/>
              </a:spcAft>
            </a:pPr>
            <a:r>
              <a:rPr sz="1350" b="1" i="0">
                <a:solidFill>
                  <a:srgbClr val="5F6B7A"/>
                </a:solidFill>
                <a:latin typeface="Calibri"/>
              </a:rPr>
              <a:t>0.7645</a:t>
            </a:r>
          </a:p>
        </p:txBody>
      </p:sp>
      <p:sp>
        <p:nvSpPr>
          <p:cNvPr id="27" name="TextBox 26"/>
          <p:cNvSpPr txBox="1"/>
          <p:nvPr/>
        </p:nvSpPr>
        <p:spPr>
          <a:xfrm>
            <a:off x="8110728" y="3474720"/>
            <a:ext cx="1280160" cy="329184"/>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0.732</a:t>
            </a:r>
          </a:p>
        </p:txBody>
      </p:sp>
      <p:sp>
        <p:nvSpPr>
          <p:cNvPr id="28" name="TextBox 27"/>
          <p:cNvSpPr txBox="1"/>
          <p:nvPr/>
        </p:nvSpPr>
        <p:spPr>
          <a:xfrm>
            <a:off x="566928" y="4315968"/>
            <a:ext cx="9052560" cy="822960"/>
          </a:xfrm>
          <a:prstGeom prst="rect">
            <a:avLst/>
          </a:prstGeom>
          <a:noFill/>
        </p:spPr>
        <p:txBody>
          <a:bodyPr wrap="square" lIns="0" rIns="0" tIns="0" bIns="0" anchor="t">
            <a:spAutoFit/>
          </a:bodyPr>
          <a:lstStyle/>
          <a:p>
            <a:pPr algn="l">
              <a:lnSpc>
                <a:spcPct val="124000"/>
              </a:lnSpc>
              <a:spcAft>
                <a:spcPts val="600"/>
              </a:spcAft>
            </a:pPr>
            <a:r>
              <a:rPr sz="1500" b="1" i="0">
                <a:solidFill>
                  <a:srgbClr val="D98324"/>
                </a:solidFill>
                <a:latin typeface="Calibri"/>
              </a:rPr>
              <a:t>The barrier model ranks the 48 out-of-domain compounds +0.0462 AUROC better than the 258 in-domain ones, while accuracy is flat.</a:t>
            </a:r>
          </a:p>
        </p:txBody>
      </p:sp>
      <p:sp>
        <p:nvSpPr>
          <p:cNvPr id="29" name="Rounded Rectangle 28"/>
          <p:cNvSpPr/>
          <p:nvPr/>
        </p:nvSpPr>
        <p:spPr>
          <a:xfrm>
            <a:off x="566928" y="5212080"/>
            <a:ext cx="9052560" cy="9601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4400" y="5413248"/>
            <a:ext cx="8412480" cy="68580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Recall and ranking are different quantities. Domain distance predicts recall, which depends on where the threshold sits relative to the actives' scores. It does not predict AUROC, which is threshold-free. On novel chemistry the panel does not become wrong, it becomes quiet.</a:t>
            </a:r>
          </a:p>
        </p:txBody>
      </p:sp>
      <p:sp>
        <p:nvSpPr>
          <p:cNvPr id="31" name="TextBox 30"/>
          <p:cNvSpPr txBox="1"/>
          <p:nvPr/>
        </p:nvSpPr>
        <p:spPr>
          <a:xfrm>
            <a:off x="9802367" y="2103120"/>
            <a:ext cx="1822399" cy="2011680"/>
          </a:xfrm>
          <a:prstGeom prst="rect">
            <a:avLst/>
          </a:prstGeom>
          <a:noFill/>
        </p:spPr>
        <p:txBody>
          <a:bodyPr wrap="square" lIns="0" rIns="0" tIns="0" bIns="0" anchor="t">
            <a:spAutoFit/>
          </a:bodyPr>
          <a:lstStyle/>
          <a:p>
            <a:pPr algn="l">
              <a:lnSpc>
                <a:spcPct val="126000"/>
              </a:lnSpc>
              <a:spcAft>
                <a:spcPts val="600"/>
              </a:spcAft>
            </a:pPr>
            <a:r>
              <a:rPr sz="1200" b="0" i="0">
                <a:solidFill>
                  <a:srgbClr val="5F6B7A"/>
                </a:solidFill>
                <a:latin typeface="Calibri"/>
              </a:rPr>
              <a:t>Do not over-read it: 48 compounds, no interval computed, and the subsets are matched on nothing but distance.
But the direction is the opposite of the assumption, and the assumption is the one a referee brings.</a:t>
            </a:r>
          </a:p>
        </p:txBody>
      </p:sp>
      <p:sp>
        <p:nvSpPr>
          <p:cNvPr id="32" name="TextBox 31"/>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results/tables/applicability_bbb_validation.csv, regenerated for this chapter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8</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How much of drug space is inside the domain</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11,723 DrugBank drugs scored against each endpoint's measured chemistry</a:t>
            </a:r>
          </a:p>
        </p:txBody>
      </p:sp>
      <p:graphicFrame>
        <p:nvGraphicFramePr>
          <p:cNvPr id="5" name="Chart 4"/>
          <p:cNvGraphicFramePr>
            <a:graphicFrameLocks noGrp="1"/>
          </p:cNvGraphicFramePr>
          <p:nvPr/>
        </p:nvGraphicFramePr>
        <p:xfrm>
          <a:off x="566928" y="1627632"/>
          <a:ext cx="6949440" cy="3886200"/>
        </p:xfrm>
        <a:graphic>
          <a:graphicData uri="http://schemas.openxmlformats.org/drawingml/2006/chart">
            <c:chart xmlns:c="http://schemas.openxmlformats.org/drawingml/2006/chart" r:id="rId2"/>
          </a:graphicData>
        </a:graphic>
      </p:graphicFrame>
      <p:sp>
        <p:nvSpPr>
          <p:cNvPr id="6" name="TextBox 5"/>
          <p:cNvSpPr txBox="1"/>
          <p:nvPr/>
        </p:nvSpPr>
        <p:spPr>
          <a:xfrm>
            <a:off x="7790688" y="1755648"/>
            <a:ext cx="3834079" cy="1188720"/>
          </a:xfrm>
          <a:prstGeom prst="rect">
            <a:avLst/>
          </a:prstGeom>
          <a:noFill/>
        </p:spPr>
        <p:txBody>
          <a:bodyPr wrap="square" lIns="0" rIns="0" tIns="0" bIns="0" anchor="t">
            <a:spAutoFit/>
          </a:bodyPr>
          <a:lstStyle/>
          <a:p>
            <a:pPr algn="l">
              <a:lnSpc>
                <a:spcPct val="126000"/>
              </a:lnSpc>
              <a:spcAft>
                <a:spcPts val="600"/>
              </a:spcAft>
            </a:pPr>
            <a:r>
              <a:rPr sz="1450" b="1" i="0">
                <a:solidFill>
                  <a:srgbClr val="1F3A5F"/>
                </a:solidFill>
                <a:latin typeface="Calibri"/>
              </a:rPr>
              <a:t>For every endpoint except the barrier model, most approved drugs sit below the cut. At BACE1 nearly four in five do.</a:t>
            </a:r>
          </a:p>
        </p:txBody>
      </p:sp>
      <p:sp>
        <p:nvSpPr>
          <p:cNvPr id="7" name="TextBox 6"/>
          <p:cNvSpPr txBox="1"/>
          <p:nvPr/>
        </p:nvSpPr>
        <p:spPr>
          <a:xfrm>
            <a:off x="7790688" y="2971800"/>
            <a:ext cx="3834079" cy="137160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The median approved drug is at Tanimoto 0.25 to 0.30 from the nearest compound ever measured at these targets. With the previous slide but one, that says the panel will miss a substantial fraction of genuine activities among approved drugs.</a:t>
            </a:r>
          </a:p>
        </p:txBody>
      </p:sp>
      <p:sp>
        <p:nvSpPr>
          <p:cNvPr id="8" name="Rounded Rectangle 7"/>
          <p:cNvSpPr/>
          <p:nvPr/>
        </p:nvSpPr>
        <p:spPr>
          <a:xfrm>
            <a:off x="7790688" y="4480560"/>
            <a:ext cx="3834079" cy="10515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83296" y="4663440"/>
            <a:ext cx="3239719" cy="777240"/>
          </a:xfrm>
          <a:prstGeom prst="rect">
            <a:avLst/>
          </a:prstGeom>
          <a:noFill/>
        </p:spPr>
        <p:txBody>
          <a:bodyPr wrap="square" lIns="0" rIns="0" tIns="0" bIns="0" anchor="t">
            <a:spAutoFit/>
          </a:bodyPr>
          <a:lstStyle/>
          <a:p>
            <a:pPr algn="l">
              <a:lnSpc>
                <a:spcPct val="124000"/>
              </a:lnSpc>
              <a:spcAft>
                <a:spcPts val="600"/>
              </a:spcAft>
            </a:pPr>
            <a:r>
              <a:rPr sz="1150" b="0" i="0">
                <a:solidFill>
                  <a:srgbClr val="0F1A2E"/>
                </a:solidFill>
                <a:latin typeface="Calibri"/>
              </a:rPr>
              <a:t>The barrier model's 0.72 is the exception because its training set is drawn from approved-drug chemistry in the first place. That is overlap between two drug collections, not evidence of better generalisation.</a:t>
            </a:r>
          </a:p>
        </p:txBody>
      </p:sp>
      <p:sp>
        <p:nvSpPr>
          <p:cNvPr id="10" name="TextBox 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results/tables/applicability_coverage.csv, regenerated for this chapter. Note in_domain here means T ≥ 0.30, which is the interface's 'in or near domain'.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9</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a user should read, in order</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reader who takes one of the three has the wrong summary</a:t>
            </a:r>
          </a:p>
        </p:txBody>
      </p:sp>
      <p:sp>
        <p:nvSpPr>
          <p:cNvPr id="5" name="Rounded Rectangle 4"/>
          <p:cNvSpPr/>
          <p:nvPr/>
        </p:nvSpPr>
        <p:spPr>
          <a:xfrm>
            <a:off x="566928" y="1691640"/>
            <a:ext cx="11057839" cy="12984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86968" y="2130552"/>
            <a:ext cx="384048" cy="384048"/>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527048" y="1911095"/>
            <a:ext cx="3931920" cy="822960"/>
          </a:xfrm>
          <a:prstGeom prst="rect">
            <a:avLst/>
          </a:prstGeom>
          <a:noFill/>
        </p:spPr>
        <p:txBody>
          <a:bodyPr wrap="square" lIns="0" rIns="0" tIns="0" bIns="0" anchor="t">
            <a:spAutoFit/>
          </a:bodyPr>
          <a:lstStyle/>
          <a:p>
            <a:pPr algn="l">
              <a:lnSpc>
                <a:spcPct val="112000"/>
              </a:lnSpc>
              <a:spcAft>
                <a:spcPts val="600"/>
              </a:spcAft>
            </a:pPr>
            <a:r>
              <a:rPr sz="1600" b="1" i="0">
                <a:solidFill>
                  <a:srgbClr val="D98324"/>
                </a:solidFill>
                <a:latin typeface="Cambria"/>
              </a:rPr>
              <a:t>Read the domain distance first</a:t>
            </a:r>
          </a:p>
        </p:txBody>
      </p:sp>
      <p:sp>
        <p:nvSpPr>
          <p:cNvPr id="8" name="TextBox 7"/>
          <p:cNvSpPr txBox="1"/>
          <p:nvPr/>
        </p:nvSpPr>
        <p:spPr>
          <a:xfrm>
            <a:off x="5641848" y="1911095"/>
            <a:ext cx="5662879" cy="91440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It tells you whether the rest is worth reading, and it tells you the recall the panel achieves at that distance. Below 0.40, recall is about 0.16 and a silence means almost nothing.</a:t>
            </a:r>
          </a:p>
        </p:txBody>
      </p:sp>
      <p:sp>
        <p:nvSpPr>
          <p:cNvPr id="9" name="Rounded Rectangle 8"/>
          <p:cNvSpPr/>
          <p:nvPr/>
        </p:nvSpPr>
        <p:spPr>
          <a:xfrm>
            <a:off x="566928" y="3136392"/>
            <a:ext cx="11057839" cy="12984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86968" y="3575304"/>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1" name="TextBox 10"/>
          <p:cNvSpPr txBox="1"/>
          <p:nvPr/>
        </p:nvSpPr>
        <p:spPr>
          <a:xfrm>
            <a:off x="1527048" y="3355848"/>
            <a:ext cx="3931920" cy="822960"/>
          </a:xfrm>
          <a:prstGeom prst="rect">
            <a:avLst/>
          </a:prstGeom>
          <a:noFill/>
        </p:spPr>
        <p:txBody>
          <a:bodyPr wrap="square" lIns="0" rIns="0" tIns="0" bIns="0" anchor="t">
            <a:spAutoFit/>
          </a:bodyPr>
          <a:lstStyle/>
          <a:p>
            <a:pPr algn="l">
              <a:lnSpc>
                <a:spcPct val="112000"/>
              </a:lnSpc>
              <a:spcAft>
                <a:spcPts val="600"/>
              </a:spcAft>
            </a:pPr>
            <a:r>
              <a:rPr sz="1600" b="1" i="0">
                <a:solidFill>
                  <a:srgbClr val="1C7293"/>
                </a:solidFill>
                <a:latin typeface="Cambria"/>
              </a:rPr>
              <a:t>Read the conformal set second</a:t>
            </a:r>
          </a:p>
        </p:txBody>
      </p:sp>
      <p:sp>
        <p:nvSpPr>
          <p:cNvPr id="12" name="TextBox 11"/>
          <p:cNvSpPr txBox="1"/>
          <p:nvPr/>
        </p:nvSpPr>
        <p:spPr>
          <a:xfrm>
            <a:off x="5641848" y="3355848"/>
            <a:ext cx="5662879" cy="91440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An empty set, or a set containing both classes, is a statement a point probability cannot make. Available for the eight core classifiers only.</a:t>
            </a:r>
          </a:p>
        </p:txBody>
      </p:sp>
      <p:sp>
        <p:nvSpPr>
          <p:cNvPr id="13" name="Rounded Rectangle 12"/>
          <p:cNvSpPr/>
          <p:nvPr/>
        </p:nvSpPr>
        <p:spPr>
          <a:xfrm>
            <a:off x="566928" y="4581144"/>
            <a:ext cx="11057839" cy="12984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86968" y="5020056"/>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5" name="TextBox 14"/>
          <p:cNvSpPr txBox="1"/>
          <p:nvPr/>
        </p:nvSpPr>
        <p:spPr>
          <a:xfrm>
            <a:off x="1527048" y="4800600"/>
            <a:ext cx="3931920" cy="822960"/>
          </a:xfrm>
          <a:prstGeom prst="rect">
            <a:avLst/>
          </a:prstGeom>
          <a:noFill/>
        </p:spPr>
        <p:txBody>
          <a:bodyPr wrap="square" lIns="0" rIns="0" tIns="0" bIns="0" anchor="t">
            <a:spAutoFit/>
          </a:bodyPr>
          <a:lstStyle/>
          <a:p>
            <a:pPr algn="l">
              <a:lnSpc>
                <a:spcPct val="112000"/>
              </a:lnSpc>
              <a:spcAft>
                <a:spcPts val="600"/>
              </a:spcAft>
            </a:pPr>
            <a:r>
              <a:rPr sz="1600" b="1" i="0">
                <a:solidFill>
                  <a:srgbClr val="1F3A5F"/>
                </a:solidFill>
                <a:latin typeface="Cambria"/>
              </a:rPr>
              <a:t>Read the calibrated probability last, against its base rate</a:t>
            </a:r>
          </a:p>
        </p:txBody>
      </p:sp>
      <p:sp>
        <p:nvSpPr>
          <p:cNvPr id="16" name="TextBox 15"/>
          <p:cNvSpPr txBox="1"/>
          <p:nvPr/>
        </p:nvSpPr>
        <p:spPr>
          <a:xfrm>
            <a:off x="5641848" y="4800600"/>
            <a:ext cx="5662879" cy="91440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Expected calibration error 0.0147 on the eight core classifiers and 0.0762 across the 38 binder endpoints. Chapter 7 explains why the enrichment over the base rate, not the probability, is what the disease layer consumes.</a:t>
            </a:r>
          </a:p>
        </p:txBody>
      </p:sp>
      <p:sp>
        <p:nvSpPr>
          <p:cNvPr id="17" name="TextBox 16"/>
          <p:cNvSpPr txBox="1"/>
          <p:nvPr/>
        </p:nvSpPr>
        <p:spPr>
          <a:xfrm>
            <a:off x="566928" y="5806440"/>
            <a:ext cx="11057839" cy="457200"/>
          </a:xfrm>
          <a:prstGeom prst="rect">
            <a:avLst/>
          </a:prstGeom>
          <a:noFill/>
        </p:spPr>
        <p:txBody>
          <a:bodyPr wrap="square" lIns="0" rIns="0" tIns="0" bIns="0" anchor="t">
            <a:spAutoFit/>
          </a:bodyPr>
          <a:lstStyle/>
          <a:p>
            <a:pPr algn="l">
              <a:lnSpc>
                <a:spcPct val="124000"/>
              </a:lnSpc>
              <a:spcAft>
                <a:spcPts val="600"/>
              </a:spcAft>
            </a:pPr>
            <a:r>
              <a:rPr sz="1300" b="0" i="1">
                <a:solidFill>
                  <a:srgbClr val="D98324"/>
                </a:solidFill>
                <a:latin typeface="Calibri"/>
              </a:rPr>
              <a:t>The uncertainty stack is complete for eight of seventy estimators and two-thirds absent for the 38 targets a user is most likely to query.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