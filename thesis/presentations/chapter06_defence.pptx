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against property-matched decoys</c:v>
                </c:pt>
              </c:strCache>
            </c:strRef>
          </c:tx>
          <c:spPr>
            <a:solidFill>
              <a:srgbClr val="D7DFEA"/>
            </a:solidFill>
          </c:spPr>
          <c:cat>
            <c:strRef>
              <c:f>Sheet1!$A$2:$A$7</c:f>
              <c:strCache>
                <c:ptCount val="6"/>
                <c:pt idx="0">
                  <c:v>GABA-A</c:v>
                </c:pt>
                <c:pt idx="1">
                  <c:v>GluN2B</c:v>
                </c:pt>
                <c:pt idx="2">
                  <c:v>a7nAChR</c:v>
                </c:pt>
                <c:pt idx="3">
                  <c:v>COX2</c:v>
                </c:pt>
                <c:pt idx="4">
                  <c:v>P2X7</c:v>
                </c:pt>
                <c:pt idx="5">
                  <c:v>D2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0.965</c:v>
                </c:pt>
                <c:pt idx="1">
                  <c:v>0.993</c:v>
                </c:pt>
                <c:pt idx="2">
                  <c:v>0.977</c:v>
                </c:pt>
                <c:pt idx="3">
                  <c:v>0.935</c:v>
                </c:pt>
                <c:pt idx="4">
                  <c:v>0.998</c:v>
                </c:pt>
                <c:pt idx="5">
                  <c:v>0.989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against measured inactives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Sheet1!$A$2:$A$7</c:f>
              <c:strCache>
                <c:ptCount val="6"/>
                <c:pt idx="0">
                  <c:v>GABA-A</c:v>
                </c:pt>
                <c:pt idx="1">
                  <c:v>GluN2B</c:v>
                </c:pt>
                <c:pt idx="2">
                  <c:v>a7nAChR</c:v>
                </c:pt>
                <c:pt idx="3">
                  <c:v>COX2</c:v>
                </c:pt>
                <c:pt idx="4">
                  <c:v>P2X7</c:v>
                </c:pt>
                <c:pt idx="5">
                  <c:v>D2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0.719</c:v>
                </c:pt>
                <c:pt idx="1">
                  <c:v>0.761</c:v>
                </c:pt>
                <c:pt idx="2">
                  <c:v>0.763</c:v>
                </c:pt>
                <c:pt idx="3">
                  <c:v>0.783</c:v>
                </c:pt>
                <c:pt idx="4">
                  <c:v>0.813</c:v>
                </c:pt>
                <c:pt idx="5">
                  <c:v>0.872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5F6B7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6"/>
        </c:scaling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5F6B7A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chapter's spine: validating against decoys would report 0.978 and mean nothing. Measured inactives cost 0.061 AUROC and buy a number that means what a reader thinks.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two modes matter: a third of nothing is not the same as a third of something. The eight measured-label endpoints need no assumption in their negative class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GABA-A validated against decoys reads 0.965, mid-panel. Against compounds actually tested there and found inactive it reads 0.719, the weakest deployed. Nothing about the model changed. Only the question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this before an examiner asks how 0.985 was computed. The answer is: on 23 compounds.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Chapter 5's operating-point argument and Chapter 6's discrimination argument meet. Make the connection explicitly; it is the strongest structural point in the two chapters.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NR3C1 fails in the opposite direction: it fires on no trivial molecule and fails on discrimination, below chance at 0.410. A panel that only checked for glucose would have deployed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reframes the natural-product limitation entirely, and points the future work at assay selection rather than at featurisation.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unrelated measurements converging on one endpoint is a stronger signal than any of them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that sentence. It concedes the correction and defends the panel in one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1591056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C7293"/>
                </a:solidFill>
                <a:latin typeface="Calibri"/>
              </a:rPr>
              <a:t>Chapter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993392"/>
            <a:ext cx="1014343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Cambria"/>
              </a:rPr>
              <a:t>The binder panel, validated against measured inactives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749039"/>
            <a:ext cx="95947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 i="1">
                <a:solidFill>
                  <a:srgbClr val="D7DFEA"/>
                </a:solidFill>
                <a:latin typeface="Calibri"/>
              </a:rPr>
              <a:t>The largest part of the system, the part a user is most likely to query, and the one place the validation choice changes the headline by a measurable amount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166360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C7293"/>
                </a:solidFill>
                <a:latin typeface="Calibri"/>
              </a:rPr>
              <a:t>52 fitted classifiers, 47 deployed, 5 withdrawn and kept in the inventory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66928" y="475488"/>
            <a:ext cx="384048" cy="38404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" y="365760"/>
            <a:ext cx="1049091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F1A2E"/>
                </a:solidFill>
                <a:latin typeface="Cambria"/>
              </a:rPr>
              <a:t>What the binder panel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1060704"/>
            <a:ext cx="104909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5F6B7A"/>
                </a:solidFill>
                <a:latin typeface="Calibri"/>
              </a:rPr>
              <a:t>One question per target: does this compound bind here at pChEMBL 7, about 100 nM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4592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50976" y="188366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mbria"/>
              </a:rPr>
              <a:t>44 endpoints, hybrid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359152"/>
            <a:ext cx="46177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600"/>
              </a:spcAft>
            </a:pPr>
            <a:r>
              <a:rPr sz="1350" b="0" i="0">
                <a:solidFill>
                  <a:srgbClr val="0F1A2E"/>
                </a:solidFill>
                <a:latin typeface="Calibri"/>
              </a:rPr>
              <a:t>Recovered censored bounds where they exist, topped up with property-matched decoys where they do not.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81928" y="1645920"/>
            <a:ext cx="5342839" cy="182880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665976" y="188366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C7293"/>
                </a:solidFill>
                <a:latin typeface="Cambria"/>
              </a:rPr>
              <a:t>8 endpoints, measured labels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5976" y="2359152"/>
            <a:ext cx="46177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600"/>
              </a:spcAft>
            </a:pPr>
            <a:r>
              <a:rPr sz="1350" b="0" i="0">
                <a:solidFill>
                  <a:srgbClr val="0F1A2E"/>
                </a:solidFill>
                <a:latin typeface="Calibri"/>
              </a:rPr>
              <a:t>Enough measured inactives that no decoy is needed at all.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794760"/>
            <a:ext cx="32918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1F3A5F"/>
                </a:solidFill>
                <a:latin typeface="Cambria"/>
              </a:rPr>
              <a:t>1,189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434840"/>
            <a:ext cx="32918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 i="0">
                <a:solidFill>
                  <a:srgbClr val="5F6B7A"/>
                </a:solidFill>
                <a:latin typeface="Calibri"/>
              </a:rPr>
              <a:t>positives, median endpoint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7408" y="3794760"/>
            <a:ext cx="32918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5F6B7A"/>
                </a:solidFill>
                <a:latin typeface="Cambria"/>
              </a:rPr>
              <a:t>4,855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8" y="4434840"/>
            <a:ext cx="32918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 i="0">
                <a:solidFill>
                  <a:srgbClr val="5F6B7A"/>
                </a:solidFill>
                <a:latin typeface="Calibri"/>
              </a:rPr>
              <a:t>decoys, median endpoint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3794760"/>
            <a:ext cx="32918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1C7293"/>
                </a:solidFill>
                <a:latin typeface="Cambria"/>
              </a:rPr>
              <a:t>3.55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6448" y="4434840"/>
            <a:ext cx="32918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 i="0">
                <a:solidFill>
                  <a:srgbClr val="5F6B7A"/>
                </a:solidFill>
                <a:latin typeface="Calibri"/>
              </a:rPr>
              <a:t>median decoys per active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440680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600"/>
              </a:spcAft>
            </a:pPr>
            <a:r>
              <a:rPr sz="1350" b="0" i="1">
                <a:solidFill>
                  <a:srgbClr val="0F1A2E"/>
                </a:solidFill>
                <a:latin typeface="Calibri"/>
              </a:rPr>
              <a:t>Those decoys are drawn from the decoy pool of Chapter 5, and never from the pools that set or measure the threshold.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382512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submission_package/07_MODELS/binder_panel_registry.json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66928" y="475488"/>
            <a:ext cx="384048" cy="38404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" y="365760"/>
            <a:ext cx="1049091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F1A2E"/>
                </a:solidFill>
                <a:latin typeface="Cambria"/>
              </a:rPr>
              <a:t>Why the validation had to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1060704"/>
            <a:ext cx="104909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5F6B7A"/>
                </a:solidFill>
                <a:latin typeface="Calibri"/>
              </a:rPr>
              <a:t>Both numbers exist for every deployed endpoint, so the difference can be stated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66928" y="1627632"/>
          <a:ext cx="6858000" cy="3886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253728" y="1719072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 i="0">
                <a:solidFill>
                  <a:srgbClr val="5F6B7A"/>
                </a:solidFill>
                <a:latin typeface="Calibri"/>
              </a:rPr>
              <a:t>decoys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88167" y="1719072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 i="0">
                <a:solidFill>
                  <a:srgbClr val="1F3A5F"/>
                </a:solidFill>
                <a:latin typeface="Calibri"/>
              </a:rPr>
              <a:t>measured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99248" y="2084831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0F1A2E"/>
                </a:solidFill>
                <a:latin typeface="Calibri"/>
              </a:rPr>
              <a:t>mean AUROC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53728" y="2084831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50" b="0" i="0">
                <a:solidFill>
                  <a:srgbClr val="5F6B7A"/>
                </a:solidFill>
                <a:latin typeface="Calibri"/>
              </a:rPr>
              <a:t>0.9784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88167" y="2084831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50" b="1" i="0">
                <a:solidFill>
                  <a:srgbClr val="1F3A5F"/>
                </a:solidFill>
                <a:latin typeface="Calibri"/>
              </a:rPr>
              <a:t>0.9174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9248" y="2505456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0F1A2E"/>
                </a:solidFill>
                <a:latin typeface="Calibri"/>
              </a:rPr>
              <a:t>median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53728" y="2505456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50" b="0" i="0">
                <a:solidFill>
                  <a:srgbClr val="5F6B7A"/>
                </a:solidFill>
                <a:latin typeface="Calibri"/>
              </a:rPr>
              <a:t>0.9920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88167" y="2505456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50" b="1" i="0">
                <a:solidFill>
                  <a:srgbClr val="1F3A5F"/>
                </a:solidFill>
                <a:latin typeface="Calibri"/>
              </a:rPr>
              <a:t>0.9470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9248" y="2926079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0F1A2E"/>
                </a:solidFill>
                <a:latin typeface="Calibri"/>
              </a:rPr>
              <a:t>minimum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53728" y="2926079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50" b="0" i="0">
                <a:solidFill>
                  <a:srgbClr val="5F6B7A"/>
                </a:solidFill>
                <a:latin typeface="Calibri"/>
              </a:rPr>
              <a:t>0.763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88167" y="2926079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50" b="1" i="0">
                <a:solidFill>
                  <a:srgbClr val="1F3A5F"/>
                </a:solidFill>
                <a:latin typeface="Calibri"/>
              </a:rPr>
              <a:t>0.719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99248" y="3346704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0F1A2E"/>
                </a:solidFill>
                <a:latin typeface="Calibri"/>
              </a:rPr>
              <a:t>maximum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53728" y="3346704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50" b="0" i="0">
                <a:solidFill>
                  <a:srgbClr val="5F6B7A"/>
                </a:solidFill>
                <a:latin typeface="Calibri"/>
              </a:rPr>
              <a:t>1.000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88167" y="3346704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50" b="1" i="0">
                <a:solidFill>
                  <a:srgbClr val="1F3A5F"/>
                </a:solidFill>
                <a:latin typeface="Calibri"/>
              </a:rPr>
              <a:t>0.985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9248" y="3886200"/>
            <a:ext cx="392551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600"/>
              </a:spcAft>
            </a:pPr>
            <a:r>
              <a:rPr sz="1350" b="1" i="0">
                <a:solidFill>
                  <a:srgbClr val="D98324"/>
                </a:solidFill>
                <a:latin typeface="Calibri"/>
              </a:rPr>
              <a:t>The decoy figure is higher on 45 of 47, by a mean of +0.0611.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99248" y="4754880"/>
            <a:ext cx="3925519" cy="123444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991856" y="4956048"/>
            <a:ext cx="333115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600"/>
              </a:spcAft>
            </a:pPr>
            <a:r>
              <a:rPr sz="1200" b="0" i="0">
                <a:solidFill>
                  <a:srgbClr val="0F1A2E"/>
                </a:solidFill>
                <a:latin typeface="Calibri"/>
              </a:rPr>
              <a:t>A median of 0.992 and a maximum of 1.000 are the signature of a saturated problem. On more than half the panel, separating actives from decoys is very nearly solved, which tells a reader almost nothing.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82512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The six endpoints shown are those where the two measurements diverge most.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66928" y="475488"/>
            <a:ext cx="384048" cy="38404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" y="365760"/>
            <a:ext cx="1049091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F1A2E"/>
                </a:solidFill>
                <a:latin typeface="Cambria"/>
              </a:rPr>
              <a:t>The measured-inactive hold-out, and how thin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1060704"/>
            <a:ext cx="104909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5F6B7A"/>
                </a:solidFill>
                <a:latin typeface="Calibri"/>
              </a:rPr>
              <a:t>The honesty of the last slide depends on there being enough to validate against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37360"/>
            <a:ext cx="31089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1F3A5F"/>
                </a:solidFill>
                <a:latin typeface="Cambria"/>
              </a:rPr>
              <a:t>228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377439"/>
            <a:ext cx="31089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 i="0">
                <a:solidFill>
                  <a:srgbClr val="5F6B7A"/>
                </a:solidFill>
                <a:latin typeface="Calibri"/>
              </a:rPr>
              <a:t>compounds in the median endpoint's measured-inactive hold-out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07408" y="1737360"/>
            <a:ext cx="31089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58" b="1" i="0">
                <a:solidFill>
                  <a:srgbClr val="5F6B7A"/>
                </a:solidFill>
                <a:latin typeface="Cambria"/>
              </a:rPr>
              <a:t>23 to 1616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07408" y="2377439"/>
            <a:ext cx="31089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 i="0">
                <a:solidFill>
                  <a:srgbClr val="5F6B7A"/>
                </a:solidFill>
                <a:latin typeface="Calibri"/>
              </a:rPr>
              <a:t>the full range across the panel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6448" y="1737360"/>
            <a:ext cx="31089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79" b="1" i="0">
                <a:solidFill>
                  <a:srgbClr val="D98324"/>
                </a:solidFill>
                <a:latin typeface="Cambria"/>
              </a:rPr>
              <a:t>11 of 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6448" y="2377439"/>
            <a:ext cx="31089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 i="0">
                <a:solidFill>
                  <a:srgbClr val="5F6B7A"/>
                </a:solidFill>
                <a:latin typeface="Calibri"/>
              </a:rPr>
              <a:t>endpoints have fewer than 100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337560"/>
            <a:ext cx="11057839" cy="141732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78408" y="3566160"/>
            <a:ext cx="102348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450" b="0" i="0">
                <a:solidFill>
                  <a:srgbClr val="0F1A2E"/>
                </a:solidFill>
                <a:latin typeface="Calibri"/>
              </a:rPr>
              <a:t>The panel's best AUROC against measured inactives, 0.985, belongs to CGRP and is computed against 23 compounds. Its worst, 0.719 at GABA-A, is computed against 37. The two ends of the reported range are the two thinnest measurements in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983480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600"/>
              </a:spcAft>
            </a:pPr>
            <a:r>
              <a:rPr sz="1250" b="0" i="0">
                <a:solidFill>
                  <a:srgbClr val="0F1A2E"/>
                </a:solidFill>
                <a:latin typeface="Calibri"/>
              </a:rPr>
              <a:t>Five endpoints have fewer than 50: CGRP 23, Nav1-8 33, GluN2B 34, GABA-A 37, MT1 41.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4983480"/>
            <a:ext cx="502279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600"/>
              </a:spcAft>
            </a:pPr>
            <a:r>
              <a:rPr sz="1250" b="0" i="0">
                <a:solidFill>
                  <a:srgbClr val="D98324"/>
                </a:solidFill>
                <a:latin typeface="Calibri"/>
              </a:rPr>
              <a:t>No per-endpoint AUROC in any current artefact carries an interval. Adding Wilson or bootstrap intervals is the cheapest improvement available here, and it has not been done.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382512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Active hold-outs are more comfortable: median 299, range 25 to 899.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86868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D98324"/>
                </a:solidFill>
                <a:latin typeface="Calibri"/>
              </a:rPr>
              <a:t>Sensitivity, carried through from Chapter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80160"/>
            <a:ext cx="1069848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mbria"/>
              </a:rPr>
              <a:t>The panel fires for about three quarters of the actives it should.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21808" y="221284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50" b="1" i="0">
                <a:solidFill>
                  <a:srgbClr val="D7DFEA"/>
                </a:solidFill>
                <a:latin typeface="Calibri"/>
              </a:rPr>
              <a:t>before the fix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56448" y="221284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50" b="1" i="0">
                <a:solidFill>
                  <a:srgbClr val="D98324"/>
                </a:solidFill>
                <a:latin typeface="Calibri"/>
              </a:rPr>
              <a:t>as published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606040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mean sensitivity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21808" y="2606040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 i="0">
                <a:solidFill>
                  <a:srgbClr val="D7DFEA"/>
                </a:solidFill>
                <a:latin typeface="Calibri"/>
              </a:rPr>
              <a:t>0.8983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56448" y="2606040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 i="0">
                <a:solidFill>
                  <a:srgbClr val="D98324"/>
                </a:solidFill>
                <a:latin typeface="Calibri"/>
              </a:rPr>
              <a:t>0.7638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044952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median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21808" y="3044952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 i="0">
                <a:solidFill>
                  <a:srgbClr val="D7DFEA"/>
                </a:solidFill>
                <a:latin typeface="Calibri"/>
              </a:rPr>
              <a:t>0.9320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6448" y="3044952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 i="0">
                <a:solidFill>
                  <a:srgbClr val="D98324"/>
                </a:solidFill>
                <a:latin typeface="Calibri"/>
              </a:rPr>
              <a:t>0.8350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483864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minimum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21808" y="3483864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 i="0">
                <a:solidFill>
                  <a:srgbClr val="D7DFEA"/>
                </a:solidFill>
                <a:latin typeface="Calibri"/>
              </a:rPr>
              <a:t>0.639, COX2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6448" y="3483864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 i="0">
                <a:solidFill>
                  <a:srgbClr val="D98324"/>
                </a:solidFill>
                <a:latin typeface="Calibri"/>
              </a:rPr>
              <a:t>0.303, GABA-A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922776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endpoints firing for under half their own actives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21808" y="3922776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 i="0">
                <a:solidFill>
                  <a:srgbClr val="D7DFEA"/>
                </a:solidFill>
                <a:latin typeface="Calibri"/>
              </a:rPr>
              <a:t>0 of 47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6448" y="3922776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 i="0">
                <a:solidFill>
                  <a:srgbClr val="D98324"/>
                </a:solidFill>
                <a:latin typeface="Calibri"/>
              </a:rPr>
              <a:t>6 of 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48056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600"/>
              </a:spcAft>
            </a:pPr>
            <a:r>
              <a:rPr sz="1300" b="0" i="0">
                <a:solidFill>
                  <a:srgbClr val="D7DFEA"/>
                </a:solidFill>
                <a:latin typeface="Calibri"/>
              </a:rPr>
              <a:t>The six below 0.50: GABA-A 0.303, COX2 0.338, TAAR1 0.355, GluN2B 0.374, SIRT1 0.378, P2X7 0.465.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074920"/>
            <a:ext cx="10698480" cy="1188720"/>
          </a:xfrm>
          <a:prstGeom prst="roundRect">
            <a:avLst>
              <a:gd name="adj" fmla="val 5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285232"/>
            <a:ext cx="10058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COX2, GABA-A, GluN2B, P2X7 appear in both lists: the endpoints that lose most against measured inactives are the endpoints that fire for fewest of their own actives. That is one fact, not two. Hard-to-separate inactives force a high threshold, and a high threshold is what costs sensitivity.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82512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results/tables/sensitivity_reconciliation.csv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66928" y="475488"/>
            <a:ext cx="384048" cy="38404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" y="365760"/>
            <a:ext cx="1049091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F1A2E"/>
                </a:solidFill>
                <a:latin typeface="Cambria"/>
              </a:rPr>
              <a:t>The 5 withdrawn endpoints, kept in the inventory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1060704"/>
            <a:ext cx="104909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5F6B7A"/>
                </a:solidFill>
                <a:latin typeface="Calibri"/>
              </a:rPr>
              <a:t>A panel showing only what survived is a selection, not an inventory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7" y="173736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5F6B7A"/>
                </a:solidFill>
                <a:latin typeface="Calibri"/>
              </a:rPr>
              <a:t>endpoint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70048" y="17373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 i="0">
                <a:solidFill>
                  <a:srgbClr val="5F6B7A"/>
                </a:solidFill>
                <a:latin typeface="Calibri"/>
              </a:rPr>
              <a:t>AUROC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95928" y="17373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 i="0">
                <a:solidFill>
                  <a:srgbClr val="5F6B7A"/>
                </a:solidFill>
                <a:latin typeface="Calibri"/>
              </a:rPr>
              <a:t>sensitivity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21808" y="17373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 i="0">
                <a:solidFill>
                  <a:srgbClr val="5F6B7A"/>
                </a:solidFill>
                <a:latin typeface="Calibri"/>
              </a:rPr>
              <a:t>positives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0568" y="17373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5F6B7A"/>
                </a:solidFill>
                <a:latin typeface="Calibri"/>
              </a:rPr>
              <a:t>why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011679"/>
            <a:ext cx="11057839" cy="603504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41247" y="2103120"/>
            <a:ext cx="1737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0F1A2E"/>
                </a:solidFill>
                <a:latin typeface="Calibri"/>
              </a:rPr>
              <a:t>GluA2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0048" y="2103120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350" b="1" i="0">
                <a:solidFill>
                  <a:srgbClr val="9E2A2B"/>
                </a:solidFill>
                <a:latin typeface="Calibri"/>
              </a:rPr>
              <a:t>0.696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95928" y="2103120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350" b="1" i="0">
                <a:solidFill>
                  <a:srgbClr val="9E2A2B"/>
                </a:solidFill>
                <a:latin typeface="Calibri"/>
              </a:rPr>
              <a:t>0.103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21808" y="2103120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350" b="0" i="0">
                <a:solidFill>
                  <a:srgbClr val="0F1A2E"/>
                </a:solidFill>
                <a:latin typeface="Calibri"/>
              </a:rPr>
              <a:t>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30568" y="2121408"/>
            <a:ext cx="46570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0F1A2E"/>
                </a:solidFill>
                <a:latin typeface="Calibri"/>
              </a:rPr>
              <a:t>fires on glucose and atenolol at its calibrated threshold of 0.629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2816352"/>
            <a:ext cx="1737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0F1A2E"/>
                </a:solidFill>
                <a:latin typeface="Calibri"/>
              </a:rPr>
              <a:t>Nav1.1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70048" y="2816352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350" b="0" i="0">
                <a:solidFill>
                  <a:srgbClr val="0F1A2E"/>
                </a:solidFill>
                <a:latin typeface="Calibri"/>
              </a:rPr>
              <a:t>0.952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95928" y="2816352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350" b="1" i="0">
                <a:solidFill>
                  <a:srgbClr val="9E2A2B"/>
                </a:solidFill>
                <a:latin typeface="Calibri"/>
              </a:rPr>
              <a:t>0.120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1808" y="2816352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350" b="0" i="0">
                <a:solidFill>
                  <a:srgbClr val="0F1A2E"/>
                </a:solidFill>
                <a:latin typeface="Calibri"/>
              </a:rPr>
              <a:t>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30568" y="2834640"/>
            <a:ext cx="46570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0F1A2E"/>
                </a:solidFill>
                <a:latin typeface="Calibri"/>
              </a:rPr>
              <a:t>fires on glucose, urea, glycine, lactate and atenolol at 0.571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438144"/>
            <a:ext cx="11057839" cy="603504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3529584"/>
            <a:ext cx="1737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0F1A2E"/>
                </a:solidFill>
                <a:latin typeface="Calibri"/>
              </a:rPr>
              <a:t>NRF2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70048" y="3529584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350" b="0" i="0">
                <a:solidFill>
                  <a:srgbClr val="0F1A2E"/>
                </a:solidFill>
                <a:latin typeface="Calibri"/>
              </a:rPr>
              <a:t>0.789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95928" y="3529584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350" b="0" i="0">
                <a:solidFill>
                  <a:srgbClr val="0F1A2E"/>
                </a:solidFill>
                <a:latin typeface="Calibri"/>
              </a:rPr>
              <a:t>0.545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21808" y="3529584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350" b="0" i="0">
                <a:solidFill>
                  <a:srgbClr val="0F1A2E"/>
                </a:solidFill>
                <a:latin typeface="Calibri"/>
              </a:rPr>
              <a:t>70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30568" y="3547872"/>
            <a:ext cx="46570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0F1A2E"/>
                </a:solidFill>
                <a:latin typeface="Calibri"/>
              </a:rPr>
              <a:t>background false-positive rate 0.057, above the 5 per cent the panel holds 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" y="4242816"/>
            <a:ext cx="1737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0F1A2E"/>
                </a:solidFill>
                <a:latin typeface="Calibri"/>
              </a:rPr>
              <a:t>NFKB1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70048" y="4242816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350" b="1" i="0">
                <a:solidFill>
                  <a:srgbClr val="9E2A2B"/>
                </a:solidFill>
                <a:latin typeface="Calibri"/>
              </a:rPr>
              <a:t>0.459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95928" y="4242816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350" b="1" i="0">
                <a:solidFill>
                  <a:srgbClr val="9E2A2B"/>
                </a:solidFill>
                <a:latin typeface="Calibri"/>
              </a:rPr>
              <a:t>0.000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21808" y="4242816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350" b="0" i="0">
                <a:solidFill>
                  <a:srgbClr val="0F1A2E"/>
                </a:solidFill>
                <a:latin typeface="Calibri"/>
              </a:rPr>
              <a:t>39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0568" y="4261104"/>
            <a:ext cx="46570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0F1A2E"/>
                </a:solidFill>
                <a:latin typeface="Calibri"/>
              </a:rPr>
              <a:t>recovers no active while calling five trivial metabolites binders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864608"/>
            <a:ext cx="11057839" cy="603504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41247" y="4956048"/>
            <a:ext cx="1737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0F1A2E"/>
                </a:solidFill>
                <a:latin typeface="Calibri"/>
              </a:rPr>
              <a:t>NR3C1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70048" y="4956048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350" b="1" i="0">
                <a:solidFill>
                  <a:srgbClr val="9E2A2B"/>
                </a:solidFill>
                <a:latin typeface="Calibri"/>
              </a:rPr>
              <a:t>0.410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95928" y="4956048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350" b="1" i="0">
                <a:solidFill>
                  <a:srgbClr val="9E2A2B"/>
                </a:solidFill>
                <a:latin typeface="Calibri"/>
              </a:rPr>
              <a:t>0.167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21808" y="4956048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350" b="0" i="0">
                <a:solidFill>
                  <a:srgbClr val="0F1A2E"/>
                </a:solidFill>
                <a:latin typeface="Calibri"/>
              </a:rPr>
              <a:t>60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30568" y="4974336"/>
            <a:ext cx="46570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0F1A2E"/>
                </a:solidFill>
                <a:latin typeface="Calibri"/>
              </a:rPr>
              <a:t>AUROC below chance against its own held-out measured inactives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5532120"/>
            <a:ext cx="11057839" cy="749808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950976" y="5705856"/>
            <a:ext cx="102805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600"/>
              </a:spcAft>
            </a:pPr>
            <a:r>
              <a:rPr sz="1300" b="0" i="1">
                <a:solidFill>
                  <a:srgbClr val="0F1A2E"/>
                </a:solidFill>
                <a:latin typeface="Calibri"/>
              </a:rPr>
              <a:t>Nav1.1 has an AUROC of 0.952, better than eleven deployed endpoints, and was withdrawn anyway: its AUROC measures ranking, which is not the quantity a deployed cut needs.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66928" y="475488"/>
            <a:ext cx="384048" cy="38404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" y="365760"/>
            <a:ext cx="1049091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F1A2E"/>
                </a:solidFill>
                <a:latin typeface="Cambria"/>
              </a:rPr>
              <a:t>The natural-product endpoints failed for a diagnosable reason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1060704"/>
            <a:ext cx="104909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5F6B7A"/>
                </a:solidFill>
                <a:latin typeface="Calibri"/>
              </a:rPr>
              <a:t>And the reason is about the labels, not the chemistry or the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7" y="1755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5F6B7A"/>
                </a:solidFill>
                <a:latin typeface="Calibri"/>
              </a:rPr>
              <a:t>endpoint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2928" y="17556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 i="0">
                <a:solidFill>
                  <a:srgbClr val="5F6B7A"/>
                </a:solidFill>
                <a:latin typeface="Calibri"/>
              </a:rPr>
              <a:t>labelled records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01768" y="17556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 i="0">
                <a:solidFill>
                  <a:srgbClr val="5F6B7A"/>
                </a:solidFill>
                <a:latin typeface="Calibri"/>
              </a:rPr>
              <a:t>recorded as Potency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50608" y="17556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 i="0">
                <a:solidFill>
                  <a:srgbClr val="5F6B7A"/>
                </a:solidFill>
                <a:latin typeface="Calibri"/>
              </a:rPr>
              <a:t>direct binding constant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057400"/>
            <a:ext cx="8778240" cy="566928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148840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0F1A2E"/>
                </a:solidFill>
                <a:latin typeface="Calibri"/>
              </a:rPr>
              <a:t>NFKB1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2928" y="214884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350" b="0" i="0">
                <a:solidFill>
                  <a:srgbClr val="0F1A2E"/>
                </a:solidFill>
                <a:latin typeface="Calibri"/>
              </a:rPr>
              <a:t>362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1768" y="214884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350" b="0" i="0">
                <a:solidFill>
                  <a:srgbClr val="0F1A2E"/>
                </a:solidFill>
                <a:latin typeface="Calibri"/>
              </a:rPr>
              <a:t>344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0608" y="214884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350" b="1" i="0">
                <a:solidFill>
                  <a:srgbClr val="9E2A2B"/>
                </a:solidFill>
                <a:latin typeface="Calibri"/>
              </a:rPr>
              <a:t>0.3%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" y="2825496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0F1A2E"/>
                </a:solidFill>
                <a:latin typeface="Calibri"/>
              </a:rPr>
              <a:t>NR3C1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2928" y="2825496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350" b="0" i="0">
                <a:solidFill>
                  <a:srgbClr val="0F1A2E"/>
                </a:solidFill>
                <a:latin typeface="Calibri"/>
              </a:rPr>
              <a:t>461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01768" y="2825496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350" b="0" i="0">
                <a:solidFill>
                  <a:srgbClr val="0F1A2E"/>
                </a:solidFill>
                <a:latin typeface="Calibri"/>
              </a:rPr>
              <a:t>160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0608" y="2825496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350" b="1" i="0">
                <a:solidFill>
                  <a:srgbClr val="0F1A2E"/>
                </a:solidFill>
                <a:latin typeface="Calibri"/>
              </a:rPr>
              <a:t>14.8%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410712"/>
            <a:ext cx="8778240" cy="566928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41247" y="3502152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0F1A2E"/>
                </a:solidFill>
                <a:latin typeface="Calibri"/>
              </a:rPr>
              <a:t>NRF2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2928" y="3502152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350" b="0" i="0">
                <a:solidFill>
                  <a:srgbClr val="0F1A2E"/>
                </a:solidFill>
                <a:latin typeface="Calibri"/>
              </a:rPr>
              <a:t>1,029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01768" y="3502152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350" b="0" i="0">
                <a:solidFill>
                  <a:srgbClr val="0F1A2E"/>
                </a:solidFill>
                <a:latin typeface="Calibri"/>
              </a:rPr>
              <a:t>1,019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50608" y="3502152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350" b="1" i="0">
                <a:solidFill>
                  <a:srgbClr val="9E2A2B"/>
                </a:solidFill>
                <a:latin typeface="Calibri"/>
              </a:rPr>
              <a:t>0.0%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4343400"/>
            <a:ext cx="8778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F3A5F"/>
                </a:solidFill>
                <a:latin typeface="Cambria"/>
              </a:rPr>
              <a:t>For NRF2 and NFKB1 essentially every label is a pooled functional readout.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864608"/>
            <a:ext cx="8778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300" b="0" i="0">
                <a:solidFill>
                  <a:srgbClr val="0F1A2E"/>
                </a:solidFill>
                <a:latin typeface="Calibri"/>
              </a:rPr>
              <a:t>A functional potency does not define a binding class a ligand fingerprint can separate: two compounds can share a potency in a cell-based assay through entirely different mechanisms, and the structure carries no signal for the label. NR3C1, the only one with real binding data, failed for the other available reason: 140 compounds after deduplication is too few.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19488" y="2011680"/>
            <a:ext cx="2005279" cy="406908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875519" y="2240280"/>
            <a:ext cx="1493215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250" b="0" i="0">
                <a:solidFill>
                  <a:srgbClr val="0F1A2E"/>
                </a:solidFill>
                <a:latin typeface="Calibri"/>
              </a:rPr>
              <a:t>This is the most useful negative result in the panel.
Extending to natural-product targets is not blocked by the chemistry being unusual, which was the assumed obstacle.
It is blocked by the public assay record for those targets not measuring binding.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382512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results/tables/np_endpoint_assay_composition.csv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66928" y="475488"/>
            <a:ext cx="384048" cy="38404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" y="365760"/>
            <a:ext cx="1049091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 i="0">
                <a:solidFill>
                  <a:srgbClr val="0F1A2E"/>
                </a:solidFill>
                <a:latin typeface="Cambria"/>
              </a:rPr>
              <a:t>Reproduction, and the panel's least trustworthy endpoint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91640"/>
            <a:ext cx="5349240" cy="205740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50976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mbria"/>
              </a:rPr>
              <a:t>Independent re-run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2395728"/>
            <a:ext cx="4617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600"/>
              </a:spcAft>
            </a:pPr>
            <a:r>
              <a:rPr sz="1300" b="0" i="0">
                <a:solidFill>
                  <a:srgbClr val="0F1A2E"/>
                </a:solidFill>
                <a:latin typeface="Calibri"/>
              </a:rPr>
              <a:t>The whole binder cross-validation was re-run from the endpoint tables with separately written scoring code. Across 47 deployed endpoints it agrees with the recorded scaffold AUROC to a mean absolute deviation of 0.0041.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81928" y="1691640"/>
            <a:ext cx="5342839" cy="205740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665976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D98324"/>
                </a:solidFill>
                <a:latin typeface="Cambria"/>
              </a:rPr>
              <a:t>Maximum deviation 0.0386, at TAAR1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5976" y="2395728"/>
            <a:ext cx="4617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600"/>
              </a:spcAft>
            </a:pPr>
            <a:r>
              <a:rPr sz="1300" b="0" i="0">
                <a:solidFill>
                  <a:srgbClr val="0F1A2E"/>
                </a:solidFill>
                <a:latin typeface="Calibri"/>
              </a:rPr>
              <a:t>Not a reproduction failure, but not nothing, and the endpoint where it occurs is the one where every other measurement in this thesis is also least stable.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977639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E2A2B"/>
                </a:solidFill>
                <a:latin typeface="Cambria"/>
              </a:rPr>
              <a:t>TAAR1 is the least trustworthy deployed endpoint on four independent counts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4572000"/>
            <a:ext cx="292608" cy="292608"/>
          </a:xfrm>
          <a:prstGeom prst="ellipse">
            <a:avLst/>
          </a:prstGeom>
          <a:solidFill>
            <a:srgbClr val="9E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4553712"/>
            <a:ext cx="4206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0F1A2E"/>
                </a:solidFill>
                <a:latin typeface="Calibri"/>
              </a:rPr>
              <a:t>smallest binder training set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58968" y="4553712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9E2A2B"/>
                </a:solidFill>
                <a:latin typeface="Calibri"/>
              </a:rPr>
              <a:t>82 rows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4956048"/>
            <a:ext cx="292608" cy="292608"/>
          </a:xfrm>
          <a:prstGeom prst="ellipse">
            <a:avLst/>
          </a:prstGeom>
          <a:solidFill>
            <a:srgbClr val="9E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4937760"/>
            <a:ext cx="4206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0F1A2E"/>
                </a:solidFill>
                <a:latin typeface="Calibri"/>
              </a:rPr>
              <a:t>worst calibrated, Chapter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58968" y="4937760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9E2A2B"/>
                </a:solidFill>
                <a:latin typeface="Calibri"/>
              </a:rPr>
              <a:t>0.178 expected calibration error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5340096"/>
            <a:ext cx="292608" cy="292608"/>
          </a:xfrm>
          <a:prstGeom prst="ellipse">
            <a:avLst/>
          </a:prstGeom>
          <a:solidFill>
            <a:srgbClr val="9E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5321808"/>
            <a:ext cx="4206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0F1A2E"/>
                </a:solidFill>
                <a:latin typeface="Calibri"/>
              </a:rPr>
              <a:t>held-out sensitivity, Chapter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58968" y="5321808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9E2A2B"/>
                </a:solidFill>
                <a:latin typeface="Calibri"/>
              </a:rPr>
              <a:t>0.355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5724144"/>
            <a:ext cx="292608" cy="292608"/>
          </a:xfrm>
          <a:prstGeom prst="ellipse">
            <a:avLst/>
          </a:prstGeom>
          <a:solidFill>
            <a:srgbClr val="9E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5705856"/>
            <a:ext cx="4206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0F1A2E"/>
                </a:solidFill>
                <a:latin typeface="Calibri"/>
              </a:rPr>
              <a:t>largest reproduction deviation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58968" y="5705856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9E2A2B"/>
                </a:solidFill>
                <a:latin typeface="Calibri"/>
              </a:rPr>
              <a:t>0.0386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4572000"/>
            <a:ext cx="282823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600"/>
              </a:spcAft>
            </a:pPr>
            <a:r>
              <a:rPr sz="1250" b="0" i="0">
                <a:solidFill>
                  <a:srgbClr val="D98324"/>
                </a:solidFill>
                <a:latin typeface="Calibri"/>
              </a:rPr>
              <a:t>Nothing in the interface says so beyond the generic reliability flag. Reviewing it for withdrawal, or for a specific warning, is this chapter's recommendation.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382512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results/tables/binder_cv_summary.csv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1234440"/>
            <a:ext cx="7680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C7293"/>
                </a:solidFill>
                <a:latin typeface="Calibri"/>
              </a:rPr>
              <a:t>Chapter 6, honestly summarised</a:t>
            </a:r>
          </a:p>
        </p:txBody>
      </p:sp>
      <p:sp>
        <p:nvSpPr>
          <p:cNvPr id="3" name="Oval 2"/>
          <p:cNvSpPr/>
          <p:nvPr/>
        </p:nvSpPr>
        <p:spPr>
          <a:xfrm>
            <a:off x="566928" y="1911095"/>
            <a:ext cx="347472" cy="347472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1874519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discriminates against measured inactives at a mean AUROC of 0.9174, median 0.9470, from 0.719 at GABA-A to 0.985 at CGRP, the two extremes resting on 37 and 23 compounds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3008376"/>
            <a:ext cx="347472" cy="347472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29718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fires for a mean of 0.7638 of held-out actives, median 0.8350, with 6 of 47 endpoints below 0.50</a:t>
            </a:r>
          </a:p>
        </p:txBody>
      </p:sp>
      <p:sp>
        <p:nvSpPr>
          <p:cNvPr id="7" name="Oval 6"/>
          <p:cNvSpPr/>
          <p:nvPr/>
        </p:nvSpPr>
        <p:spPr>
          <a:xfrm>
            <a:off x="566928" y="4105656"/>
            <a:ext cx="347472" cy="347472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4069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would report 0.9784 and 0.8983 if validated the conventional way, and neither would mean what a reader takes it to mean</a:t>
            </a:r>
          </a:p>
        </p:txBody>
      </p:sp>
      <p:sp>
        <p:nvSpPr>
          <p:cNvPr id="9" name="Oval 8"/>
          <p:cNvSpPr/>
          <p:nvPr/>
        </p:nvSpPr>
        <p:spPr>
          <a:xfrm>
            <a:off x="566928" y="5202936"/>
            <a:ext cx="347472" cy="347472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516636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carries 5 withdrawn endpoints in its inventory, three of which failed because the public assay record for those targets does not measure binding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2179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1">
                <a:solidFill>
                  <a:srgbClr val="D98324"/>
                </a:solidFill>
                <a:latin typeface="Calibri"/>
              </a:rPr>
              <a:t>The deployed panel is good. It is 0.061 AUROC and 0.135 sensitivity less good than the conventional way of reporting it would say.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