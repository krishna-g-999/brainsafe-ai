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8 classification endpoints, AUROC</c:v>
                </c:pt>
              </c:strCache>
            </c:strRef>
          </c:tx>
          <c:spPr>
            <a:solidFill>
              <a:srgbClr val="1F3A5F"/>
            </a:solidFill>
          </c:spPr>
          <c:cat>
            <c:strRef>
              <c:f>Sheet1!$A$2:$A$6</c:f>
              <c:strCache>
                <c:ptCount val="5"/>
                <c:pt idx="0">
                  <c:v>Random
forest</c:v>
                </c:pt>
                <c:pt idx="1">
                  <c:v>XGBoost</c:v>
                </c:pt>
                <c:pt idx="2">
                  <c:v>HistGradient
Boosting</c:v>
                </c:pt>
                <c:pt idx="3">
                  <c:v>kNN
read-across</c:v>
                </c:pt>
                <c:pt idx="4">
                  <c:v>L2 logistic
regression</c:v>
                </c:pt>
              </c:strCache>
            </c:strRef>
          </c:cat>
          <c:val>
            <c:numRef>
              <c:f>Sheet1!$B$2:$B$6</c:f>
              <c:numCache>
                <c:formatCode>General</c:formatCode>
                <c:ptCount val="5"/>
                <c:pt idx="0">
                  <c:v>0.9212374999999999</c:v>
                </c:pt>
                <c:pt idx="1">
                  <c:v>0.9155875</c:v>
                </c:pt>
                <c:pt idx="2">
                  <c:v>0.9153249999999999</c:v>
                </c:pt>
                <c:pt idx="3">
                  <c:v>0.8828625</c:v>
                </c:pt>
                <c:pt idx="4">
                  <c:v>0.835225</c:v>
                </c:pt>
              </c:numCache>
            </c:numRef>
          </c:val>
        </c:ser>
        <c:ser>
          <c:idx val="1"/>
          <c:order val="1"/>
          <c:tx>
            <c:strRef>
              <c:f>Sheet1!$C$1</c:f>
              <c:strCache>
                <c:ptCount val="1"/>
                <c:pt idx="0">
                  <c:v>5 regression endpoints, R²</c:v>
                </c:pt>
              </c:strCache>
            </c:strRef>
          </c:tx>
          <c:spPr>
            <a:solidFill>
              <a:srgbClr val="D98324"/>
            </a:solidFill>
          </c:spPr>
          <c:cat>
            <c:strRef>
              <c:f>Sheet1!$A$2:$A$6</c:f>
              <c:strCache>
                <c:ptCount val="5"/>
                <c:pt idx="0">
                  <c:v>Random
forest</c:v>
                </c:pt>
                <c:pt idx="1">
                  <c:v>XGBoost</c:v>
                </c:pt>
                <c:pt idx="2">
                  <c:v>HistGradient
Boosting</c:v>
                </c:pt>
                <c:pt idx="3">
                  <c:v>kNN
read-across</c:v>
                </c:pt>
                <c:pt idx="4">
                  <c:v>L2 logistic
regression</c:v>
                </c:pt>
              </c:strCache>
            </c:strRef>
          </c:cat>
          <c:val>
            <c:numRef>
              <c:f>Sheet1!$C$2:$C$6</c:f>
              <c:numCache>
                <c:formatCode>General</c:formatCode>
                <c:ptCount val="5"/>
                <c:pt idx="0">
                  <c:v>0.51902</c:v>
                </c:pt>
                <c:pt idx="1">
                  <c:v>0.54134</c:v>
                </c:pt>
                <c:pt idx="2">
                  <c:v>0.54244</c:v>
                </c:pt>
                <c:pt idx="3">
                  <c:v>0.47452</c:v>
                </c:pt>
                <c:pt idx="4">
                  <c:v>0.13966</c:v>
                </c:pt>
              </c:numCache>
            </c:numRef>
          </c:val>
        </c:ser>
        <c:gapWidth val="7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F6B7A"/>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half the data</c:v>
                </c:pt>
              </c:strCache>
            </c:strRef>
          </c:tx>
          <c:spPr>
            <a:solidFill>
              <a:srgbClr val="D7DFEA"/>
            </a:solidFill>
          </c:spPr>
          <c:cat>
            <c:strRef>
              <c:f>Sheet1!$A$2:$A$5</c:f>
              <c:strCache>
                <c:ptCount val="4"/>
                <c:pt idx="0">
                  <c:v>BBB
AUROC</c:v>
                </c:pt>
                <c:pt idx="1">
                  <c:v>BACE1
AUROC</c:v>
                </c:pt>
                <c:pt idx="2">
                  <c:v>MAO-A
AUROC</c:v>
                </c:pt>
                <c:pt idx="3">
                  <c:v>A2A
R²</c:v>
                </c:pt>
              </c:strCache>
            </c:strRef>
          </c:cat>
          <c:val>
            <c:numRef>
              <c:f>Sheet1!$B$2:$B$5</c:f>
              <c:numCache>
                <c:formatCode>General</c:formatCode>
                <c:ptCount val="4"/>
                <c:pt idx="0">
                  <c:v>0.9276</c:v>
                </c:pt>
                <c:pt idx="1">
                  <c:v>0.9293</c:v>
                </c:pt>
                <c:pt idx="2">
                  <c:v>0.841</c:v>
                </c:pt>
                <c:pt idx="3">
                  <c:v>0.5369</c:v>
                </c:pt>
              </c:numCache>
            </c:numRef>
          </c:val>
        </c:ser>
        <c:ser>
          <c:idx val="1"/>
          <c:order val="1"/>
          <c:tx>
            <c:strRef>
              <c:f>Sheet1!$C$1</c:f>
              <c:strCache>
                <c:ptCount val="1"/>
                <c:pt idx="0">
                  <c:v>all of it</c:v>
                </c:pt>
              </c:strCache>
            </c:strRef>
          </c:tx>
          <c:spPr>
            <a:solidFill>
              <a:srgbClr val="1F3A5F"/>
            </a:solidFill>
          </c:spPr>
          <c:cat>
            <c:strRef>
              <c:f>Sheet1!$A$2:$A$5</c:f>
              <c:strCache>
                <c:ptCount val="4"/>
                <c:pt idx="0">
                  <c:v>BBB
AUROC</c:v>
                </c:pt>
                <c:pt idx="1">
                  <c:v>BACE1
AUROC</c:v>
                </c:pt>
                <c:pt idx="2">
                  <c:v>MAO-A
AUROC</c:v>
                </c:pt>
                <c:pt idx="3">
                  <c:v>A2A
R²</c:v>
                </c:pt>
              </c:strCache>
            </c:strRef>
          </c:cat>
          <c:val>
            <c:numRef>
              <c:f>Sheet1!$C$2:$C$5</c:f>
              <c:numCache>
                <c:formatCode>General</c:formatCode>
                <c:ptCount val="4"/>
                <c:pt idx="0">
                  <c:v>0.9325</c:v>
                </c:pt>
                <c:pt idx="1">
                  <c:v>0.9481</c:v>
                </c:pt>
                <c:pt idx="2">
                  <c:v>0.8764</c:v>
                </c:pt>
                <c:pt idx="3">
                  <c:v>0.6223</c:v>
                </c:pt>
              </c:numCache>
            </c:numRef>
          </c:val>
        </c:ser>
        <c:gapWidth val="70"/>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F6B7A"/>
                </a:solidFil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2E8F0"/>
              </a:solidFill>
            </a:ln>
          </c:spPr>
        </c:majorGridlines>
        <c:majorTickMark val="out"/>
        <c:minorTickMark val="none"/>
        <c:tickLblPos val="nextTo"/>
        <c:txPr>
          <a:bodyPr/>
          <a:lstStyle/>
          <a:p>
            <a:pPr>
              <a:defRPr sz="1100">
                <a:solidFill>
                  <a:srgbClr val="5F6B7A"/>
                </a:solidFill>
              </a:defRPr>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contains the clearest correction of the project's own documents, in the learning-curve section. Lead with the method, end with the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folding to 1,024 rather than 2,048: collisions are tolerable because the forest sees many bits, and the applicability-domain measure uses 2,048-bit fingerprints where resolution matters more.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0.613 against 0.993 figures in the manuscript describe an earlier engine, before neutralisation was in the representation. The current pipeline returns identical numbers for both forms. Say so if it comes up: the defect was real and is fixed.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3,773 of 7,805 is the single most arresting number in this chapter. It is why the cross-validation figures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report says the descriptors earn their place mainly on exposure endpoints. True under this reading, false under the other one, where hERG gains most. Chapter 3 flags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reasons matter because, as the next two slides show, accuracy is not one of them against boosting.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forest losing all five regressions is the fact the condensed manuscript got wrong and has now been corrected. Do not soften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Concede this cleanly. A reader is entitled to say boosting would have served about as well on classification and rather better on the receptor regressions.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untried alternative before the examiners 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correction to lead on in questions. It is also useful rather than merely critical: it makes 'more potency data for the receptor regressions' a specific, costed piece of future work, and A2A gained most from the BindingDB expansion in Chapter 2 too.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three of which come straight out of Chapter 2. The fourth is about governance rather than statistics and is the one most often missed.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concession. It is the strongest position available and it is true.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591056"/>
            <a:ext cx="11057839" cy="457200"/>
          </a:xfrm>
          <a:prstGeom prst="rect">
            <a:avLst/>
          </a:prstGeom>
          <a:noFill/>
        </p:spPr>
        <p:txBody>
          <a:bodyPr wrap="square" lIns="0" rIns="0" tIns="0" bIns="0" anchor="t">
            <a:spAutoFit/>
          </a:bodyPr>
          <a:lstStyle/>
          <a:p>
            <a:pPr algn="l">
              <a:spcAft>
                <a:spcPts val="600"/>
              </a:spcAft>
            </a:pPr>
            <a:r>
              <a:rPr sz="1600" b="1" i="0">
                <a:solidFill>
                  <a:srgbClr val="1C7293"/>
                </a:solidFill>
                <a:latin typeface="Calibri"/>
              </a:rPr>
              <a:t>Chapter 3</a:t>
            </a:r>
          </a:p>
        </p:txBody>
      </p:sp>
      <p:sp>
        <p:nvSpPr>
          <p:cNvPr id="3" name="TextBox 2"/>
          <p:cNvSpPr txBox="1"/>
          <p:nvPr/>
        </p:nvSpPr>
        <p:spPr>
          <a:xfrm>
            <a:off x="566928" y="1993392"/>
            <a:ext cx="10143439" cy="1463040"/>
          </a:xfrm>
          <a:prstGeom prst="rect">
            <a:avLst/>
          </a:prstGeom>
          <a:noFill/>
        </p:spPr>
        <p:txBody>
          <a:bodyPr wrap="square" lIns="0" rIns="0" tIns="0" bIns="0" anchor="t">
            <a:spAutoFit/>
          </a:bodyPr>
          <a:lstStyle/>
          <a:p>
            <a:pPr algn="l">
              <a:lnSpc>
                <a:spcPct val="108000"/>
              </a:lnSpc>
              <a:spcAft>
                <a:spcPts val="600"/>
              </a:spcAft>
            </a:pPr>
            <a:r>
              <a:rPr sz="3400" b="1" i="0">
                <a:solidFill>
                  <a:srgbClr val="FFFFFF"/>
                </a:solidFill>
                <a:latin typeface="Cambria"/>
              </a:rPr>
              <a:t>Representation and models: what the compound becomes, and what learns from it</a:t>
            </a:r>
          </a:p>
        </p:txBody>
      </p:sp>
      <p:sp>
        <p:nvSpPr>
          <p:cNvPr id="4" name="TextBox 3"/>
          <p:cNvSpPr txBox="1"/>
          <p:nvPr/>
        </p:nvSpPr>
        <p:spPr>
          <a:xfrm>
            <a:off x="566928" y="3840480"/>
            <a:ext cx="9229039" cy="822960"/>
          </a:xfrm>
          <a:prstGeom prst="rect">
            <a:avLst/>
          </a:prstGeom>
          <a:noFill/>
        </p:spPr>
        <p:txBody>
          <a:bodyPr wrap="square" lIns="0" rIns="0" tIns="0" bIns="0" anchor="t">
            <a:spAutoFit/>
          </a:bodyPr>
          <a:lstStyle/>
          <a:p>
            <a:pPr algn="l">
              <a:lnSpc>
                <a:spcPct val="125000"/>
              </a:lnSpc>
              <a:spcAft>
                <a:spcPts val="600"/>
              </a:spcAft>
            </a:pPr>
            <a:r>
              <a:rPr sz="1600" b="0" i="1">
                <a:solidFill>
                  <a:srgbClr val="D7DFEA"/>
                </a:solidFill>
                <a:latin typeface="Calibri"/>
              </a:rPr>
              <a:t>One 1,036-column map shared by every endpoint, and a forest chosen for reasons that are not about the mean</a:t>
            </a:r>
          </a:p>
        </p:txBody>
      </p:sp>
      <p:sp>
        <p:nvSpPr>
          <p:cNvPr id="5" name="TextBox 4"/>
          <p:cNvSpPr txBox="1"/>
          <p:nvPr/>
        </p:nvSpPr>
        <p:spPr>
          <a:xfrm>
            <a:off x="566928" y="5212080"/>
            <a:ext cx="11057839" cy="457200"/>
          </a:xfrm>
          <a:prstGeom prst="rect">
            <a:avLst/>
          </a:prstGeom>
          <a:noFill/>
        </p:spPr>
        <p:txBody>
          <a:bodyPr wrap="square" lIns="0" rIns="0" tIns="0" bIns="0" anchor="t">
            <a:spAutoFit/>
          </a:bodyPr>
          <a:lstStyle/>
          <a:p>
            <a:pPr algn="l">
              <a:spcAft>
                <a:spcPts val="600"/>
              </a:spcAft>
            </a:pPr>
            <a:r>
              <a:rPr sz="1300" b="0" i="0">
                <a:solidFill>
                  <a:srgbClr val="1C7293"/>
                </a:solidFill>
                <a:latin typeface="Calibri"/>
              </a:rPr>
              <a:t>Five families, thirteen endpoints, and the first significance test run on the deployed panel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One compound, one vector, every endpoint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ecfp4_1024 + 12 descriptors, verified from src/brainsafe/features/featurize.py</a:t>
            </a:r>
          </a:p>
        </p:txBody>
      </p:sp>
      <p:sp>
        <p:nvSpPr>
          <p:cNvPr id="5" name="Rounded Rectangle 4"/>
          <p:cNvSpPr/>
          <p:nvPr/>
        </p:nvSpPr>
        <p:spPr>
          <a:xfrm>
            <a:off x="566928" y="1645920"/>
            <a:ext cx="5806440"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50976" y="1901952"/>
            <a:ext cx="5120640" cy="365760"/>
          </a:xfrm>
          <a:prstGeom prst="rect">
            <a:avLst/>
          </a:prstGeom>
          <a:noFill/>
        </p:spPr>
        <p:txBody>
          <a:bodyPr wrap="square" lIns="0" rIns="0" tIns="0" bIns="0" anchor="t">
            <a:spAutoFit/>
          </a:bodyPr>
          <a:lstStyle/>
          <a:p>
            <a:pPr algn="l">
              <a:spcAft>
                <a:spcPts val="600"/>
              </a:spcAft>
            </a:pPr>
            <a:r>
              <a:rPr sz="1800" b="1" i="0">
                <a:solidFill>
                  <a:srgbClr val="1F3A5F"/>
                </a:solidFill>
                <a:latin typeface="Cambria"/>
              </a:rPr>
              <a:t>1,024 bits, folded ECFP-4</a:t>
            </a:r>
          </a:p>
        </p:txBody>
      </p:sp>
      <p:sp>
        <p:nvSpPr>
          <p:cNvPr id="7" name="TextBox 6"/>
          <p:cNvSpPr txBox="1"/>
          <p:nvPr/>
        </p:nvSpPr>
        <p:spPr>
          <a:xfrm>
            <a:off x="950976" y="2377440"/>
            <a:ext cx="5029200" cy="100584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Bit j is set when some atom environment of radius at most 2 hashes to j modulo 1,024. Folding is not injective, so a set bit says some environment hashing there is present, not which one.</a:t>
            </a:r>
          </a:p>
        </p:txBody>
      </p:sp>
      <p:sp>
        <p:nvSpPr>
          <p:cNvPr id="8" name="Rounded Rectangle 7"/>
          <p:cNvSpPr/>
          <p:nvPr/>
        </p:nvSpPr>
        <p:spPr>
          <a:xfrm>
            <a:off x="6739128" y="1645920"/>
            <a:ext cx="4892040" cy="187451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23176" y="1901952"/>
            <a:ext cx="4206240" cy="365760"/>
          </a:xfrm>
          <a:prstGeom prst="rect">
            <a:avLst/>
          </a:prstGeom>
          <a:noFill/>
        </p:spPr>
        <p:txBody>
          <a:bodyPr wrap="square" lIns="0" rIns="0" tIns="0" bIns="0" anchor="t">
            <a:spAutoFit/>
          </a:bodyPr>
          <a:lstStyle/>
          <a:p>
            <a:pPr algn="l">
              <a:spcAft>
                <a:spcPts val="600"/>
              </a:spcAft>
            </a:pPr>
            <a:r>
              <a:rPr sz="1800" b="1" i="0">
                <a:solidFill>
                  <a:srgbClr val="1C7293"/>
                </a:solidFill>
                <a:latin typeface="Cambria"/>
              </a:rPr>
              <a:t>12 descriptors</a:t>
            </a:r>
          </a:p>
        </p:txBody>
      </p:sp>
      <p:sp>
        <p:nvSpPr>
          <p:cNvPr id="10" name="TextBox 9"/>
          <p:cNvSpPr txBox="1"/>
          <p:nvPr/>
        </p:nvSpPr>
        <p:spPr>
          <a:xfrm>
            <a:off x="7123176" y="2377440"/>
            <a:ext cx="4206240" cy="100584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Molecular weight, cLogP, TPSA, donors, acceptors, rotatable bonds, aromatic rings, fraction sp3, ring count, heavy atoms, formal charge, QED.</a:t>
            </a:r>
          </a:p>
        </p:txBody>
      </p:sp>
      <p:sp>
        <p:nvSpPr>
          <p:cNvPr id="11" name="TextBox 10"/>
          <p:cNvSpPr txBox="1"/>
          <p:nvPr/>
        </p:nvSpPr>
        <p:spPr>
          <a:xfrm>
            <a:off x="566928" y="3794760"/>
            <a:ext cx="11057839" cy="457200"/>
          </a:xfrm>
          <a:prstGeom prst="rect">
            <a:avLst/>
          </a:prstGeom>
          <a:noFill/>
        </p:spPr>
        <p:txBody>
          <a:bodyPr wrap="square" lIns="0" rIns="0" tIns="0" bIns="0" anchor="t">
            <a:spAutoFit/>
          </a:bodyPr>
          <a:lstStyle/>
          <a:p>
            <a:pPr algn="l">
              <a:spcAft>
                <a:spcPts val="600"/>
              </a:spcAft>
            </a:pPr>
            <a:r>
              <a:rPr sz="1900" b="1" i="0">
                <a:solidFill>
                  <a:srgbClr val="0F1A2E"/>
                </a:solidFill>
                <a:latin typeface="Cambria"/>
              </a:rPr>
              <a:t>Nothing is shared between endpoints except this map.</a:t>
            </a:r>
          </a:p>
        </p:txBody>
      </p:sp>
      <p:sp>
        <p:nvSpPr>
          <p:cNvPr id="12" name="TextBox 11"/>
          <p:cNvSpPr txBox="1"/>
          <p:nvPr/>
        </p:nvSpPr>
        <p:spPr>
          <a:xfrm>
            <a:off x="566928" y="4297680"/>
            <a:ext cx="11057839" cy="100584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Two models that disagree about a compound disagree about the same 1,036 numbers, which is what makes the panel comparable at all. It is also why a defect in the featuriser would be a defect in seventy models at once, and why the software suite pins the vector's shape and its purity as a function of structure.</a:t>
            </a:r>
          </a:p>
        </p:txBody>
      </p:sp>
      <p:sp>
        <p:nvSpPr>
          <p:cNvPr id="13" name="TextBox 12"/>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models_rf/BBB_meta.json; src/brainsafe/features/featurize.py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Neutralisation is part of the representation, not housekeeping</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drug and its salt must give the same answer</a:t>
            </a:r>
          </a:p>
        </p:txBody>
      </p:sp>
      <p:sp>
        <p:nvSpPr>
          <p:cNvPr id="5" name="TextBox 4"/>
          <p:cNvSpPr txBox="1"/>
          <p:nvPr/>
        </p:nvSpPr>
        <p:spPr>
          <a:xfrm>
            <a:off x="566928" y="1664208"/>
            <a:ext cx="5669280" cy="137160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Stripping a counter-ion alone leaves the parent carrying the charge the salt gave it, so the two forms differ in formal charge and in the environments hashed around the protonated nitrogen. The rule that fixes this must still keep a permanent charge, because a quaternary ammonium's charge is precisely what stops it crossing.</a:t>
            </a:r>
          </a:p>
        </p:txBody>
      </p:sp>
      <p:sp>
        <p:nvSpPr>
          <p:cNvPr id="6" name="Rounded Rectangle 5"/>
          <p:cNvSpPr/>
          <p:nvPr/>
        </p:nvSpPr>
        <p:spPr>
          <a:xfrm>
            <a:off x="566928" y="3246120"/>
            <a:ext cx="5669280" cy="2148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32688" y="3474720"/>
            <a:ext cx="4937760" cy="365760"/>
          </a:xfrm>
          <a:prstGeom prst="rect">
            <a:avLst/>
          </a:prstGeom>
          <a:noFill/>
        </p:spPr>
        <p:txBody>
          <a:bodyPr wrap="square" lIns="0" rIns="0" tIns="0" bIns="0" anchor="t">
            <a:spAutoFit/>
          </a:bodyPr>
          <a:lstStyle/>
          <a:p>
            <a:pPr algn="l">
              <a:spcAft>
                <a:spcPts val="600"/>
              </a:spcAft>
            </a:pPr>
            <a:r>
              <a:rPr sz="1400" b="1" i="0">
                <a:solidFill>
                  <a:srgbClr val="1F3A5F"/>
                </a:solidFill>
                <a:latin typeface="Calibri"/>
              </a:rPr>
              <a:t>Verified on the deployed models, this session</a:t>
            </a:r>
          </a:p>
        </p:txBody>
      </p:sp>
      <p:sp>
        <p:nvSpPr>
          <p:cNvPr id="8" name="TextBox 7"/>
          <p:cNvSpPr txBox="1"/>
          <p:nvPr/>
        </p:nvSpPr>
        <p:spPr>
          <a:xfrm>
            <a:off x="932688" y="3931920"/>
            <a:ext cx="35661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haloperidol free base and hydrochloride</a:t>
            </a:r>
          </a:p>
        </p:txBody>
      </p:sp>
      <p:sp>
        <p:nvSpPr>
          <p:cNvPr id="9" name="TextBox 8"/>
          <p:cNvSpPr txBox="1"/>
          <p:nvPr/>
        </p:nvSpPr>
        <p:spPr>
          <a:xfrm>
            <a:off x="4544568" y="3931920"/>
            <a:ext cx="1600200" cy="310896"/>
          </a:xfrm>
          <a:prstGeom prst="rect">
            <a:avLst/>
          </a:prstGeom>
          <a:noFill/>
        </p:spPr>
        <p:txBody>
          <a:bodyPr wrap="square" lIns="0" rIns="0" tIns="0" bIns="0" anchor="t">
            <a:spAutoFit/>
          </a:bodyPr>
          <a:lstStyle/>
          <a:p>
            <a:pPr algn="r">
              <a:spcAft>
                <a:spcPts val="600"/>
              </a:spcAft>
            </a:pPr>
            <a:r>
              <a:rPr sz="1250" b="1" i="0">
                <a:solidFill>
                  <a:srgbClr val="1C7293"/>
                </a:solidFill>
                <a:latin typeface="Calibri"/>
              </a:rPr>
              <a:t>byte-identical vectors</a:t>
            </a:r>
          </a:p>
        </p:txBody>
      </p:sp>
      <p:sp>
        <p:nvSpPr>
          <p:cNvPr id="10" name="TextBox 9"/>
          <p:cNvSpPr txBox="1"/>
          <p:nvPr/>
        </p:nvSpPr>
        <p:spPr>
          <a:xfrm>
            <a:off x="932688" y="4297680"/>
            <a:ext cx="35661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barrier probability, both forms</a:t>
            </a:r>
          </a:p>
        </p:txBody>
      </p:sp>
      <p:sp>
        <p:nvSpPr>
          <p:cNvPr id="11" name="TextBox 10"/>
          <p:cNvSpPr txBox="1"/>
          <p:nvPr/>
        </p:nvSpPr>
        <p:spPr>
          <a:xfrm>
            <a:off x="4544568" y="4297680"/>
            <a:ext cx="1600200" cy="310896"/>
          </a:xfrm>
          <a:prstGeom prst="rect">
            <a:avLst/>
          </a:prstGeom>
          <a:noFill/>
        </p:spPr>
        <p:txBody>
          <a:bodyPr wrap="square" lIns="0" rIns="0" tIns="0" bIns="0" anchor="t">
            <a:spAutoFit/>
          </a:bodyPr>
          <a:lstStyle/>
          <a:p>
            <a:pPr algn="r">
              <a:spcAft>
                <a:spcPts val="600"/>
              </a:spcAft>
            </a:pPr>
            <a:r>
              <a:rPr sz="1250" b="1" i="0">
                <a:solidFill>
                  <a:srgbClr val="1C7293"/>
                </a:solidFill>
                <a:latin typeface="Calibri"/>
              </a:rPr>
              <a:t>0.9888</a:t>
            </a:r>
          </a:p>
        </p:txBody>
      </p:sp>
      <p:sp>
        <p:nvSpPr>
          <p:cNvPr id="12" name="TextBox 11"/>
          <p:cNvSpPr txBox="1"/>
          <p:nvPr/>
        </p:nvSpPr>
        <p:spPr>
          <a:xfrm>
            <a:off x="932688" y="4663440"/>
            <a:ext cx="35661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hERG probability, both forms</a:t>
            </a:r>
          </a:p>
        </p:txBody>
      </p:sp>
      <p:sp>
        <p:nvSpPr>
          <p:cNvPr id="13" name="TextBox 12"/>
          <p:cNvSpPr txBox="1"/>
          <p:nvPr/>
        </p:nvSpPr>
        <p:spPr>
          <a:xfrm>
            <a:off x="4544568" y="4663440"/>
            <a:ext cx="1600200" cy="310896"/>
          </a:xfrm>
          <a:prstGeom prst="rect">
            <a:avLst/>
          </a:prstGeom>
          <a:noFill/>
        </p:spPr>
        <p:txBody>
          <a:bodyPr wrap="square" lIns="0" rIns="0" tIns="0" bIns="0" anchor="t">
            <a:spAutoFit/>
          </a:bodyPr>
          <a:lstStyle/>
          <a:p>
            <a:pPr algn="r">
              <a:spcAft>
                <a:spcPts val="600"/>
              </a:spcAft>
            </a:pPr>
            <a:r>
              <a:rPr sz="1250" b="1" i="0">
                <a:solidFill>
                  <a:srgbClr val="1C7293"/>
                </a:solidFill>
                <a:latin typeface="Calibri"/>
              </a:rPr>
              <a:t>0.8216</a:t>
            </a:r>
          </a:p>
        </p:txBody>
      </p:sp>
      <p:sp>
        <p:nvSpPr>
          <p:cNvPr id="14" name="TextBox 13"/>
          <p:cNvSpPr txBox="1"/>
          <p:nvPr/>
        </p:nvSpPr>
        <p:spPr>
          <a:xfrm>
            <a:off x="932688" y="5029200"/>
            <a:ext cx="35661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neostigmine, quaternary ammonium</a:t>
            </a:r>
          </a:p>
        </p:txBody>
      </p:sp>
      <p:sp>
        <p:nvSpPr>
          <p:cNvPr id="15" name="TextBox 14"/>
          <p:cNvSpPr txBox="1"/>
          <p:nvPr/>
        </p:nvSpPr>
        <p:spPr>
          <a:xfrm>
            <a:off x="4544568" y="5029200"/>
            <a:ext cx="1600200" cy="310896"/>
          </a:xfrm>
          <a:prstGeom prst="rect">
            <a:avLst/>
          </a:prstGeom>
          <a:noFill/>
        </p:spPr>
        <p:txBody>
          <a:bodyPr wrap="square" lIns="0" rIns="0" tIns="0" bIns="0" anchor="t">
            <a:spAutoFit/>
          </a:bodyPr>
          <a:lstStyle/>
          <a:p>
            <a:pPr algn="r">
              <a:spcAft>
                <a:spcPts val="600"/>
              </a:spcAft>
            </a:pPr>
            <a:r>
              <a:rPr sz="1250" b="1" i="0">
                <a:solidFill>
                  <a:srgbClr val="1C7293"/>
                </a:solidFill>
                <a:latin typeface="Calibri"/>
              </a:rPr>
              <a:t>charge +1 retained</a:t>
            </a:r>
          </a:p>
        </p:txBody>
      </p:sp>
      <p:sp>
        <p:nvSpPr>
          <p:cNvPr id="16" name="Rounded Rectangle 15"/>
          <p:cNvSpPr/>
          <p:nvPr/>
        </p:nvSpPr>
        <p:spPr>
          <a:xfrm>
            <a:off x="6601968" y="1645920"/>
            <a:ext cx="5022799" cy="3749039"/>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601968" y="1645920"/>
            <a:ext cx="5022799" cy="3749039"/>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86016" y="1874519"/>
            <a:ext cx="4480560" cy="384048"/>
          </a:xfrm>
          <a:prstGeom prst="rect">
            <a:avLst/>
          </a:prstGeom>
          <a:noFill/>
        </p:spPr>
        <p:txBody>
          <a:bodyPr wrap="square" lIns="0" rIns="0" tIns="0" bIns="0" anchor="t">
            <a:spAutoFit/>
          </a:bodyPr>
          <a:lstStyle/>
          <a:p>
            <a:pPr algn="l">
              <a:spcAft>
                <a:spcPts val="600"/>
              </a:spcAft>
            </a:pPr>
            <a:r>
              <a:rPr sz="1800" b="1" i="0">
                <a:solidFill>
                  <a:srgbClr val="1F3A5F"/>
                </a:solidFill>
                <a:latin typeface="Cambria"/>
              </a:rPr>
              <a:t>How often it fires</a:t>
            </a:r>
          </a:p>
        </p:txBody>
      </p:sp>
      <p:sp>
        <p:nvSpPr>
          <p:cNvPr id="19" name="TextBox 18"/>
          <p:cNvSpPr txBox="1"/>
          <p:nvPr/>
        </p:nvSpPr>
        <p:spPr>
          <a:xfrm>
            <a:off x="6986016" y="2377440"/>
            <a:ext cx="2194560" cy="603504"/>
          </a:xfrm>
          <a:prstGeom prst="rect">
            <a:avLst/>
          </a:prstGeom>
          <a:noFill/>
        </p:spPr>
        <p:txBody>
          <a:bodyPr wrap="square" lIns="0" rIns="0" tIns="0" bIns="0" anchor="t">
            <a:spAutoFit/>
          </a:bodyPr>
          <a:lstStyle/>
          <a:p>
            <a:pPr algn="l">
              <a:spcAft>
                <a:spcPts val="600"/>
              </a:spcAft>
            </a:pPr>
            <a:r>
              <a:rPr sz="3075" b="1" i="0">
                <a:solidFill>
                  <a:srgbClr val="1F3A5F"/>
                </a:solidFill>
                <a:latin typeface="Cambria"/>
              </a:rPr>
              <a:t>0.091%</a:t>
            </a:r>
          </a:p>
        </p:txBody>
      </p:sp>
      <p:sp>
        <p:nvSpPr>
          <p:cNvPr id="20" name="TextBox 19"/>
          <p:cNvSpPr txBox="1"/>
          <p:nvPr/>
        </p:nvSpPr>
        <p:spPr>
          <a:xfrm>
            <a:off x="6986016" y="3017520"/>
            <a:ext cx="219456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of 228,198 training rows are changed by neutralisation</a:t>
            </a:r>
          </a:p>
        </p:txBody>
      </p:sp>
      <p:sp>
        <p:nvSpPr>
          <p:cNvPr id="21" name="TextBox 20"/>
          <p:cNvSpPr txBox="1"/>
          <p:nvPr/>
        </p:nvSpPr>
        <p:spPr>
          <a:xfrm>
            <a:off x="9390888" y="2377440"/>
            <a:ext cx="2011680" cy="603504"/>
          </a:xfrm>
          <a:prstGeom prst="rect">
            <a:avLst/>
          </a:prstGeom>
          <a:noFill/>
        </p:spPr>
        <p:txBody>
          <a:bodyPr wrap="square" lIns="0" rIns="0" tIns="0" bIns="0" anchor="t">
            <a:spAutoFit/>
          </a:bodyPr>
          <a:lstStyle/>
          <a:p>
            <a:pPr algn="l">
              <a:spcAft>
                <a:spcPts val="600"/>
              </a:spcAft>
            </a:pPr>
            <a:r>
              <a:rPr sz="2625" b="1" i="0">
                <a:solidFill>
                  <a:srgbClr val="1C7293"/>
                </a:solidFill>
                <a:latin typeface="Cambria"/>
              </a:rPr>
              <a:t>28 of 63</a:t>
            </a:r>
          </a:p>
        </p:txBody>
      </p:sp>
      <p:sp>
        <p:nvSpPr>
          <p:cNvPr id="22" name="TextBox 21"/>
          <p:cNvSpPr txBox="1"/>
          <p:nvPr/>
        </p:nvSpPr>
        <p:spPr>
          <a:xfrm>
            <a:off x="9390888" y="3017520"/>
            <a:ext cx="2011680" cy="658368"/>
          </a:xfrm>
          <a:prstGeom prst="rect">
            <a:avLst/>
          </a:prstGeom>
          <a:noFill/>
        </p:spPr>
        <p:txBody>
          <a:bodyPr wrap="square" lIns="0" rIns="0" tIns="0" bIns="0" anchor="t">
            <a:spAutoFit/>
          </a:bodyPr>
          <a:lstStyle/>
          <a:p>
            <a:pPr algn="l">
              <a:lnSpc>
                <a:spcPct val="115000"/>
              </a:lnSpc>
              <a:spcAft>
                <a:spcPts val="600"/>
              </a:spcAft>
            </a:pPr>
            <a:r>
              <a:rPr sz="1200" b="0" i="0">
                <a:solidFill>
                  <a:srgbClr val="5F6B7A"/>
                </a:solidFill>
                <a:latin typeface="Calibri"/>
              </a:rPr>
              <a:t>endpoints affected at all</a:t>
            </a:r>
          </a:p>
        </p:txBody>
      </p:sp>
      <p:sp>
        <p:nvSpPr>
          <p:cNvPr id="23" name="TextBox 22"/>
          <p:cNvSpPr txBox="1"/>
          <p:nvPr/>
        </p:nvSpPr>
        <p:spPr>
          <a:xfrm>
            <a:off x="6986016" y="3931920"/>
            <a:ext cx="4480560" cy="123444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Worst is DHODH at 3.13 per cent. A rule that alters one row in a thousand is easy to dismiss. It is not dismissed because its failures concentrate exactly where a user is most likely to paste a salt form, which is an approved drug.</a:t>
            </a:r>
          </a:p>
        </p:txBody>
      </p:sp>
      <p:sp>
        <p:nvSpPr>
          <p:cNvPr id="24" name="TextBox 23"/>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results/tables/uncharging_impact_by_endpoint.csv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What the representation discards, and what that costs immediately</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Chirality is excluded, so enantiomers collide</a:t>
            </a:r>
          </a:p>
        </p:txBody>
      </p:sp>
      <p:sp>
        <p:nvSpPr>
          <p:cNvPr id="5" name="TextBox 4"/>
          <p:cNvSpPr txBox="1"/>
          <p:nvPr/>
        </p:nvSpPr>
        <p:spPr>
          <a:xfrm>
            <a:off x="566928" y="1691640"/>
            <a:ext cx="5394960" cy="182880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Chapter 10 bounds the scientific cost of stereo-blindness at 0.19 per cent of the panel. The structural cost is immediate and belongs here: if two rows are identical in feature space and land on opposite sides of a fold, the model is tested on a compound it was trained on, and no amount of scaffold grouping removes it, because those rows share a skeleton by construction.</a:t>
            </a:r>
          </a:p>
        </p:txBody>
      </p:sp>
      <p:sp>
        <p:nvSpPr>
          <p:cNvPr id="6" name="TextBox 5"/>
          <p:cNvSpPr txBox="1"/>
          <p:nvPr/>
        </p:nvSpPr>
        <p:spPr>
          <a:xfrm>
            <a:off x="566928" y="3749039"/>
            <a:ext cx="5394960" cy="137160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Rows identical in the representation are therefore collapsed before any split is drawn, and a group whose labels disagree is dropped rather than resolved by vote: the featuriser cannot tell its members apart, and a vote would be inventing an answer.</a:t>
            </a:r>
          </a:p>
        </p:txBody>
      </p:sp>
      <p:sp>
        <p:nvSpPr>
          <p:cNvPr id="7" name="Rounded Rectangle 6"/>
          <p:cNvSpPr/>
          <p:nvPr/>
        </p:nvSpPr>
        <p:spPr>
          <a:xfrm>
            <a:off x="6373368" y="1664208"/>
            <a:ext cx="5251399" cy="3703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84848" y="1901952"/>
            <a:ext cx="4389120" cy="384048"/>
          </a:xfrm>
          <a:prstGeom prst="rect">
            <a:avLst/>
          </a:prstGeom>
          <a:noFill/>
        </p:spPr>
        <p:txBody>
          <a:bodyPr wrap="square" lIns="0" rIns="0" tIns="0" bIns="0" anchor="t">
            <a:spAutoFit/>
          </a:bodyPr>
          <a:lstStyle/>
          <a:p>
            <a:pPr algn="l">
              <a:spcAft>
                <a:spcPts val="600"/>
              </a:spcAft>
            </a:pPr>
            <a:r>
              <a:rPr sz="1800" b="1" i="0">
                <a:solidFill>
                  <a:srgbClr val="1F3A5F"/>
                </a:solidFill>
                <a:latin typeface="Cambria"/>
              </a:rPr>
              <a:t>The barrier endpoint, in full</a:t>
            </a:r>
          </a:p>
        </p:txBody>
      </p:sp>
      <p:sp>
        <p:nvSpPr>
          <p:cNvPr id="9" name="TextBox 8"/>
          <p:cNvSpPr txBox="1"/>
          <p:nvPr/>
        </p:nvSpPr>
        <p:spPr>
          <a:xfrm>
            <a:off x="6784848" y="2487168"/>
            <a:ext cx="3017520" cy="329184"/>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rows entering</a:t>
            </a:r>
          </a:p>
        </p:txBody>
      </p:sp>
      <p:sp>
        <p:nvSpPr>
          <p:cNvPr id="10" name="TextBox 9"/>
          <p:cNvSpPr txBox="1"/>
          <p:nvPr/>
        </p:nvSpPr>
        <p:spPr>
          <a:xfrm>
            <a:off x="9893808" y="2450592"/>
            <a:ext cx="1280160" cy="384048"/>
          </a:xfrm>
          <a:prstGeom prst="rect">
            <a:avLst/>
          </a:prstGeom>
          <a:noFill/>
        </p:spPr>
        <p:txBody>
          <a:bodyPr wrap="square" lIns="0" rIns="0" tIns="0" bIns="0" anchor="t">
            <a:spAutoFit/>
          </a:bodyPr>
          <a:lstStyle/>
          <a:p>
            <a:pPr algn="r">
              <a:spcAft>
                <a:spcPts val="600"/>
              </a:spcAft>
            </a:pPr>
            <a:r>
              <a:rPr sz="1700" b="1" i="0">
                <a:solidFill>
                  <a:srgbClr val="0F1A2E"/>
                </a:solidFill>
                <a:latin typeface="Calibri"/>
              </a:rPr>
              <a:t>7,805</a:t>
            </a:r>
          </a:p>
        </p:txBody>
      </p:sp>
      <p:sp>
        <p:nvSpPr>
          <p:cNvPr id="11" name="TextBox 10"/>
          <p:cNvSpPr txBox="1"/>
          <p:nvPr/>
        </p:nvSpPr>
        <p:spPr>
          <a:xfrm>
            <a:off x="6784848" y="3054096"/>
            <a:ext cx="3017520" cy="329184"/>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duplicate rows removed</a:t>
            </a:r>
          </a:p>
        </p:txBody>
      </p:sp>
      <p:sp>
        <p:nvSpPr>
          <p:cNvPr id="12" name="TextBox 11"/>
          <p:cNvSpPr txBox="1"/>
          <p:nvPr/>
        </p:nvSpPr>
        <p:spPr>
          <a:xfrm>
            <a:off x="9893808" y="3017520"/>
            <a:ext cx="1280160" cy="384048"/>
          </a:xfrm>
          <a:prstGeom prst="rect">
            <a:avLst/>
          </a:prstGeom>
          <a:noFill/>
        </p:spPr>
        <p:txBody>
          <a:bodyPr wrap="square" lIns="0" rIns="0" tIns="0" bIns="0" anchor="t">
            <a:spAutoFit/>
          </a:bodyPr>
          <a:lstStyle/>
          <a:p>
            <a:pPr algn="r">
              <a:spcAft>
                <a:spcPts val="600"/>
              </a:spcAft>
            </a:pPr>
            <a:r>
              <a:rPr sz="1700" b="1" i="0">
                <a:solidFill>
                  <a:srgbClr val="9E2A2B"/>
                </a:solidFill>
                <a:latin typeface="Calibri"/>
              </a:rPr>
              <a:t>-3,773</a:t>
            </a:r>
          </a:p>
        </p:txBody>
      </p:sp>
      <p:sp>
        <p:nvSpPr>
          <p:cNvPr id="13" name="TextBox 12"/>
          <p:cNvSpPr txBox="1"/>
          <p:nvPr/>
        </p:nvSpPr>
        <p:spPr>
          <a:xfrm>
            <a:off x="6784848" y="3621024"/>
            <a:ext cx="3017520" cy="329184"/>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conflicting groups dropped</a:t>
            </a:r>
          </a:p>
        </p:txBody>
      </p:sp>
      <p:sp>
        <p:nvSpPr>
          <p:cNvPr id="14" name="TextBox 13"/>
          <p:cNvSpPr txBox="1"/>
          <p:nvPr/>
        </p:nvSpPr>
        <p:spPr>
          <a:xfrm>
            <a:off x="9893808" y="3584448"/>
            <a:ext cx="1280160" cy="384048"/>
          </a:xfrm>
          <a:prstGeom prst="rect">
            <a:avLst/>
          </a:prstGeom>
          <a:noFill/>
        </p:spPr>
        <p:txBody>
          <a:bodyPr wrap="square" lIns="0" rIns="0" tIns="0" bIns="0" anchor="t">
            <a:spAutoFit/>
          </a:bodyPr>
          <a:lstStyle/>
          <a:p>
            <a:pPr algn="r">
              <a:spcAft>
                <a:spcPts val="600"/>
              </a:spcAft>
            </a:pPr>
            <a:r>
              <a:rPr sz="1700" b="1" i="0">
                <a:solidFill>
                  <a:srgbClr val="9E2A2B"/>
                </a:solidFill>
                <a:latin typeface="Calibri"/>
              </a:rPr>
              <a:t>-131</a:t>
            </a:r>
          </a:p>
        </p:txBody>
      </p:sp>
      <p:sp>
        <p:nvSpPr>
          <p:cNvPr id="15" name="TextBox 14"/>
          <p:cNvSpPr txBox="1"/>
          <p:nvPr/>
        </p:nvSpPr>
        <p:spPr>
          <a:xfrm>
            <a:off x="6784848" y="4187952"/>
            <a:ext cx="3017520" cy="329184"/>
          </a:xfrm>
          <a:prstGeom prst="rect">
            <a:avLst/>
          </a:prstGeom>
          <a:noFill/>
        </p:spPr>
        <p:txBody>
          <a:bodyPr wrap="square" lIns="0" rIns="0" tIns="0" bIns="0" anchor="t">
            <a:spAutoFit/>
          </a:bodyPr>
          <a:lstStyle/>
          <a:p>
            <a:pPr algn="l">
              <a:spcAft>
                <a:spcPts val="600"/>
              </a:spcAft>
            </a:pPr>
            <a:r>
              <a:rPr sz="1350" b="1" i="0">
                <a:solidFill>
                  <a:srgbClr val="0F1A2E"/>
                </a:solidFill>
                <a:latin typeface="Calibri"/>
              </a:rPr>
              <a:t>rows the model is fitted on</a:t>
            </a:r>
          </a:p>
        </p:txBody>
      </p:sp>
      <p:sp>
        <p:nvSpPr>
          <p:cNvPr id="16" name="TextBox 15"/>
          <p:cNvSpPr txBox="1"/>
          <p:nvPr/>
        </p:nvSpPr>
        <p:spPr>
          <a:xfrm>
            <a:off x="9893808" y="4151376"/>
            <a:ext cx="1280160" cy="384048"/>
          </a:xfrm>
          <a:prstGeom prst="rect">
            <a:avLst/>
          </a:prstGeom>
          <a:noFill/>
        </p:spPr>
        <p:txBody>
          <a:bodyPr wrap="square" lIns="0" rIns="0" tIns="0" bIns="0" anchor="t">
            <a:spAutoFit/>
          </a:bodyPr>
          <a:lstStyle/>
          <a:p>
            <a:pPr algn="r">
              <a:spcAft>
                <a:spcPts val="600"/>
              </a:spcAft>
            </a:pPr>
            <a:r>
              <a:rPr sz="1700" b="1" i="0">
                <a:solidFill>
                  <a:srgbClr val="1F3A5F"/>
                </a:solidFill>
                <a:latin typeface="Calibri"/>
              </a:rPr>
              <a:t>3,901</a:t>
            </a:r>
          </a:p>
        </p:txBody>
      </p:sp>
      <p:sp>
        <p:nvSpPr>
          <p:cNvPr id="17" name="TextBox 16"/>
          <p:cNvSpPr txBox="1"/>
          <p:nvPr/>
        </p:nvSpPr>
        <p:spPr>
          <a:xfrm>
            <a:off x="6784848" y="4846320"/>
            <a:ext cx="4389120" cy="457200"/>
          </a:xfrm>
          <a:prstGeom prst="rect">
            <a:avLst/>
          </a:prstGeom>
          <a:noFill/>
        </p:spPr>
        <p:txBody>
          <a:bodyPr wrap="square" lIns="0" rIns="0" tIns="0" bIns="0" anchor="t">
            <a:spAutoFit/>
          </a:bodyPr>
          <a:lstStyle/>
          <a:p>
            <a:pPr algn="l">
              <a:lnSpc>
                <a:spcPct val="124000"/>
              </a:lnSpc>
              <a:spcAft>
                <a:spcPts val="600"/>
              </a:spcAft>
            </a:pPr>
            <a:r>
              <a:rPr sz="1200" b="0" i="1">
                <a:solidFill>
                  <a:srgbClr val="5F6B7A"/>
                </a:solidFill>
                <a:latin typeface="Calibri"/>
              </a:rPr>
              <a:t>Nearly half the rows. Not a defect in the data: the price of a stereo-blind representation, paid at the featurisation boundary rather than concealed in the score.</a:t>
            </a:r>
          </a:p>
        </p:txBody>
      </p:sp>
      <p:sp>
        <p:nvSpPr>
          <p:cNvPr id="18" name="TextBox 1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models_rf/BBB_meta.json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Do both blocks earn their place?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Each of the two blocks was tested alone, over thirteen endpoints</a:t>
            </a:r>
          </a:p>
        </p:txBody>
      </p:sp>
      <p:sp>
        <p:nvSpPr>
          <p:cNvPr id="5" name="Rounded Rectangle 4"/>
          <p:cNvSpPr/>
          <p:nvPr/>
        </p:nvSpPr>
        <p:spPr>
          <a:xfrm>
            <a:off x="566928" y="1645920"/>
            <a:ext cx="5349240" cy="18288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50976" y="1874519"/>
            <a:ext cx="4572000" cy="365760"/>
          </a:xfrm>
          <a:prstGeom prst="rect">
            <a:avLst/>
          </a:prstGeom>
          <a:noFill/>
        </p:spPr>
        <p:txBody>
          <a:bodyPr wrap="square" lIns="0" rIns="0" tIns="0" bIns="0" anchor="t">
            <a:spAutoFit/>
          </a:bodyPr>
          <a:lstStyle/>
          <a:p>
            <a:pPr algn="l">
              <a:spcAft>
                <a:spcPts val="600"/>
              </a:spcAft>
            </a:pPr>
            <a:r>
              <a:rPr sz="1700" b="1" i="0">
                <a:solidFill>
                  <a:srgbClr val="1F3A5F"/>
                </a:solidFill>
                <a:latin typeface="Cambria"/>
              </a:rPr>
              <a:t>Which block wins</a:t>
            </a:r>
          </a:p>
        </p:txBody>
      </p:sp>
      <p:sp>
        <p:nvSpPr>
          <p:cNvPr id="7" name="TextBox 6"/>
          <p:cNvSpPr txBox="1"/>
          <p:nvPr/>
        </p:nvSpPr>
        <p:spPr>
          <a:xfrm>
            <a:off x="950976" y="2359152"/>
            <a:ext cx="3108960" cy="310896"/>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both blocks</a:t>
            </a:r>
          </a:p>
        </p:txBody>
      </p:sp>
      <p:sp>
        <p:nvSpPr>
          <p:cNvPr id="8" name="TextBox 7"/>
          <p:cNvSpPr txBox="1"/>
          <p:nvPr/>
        </p:nvSpPr>
        <p:spPr>
          <a:xfrm>
            <a:off x="4178808" y="2359152"/>
            <a:ext cx="1371600" cy="310896"/>
          </a:xfrm>
          <a:prstGeom prst="rect">
            <a:avLst/>
          </a:prstGeom>
          <a:noFill/>
        </p:spPr>
        <p:txBody>
          <a:bodyPr wrap="square" lIns="0" rIns="0" tIns="0" bIns="0" anchor="t">
            <a:spAutoFit/>
          </a:bodyPr>
          <a:lstStyle/>
          <a:p>
            <a:pPr algn="r">
              <a:spcAft>
                <a:spcPts val="600"/>
              </a:spcAft>
            </a:pPr>
            <a:r>
              <a:rPr sz="1350" b="1" i="0">
                <a:solidFill>
                  <a:srgbClr val="1F3A5F"/>
                </a:solidFill>
                <a:latin typeface="Calibri"/>
              </a:rPr>
              <a:t>9 of 13</a:t>
            </a:r>
          </a:p>
        </p:txBody>
      </p:sp>
      <p:sp>
        <p:nvSpPr>
          <p:cNvPr id="9" name="TextBox 8"/>
          <p:cNvSpPr txBox="1"/>
          <p:nvPr/>
        </p:nvSpPr>
        <p:spPr>
          <a:xfrm>
            <a:off x="950976" y="2706624"/>
            <a:ext cx="3108960" cy="310896"/>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fingerprint alone</a:t>
            </a:r>
          </a:p>
        </p:txBody>
      </p:sp>
      <p:sp>
        <p:nvSpPr>
          <p:cNvPr id="10" name="TextBox 9"/>
          <p:cNvSpPr txBox="1"/>
          <p:nvPr/>
        </p:nvSpPr>
        <p:spPr>
          <a:xfrm>
            <a:off x="4178808" y="2706624"/>
            <a:ext cx="1371600" cy="310896"/>
          </a:xfrm>
          <a:prstGeom prst="rect">
            <a:avLst/>
          </a:prstGeom>
          <a:noFill/>
        </p:spPr>
        <p:txBody>
          <a:bodyPr wrap="square" lIns="0" rIns="0" tIns="0" bIns="0" anchor="t">
            <a:spAutoFit/>
          </a:bodyPr>
          <a:lstStyle/>
          <a:p>
            <a:pPr algn="r">
              <a:spcAft>
                <a:spcPts val="600"/>
              </a:spcAft>
            </a:pPr>
            <a:r>
              <a:rPr sz="1350" b="1" i="0">
                <a:solidFill>
                  <a:srgbClr val="5F6B7A"/>
                </a:solidFill>
                <a:latin typeface="Calibri"/>
              </a:rPr>
              <a:t>4 of 13</a:t>
            </a:r>
          </a:p>
        </p:txBody>
      </p:sp>
      <p:sp>
        <p:nvSpPr>
          <p:cNvPr id="11" name="TextBox 10"/>
          <p:cNvSpPr txBox="1"/>
          <p:nvPr/>
        </p:nvSpPr>
        <p:spPr>
          <a:xfrm>
            <a:off x="950976" y="3054096"/>
            <a:ext cx="3108960" cy="310896"/>
          </a:xfrm>
          <a:prstGeom prst="rect">
            <a:avLst/>
          </a:prstGeom>
          <a:noFill/>
        </p:spPr>
        <p:txBody>
          <a:bodyPr wrap="square" lIns="0" rIns="0" tIns="0" bIns="0" anchor="t">
            <a:spAutoFit/>
          </a:bodyPr>
          <a:lstStyle/>
          <a:p>
            <a:pPr algn="l">
              <a:spcAft>
                <a:spcPts val="600"/>
              </a:spcAft>
            </a:pPr>
            <a:r>
              <a:rPr sz="1350" b="0" i="0">
                <a:solidFill>
                  <a:srgbClr val="0F1A2E"/>
                </a:solidFill>
                <a:latin typeface="Calibri"/>
              </a:rPr>
              <a:t>descriptors alone</a:t>
            </a:r>
          </a:p>
        </p:txBody>
      </p:sp>
      <p:sp>
        <p:nvSpPr>
          <p:cNvPr id="12" name="TextBox 11"/>
          <p:cNvSpPr txBox="1"/>
          <p:nvPr/>
        </p:nvSpPr>
        <p:spPr>
          <a:xfrm>
            <a:off x="4178808" y="3054096"/>
            <a:ext cx="1371600" cy="310896"/>
          </a:xfrm>
          <a:prstGeom prst="rect">
            <a:avLst/>
          </a:prstGeom>
          <a:noFill/>
        </p:spPr>
        <p:txBody>
          <a:bodyPr wrap="square" lIns="0" rIns="0" tIns="0" bIns="0" anchor="t">
            <a:spAutoFit/>
          </a:bodyPr>
          <a:lstStyle/>
          <a:p>
            <a:pPr algn="r">
              <a:spcAft>
                <a:spcPts val="600"/>
              </a:spcAft>
            </a:pPr>
            <a:r>
              <a:rPr sz="1350" b="1" i="0">
                <a:solidFill>
                  <a:srgbClr val="5F6B7A"/>
                </a:solidFill>
                <a:latin typeface="Calibri"/>
              </a:rPr>
              <a:t>0 of 13</a:t>
            </a:r>
          </a:p>
        </p:txBody>
      </p:sp>
      <p:sp>
        <p:nvSpPr>
          <p:cNvPr id="13" name="TextBox 12"/>
          <p:cNvSpPr txBox="1"/>
          <p:nvPr/>
        </p:nvSpPr>
        <p:spPr>
          <a:xfrm>
            <a:off x="566928" y="3657600"/>
            <a:ext cx="5349240" cy="1371600"/>
          </a:xfrm>
          <a:prstGeom prst="rect">
            <a:avLst/>
          </a:prstGeom>
          <a:noFill/>
        </p:spPr>
        <p:txBody>
          <a:bodyPr wrap="square" lIns="0" rIns="0" tIns="0" bIns="0" anchor="t">
            <a:spAutoFit/>
          </a:bodyPr>
          <a:lstStyle/>
          <a:p>
            <a:pPr algn="l">
              <a:lnSpc>
                <a:spcPct val="128000"/>
              </a:lnSpc>
              <a:spcAft>
                <a:spcPts val="600"/>
              </a:spcAft>
            </a:pPr>
            <a:r>
              <a:rPr sz="1400" b="0" i="0">
                <a:solidFill>
                  <a:srgbClr val="0F1A2E"/>
                </a:solidFill>
                <a:latin typeface="Calibri"/>
              </a:rPr>
              <a:t>But the margin is thin. Adding the descriptors to the fingerprint is worth +0.0026 AUROC on classification and -0.0004 R² on regression. The fingerprint carries almost all of the signal.</a:t>
            </a:r>
          </a:p>
        </p:txBody>
      </p:sp>
      <p:sp>
        <p:nvSpPr>
          <p:cNvPr id="14" name="Rounded Rectangle 13"/>
          <p:cNvSpPr/>
          <p:nvPr/>
        </p:nvSpPr>
        <p:spPr>
          <a:xfrm>
            <a:off x="6281928" y="1645920"/>
            <a:ext cx="5342839" cy="37033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665976" y="1874519"/>
            <a:ext cx="4572000" cy="384048"/>
          </a:xfrm>
          <a:prstGeom prst="rect">
            <a:avLst/>
          </a:prstGeom>
          <a:noFill/>
        </p:spPr>
        <p:txBody>
          <a:bodyPr wrap="square" lIns="0" rIns="0" tIns="0" bIns="0" anchor="t">
            <a:spAutoFit/>
          </a:bodyPr>
          <a:lstStyle/>
          <a:p>
            <a:pPr algn="l">
              <a:spcAft>
                <a:spcPts val="600"/>
              </a:spcAft>
            </a:pPr>
            <a:r>
              <a:rPr sz="1800" b="1" i="0">
                <a:solidFill>
                  <a:srgbClr val="1C7293"/>
                </a:solidFill>
                <a:latin typeface="Cambria"/>
              </a:rPr>
              <a:t>Where they do earn it</a:t>
            </a:r>
          </a:p>
        </p:txBody>
      </p:sp>
      <p:sp>
        <p:nvSpPr>
          <p:cNvPr id="16" name="TextBox 15"/>
          <p:cNvSpPr txBox="1"/>
          <p:nvPr/>
        </p:nvSpPr>
        <p:spPr>
          <a:xfrm>
            <a:off x="6665976" y="2377440"/>
            <a:ext cx="4572000"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The useful question is not what the descriptors add, but how close they come alone. That measures whether physicochemistry is the mechanism.</a:t>
            </a:r>
          </a:p>
        </p:txBody>
      </p:sp>
      <p:sp>
        <p:nvSpPr>
          <p:cNvPr id="17" name="TextBox 16"/>
          <p:cNvSpPr txBox="1"/>
          <p:nvPr/>
        </p:nvSpPr>
        <p:spPr>
          <a:xfrm>
            <a:off x="6665976" y="3429000"/>
            <a:ext cx="4572000" cy="1188720"/>
          </a:xfrm>
          <a:prstGeom prst="rect">
            <a:avLst/>
          </a:prstGeom>
          <a:noFill/>
        </p:spPr>
        <p:txBody>
          <a:bodyPr wrap="square" lIns="0" rIns="0" tIns="0" bIns="0" anchor="t">
            <a:spAutoFit/>
          </a:bodyPr>
          <a:lstStyle/>
          <a:p>
            <a:pPr algn="l">
              <a:lnSpc>
                <a:spcPct val="126000"/>
              </a:lnSpc>
              <a:spcAft>
                <a:spcPts val="600"/>
              </a:spcAft>
            </a:pPr>
            <a:r>
              <a:rPr sz="1400" b="1" i="0">
                <a:solidFill>
                  <a:srgbClr val="1F3A5F"/>
                </a:solidFill>
                <a:latin typeface="Calibri"/>
              </a:rPr>
              <a:t>At BBB the descriptors alone fall only 0.006 short of the fingerprint. At D2 they fall 0.243 short.</a:t>
            </a:r>
          </a:p>
        </p:txBody>
      </p:sp>
      <p:sp>
        <p:nvSpPr>
          <p:cNvPr id="18" name="TextBox 17"/>
          <p:cNvSpPr txBox="1"/>
          <p:nvPr/>
        </p:nvSpPr>
        <p:spPr>
          <a:xfrm>
            <a:off x="6665976" y="4343400"/>
            <a:ext cx="4572000" cy="914400"/>
          </a:xfrm>
          <a:prstGeom prst="rect">
            <a:avLst/>
          </a:prstGeom>
          <a:noFill/>
        </p:spPr>
        <p:txBody>
          <a:bodyPr wrap="square" lIns="0" rIns="0" tIns="0" bIns="0" anchor="t">
            <a:spAutoFit/>
          </a:bodyPr>
          <a:lstStyle/>
          <a:p>
            <a:pPr algn="l">
              <a:lnSpc>
                <a:spcPct val="126000"/>
              </a:lnSpc>
              <a:spcAft>
                <a:spcPts val="600"/>
              </a:spcAft>
            </a:pPr>
            <a:r>
              <a:rPr sz="1300" b="0" i="1">
                <a:solidFill>
                  <a:srgbClr val="0F1A2E"/>
                </a:solidFill>
                <a:latin typeface="Calibri"/>
              </a:rPr>
              <a:t>Twelve numbers nearly suffice to predict whether a compound crosses the barrier, and come nowhere near predicting whether it inhibits a kinase.</a:t>
            </a:r>
          </a:p>
        </p:txBody>
      </p:sp>
      <p:sp>
        <p:nvSpPr>
          <p:cNvPr id="19" name="TextBox 18"/>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results/tables/feature_block_ablation.csv. 5-fold random and pre-deduplication, so absolute values are not comparable with Chapter 8; the between-block comparison is unaffected.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400" b="1" i="0">
                <a:solidFill>
                  <a:srgbClr val="0F1A2E"/>
                </a:solidFill>
                <a:latin typeface="Cambria"/>
              </a:rPr>
              <a:t>The estimator, and three reasons that are not about accuracy</a:t>
            </a:r>
          </a:p>
        </p:txBody>
      </p:sp>
      <p:sp>
        <p:nvSpPr>
          <p:cNvPr id="4" name="Rounded Rectangle 3"/>
          <p:cNvSpPr/>
          <p:nvPr/>
        </p:nvSpPr>
        <p:spPr>
          <a:xfrm>
            <a:off x="566928" y="1572768"/>
            <a:ext cx="11057839" cy="786384"/>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66928" y="1792224"/>
            <a:ext cx="11057839" cy="365760"/>
          </a:xfrm>
          <a:prstGeom prst="rect">
            <a:avLst/>
          </a:prstGeom>
          <a:noFill/>
        </p:spPr>
        <p:txBody>
          <a:bodyPr wrap="square" lIns="0" rIns="0" tIns="0" bIns="0" anchor="t">
            <a:spAutoFit/>
          </a:bodyPr>
          <a:lstStyle/>
          <a:p>
            <a:pPr algn="ctr">
              <a:spcAft>
                <a:spcPts val="600"/>
              </a:spcAft>
            </a:pPr>
            <a:r>
              <a:rPr sz="1700" b="1" i="0">
                <a:solidFill>
                  <a:srgbClr val="1F3A5F"/>
                </a:solidFill>
                <a:latin typeface="Cambria"/>
              </a:rPr>
              <a:t>Random forest   ·   300 trees   ·   min_samples_leaf 2 (4 for the binder panel)   ·   class_weight balanced   ·   seed 42</a:t>
            </a:r>
          </a:p>
        </p:txBody>
      </p:sp>
      <p:sp>
        <p:nvSpPr>
          <p:cNvPr id="6" name="Oval 5"/>
          <p:cNvSpPr/>
          <p:nvPr/>
        </p:nvSpPr>
        <p:spPr>
          <a:xfrm>
            <a:off x="566928" y="2688336"/>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7" name="TextBox 6"/>
          <p:cNvSpPr txBox="1"/>
          <p:nvPr/>
        </p:nvSpPr>
        <p:spPr>
          <a:xfrm>
            <a:off x="1078992" y="2651760"/>
            <a:ext cx="3657600" cy="685800"/>
          </a:xfrm>
          <a:prstGeom prst="rect">
            <a:avLst/>
          </a:prstGeom>
          <a:noFill/>
        </p:spPr>
        <p:txBody>
          <a:bodyPr wrap="square" lIns="0" rIns="0" tIns="0" bIns="0" anchor="t">
            <a:spAutoFit/>
          </a:bodyPr>
          <a:lstStyle/>
          <a:p>
            <a:pPr algn="l">
              <a:lnSpc>
                <a:spcPct val="114000"/>
              </a:lnSpc>
              <a:spcAft>
                <a:spcPts val="600"/>
              </a:spcAft>
            </a:pPr>
            <a:r>
              <a:rPr sz="1550" b="1" i="0">
                <a:solidFill>
                  <a:srgbClr val="1F3A5F"/>
                </a:solidFill>
                <a:latin typeface="Calibri"/>
              </a:rPr>
              <a:t>It handles the representation as it is</a:t>
            </a:r>
          </a:p>
        </p:txBody>
      </p:sp>
      <p:sp>
        <p:nvSpPr>
          <p:cNvPr id="8" name="TextBox 7"/>
          <p:cNvSpPr txBox="1"/>
          <p:nvPr/>
        </p:nvSpPr>
        <p:spPr>
          <a:xfrm>
            <a:off x="4956048" y="2633472"/>
            <a:ext cx="666871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 sparse binary fingerprint sits beside twelve continuous descriptors on wildly different scales. A tree ensemble needs no scaling, no imputation and no encoding to use both.</a:t>
            </a:r>
          </a:p>
        </p:txBody>
      </p:sp>
      <p:sp>
        <p:nvSpPr>
          <p:cNvPr id="9" name="Oval 8"/>
          <p:cNvSpPr/>
          <p:nvPr/>
        </p:nvSpPr>
        <p:spPr>
          <a:xfrm>
            <a:off x="566928" y="3712463"/>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0" name="TextBox 9"/>
          <p:cNvSpPr txBox="1"/>
          <p:nvPr/>
        </p:nvSpPr>
        <p:spPr>
          <a:xfrm>
            <a:off x="1078992" y="3675887"/>
            <a:ext cx="3657600" cy="685800"/>
          </a:xfrm>
          <a:prstGeom prst="rect">
            <a:avLst/>
          </a:prstGeom>
          <a:noFill/>
        </p:spPr>
        <p:txBody>
          <a:bodyPr wrap="square" lIns="0" rIns="0" tIns="0" bIns="0" anchor="t">
            <a:spAutoFit/>
          </a:bodyPr>
          <a:lstStyle/>
          <a:p>
            <a:pPr algn="l">
              <a:lnSpc>
                <a:spcPct val="114000"/>
              </a:lnSpc>
              <a:spcAft>
                <a:spcPts val="600"/>
              </a:spcAft>
            </a:pPr>
            <a:r>
              <a:rPr sz="1550" b="1" i="0">
                <a:solidFill>
                  <a:srgbClr val="1F3A5F"/>
                </a:solidFill>
                <a:latin typeface="Calibri"/>
              </a:rPr>
              <a:t>It does not extrapolate</a:t>
            </a:r>
          </a:p>
        </p:txBody>
      </p:sp>
      <p:sp>
        <p:nvSpPr>
          <p:cNvPr id="11" name="TextBox 10"/>
          <p:cNvSpPr txBox="1"/>
          <p:nvPr/>
        </p:nvSpPr>
        <p:spPr>
          <a:xfrm>
            <a:off x="4956048" y="3657599"/>
            <a:ext cx="666871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A forest's prediction is an average of training labels, so it cannot return a value outside the range it has seen. For a system whose central claim is that it behaves predictably at the edge of its domain, refusing to extrapolate is correct behaviour, not a weakness.</a:t>
            </a:r>
          </a:p>
        </p:txBody>
      </p:sp>
      <p:sp>
        <p:nvSpPr>
          <p:cNvPr id="12" name="Oval 11"/>
          <p:cNvSpPr/>
          <p:nvPr/>
        </p:nvSpPr>
        <p:spPr>
          <a:xfrm>
            <a:off x="566928" y="4736592"/>
            <a:ext cx="329184" cy="329184"/>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3" name="TextBox 12"/>
          <p:cNvSpPr txBox="1"/>
          <p:nvPr/>
        </p:nvSpPr>
        <p:spPr>
          <a:xfrm>
            <a:off x="1078992" y="4700016"/>
            <a:ext cx="3657600" cy="685800"/>
          </a:xfrm>
          <a:prstGeom prst="rect">
            <a:avLst/>
          </a:prstGeom>
          <a:noFill/>
        </p:spPr>
        <p:txBody>
          <a:bodyPr wrap="square" lIns="0" rIns="0" tIns="0" bIns="0" anchor="t">
            <a:spAutoFit/>
          </a:bodyPr>
          <a:lstStyle/>
          <a:p>
            <a:pPr algn="l">
              <a:lnSpc>
                <a:spcPct val="114000"/>
              </a:lnSpc>
              <a:spcAft>
                <a:spcPts val="600"/>
              </a:spcAft>
            </a:pPr>
            <a:r>
              <a:rPr sz="1550" b="1" i="0">
                <a:solidFill>
                  <a:srgbClr val="1F3A5F"/>
                </a:solidFill>
                <a:latin typeface="Calibri"/>
              </a:rPr>
              <a:t>It is exactly explainable</a:t>
            </a:r>
          </a:p>
        </p:txBody>
      </p:sp>
      <p:sp>
        <p:nvSpPr>
          <p:cNvPr id="14" name="TextBox 13"/>
          <p:cNvSpPr txBox="1"/>
          <p:nvPr/>
        </p:nvSpPr>
        <p:spPr>
          <a:xfrm>
            <a:off x="4956048" y="4681728"/>
            <a:ext cx="6668719" cy="91440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TreeSHAP computes exact Shapley values for a tree ensemble. For most other families the same explanation is an approximation, and an explanation a user cannot check is a liability here.</a:t>
            </a:r>
          </a:p>
        </p:txBody>
      </p:sp>
      <p:sp>
        <p:nvSpPr>
          <p:cNvPr id="15" name="TextBox 14"/>
          <p:cNvSpPr txBox="1"/>
          <p:nvPr/>
        </p:nvSpPr>
        <p:spPr>
          <a:xfrm>
            <a:off x="566928" y="5742432"/>
            <a:ext cx="11057839" cy="457200"/>
          </a:xfrm>
          <a:prstGeom prst="rect">
            <a:avLst/>
          </a:prstGeom>
          <a:noFill/>
        </p:spPr>
        <p:txBody>
          <a:bodyPr wrap="square" lIns="0" rIns="0" tIns="0" bIns="0" anchor="t">
            <a:spAutoFit/>
          </a:bodyPr>
          <a:lstStyle/>
          <a:p>
            <a:pPr algn="l">
              <a:lnSpc>
                <a:spcPct val="124000"/>
              </a:lnSpc>
              <a:spcAft>
                <a:spcPts val="600"/>
              </a:spcAft>
            </a:pPr>
            <a:r>
              <a:rPr sz="1300" b="0" i="1">
                <a:solidFill>
                  <a:srgbClr val="5F6B7A"/>
                </a:solidFill>
                <a:latin typeface="Calibri"/>
              </a:rPr>
              <a:t>Class weighting is not decorative: the median deployed endpoint is 0.825 active and P2X7 is 0.962, so without it the forest has every incentive to answer 'active'.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Five families, thirteen endpoints, scaffold split</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Two baselines a reader is entitled to demand, and three ensembles</a:t>
            </a:r>
          </a:p>
        </p:txBody>
      </p:sp>
      <p:graphicFrame>
        <p:nvGraphicFramePr>
          <p:cNvPr id="5" name="Chart 4"/>
          <p:cNvGraphicFramePr>
            <a:graphicFrameLocks noGrp="1"/>
          </p:cNvGraphicFramePr>
          <p:nvPr/>
        </p:nvGraphicFramePr>
        <p:xfrm>
          <a:off x="566928" y="1572768"/>
          <a:ext cx="7223760" cy="3931920"/>
        </p:xfrm>
        <a:graphic>
          <a:graphicData uri="http://schemas.openxmlformats.org/drawingml/2006/chart">
            <c:chart xmlns:c="http://schemas.openxmlformats.org/drawingml/2006/chart" r:id="rId2"/>
          </a:graphicData>
        </a:graphic>
      </p:graphicFrame>
      <p:sp>
        <p:nvSpPr>
          <p:cNvPr id="6" name="TextBox 5"/>
          <p:cNvSpPr txBox="1"/>
          <p:nvPr/>
        </p:nvSpPr>
        <p:spPr>
          <a:xfrm>
            <a:off x="8065007" y="1691640"/>
            <a:ext cx="3566160" cy="822960"/>
          </a:xfrm>
          <a:prstGeom prst="rect">
            <a:avLst/>
          </a:prstGeom>
          <a:noFill/>
        </p:spPr>
        <p:txBody>
          <a:bodyPr wrap="square" lIns="0" rIns="0" tIns="0" bIns="0" anchor="t">
            <a:spAutoFit/>
          </a:bodyPr>
          <a:lstStyle/>
          <a:p>
            <a:pPr algn="l">
              <a:lnSpc>
                <a:spcPct val="124000"/>
              </a:lnSpc>
              <a:spcAft>
                <a:spcPts val="600"/>
              </a:spcAft>
            </a:pPr>
            <a:r>
              <a:rPr sz="1400" b="1" i="0">
                <a:solidFill>
                  <a:srgbClr val="1F3A5F"/>
                </a:solidFill>
                <a:latin typeface="Calibri"/>
              </a:rPr>
              <a:t>The result splits by task, and saying so is the only honest way to report it.</a:t>
            </a:r>
          </a:p>
        </p:txBody>
      </p:sp>
      <p:sp>
        <p:nvSpPr>
          <p:cNvPr id="7" name="TextBox 6"/>
          <p:cNvSpPr txBox="1"/>
          <p:nvPr/>
        </p:nvSpPr>
        <p:spPr>
          <a:xfrm>
            <a:off x="8065007" y="2606040"/>
            <a:ext cx="3566160" cy="128016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On classification the forest leads, best on 7 of 8, losing AChE to histogram gradient boosting at 0.9148 against 0.9247.</a:t>
            </a:r>
          </a:p>
        </p:txBody>
      </p:sp>
      <p:sp>
        <p:nvSpPr>
          <p:cNvPr id="8" name="TextBox 7"/>
          <p:cNvSpPr txBox="1"/>
          <p:nvPr/>
        </p:nvSpPr>
        <p:spPr>
          <a:xfrm>
            <a:off x="8065007" y="3840480"/>
            <a:ext cx="3566160" cy="914400"/>
          </a:xfrm>
          <a:prstGeom prst="rect">
            <a:avLst/>
          </a:prstGeom>
          <a:noFill/>
        </p:spPr>
        <p:txBody>
          <a:bodyPr wrap="square" lIns="0" rIns="0" tIns="0" bIns="0" anchor="t">
            <a:spAutoFit/>
          </a:bodyPr>
          <a:lstStyle/>
          <a:p>
            <a:pPr algn="l">
              <a:lnSpc>
                <a:spcPct val="126000"/>
              </a:lnSpc>
              <a:spcAft>
                <a:spcPts val="600"/>
              </a:spcAft>
            </a:pPr>
            <a:r>
              <a:rPr sz="1350" b="1" i="0">
                <a:solidFill>
                  <a:srgbClr val="9E2A2B"/>
                </a:solidFill>
                <a:latin typeface="Calibri"/>
              </a:rPr>
              <a:t>On regression it leads nothing: best on 0 of 5.</a:t>
            </a:r>
          </a:p>
        </p:txBody>
      </p:sp>
      <p:sp>
        <p:nvSpPr>
          <p:cNvPr id="9" name="TextBox 8"/>
          <p:cNvSpPr txBox="1"/>
          <p:nvPr/>
        </p:nvSpPr>
        <p:spPr>
          <a:xfrm>
            <a:off x="8065007" y="4709160"/>
            <a:ext cx="3566160" cy="914400"/>
          </a:xfrm>
          <a:prstGeom prst="rect">
            <a:avLst/>
          </a:prstGeom>
          <a:noFill/>
        </p:spPr>
        <p:txBody>
          <a:bodyPr wrap="square" lIns="0" rIns="0" tIns="0" bIns="0" anchor="t">
            <a:spAutoFit/>
          </a:bodyPr>
          <a:lstStyle/>
          <a:p>
            <a:pPr algn="l">
              <a:lnSpc>
                <a:spcPct val="124000"/>
              </a:lnSpc>
              <a:spcAft>
                <a:spcPts val="600"/>
              </a:spcAft>
            </a:pPr>
            <a:r>
              <a:rPr sz="1250" b="0" i="0">
                <a:solidFill>
                  <a:srgbClr val="5F6B7A"/>
                </a:solidFill>
                <a:latin typeface="Calibri"/>
              </a:rPr>
              <a:t>It exceeds the read-across on all 13, from +0.0095 at D2 to +0.1099 at antioxidant_DPPH. Much of this signal genuinely is similarity.</a:t>
            </a:r>
          </a:p>
        </p:txBody>
      </p:sp>
      <p:sp>
        <p:nvSpPr>
          <p:cNvPr id="10" name="TextBox 9"/>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results/tables/model_comparison.csv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Is the margin real? The first test run on this panel</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Every document until now quoted point deltas alone</a:t>
            </a:r>
          </a:p>
        </p:txBody>
      </p:sp>
      <p:sp>
        <p:nvSpPr>
          <p:cNvPr id="5" name="TextBox 4"/>
          <p:cNvSpPr txBox="1"/>
          <p:nvPr/>
        </p:nvSpPr>
        <p:spPr>
          <a:xfrm>
            <a:off x="566928" y="1627632"/>
            <a:ext cx="11057839" cy="502920"/>
          </a:xfrm>
          <a:prstGeom prst="rect">
            <a:avLst/>
          </a:prstGeom>
          <a:noFill/>
        </p:spPr>
        <p:txBody>
          <a:bodyPr wrap="square" lIns="0" rIns="0" tIns="0" bIns="0" anchor="t">
            <a:spAutoFit/>
          </a:bodyPr>
          <a:lstStyle/>
          <a:p>
            <a:pPr algn="l">
              <a:lnSpc>
                <a:spcPct val="126000"/>
              </a:lnSpc>
              <a:spcAft>
                <a:spcPts val="600"/>
              </a:spcAft>
            </a:pPr>
            <a:r>
              <a:rPr sz="1350" b="0" i="0">
                <a:solidFill>
                  <a:srgbClr val="0F1A2E"/>
                </a:solidFill>
                <a:latin typeface="Calibri"/>
              </a:rPr>
              <a:t>The decisions log makes exactly the right criticism, that point deltas do not establish significance, and answers it with DeLong tests. Those were run on the superseded ensemble and were never re-run for the deployed forests.</a:t>
            </a:r>
          </a:p>
        </p:txBody>
      </p:sp>
      <p:sp>
        <p:nvSpPr>
          <p:cNvPr id="6" name="TextBox 5"/>
          <p:cNvSpPr txBox="1"/>
          <p:nvPr/>
        </p:nvSpPr>
        <p:spPr>
          <a:xfrm>
            <a:off x="841247" y="2304288"/>
            <a:ext cx="402336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comparison</a:t>
            </a:r>
          </a:p>
        </p:txBody>
      </p:sp>
      <p:sp>
        <p:nvSpPr>
          <p:cNvPr id="7" name="TextBox 6"/>
          <p:cNvSpPr txBox="1"/>
          <p:nvPr/>
        </p:nvSpPr>
        <p:spPr>
          <a:xfrm>
            <a:off x="4910328" y="2304288"/>
            <a:ext cx="14630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forest higher on</a:t>
            </a:r>
          </a:p>
        </p:txBody>
      </p:sp>
      <p:sp>
        <p:nvSpPr>
          <p:cNvPr id="8" name="TextBox 7"/>
          <p:cNvSpPr txBox="1"/>
          <p:nvPr/>
        </p:nvSpPr>
        <p:spPr>
          <a:xfrm>
            <a:off x="6464808" y="2304288"/>
            <a:ext cx="118872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median Δ</a:t>
            </a:r>
          </a:p>
        </p:txBody>
      </p:sp>
      <p:sp>
        <p:nvSpPr>
          <p:cNvPr id="9" name="TextBox 8"/>
          <p:cNvSpPr txBox="1"/>
          <p:nvPr/>
        </p:nvSpPr>
        <p:spPr>
          <a:xfrm>
            <a:off x="7744967" y="2304288"/>
            <a:ext cx="109728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mean Δ</a:t>
            </a:r>
          </a:p>
        </p:txBody>
      </p:sp>
      <p:sp>
        <p:nvSpPr>
          <p:cNvPr id="10" name="TextBox 9"/>
          <p:cNvSpPr txBox="1"/>
          <p:nvPr/>
        </p:nvSpPr>
        <p:spPr>
          <a:xfrm>
            <a:off x="8933688" y="2304288"/>
            <a:ext cx="91440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p</a:t>
            </a:r>
          </a:p>
        </p:txBody>
      </p:sp>
      <p:sp>
        <p:nvSpPr>
          <p:cNvPr id="11" name="TextBox 10"/>
          <p:cNvSpPr txBox="1"/>
          <p:nvPr/>
        </p:nvSpPr>
        <p:spPr>
          <a:xfrm>
            <a:off x="9893807" y="2304288"/>
            <a:ext cx="173736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verdict</a:t>
            </a:r>
          </a:p>
        </p:txBody>
      </p:sp>
      <p:sp>
        <p:nvSpPr>
          <p:cNvPr id="12" name="Rounded Rectangle 11"/>
          <p:cNvSpPr/>
          <p:nvPr/>
        </p:nvSpPr>
        <p:spPr>
          <a:xfrm>
            <a:off x="566928" y="2551176"/>
            <a:ext cx="11057839"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7" y="2633472"/>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forest vs kNN read-across</a:t>
            </a:r>
          </a:p>
        </p:txBody>
      </p:sp>
      <p:sp>
        <p:nvSpPr>
          <p:cNvPr id="14" name="TextBox 13"/>
          <p:cNvSpPr txBox="1"/>
          <p:nvPr/>
        </p:nvSpPr>
        <p:spPr>
          <a:xfrm>
            <a:off x="4910328" y="2633472"/>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13 of 13</a:t>
            </a:r>
          </a:p>
        </p:txBody>
      </p:sp>
      <p:sp>
        <p:nvSpPr>
          <p:cNvPr id="15" name="TextBox 14"/>
          <p:cNvSpPr txBox="1"/>
          <p:nvPr/>
        </p:nvSpPr>
        <p:spPr>
          <a:xfrm>
            <a:off x="6464808" y="2633472"/>
            <a:ext cx="118872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+0.0382</a:t>
            </a:r>
          </a:p>
        </p:txBody>
      </p:sp>
      <p:sp>
        <p:nvSpPr>
          <p:cNvPr id="16" name="TextBox 15"/>
          <p:cNvSpPr txBox="1"/>
          <p:nvPr/>
        </p:nvSpPr>
        <p:spPr>
          <a:xfrm>
            <a:off x="7744967" y="2633472"/>
            <a:ext cx="109728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+0.0407</a:t>
            </a:r>
          </a:p>
        </p:txBody>
      </p:sp>
      <p:sp>
        <p:nvSpPr>
          <p:cNvPr id="17" name="TextBox 16"/>
          <p:cNvSpPr txBox="1"/>
          <p:nvPr/>
        </p:nvSpPr>
        <p:spPr>
          <a:xfrm>
            <a:off x="8933688" y="2633472"/>
            <a:ext cx="914400" cy="310896"/>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0.0002</a:t>
            </a:r>
          </a:p>
        </p:txBody>
      </p:sp>
      <p:sp>
        <p:nvSpPr>
          <p:cNvPr id="18" name="TextBox 17"/>
          <p:cNvSpPr txBox="1"/>
          <p:nvPr/>
        </p:nvSpPr>
        <p:spPr>
          <a:xfrm>
            <a:off x="9893807" y="2633472"/>
            <a:ext cx="1737360" cy="310896"/>
          </a:xfrm>
          <a:prstGeom prst="rect">
            <a:avLst/>
          </a:prstGeom>
          <a:noFill/>
        </p:spPr>
        <p:txBody>
          <a:bodyPr wrap="square" lIns="0" rIns="0" tIns="0" bIns="0" anchor="t">
            <a:spAutoFit/>
          </a:bodyPr>
          <a:lstStyle/>
          <a:p>
            <a:pPr algn="l">
              <a:spcAft>
                <a:spcPts val="600"/>
              </a:spcAft>
            </a:pPr>
            <a:r>
              <a:rPr sz="1150" b="0" i="0">
                <a:solidFill>
                  <a:srgbClr val="1F3A5F"/>
                </a:solidFill>
                <a:latin typeface="Calibri"/>
              </a:rPr>
              <a:t>distinguishable</a:t>
            </a:r>
          </a:p>
        </p:txBody>
      </p:sp>
      <p:sp>
        <p:nvSpPr>
          <p:cNvPr id="19" name="TextBox 18"/>
          <p:cNvSpPr txBox="1"/>
          <p:nvPr/>
        </p:nvSpPr>
        <p:spPr>
          <a:xfrm>
            <a:off x="841247" y="3108960"/>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forest vs L2 logistic regression</a:t>
            </a:r>
          </a:p>
        </p:txBody>
      </p:sp>
      <p:sp>
        <p:nvSpPr>
          <p:cNvPr id="20" name="TextBox 19"/>
          <p:cNvSpPr txBox="1"/>
          <p:nvPr/>
        </p:nvSpPr>
        <p:spPr>
          <a:xfrm>
            <a:off x="4910328" y="3108960"/>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13 of 13</a:t>
            </a:r>
          </a:p>
        </p:txBody>
      </p:sp>
      <p:sp>
        <p:nvSpPr>
          <p:cNvPr id="21" name="TextBox 20"/>
          <p:cNvSpPr txBox="1"/>
          <p:nvPr/>
        </p:nvSpPr>
        <p:spPr>
          <a:xfrm>
            <a:off x="6464808" y="3108960"/>
            <a:ext cx="118872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+0.1030</a:t>
            </a:r>
          </a:p>
        </p:txBody>
      </p:sp>
      <p:sp>
        <p:nvSpPr>
          <p:cNvPr id="22" name="TextBox 21"/>
          <p:cNvSpPr txBox="1"/>
          <p:nvPr/>
        </p:nvSpPr>
        <p:spPr>
          <a:xfrm>
            <a:off x="7744967" y="3108960"/>
            <a:ext cx="109728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+0.1988</a:t>
            </a:r>
          </a:p>
        </p:txBody>
      </p:sp>
      <p:sp>
        <p:nvSpPr>
          <p:cNvPr id="23" name="TextBox 22"/>
          <p:cNvSpPr txBox="1"/>
          <p:nvPr/>
        </p:nvSpPr>
        <p:spPr>
          <a:xfrm>
            <a:off x="8933688" y="3108960"/>
            <a:ext cx="914400" cy="310896"/>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0.0002</a:t>
            </a:r>
          </a:p>
        </p:txBody>
      </p:sp>
      <p:sp>
        <p:nvSpPr>
          <p:cNvPr id="24" name="TextBox 23"/>
          <p:cNvSpPr txBox="1"/>
          <p:nvPr/>
        </p:nvSpPr>
        <p:spPr>
          <a:xfrm>
            <a:off x="9893807" y="3108960"/>
            <a:ext cx="1737360" cy="310896"/>
          </a:xfrm>
          <a:prstGeom prst="rect">
            <a:avLst/>
          </a:prstGeom>
          <a:noFill/>
        </p:spPr>
        <p:txBody>
          <a:bodyPr wrap="square" lIns="0" rIns="0" tIns="0" bIns="0" anchor="t">
            <a:spAutoFit/>
          </a:bodyPr>
          <a:lstStyle/>
          <a:p>
            <a:pPr algn="l">
              <a:spcAft>
                <a:spcPts val="600"/>
              </a:spcAft>
            </a:pPr>
            <a:r>
              <a:rPr sz="1150" b="0" i="0">
                <a:solidFill>
                  <a:srgbClr val="1F3A5F"/>
                </a:solidFill>
                <a:latin typeface="Calibri"/>
              </a:rPr>
              <a:t>distinguishable</a:t>
            </a:r>
          </a:p>
        </p:txBody>
      </p:sp>
      <p:sp>
        <p:nvSpPr>
          <p:cNvPr id="25" name="Rounded Rectangle 24"/>
          <p:cNvSpPr/>
          <p:nvPr/>
        </p:nvSpPr>
        <p:spPr>
          <a:xfrm>
            <a:off x="566928" y="3502152"/>
            <a:ext cx="11057839"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584448"/>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forest vs XGBoost</a:t>
            </a:r>
          </a:p>
        </p:txBody>
      </p:sp>
      <p:sp>
        <p:nvSpPr>
          <p:cNvPr id="27" name="TextBox 26"/>
          <p:cNvSpPr txBox="1"/>
          <p:nvPr/>
        </p:nvSpPr>
        <p:spPr>
          <a:xfrm>
            <a:off x="4910328" y="3584448"/>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8 of 13</a:t>
            </a:r>
          </a:p>
        </p:txBody>
      </p:sp>
      <p:sp>
        <p:nvSpPr>
          <p:cNvPr id="28" name="TextBox 27"/>
          <p:cNvSpPr txBox="1"/>
          <p:nvPr/>
        </p:nvSpPr>
        <p:spPr>
          <a:xfrm>
            <a:off x="6464808" y="3584448"/>
            <a:ext cx="118872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+0.0033</a:t>
            </a:r>
          </a:p>
        </p:txBody>
      </p:sp>
      <p:sp>
        <p:nvSpPr>
          <p:cNvPr id="29" name="TextBox 28"/>
          <p:cNvSpPr txBox="1"/>
          <p:nvPr/>
        </p:nvSpPr>
        <p:spPr>
          <a:xfrm>
            <a:off x="7744967" y="3584448"/>
            <a:ext cx="1097280" cy="310896"/>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-0.0051</a:t>
            </a:r>
          </a:p>
        </p:txBody>
      </p:sp>
      <p:sp>
        <p:nvSpPr>
          <p:cNvPr id="30" name="TextBox 29"/>
          <p:cNvSpPr txBox="1"/>
          <p:nvPr/>
        </p:nvSpPr>
        <p:spPr>
          <a:xfrm>
            <a:off x="8933688" y="3584448"/>
            <a:ext cx="914400" cy="310896"/>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0.7353</a:t>
            </a:r>
          </a:p>
        </p:txBody>
      </p:sp>
      <p:sp>
        <p:nvSpPr>
          <p:cNvPr id="31" name="TextBox 30"/>
          <p:cNvSpPr txBox="1"/>
          <p:nvPr/>
        </p:nvSpPr>
        <p:spPr>
          <a:xfrm>
            <a:off x="9893807" y="3584448"/>
            <a:ext cx="1737360" cy="310896"/>
          </a:xfrm>
          <a:prstGeom prst="rect">
            <a:avLst/>
          </a:prstGeom>
          <a:noFill/>
        </p:spPr>
        <p:txBody>
          <a:bodyPr wrap="square" lIns="0" rIns="0" tIns="0" bIns="0" anchor="t">
            <a:spAutoFit/>
          </a:bodyPr>
          <a:lstStyle/>
          <a:p>
            <a:pPr algn="l">
              <a:spcAft>
                <a:spcPts val="600"/>
              </a:spcAft>
            </a:pPr>
            <a:r>
              <a:rPr sz="1150" b="1" i="0">
                <a:solidFill>
                  <a:srgbClr val="9E2A2B"/>
                </a:solidFill>
                <a:latin typeface="Calibri"/>
              </a:rPr>
              <a:t>not distinguishable</a:t>
            </a:r>
          </a:p>
        </p:txBody>
      </p:sp>
      <p:sp>
        <p:nvSpPr>
          <p:cNvPr id="32" name="TextBox 31"/>
          <p:cNvSpPr txBox="1"/>
          <p:nvPr/>
        </p:nvSpPr>
        <p:spPr>
          <a:xfrm>
            <a:off x="841247" y="4059935"/>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forest vs histogram gradient boosting</a:t>
            </a:r>
          </a:p>
        </p:txBody>
      </p:sp>
      <p:sp>
        <p:nvSpPr>
          <p:cNvPr id="33" name="TextBox 32"/>
          <p:cNvSpPr txBox="1"/>
          <p:nvPr/>
        </p:nvSpPr>
        <p:spPr>
          <a:xfrm>
            <a:off x="4910328" y="4059935"/>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8 of 13</a:t>
            </a:r>
          </a:p>
        </p:txBody>
      </p:sp>
      <p:sp>
        <p:nvSpPr>
          <p:cNvPr id="34" name="TextBox 33"/>
          <p:cNvSpPr txBox="1"/>
          <p:nvPr/>
        </p:nvSpPr>
        <p:spPr>
          <a:xfrm>
            <a:off x="6464808" y="4059935"/>
            <a:ext cx="118872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+0.0026</a:t>
            </a:r>
          </a:p>
        </p:txBody>
      </p:sp>
      <p:sp>
        <p:nvSpPr>
          <p:cNvPr id="35" name="TextBox 34"/>
          <p:cNvSpPr txBox="1"/>
          <p:nvPr/>
        </p:nvSpPr>
        <p:spPr>
          <a:xfrm>
            <a:off x="7744967" y="4059935"/>
            <a:ext cx="1097280" cy="310896"/>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-0.0054</a:t>
            </a:r>
          </a:p>
        </p:txBody>
      </p:sp>
      <p:sp>
        <p:nvSpPr>
          <p:cNvPr id="36" name="TextBox 35"/>
          <p:cNvSpPr txBox="1"/>
          <p:nvPr/>
        </p:nvSpPr>
        <p:spPr>
          <a:xfrm>
            <a:off x="8933688" y="4059935"/>
            <a:ext cx="914400" cy="310896"/>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0.8926</a:t>
            </a:r>
          </a:p>
        </p:txBody>
      </p:sp>
      <p:sp>
        <p:nvSpPr>
          <p:cNvPr id="37" name="TextBox 36"/>
          <p:cNvSpPr txBox="1"/>
          <p:nvPr/>
        </p:nvSpPr>
        <p:spPr>
          <a:xfrm>
            <a:off x="9893807" y="4059935"/>
            <a:ext cx="1737360" cy="310896"/>
          </a:xfrm>
          <a:prstGeom prst="rect">
            <a:avLst/>
          </a:prstGeom>
          <a:noFill/>
        </p:spPr>
        <p:txBody>
          <a:bodyPr wrap="square" lIns="0" rIns="0" tIns="0" bIns="0" anchor="t">
            <a:spAutoFit/>
          </a:bodyPr>
          <a:lstStyle/>
          <a:p>
            <a:pPr algn="l">
              <a:spcAft>
                <a:spcPts val="600"/>
              </a:spcAft>
            </a:pPr>
            <a:r>
              <a:rPr sz="1150" b="1" i="0">
                <a:solidFill>
                  <a:srgbClr val="9E2A2B"/>
                </a:solidFill>
                <a:latin typeface="Calibri"/>
              </a:rPr>
              <a:t>not distinguishable</a:t>
            </a:r>
          </a:p>
        </p:txBody>
      </p:sp>
      <p:sp>
        <p:nvSpPr>
          <p:cNvPr id="38" name="Rounded Rectangle 37"/>
          <p:cNvSpPr/>
          <p:nvPr/>
        </p:nvSpPr>
        <p:spPr>
          <a:xfrm>
            <a:off x="566928" y="4453127"/>
            <a:ext cx="11057839" cy="47548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841247" y="4535423"/>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forest vs XGBoost, classification only</a:t>
            </a:r>
          </a:p>
        </p:txBody>
      </p:sp>
      <p:sp>
        <p:nvSpPr>
          <p:cNvPr id="40" name="TextBox 39"/>
          <p:cNvSpPr txBox="1"/>
          <p:nvPr/>
        </p:nvSpPr>
        <p:spPr>
          <a:xfrm>
            <a:off x="4910328" y="4535423"/>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8 of 8</a:t>
            </a:r>
          </a:p>
        </p:txBody>
      </p:sp>
      <p:sp>
        <p:nvSpPr>
          <p:cNvPr id="41" name="TextBox 40"/>
          <p:cNvSpPr txBox="1"/>
          <p:nvPr/>
        </p:nvSpPr>
        <p:spPr>
          <a:xfrm>
            <a:off x="6464808" y="4535423"/>
            <a:ext cx="118872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+0.0048</a:t>
            </a:r>
          </a:p>
        </p:txBody>
      </p:sp>
      <p:sp>
        <p:nvSpPr>
          <p:cNvPr id="42" name="TextBox 41"/>
          <p:cNvSpPr txBox="1"/>
          <p:nvPr/>
        </p:nvSpPr>
        <p:spPr>
          <a:xfrm>
            <a:off x="7744967" y="4535423"/>
            <a:ext cx="109728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+0.0056</a:t>
            </a:r>
          </a:p>
        </p:txBody>
      </p:sp>
      <p:sp>
        <p:nvSpPr>
          <p:cNvPr id="43" name="TextBox 42"/>
          <p:cNvSpPr txBox="1"/>
          <p:nvPr/>
        </p:nvSpPr>
        <p:spPr>
          <a:xfrm>
            <a:off x="8933688" y="4535423"/>
            <a:ext cx="914400" cy="310896"/>
          </a:xfrm>
          <a:prstGeom prst="rect">
            <a:avLst/>
          </a:prstGeom>
          <a:noFill/>
        </p:spPr>
        <p:txBody>
          <a:bodyPr wrap="square" lIns="0" rIns="0" tIns="0" bIns="0" anchor="t">
            <a:spAutoFit/>
          </a:bodyPr>
          <a:lstStyle/>
          <a:p>
            <a:pPr algn="r">
              <a:spcAft>
                <a:spcPts val="600"/>
              </a:spcAft>
            </a:pPr>
            <a:r>
              <a:rPr sz="1250" b="1" i="0">
                <a:solidFill>
                  <a:srgbClr val="1F3A5F"/>
                </a:solidFill>
                <a:latin typeface="Calibri"/>
              </a:rPr>
              <a:t>0.0078</a:t>
            </a:r>
          </a:p>
        </p:txBody>
      </p:sp>
      <p:sp>
        <p:nvSpPr>
          <p:cNvPr id="44" name="TextBox 43"/>
          <p:cNvSpPr txBox="1"/>
          <p:nvPr/>
        </p:nvSpPr>
        <p:spPr>
          <a:xfrm>
            <a:off x="9893807" y="4535423"/>
            <a:ext cx="1737360" cy="310896"/>
          </a:xfrm>
          <a:prstGeom prst="rect">
            <a:avLst/>
          </a:prstGeom>
          <a:noFill/>
        </p:spPr>
        <p:txBody>
          <a:bodyPr wrap="square" lIns="0" rIns="0" tIns="0" bIns="0" anchor="t">
            <a:spAutoFit/>
          </a:bodyPr>
          <a:lstStyle/>
          <a:p>
            <a:pPr algn="l">
              <a:spcAft>
                <a:spcPts val="600"/>
              </a:spcAft>
            </a:pPr>
            <a:r>
              <a:rPr sz="1150" b="0" i="0">
                <a:solidFill>
                  <a:srgbClr val="1F3A5F"/>
                </a:solidFill>
                <a:latin typeface="Calibri"/>
              </a:rPr>
              <a:t>distinguishable</a:t>
            </a:r>
          </a:p>
        </p:txBody>
      </p:sp>
      <p:sp>
        <p:nvSpPr>
          <p:cNvPr id="45" name="TextBox 44"/>
          <p:cNvSpPr txBox="1"/>
          <p:nvPr/>
        </p:nvSpPr>
        <p:spPr>
          <a:xfrm>
            <a:off x="841247" y="5010911"/>
            <a:ext cx="4023360" cy="310896"/>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forest vs histogram gradient boosting, classification only</a:t>
            </a:r>
          </a:p>
        </p:txBody>
      </p:sp>
      <p:sp>
        <p:nvSpPr>
          <p:cNvPr id="46" name="TextBox 45"/>
          <p:cNvSpPr txBox="1"/>
          <p:nvPr/>
        </p:nvSpPr>
        <p:spPr>
          <a:xfrm>
            <a:off x="4910328" y="5010911"/>
            <a:ext cx="146304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7 of 8</a:t>
            </a:r>
          </a:p>
        </p:txBody>
      </p:sp>
      <p:sp>
        <p:nvSpPr>
          <p:cNvPr id="47" name="TextBox 46"/>
          <p:cNvSpPr txBox="1"/>
          <p:nvPr/>
        </p:nvSpPr>
        <p:spPr>
          <a:xfrm>
            <a:off x="6464808" y="5010911"/>
            <a:ext cx="118872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+0.0049</a:t>
            </a:r>
          </a:p>
        </p:txBody>
      </p:sp>
      <p:sp>
        <p:nvSpPr>
          <p:cNvPr id="48" name="TextBox 47"/>
          <p:cNvSpPr txBox="1"/>
          <p:nvPr/>
        </p:nvSpPr>
        <p:spPr>
          <a:xfrm>
            <a:off x="7744967" y="5010911"/>
            <a:ext cx="1097280" cy="310896"/>
          </a:xfrm>
          <a:prstGeom prst="rect">
            <a:avLst/>
          </a:prstGeom>
          <a:noFill/>
        </p:spPr>
        <p:txBody>
          <a:bodyPr wrap="square" lIns="0" rIns="0" tIns="0" bIns="0" anchor="t">
            <a:spAutoFit/>
          </a:bodyPr>
          <a:lstStyle/>
          <a:p>
            <a:pPr algn="r">
              <a:spcAft>
                <a:spcPts val="600"/>
              </a:spcAft>
            </a:pPr>
            <a:r>
              <a:rPr sz="1250" b="0" i="0">
                <a:solidFill>
                  <a:srgbClr val="0F1A2E"/>
                </a:solidFill>
                <a:latin typeface="Calibri"/>
              </a:rPr>
              <a:t>+0.0059</a:t>
            </a:r>
          </a:p>
        </p:txBody>
      </p:sp>
      <p:sp>
        <p:nvSpPr>
          <p:cNvPr id="49" name="TextBox 48"/>
          <p:cNvSpPr txBox="1"/>
          <p:nvPr/>
        </p:nvSpPr>
        <p:spPr>
          <a:xfrm>
            <a:off x="8933688" y="5010911"/>
            <a:ext cx="914400" cy="310896"/>
          </a:xfrm>
          <a:prstGeom prst="rect">
            <a:avLst/>
          </a:prstGeom>
          <a:noFill/>
        </p:spPr>
        <p:txBody>
          <a:bodyPr wrap="square" lIns="0" rIns="0" tIns="0" bIns="0" anchor="t">
            <a:spAutoFit/>
          </a:bodyPr>
          <a:lstStyle/>
          <a:p>
            <a:pPr algn="r">
              <a:spcAft>
                <a:spcPts val="600"/>
              </a:spcAft>
            </a:pPr>
            <a:r>
              <a:rPr sz="1250" b="1" i="0">
                <a:solidFill>
                  <a:srgbClr val="9E2A2B"/>
                </a:solidFill>
                <a:latin typeface="Calibri"/>
              </a:rPr>
              <a:t>0.0781</a:t>
            </a:r>
          </a:p>
        </p:txBody>
      </p:sp>
      <p:sp>
        <p:nvSpPr>
          <p:cNvPr id="50" name="TextBox 49"/>
          <p:cNvSpPr txBox="1"/>
          <p:nvPr/>
        </p:nvSpPr>
        <p:spPr>
          <a:xfrm>
            <a:off x="9893807" y="5010911"/>
            <a:ext cx="1737360" cy="310896"/>
          </a:xfrm>
          <a:prstGeom prst="rect">
            <a:avLst/>
          </a:prstGeom>
          <a:noFill/>
        </p:spPr>
        <p:txBody>
          <a:bodyPr wrap="square" lIns="0" rIns="0" tIns="0" bIns="0" anchor="t">
            <a:spAutoFit/>
          </a:bodyPr>
          <a:lstStyle/>
          <a:p>
            <a:pPr algn="l">
              <a:spcAft>
                <a:spcPts val="600"/>
              </a:spcAft>
            </a:pPr>
            <a:r>
              <a:rPr sz="1150" b="1" i="0">
                <a:solidFill>
                  <a:srgbClr val="9E2A2B"/>
                </a:solidFill>
                <a:latin typeface="Calibri"/>
              </a:rPr>
              <a:t>not distinguishable</a:t>
            </a:r>
          </a:p>
        </p:txBody>
      </p:sp>
      <p:sp>
        <p:nvSpPr>
          <p:cNvPr id="51" name="TextBox 50"/>
          <p:cNvSpPr txBox="1"/>
          <p:nvPr/>
        </p:nvSpPr>
        <p:spPr>
          <a:xfrm>
            <a:off x="566928" y="5577840"/>
            <a:ext cx="11057839" cy="777240"/>
          </a:xfrm>
          <a:prstGeom prst="rect">
            <a:avLst/>
          </a:prstGeom>
          <a:noFill/>
        </p:spPr>
        <p:txBody>
          <a:bodyPr wrap="square" lIns="0" rIns="0" tIns="0" bIns="0" anchor="t">
            <a:spAutoFit/>
          </a:bodyPr>
          <a:lstStyle/>
          <a:p>
            <a:pPr algn="l">
              <a:lnSpc>
                <a:spcPct val="126000"/>
              </a:lnSpc>
              <a:spcAft>
                <a:spcPts val="600"/>
              </a:spcAft>
            </a:pPr>
            <a:r>
              <a:rPr sz="1350" b="0" i="0">
                <a:solidFill>
                  <a:srgbClr val="0F1A2E"/>
                </a:solidFill>
                <a:latin typeface="Calibri"/>
              </a:rPr>
              <a:t>Against the baselines the forest is decisively better. Against boosting, pooled over all thirteen endpoints, it is statistically indistinguishable: the classification wins and the regression losses cancel. It was not selected for accuracy, because on this evidence it does not have more.</a:t>
            </a:r>
          </a:p>
        </p:txBody>
      </p:sp>
      <p:sp>
        <p:nvSpPr>
          <p:cNvPr id="52" name="TextBox 51"/>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results/tables/model_family_significance.csv. Wilcoxon signed-rank on per-endpoint means, not DeLong on ROC curves; the regression subset of five cannot reach p&lt;0.05.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A learned representation, tested rather than dismissed</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 graph isomorphism network on the raw molecular graph, identical scaffold hold-out</a:t>
            </a:r>
          </a:p>
        </p:txBody>
      </p:sp>
      <p:sp>
        <p:nvSpPr>
          <p:cNvPr id="5" name="TextBox 4"/>
          <p:cNvSpPr txBox="1"/>
          <p:nvPr/>
        </p:nvSpPr>
        <p:spPr>
          <a:xfrm>
            <a:off x="841247" y="1737360"/>
            <a:ext cx="274320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endpoint</a:t>
            </a:r>
          </a:p>
        </p:txBody>
      </p:sp>
      <p:sp>
        <p:nvSpPr>
          <p:cNvPr id="6" name="TextBox 5"/>
          <p:cNvSpPr txBox="1"/>
          <p:nvPr/>
        </p:nvSpPr>
        <p:spPr>
          <a:xfrm>
            <a:off x="3584448" y="1737360"/>
            <a:ext cx="1280160" cy="274320"/>
          </a:xfrm>
          <a:prstGeom prst="rect">
            <a:avLst/>
          </a:prstGeom>
          <a:noFill/>
        </p:spPr>
        <p:txBody>
          <a:bodyPr wrap="square" lIns="0" rIns="0" tIns="0" bIns="0" anchor="t">
            <a:spAutoFit/>
          </a:bodyPr>
          <a:lstStyle/>
          <a:p>
            <a:pPr algn="l">
              <a:spcAft>
                <a:spcPts val="600"/>
              </a:spcAft>
            </a:pPr>
            <a:r>
              <a:rPr sz="1100" b="1" i="0">
                <a:solidFill>
                  <a:srgbClr val="5F6B7A"/>
                </a:solidFill>
                <a:latin typeface="Calibri"/>
              </a:rPr>
              <a:t>metric</a:t>
            </a:r>
          </a:p>
        </p:txBody>
      </p:sp>
      <p:sp>
        <p:nvSpPr>
          <p:cNvPr id="7" name="TextBox 6"/>
          <p:cNvSpPr txBox="1"/>
          <p:nvPr/>
        </p:nvSpPr>
        <p:spPr>
          <a:xfrm>
            <a:off x="5138928" y="1737360"/>
            <a:ext cx="146304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GIN</a:t>
            </a:r>
          </a:p>
        </p:txBody>
      </p:sp>
      <p:sp>
        <p:nvSpPr>
          <p:cNvPr id="8" name="TextBox 7"/>
          <p:cNvSpPr txBox="1"/>
          <p:nvPr/>
        </p:nvSpPr>
        <p:spPr>
          <a:xfrm>
            <a:off x="6876288" y="1737360"/>
            <a:ext cx="1645920" cy="274320"/>
          </a:xfrm>
          <a:prstGeom prst="rect">
            <a:avLst/>
          </a:prstGeom>
          <a:noFill/>
        </p:spPr>
        <p:txBody>
          <a:bodyPr wrap="square" lIns="0" rIns="0" tIns="0" bIns="0" anchor="t">
            <a:spAutoFit/>
          </a:bodyPr>
          <a:lstStyle/>
          <a:p>
            <a:pPr algn="r">
              <a:spcAft>
                <a:spcPts val="600"/>
              </a:spcAft>
            </a:pPr>
            <a:r>
              <a:rPr sz="1100" b="1" i="0">
                <a:solidFill>
                  <a:srgbClr val="5F6B7A"/>
                </a:solidFill>
                <a:latin typeface="Calibri"/>
              </a:rPr>
              <a:t>random forest</a:t>
            </a:r>
          </a:p>
        </p:txBody>
      </p:sp>
      <p:sp>
        <p:nvSpPr>
          <p:cNvPr id="9" name="Rounded Rectangle 8"/>
          <p:cNvSpPr/>
          <p:nvPr/>
        </p:nvSpPr>
        <p:spPr>
          <a:xfrm>
            <a:off x="566928" y="2011679"/>
            <a:ext cx="827532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103120"/>
            <a:ext cx="2743200" cy="329184"/>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BBB</a:t>
            </a:r>
          </a:p>
        </p:txBody>
      </p:sp>
      <p:sp>
        <p:nvSpPr>
          <p:cNvPr id="11" name="TextBox 10"/>
          <p:cNvSpPr txBox="1"/>
          <p:nvPr/>
        </p:nvSpPr>
        <p:spPr>
          <a:xfrm>
            <a:off x="3584448" y="2103120"/>
            <a:ext cx="1280160" cy="329184"/>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AUROC</a:t>
            </a:r>
          </a:p>
        </p:txBody>
      </p:sp>
      <p:sp>
        <p:nvSpPr>
          <p:cNvPr id="12" name="TextBox 11"/>
          <p:cNvSpPr txBox="1"/>
          <p:nvPr/>
        </p:nvSpPr>
        <p:spPr>
          <a:xfrm>
            <a:off x="5138928" y="2103120"/>
            <a:ext cx="1463040" cy="329184"/>
          </a:xfrm>
          <a:prstGeom prst="rect">
            <a:avLst/>
          </a:prstGeom>
          <a:noFill/>
        </p:spPr>
        <p:txBody>
          <a:bodyPr wrap="square" lIns="0" rIns="0" tIns="0" bIns="0" anchor="t">
            <a:spAutoFit/>
          </a:bodyPr>
          <a:lstStyle/>
          <a:p>
            <a:pPr algn="r">
              <a:spcAft>
                <a:spcPts val="600"/>
              </a:spcAft>
            </a:pPr>
            <a:r>
              <a:rPr sz="1400" b="0" i="0">
                <a:solidFill>
                  <a:srgbClr val="5F6B7A"/>
                </a:solidFill>
                <a:latin typeface="Calibri"/>
              </a:rPr>
              <a:t>0.8868</a:t>
            </a:r>
          </a:p>
        </p:txBody>
      </p:sp>
      <p:sp>
        <p:nvSpPr>
          <p:cNvPr id="13" name="TextBox 12"/>
          <p:cNvSpPr txBox="1"/>
          <p:nvPr/>
        </p:nvSpPr>
        <p:spPr>
          <a:xfrm>
            <a:off x="6876288" y="2103120"/>
            <a:ext cx="1645920" cy="329184"/>
          </a:xfrm>
          <a:prstGeom prst="rect">
            <a:avLst/>
          </a:prstGeom>
          <a:noFill/>
        </p:spPr>
        <p:txBody>
          <a:bodyPr wrap="square" lIns="0" rIns="0" tIns="0" bIns="0" anchor="t">
            <a:spAutoFit/>
          </a:bodyPr>
          <a:lstStyle/>
          <a:p>
            <a:pPr algn="r">
              <a:spcAft>
                <a:spcPts val="600"/>
              </a:spcAft>
            </a:pPr>
            <a:r>
              <a:rPr sz="1400" b="1" i="0">
                <a:solidFill>
                  <a:srgbClr val="1F3A5F"/>
                </a:solidFill>
                <a:latin typeface="Calibri"/>
              </a:rPr>
              <a:t>0.9235</a:t>
            </a:r>
          </a:p>
        </p:txBody>
      </p:sp>
      <p:sp>
        <p:nvSpPr>
          <p:cNvPr id="14" name="Rounded Rectangle 13"/>
          <p:cNvSpPr/>
          <p:nvPr/>
        </p:nvSpPr>
        <p:spPr>
          <a:xfrm>
            <a:off x="566928" y="2688336"/>
            <a:ext cx="827532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7" y="2779776"/>
            <a:ext cx="2743200" cy="329184"/>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BACE1</a:t>
            </a:r>
          </a:p>
        </p:txBody>
      </p:sp>
      <p:sp>
        <p:nvSpPr>
          <p:cNvPr id="16" name="TextBox 15"/>
          <p:cNvSpPr txBox="1"/>
          <p:nvPr/>
        </p:nvSpPr>
        <p:spPr>
          <a:xfrm>
            <a:off x="3584448" y="2779776"/>
            <a:ext cx="1280160" cy="329184"/>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AUROC</a:t>
            </a:r>
          </a:p>
        </p:txBody>
      </p:sp>
      <p:sp>
        <p:nvSpPr>
          <p:cNvPr id="17" name="TextBox 16"/>
          <p:cNvSpPr txBox="1"/>
          <p:nvPr/>
        </p:nvSpPr>
        <p:spPr>
          <a:xfrm>
            <a:off x="5138928" y="2779776"/>
            <a:ext cx="1463040" cy="329184"/>
          </a:xfrm>
          <a:prstGeom prst="rect">
            <a:avLst/>
          </a:prstGeom>
          <a:noFill/>
        </p:spPr>
        <p:txBody>
          <a:bodyPr wrap="square" lIns="0" rIns="0" tIns="0" bIns="0" anchor="t">
            <a:spAutoFit/>
          </a:bodyPr>
          <a:lstStyle/>
          <a:p>
            <a:pPr algn="r">
              <a:spcAft>
                <a:spcPts val="600"/>
              </a:spcAft>
            </a:pPr>
            <a:r>
              <a:rPr sz="1400" b="0" i="0">
                <a:solidFill>
                  <a:srgbClr val="5F6B7A"/>
                </a:solidFill>
                <a:latin typeface="Calibri"/>
              </a:rPr>
              <a:t>0.9243</a:t>
            </a:r>
          </a:p>
        </p:txBody>
      </p:sp>
      <p:sp>
        <p:nvSpPr>
          <p:cNvPr id="18" name="TextBox 17"/>
          <p:cNvSpPr txBox="1"/>
          <p:nvPr/>
        </p:nvSpPr>
        <p:spPr>
          <a:xfrm>
            <a:off x="6876288" y="2779776"/>
            <a:ext cx="1645920" cy="329184"/>
          </a:xfrm>
          <a:prstGeom prst="rect">
            <a:avLst/>
          </a:prstGeom>
          <a:noFill/>
        </p:spPr>
        <p:txBody>
          <a:bodyPr wrap="square" lIns="0" rIns="0" tIns="0" bIns="0" anchor="t">
            <a:spAutoFit/>
          </a:bodyPr>
          <a:lstStyle/>
          <a:p>
            <a:pPr algn="r">
              <a:spcAft>
                <a:spcPts val="600"/>
              </a:spcAft>
            </a:pPr>
            <a:r>
              <a:rPr sz="1400" b="1" i="0">
                <a:solidFill>
                  <a:srgbClr val="1F3A5F"/>
                </a:solidFill>
                <a:latin typeface="Calibri"/>
              </a:rPr>
              <a:t>0.9571</a:t>
            </a:r>
          </a:p>
        </p:txBody>
      </p:sp>
      <p:sp>
        <p:nvSpPr>
          <p:cNvPr id="19" name="Rounded Rectangle 18"/>
          <p:cNvSpPr/>
          <p:nvPr/>
        </p:nvSpPr>
        <p:spPr>
          <a:xfrm>
            <a:off x="566928" y="3364992"/>
            <a:ext cx="827532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3456432"/>
            <a:ext cx="2743200" cy="329184"/>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MAO_A</a:t>
            </a:r>
          </a:p>
        </p:txBody>
      </p:sp>
      <p:sp>
        <p:nvSpPr>
          <p:cNvPr id="21" name="TextBox 20"/>
          <p:cNvSpPr txBox="1"/>
          <p:nvPr/>
        </p:nvSpPr>
        <p:spPr>
          <a:xfrm>
            <a:off x="3584448" y="3456432"/>
            <a:ext cx="1280160" cy="329184"/>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AUROC</a:t>
            </a:r>
          </a:p>
        </p:txBody>
      </p:sp>
      <p:sp>
        <p:nvSpPr>
          <p:cNvPr id="22" name="TextBox 21"/>
          <p:cNvSpPr txBox="1"/>
          <p:nvPr/>
        </p:nvSpPr>
        <p:spPr>
          <a:xfrm>
            <a:off x="5138928" y="3456432"/>
            <a:ext cx="1463040" cy="329184"/>
          </a:xfrm>
          <a:prstGeom prst="rect">
            <a:avLst/>
          </a:prstGeom>
          <a:noFill/>
        </p:spPr>
        <p:txBody>
          <a:bodyPr wrap="square" lIns="0" rIns="0" tIns="0" bIns="0" anchor="t">
            <a:spAutoFit/>
          </a:bodyPr>
          <a:lstStyle/>
          <a:p>
            <a:pPr algn="r">
              <a:spcAft>
                <a:spcPts val="600"/>
              </a:spcAft>
            </a:pPr>
            <a:r>
              <a:rPr sz="1400" b="0" i="0">
                <a:solidFill>
                  <a:srgbClr val="5F6B7A"/>
                </a:solidFill>
                <a:latin typeface="Calibri"/>
              </a:rPr>
              <a:t>0.7363</a:t>
            </a:r>
          </a:p>
        </p:txBody>
      </p:sp>
      <p:sp>
        <p:nvSpPr>
          <p:cNvPr id="23" name="TextBox 22"/>
          <p:cNvSpPr txBox="1"/>
          <p:nvPr/>
        </p:nvSpPr>
        <p:spPr>
          <a:xfrm>
            <a:off x="6876288" y="3456432"/>
            <a:ext cx="1645920" cy="329184"/>
          </a:xfrm>
          <a:prstGeom prst="rect">
            <a:avLst/>
          </a:prstGeom>
          <a:noFill/>
        </p:spPr>
        <p:txBody>
          <a:bodyPr wrap="square" lIns="0" rIns="0" tIns="0" bIns="0" anchor="t">
            <a:spAutoFit/>
          </a:bodyPr>
          <a:lstStyle/>
          <a:p>
            <a:pPr algn="r">
              <a:spcAft>
                <a:spcPts val="600"/>
              </a:spcAft>
            </a:pPr>
            <a:r>
              <a:rPr sz="1400" b="1" i="0">
                <a:solidFill>
                  <a:srgbClr val="1F3A5F"/>
                </a:solidFill>
                <a:latin typeface="Calibri"/>
              </a:rPr>
              <a:t>0.8100</a:t>
            </a:r>
          </a:p>
        </p:txBody>
      </p:sp>
      <p:sp>
        <p:nvSpPr>
          <p:cNvPr id="24" name="Rounded Rectangle 23"/>
          <p:cNvSpPr/>
          <p:nvPr/>
        </p:nvSpPr>
        <p:spPr>
          <a:xfrm>
            <a:off x="566928" y="4041648"/>
            <a:ext cx="8275320" cy="56692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4133088"/>
            <a:ext cx="2743200" cy="329184"/>
          </a:xfrm>
          <a:prstGeom prst="rect">
            <a:avLst/>
          </a:prstGeom>
          <a:noFill/>
        </p:spPr>
        <p:txBody>
          <a:bodyPr wrap="square" lIns="0" rIns="0" tIns="0" bIns="0" anchor="t">
            <a:spAutoFit/>
          </a:bodyPr>
          <a:lstStyle/>
          <a:p>
            <a:pPr algn="l">
              <a:spcAft>
                <a:spcPts val="600"/>
              </a:spcAft>
            </a:pPr>
            <a:r>
              <a:rPr sz="1400" b="1" i="0">
                <a:solidFill>
                  <a:srgbClr val="0F1A2E"/>
                </a:solidFill>
                <a:latin typeface="Calibri"/>
              </a:rPr>
              <a:t>A2A</a:t>
            </a:r>
          </a:p>
        </p:txBody>
      </p:sp>
      <p:sp>
        <p:nvSpPr>
          <p:cNvPr id="26" name="TextBox 25"/>
          <p:cNvSpPr txBox="1"/>
          <p:nvPr/>
        </p:nvSpPr>
        <p:spPr>
          <a:xfrm>
            <a:off x="3584448" y="4133088"/>
            <a:ext cx="1280160" cy="329184"/>
          </a:xfrm>
          <a:prstGeom prst="rect">
            <a:avLst/>
          </a:prstGeom>
          <a:noFill/>
        </p:spPr>
        <p:txBody>
          <a:bodyPr wrap="square" lIns="0" rIns="0" tIns="0" bIns="0" anchor="t">
            <a:spAutoFit/>
          </a:bodyPr>
          <a:lstStyle/>
          <a:p>
            <a:pPr algn="l">
              <a:spcAft>
                <a:spcPts val="600"/>
              </a:spcAft>
            </a:pPr>
            <a:r>
              <a:rPr sz="1250" b="0" i="0">
                <a:solidFill>
                  <a:srgbClr val="5F6B7A"/>
                </a:solidFill>
                <a:latin typeface="Calibri"/>
              </a:rPr>
              <a:t>R²</a:t>
            </a:r>
          </a:p>
        </p:txBody>
      </p:sp>
      <p:sp>
        <p:nvSpPr>
          <p:cNvPr id="27" name="TextBox 26"/>
          <p:cNvSpPr txBox="1"/>
          <p:nvPr/>
        </p:nvSpPr>
        <p:spPr>
          <a:xfrm>
            <a:off x="5138928" y="4133088"/>
            <a:ext cx="1463040" cy="329184"/>
          </a:xfrm>
          <a:prstGeom prst="rect">
            <a:avLst/>
          </a:prstGeom>
          <a:noFill/>
        </p:spPr>
        <p:txBody>
          <a:bodyPr wrap="square" lIns="0" rIns="0" tIns="0" bIns="0" anchor="t">
            <a:spAutoFit/>
          </a:bodyPr>
          <a:lstStyle/>
          <a:p>
            <a:pPr algn="r">
              <a:spcAft>
                <a:spcPts val="600"/>
              </a:spcAft>
            </a:pPr>
            <a:r>
              <a:rPr sz="1400" b="0" i="0">
                <a:solidFill>
                  <a:srgbClr val="5F6B7A"/>
                </a:solidFill>
                <a:latin typeface="Calibri"/>
              </a:rPr>
              <a:t>0.4673</a:t>
            </a:r>
          </a:p>
        </p:txBody>
      </p:sp>
      <p:sp>
        <p:nvSpPr>
          <p:cNvPr id="28" name="TextBox 27"/>
          <p:cNvSpPr txBox="1"/>
          <p:nvPr/>
        </p:nvSpPr>
        <p:spPr>
          <a:xfrm>
            <a:off x="6876288" y="4133088"/>
            <a:ext cx="1645920" cy="329184"/>
          </a:xfrm>
          <a:prstGeom prst="rect">
            <a:avLst/>
          </a:prstGeom>
          <a:noFill/>
        </p:spPr>
        <p:txBody>
          <a:bodyPr wrap="square" lIns="0" rIns="0" tIns="0" bIns="0" anchor="t">
            <a:spAutoFit/>
          </a:bodyPr>
          <a:lstStyle/>
          <a:p>
            <a:pPr algn="r">
              <a:spcAft>
                <a:spcPts val="600"/>
              </a:spcAft>
            </a:pPr>
            <a:r>
              <a:rPr sz="1400" b="1" i="0">
                <a:solidFill>
                  <a:srgbClr val="1F3A5F"/>
                </a:solidFill>
                <a:latin typeface="Calibri"/>
              </a:rPr>
              <a:t>0.5485</a:t>
            </a:r>
          </a:p>
        </p:txBody>
      </p:sp>
      <p:sp>
        <p:nvSpPr>
          <p:cNvPr id="29" name="TextBox 28"/>
          <p:cNvSpPr txBox="1"/>
          <p:nvPr/>
        </p:nvSpPr>
        <p:spPr>
          <a:xfrm>
            <a:off x="9253728" y="1920240"/>
            <a:ext cx="2371039" cy="2377440"/>
          </a:xfrm>
          <a:prstGeom prst="rect">
            <a:avLst/>
          </a:prstGeom>
          <a:noFill/>
        </p:spPr>
        <p:txBody>
          <a:bodyPr wrap="square" lIns="0" rIns="0" tIns="0" bIns="0" anchor="t">
            <a:spAutoFit/>
          </a:bodyPr>
          <a:lstStyle/>
          <a:p>
            <a:pPr algn="l">
              <a:lnSpc>
                <a:spcPct val="126000"/>
              </a:lnSpc>
              <a:spcAft>
                <a:spcPts val="600"/>
              </a:spcAft>
            </a:pPr>
            <a:r>
              <a:rPr sz="1400" b="1" i="0">
                <a:solidFill>
                  <a:srgbClr val="1F3A5F"/>
                </a:solidFill>
                <a:latin typeface="Calibri"/>
              </a:rPr>
              <a:t>The forest wins all four, and the margin is not marginal: 0.074 at MAO-A and 0.081 R² at A2A.</a:t>
            </a:r>
          </a:p>
        </p:txBody>
      </p:sp>
      <p:sp>
        <p:nvSpPr>
          <p:cNvPr id="30" name="TextBox 29"/>
          <p:cNvSpPr txBox="1"/>
          <p:nvPr/>
        </p:nvSpPr>
        <p:spPr>
          <a:xfrm>
            <a:off x="9253728" y="3291840"/>
            <a:ext cx="2371039" cy="2194560"/>
          </a:xfrm>
          <a:prstGeom prst="rect">
            <a:avLst/>
          </a:prstGeom>
          <a:noFill/>
        </p:spPr>
        <p:txBody>
          <a:bodyPr wrap="square" lIns="0" rIns="0" tIns="0" bIns="0" anchor="t">
            <a:spAutoFit/>
          </a:bodyPr>
          <a:lstStyle/>
          <a:p>
            <a:pPr algn="l">
              <a:lnSpc>
                <a:spcPct val="126000"/>
              </a:lnSpc>
              <a:spcAft>
                <a:spcPts val="600"/>
              </a:spcAft>
            </a:pPr>
            <a:r>
              <a:rPr sz="1250" b="0" i="0">
                <a:solidFill>
                  <a:srgbClr val="0F1A2E"/>
                </a:solidFill>
                <a:latin typeface="Calibri"/>
              </a:rPr>
              <a:t>Consistent with the literature on data scale: graph networks generally need far more data per task, or pretraining, to overtake fingerprints.
Four endpoints, not thirteen, so this bounds rather than settles it. Fine-tuning a pretrained chemical language model is the most defensible thing an unconvinced reader could ask for next, and it has not been tried.</a:t>
            </a:r>
          </a:p>
        </p:txBody>
      </p:sp>
      <p:sp>
        <p:nvSpPr>
          <p:cNvPr id="31" name="TextBox 30"/>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results/gnn/gnn_vs_rf.csv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9</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2700" b="1" i="0">
                <a:solidFill>
                  <a:srgbClr val="0F1A2E"/>
                </a:solidFill>
                <a:latin typeface="Cambria"/>
              </a:rPr>
              <a:t>Would more data have helped? The answer splits by task</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And the project's own documents record the wrong conclusion</a:t>
            </a:r>
          </a:p>
        </p:txBody>
      </p:sp>
      <p:graphicFrame>
        <p:nvGraphicFramePr>
          <p:cNvPr id="5" name="Chart 4"/>
          <p:cNvGraphicFramePr>
            <a:graphicFrameLocks noGrp="1"/>
          </p:cNvGraphicFramePr>
          <p:nvPr/>
        </p:nvGraphicFramePr>
        <p:xfrm>
          <a:off x="566928" y="1600200"/>
          <a:ext cx="6309360" cy="3794760"/>
        </p:xfrm>
        <a:graphic>
          <a:graphicData uri="http://schemas.openxmlformats.org/drawingml/2006/chart">
            <c:chart xmlns:c="http://schemas.openxmlformats.org/drawingml/2006/chart" r:id="rId2"/>
          </a:graphicData>
        </a:graphic>
      </p:graphicFrame>
      <p:sp>
        <p:nvSpPr>
          <p:cNvPr id="6" name="Rounded Rectangle 5"/>
          <p:cNvSpPr/>
          <p:nvPr/>
        </p:nvSpPr>
        <p:spPr>
          <a:xfrm>
            <a:off x="7196328" y="1627632"/>
            <a:ext cx="4428439" cy="196596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543800" y="1847088"/>
            <a:ext cx="4114800" cy="365760"/>
          </a:xfrm>
          <a:prstGeom prst="rect">
            <a:avLst/>
          </a:prstGeom>
          <a:noFill/>
        </p:spPr>
        <p:txBody>
          <a:bodyPr wrap="square" lIns="0" rIns="0" tIns="0" bIns="0" anchor="t">
            <a:spAutoFit/>
          </a:bodyPr>
          <a:lstStyle/>
          <a:p>
            <a:pPr algn="l">
              <a:spcAft>
                <a:spcPts val="600"/>
              </a:spcAft>
            </a:pPr>
            <a:r>
              <a:rPr sz="1350" b="1" i="0">
                <a:solidFill>
                  <a:srgbClr val="1F3A5F"/>
                </a:solidFill>
                <a:latin typeface="Calibri"/>
              </a:rPr>
              <a:t>Gain from half the data to all of it</a:t>
            </a:r>
          </a:p>
        </p:txBody>
      </p:sp>
      <p:sp>
        <p:nvSpPr>
          <p:cNvPr id="8" name="TextBox 7"/>
          <p:cNvSpPr txBox="1"/>
          <p:nvPr/>
        </p:nvSpPr>
        <p:spPr>
          <a:xfrm>
            <a:off x="7543800" y="2304288"/>
            <a:ext cx="237744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BBB</a:t>
            </a:r>
          </a:p>
        </p:txBody>
      </p:sp>
      <p:sp>
        <p:nvSpPr>
          <p:cNvPr id="9" name="TextBox 8"/>
          <p:cNvSpPr txBox="1"/>
          <p:nvPr/>
        </p:nvSpPr>
        <p:spPr>
          <a:xfrm>
            <a:off x="10030968" y="2304288"/>
            <a:ext cx="1371600" cy="274320"/>
          </a:xfrm>
          <a:prstGeom prst="rect">
            <a:avLst/>
          </a:prstGeom>
          <a:noFill/>
        </p:spPr>
        <p:txBody>
          <a:bodyPr wrap="square" lIns="0" rIns="0" tIns="0" bIns="0" anchor="t">
            <a:spAutoFit/>
          </a:bodyPr>
          <a:lstStyle/>
          <a:p>
            <a:pPr algn="r">
              <a:spcAft>
                <a:spcPts val="600"/>
              </a:spcAft>
            </a:pPr>
            <a:r>
              <a:rPr sz="1250" b="1" i="0">
                <a:solidFill>
                  <a:srgbClr val="0F1A2E"/>
                </a:solidFill>
                <a:latin typeface="Calibri"/>
              </a:rPr>
              <a:t>+0.0049</a:t>
            </a:r>
          </a:p>
        </p:txBody>
      </p:sp>
      <p:sp>
        <p:nvSpPr>
          <p:cNvPr id="10" name="TextBox 9"/>
          <p:cNvSpPr txBox="1"/>
          <p:nvPr/>
        </p:nvSpPr>
        <p:spPr>
          <a:xfrm>
            <a:off x="7543800" y="2615184"/>
            <a:ext cx="237744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BACE1</a:t>
            </a:r>
          </a:p>
        </p:txBody>
      </p:sp>
      <p:sp>
        <p:nvSpPr>
          <p:cNvPr id="11" name="TextBox 10"/>
          <p:cNvSpPr txBox="1"/>
          <p:nvPr/>
        </p:nvSpPr>
        <p:spPr>
          <a:xfrm>
            <a:off x="10030968" y="2615184"/>
            <a:ext cx="1371600" cy="274320"/>
          </a:xfrm>
          <a:prstGeom prst="rect">
            <a:avLst/>
          </a:prstGeom>
          <a:noFill/>
        </p:spPr>
        <p:txBody>
          <a:bodyPr wrap="square" lIns="0" rIns="0" tIns="0" bIns="0" anchor="t">
            <a:spAutoFit/>
          </a:bodyPr>
          <a:lstStyle/>
          <a:p>
            <a:pPr algn="r">
              <a:spcAft>
                <a:spcPts val="600"/>
              </a:spcAft>
            </a:pPr>
            <a:r>
              <a:rPr sz="1250" b="1" i="0">
                <a:solidFill>
                  <a:srgbClr val="0F1A2E"/>
                </a:solidFill>
                <a:latin typeface="Calibri"/>
              </a:rPr>
              <a:t>+0.0188</a:t>
            </a:r>
          </a:p>
        </p:txBody>
      </p:sp>
      <p:sp>
        <p:nvSpPr>
          <p:cNvPr id="12" name="TextBox 11"/>
          <p:cNvSpPr txBox="1"/>
          <p:nvPr/>
        </p:nvSpPr>
        <p:spPr>
          <a:xfrm>
            <a:off x="7543800" y="2926080"/>
            <a:ext cx="237744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MAO-A</a:t>
            </a:r>
          </a:p>
        </p:txBody>
      </p:sp>
      <p:sp>
        <p:nvSpPr>
          <p:cNvPr id="13" name="TextBox 12"/>
          <p:cNvSpPr txBox="1"/>
          <p:nvPr/>
        </p:nvSpPr>
        <p:spPr>
          <a:xfrm>
            <a:off x="10030968" y="2926080"/>
            <a:ext cx="1371600" cy="274320"/>
          </a:xfrm>
          <a:prstGeom prst="rect">
            <a:avLst/>
          </a:prstGeom>
          <a:noFill/>
        </p:spPr>
        <p:txBody>
          <a:bodyPr wrap="square" lIns="0" rIns="0" tIns="0" bIns="0" anchor="t">
            <a:spAutoFit/>
          </a:bodyPr>
          <a:lstStyle/>
          <a:p>
            <a:pPr algn="r">
              <a:spcAft>
                <a:spcPts val="600"/>
              </a:spcAft>
            </a:pPr>
            <a:r>
              <a:rPr sz="1250" b="1" i="0">
                <a:solidFill>
                  <a:srgbClr val="D98324"/>
                </a:solidFill>
                <a:latin typeface="Calibri"/>
              </a:rPr>
              <a:t>+0.0354</a:t>
            </a:r>
          </a:p>
        </p:txBody>
      </p:sp>
      <p:sp>
        <p:nvSpPr>
          <p:cNvPr id="14" name="TextBox 13"/>
          <p:cNvSpPr txBox="1"/>
          <p:nvPr/>
        </p:nvSpPr>
        <p:spPr>
          <a:xfrm>
            <a:off x="7543800" y="3236976"/>
            <a:ext cx="2377440" cy="274320"/>
          </a:xfrm>
          <a:prstGeom prst="rect">
            <a:avLst/>
          </a:prstGeom>
          <a:noFill/>
        </p:spPr>
        <p:txBody>
          <a:bodyPr wrap="square" lIns="0" rIns="0" tIns="0" bIns="0" anchor="t">
            <a:spAutoFit/>
          </a:bodyPr>
          <a:lstStyle/>
          <a:p>
            <a:pPr algn="l">
              <a:spcAft>
                <a:spcPts val="600"/>
              </a:spcAft>
            </a:pPr>
            <a:r>
              <a:rPr sz="1250" b="0" i="0">
                <a:solidFill>
                  <a:srgbClr val="0F1A2E"/>
                </a:solidFill>
                <a:latin typeface="Calibri"/>
              </a:rPr>
              <a:t>A2A</a:t>
            </a:r>
          </a:p>
        </p:txBody>
      </p:sp>
      <p:sp>
        <p:nvSpPr>
          <p:cNvPr id="15" name="TextBox 14"/>
          <p:cNvSpPr txBox="1"/>
          <p:nvPr/>
        </p:nvSpPr>
        <p:spPr>
          <a:xfrm>
            <a:off x="10030968" y="3236976"/>
            <a:ext cx="1371600" cy="274320"/>
          </a:xfrm>
          <a:prstGeom prst="rect">
            <a:avLst/>
          </a:prstGeom>
          <a:noFill/>
        </p:spPr>
        <p:txBody>
          <a:bodyPr wrap="square" lIns="0" rIns="0" tIns="0" bIns="0" anchor="t">
            <a:spAutoFit/>
          </a:bodyPr>
          <a:lstStyle/>
          <a:p>
            <a:pPr algn="r">
              <a:spcAft>
                <a:spcPts val="600"/>
              </a:spcAft>
            </a:pPr>
            <a:r>
              <a:rPr sz="1250" b="1" i="0">
                <a:solidFill>
                  <a:srgbClr val="D98324"/>
                </a:solidFill>
                <a:latin typeface="Calibri"/>
              </a:rPr>
              <a:t>+0.0854</a:t>
            </a:r>
          </a:p>
        </p:txBody>
      </p:sp>
      <p:sp>
        <p:nvSpPr>
          <p:cNvPr id="16" name="TextBox 15"/>
          <p:cNvSpPr txBox="1"/>
          <p:nvPr/>
        </p:nvSpPr>
        <p:spPr>
          <a:xfrm>
            <a:off x="7196328" y="3749039"/>
            <a:ext cx="4428439" cy="1737360"/>
          </a:xfrm>
          <a:prstGeom prst="rect">
            <a:avLst/>
          </a:prstGeom>
          <a:noFill/>
        </p:spPr>
        <p:txBody>
          <a:bodyPr wrap="square" lIns="0" rIns="0" tIns="0" bIns="0" anchor="t">
            <a:spAutoFit/>
          </a:bodyPr>
          <a:lstStyle/>
          <a:p>
            <a:pPr algn="l">
              <a:lnSpc>
                <a:spcPct val="126000"/>
              </a:lnSpc>
              <a:spcAft>
                <a:spcPts val="600"/>
              </a:spcAft>
            </a:pPr>
            <a:r>
              <a:rPr sz="1300" b="0" i="0">
                <a:solidFill>
                  <a:srgbClr val="0F1A2E"/>
                </a:solidFill>
                <a:latin typeface="Calibri"/>
              </a:rPr>
              <a:t>Only the barrier model has flattened. MAO-A gains more on its final doubling than the entire margin separating the forest from the read-across baseline, and A2A gains 0.085 R² with no sign of saturating.</a:t>
            </a:r>
          </a:p>
        </p:txBody>
      </p:sp>
      <p:sp>
        <p:nvSpPr>
          <p:cNvPr id="17" name="TextBox 16"/>
          <p:cNvSpPr txBox="1"/>
          <p:nvPr/>
        </p:nvSpPr>
        <p:spPr>
          <a:xfrm>
            <a:off x="7196328" y="5257800"/>
            <a:ext cx="4428439" cy="502920"/>
          </a:xfrm>
          <a:prstGeom prst="rect">
            <a:avLst/>
          </a:prstGeom>
          <a:noFill/>
        </p:spPr>
        <p:txBody>
          <a:bodyPr wrap="square" lIns="0" rIns="0" tIns="0" bIns="0" anchor="t">
            <a:spAutoFit/>
          </a:bodyPr>
          <a:lstStyle/>
          <a:p>
            <a:pPr algn="l">
              <a:lnSpc>
                <a:spcPct val="124000"/>
              </a:lnSpc>
              <a:spcAft>
                <a:spcPts val="600"/>
              </a:spcAft>
            </a:pPr>
            <a:r>
              <a:rPr sz="1300" b="1" i="0">
                <a:solidFill>
                  <a:srgbClr val="1F3A5F"/>
                </a:solidFill>
                <a:latin typeface="Calibri"/>
              </a:rPr>
              <a:t>The classifiers are near saturation. The receptor regressions are data-limited.</a:t>
            </a:r>
          </a:p>
        </p:txBody>
      </p:sp>
      <p:sp>
        <p:nvSpPr>
          <p:cNvPr id="18" name="TextBox 17"/>
          <p:cNvSpPr txBox="1"/>
          <p:nvPr/>
        </p:nvSpPr>
        <p:spPr>
          <a:xfrm>
            <a:off x="566928" y="6382512"/>
            <a:ext cx="11057839" cy="292608"/>
          </a:xfrm>
          <a:prstGeom prst="rect">
            <a:avLst/>
          </a:prstGeom>
          <a:noFill/>
        </p:spPr>
        <p:txBody>
          <a:bodyPr wrap="square" lIns="0" rIns="0" tIns="0" bIns="0" anchor="t">
            <a:spAutoFit/>
          </a:bodyPr>
          <a:lstStyle/>
          <a:p>
            <a:pPr algn="l">
              <a:spcAft>
                <a:spcPts val="600"/>
              </a:spcAft>
            </a:pPr>
            <a:r>
              <a:rPr sz="1000" b="0" i="0">
                <a:solidFill>
                  <a:srgbClr val="5F6B7A"/>
                </a:solidFill>
                <a:latin typeface="Calibri"/>
              </a:rPr>
              <a:t>results/tables/learning_curve.csv. The technical report reads this as showing the curves flatten, and uses it to argue against gathering more data. That does not survive the 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66928" y="475488"/>
            <a:ext cx="384048" cy="384048"/>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10</a:t>
            </a:r>
          </a:p>
        </p:txBody>
      </p:sp>
      <p:sp>
        <p:nvSpPr>
          <p:cNvPr id="3" name="TextBox 2"/>
          <p:cNvSpPr txBox="1"/>
          <p:nvPr/>
        </p:nvSpPr>
        <p:spPr>
          <a:xfrm>
            <a:off x="1133856" y="365760"/>
            <a:ext cx="10490911" cy="676656"/>
          </a:xfrm>
          <a:prstGeom prst="rect">
            <a:avLst/>
          </a:prstGeom>
          <a:noFill/>
        </p:spPr>
        <p:txBody>
          <a:bodyPr wrap="square" lIns="0" rIns="0" tIns="0" bIns="0" anchor="ctr">
            <a:spAutoFit/>
          </a:bodyPr>
          <a:lstStyle/>
          <a:p>
            <a:pPr algn="l">
              <a:spcAft>
                <a:spcPts val="600"/>
              </a:spcAft>
            </a:pPr>
            <a:r>
              <a:rPr sz="3000" b="1" i="0">
                <a:solidFill>
                  <a:srgbClr val="0F1A2E"/>
                </a:solidFill>
                <a:latin typeface="Cambria"/>
              </a:rPr>
              <a:t>Why seventy models and not one</a:t>
            </a:r>
          </a:p>
        </p:txBody>
      </p:sp>
      <p:sp>
        <p:nvSpPr>
          <p:cNvPr id="4" name="TextBox 3"/>
          <p:cNvSpPr txBox="1"/>
          <p:nvPr/>
        </p:nvSpPr>
        <p:spPr>
          <a:xfrm>
            <a:off x="1133856" y="1060704"/>
            <a:ext cx="10490911" cy="384048"/>
          </a:xfrm>
          <a:prstGeom prst="rect">
            <a:avLst/>
          </a:prstGeom>
          <a:noFill/>
        </p:spPr>
        <p:txBody>
          <a:bodyPr wrap="square" lIns="0" rIns="0" tIns="0" bIns="0" anchor="t">
            <a:spAutoFit/>
          </a:bodyPr>
          <a:lstStyle/>
          <a:p>
            <a:pPr algn="l">
              <a:spcAft>
                <a:spcPts val="600"/>
              </a:spcAft>
            </a:pPr>
            <a:r>
              <a:rPr sz="1400" b="0" i="1">
                <a:solidFill>
                  <a:srgbClr val="5F6B7A"/>
                </a:solidFill>
                <a:latin typeface="Calibri"/>
              </a:rPr>
              <a:t>The reasons are about the data, not about preference</a:t>
            </a:r>
          </a:p>
        </p:txBody>
      </p:sp>
      <p:sp>
        <p:nvSpPr>
          <p:cNvPr id="5" name="Oval 4"/>
          <p:cNvSpPr/>
          <p:nvPr/>
        </p:nvSpPr>
        <p:spPr>
          <a:xfrm>
            <a:off x="566928" y="1700784"/>
            <a:ext cx="310896" cy="31089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6" name="TextBox 5"/>
          <p:cNvSpPr txBox="1"/>
          <p:nvPr/>
        </p:nvSpPr>
        <p:spPr>
          <a:xfrm>
            <a:off x="1060704" y="1645920"/>
            <a:ext cx="3657600" cy="658368"/>
          </a:xfrm>
          <a:prstGeom prst="rect">
            <a:avLst/>
          </a:prstGeom>
          <a:noFill/>
        </p:spPr>
        <p:txBody>
          <a:bodyPr wrap="square" lIns="0" rIns="0" tIns="0" bIns="0" anchor="t">
            <a:spAutoFit/>
          </a:bodyPr>
          <a:lstStyle/>
          <a:p>
            <a:pPr algn="l">
              <a:lnSpc>
                <a:spcPct val="114000"/>
              </a:lnSpc>
              <a:spcAft>
                <a:spcPts val="600"/>
              </a:spcAft>
            </a:pPr>
            <a:r>
              <a:rPr sz="1450" b="1" i="0">
                <a:solidFill>
                  <a:srgbClr val="1F3A5F"/>
                </a:solidFill>
                <a:latin typeface="Calibri"/>
              </a:rPr>
              <a:t>The label matrix is almost entirely missing</a:t>
            </a:r>
          </a:p>
        </p:txBody>
      </p:sp>
      <p:sp>
        <p:nvSpPr>
          <p:cNvPr id="7" name="TextBox 6"/>
          <p:cNvSpPr txBox="1"/>
          <p:nvPr/>
        </p:nvSpPr>
        <p:spPr>
          <a:xfrm>
            <a:off x="4910328" y="1627632"/>
            <a:ext cx="6714439" cy="86868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228,200 measurements over 63 endpoints and roughly 169,000 compounds fill under two per cent of the matrix. Multi-task learning shares strength; at this sparsity it mostly shares absence, and a missing measurement is not a negative result.</a:t>
            </a:r>
          </a:p>
        </p:txBody>
      </p:sp>
      <p:sp>
        <p:nvSpPr>
          <p:cNvPr id="8" name="Oval 7"/>
          <p:cNvSpPr/>
          <p:nvPr/>
        </p:nvSpPr>
        <p:spPr>
          <a:xfrm>
            <a:off x="566928" y="2706624"/>
            <a:ext cx="310896" cy="31089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9" name="TextBox 8"/>
          <p:cNvSpPr txBox="1"/>
          <p:nvPr/>
        </p:nvSpPr>
        <p:spPr>
          <a:xfrm>
            <a:off x="1060704" y="2651760"/>
            <a:ext cx="3657600" cy="658368"/>
          </a:xfrm>
          <a:prstGeom prst="rect">
            <a:avLst/>
          </a:prstGeom>
          <a:noFill/>
        </p:spPr>
        <p:txBody>
          <a:bodyPr wrap="square" lIns="0" rIns="0" tIns="0" bIns="0" anchor="t">
            <a:spAutoFit/>
          </a:bodyPr>
          <a:lstStyle/>
          <a:p>
            <a:pPr algn="l">
              <a:lnSpc>
                <a:spcPct val="114000"/>
              </a:lnSpc>
              <a:spcAft>
                <a:spcPts val="600"/>
              </a:spcAft>
            </a:pPr>
            <a:r>
              <a:rPr sz="1450" b="1" i="0">
                <a:solidFill>
                  <a:srgbClr val="1F3A5F"/>
                </a:solidFill>
                <a:latin typeface="Calibri"/>
              </a:rPr>
              <a:t>The negative class means different things</a:t>
            </a:r>
          </a:p>
        </p:txBody>
      </p:sp>
      <p:sp>
        <p:nvSpPr>
          <p:cNvPr id="10" name="TextBox 9"/>
          <p:cNvSpPr txBox="1"/>
          <p:nvPr/>
        </p:nvSpPr>
        <p:spPr>
          <a:xfrm>
            <a:off x="4910328" y="2633472"/>
            <a:ext cx="6714439" cy="86868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Where censored bounds were recovered a negative is a measurement; where they were not it is a decoy, which is an assumption. One loss over both silently averages the two.</a:t>
            </a:r>
          </a:p>
        </p:txBody>
      </p:sp>
      <p:sp>
        <p:nvSpPr>
          <p:cNvPr id="11" name="Oval 10"/>
          <p:cNvSpPr/>
          <p:nvPr/>
        </p:nvSpPr>
        <p:spPr>
          <a:xfrm>
            <a:off x="566928" y="3712463"/>
            <a:ext cx="310896" cy="31089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2" name="TextBox 11"/>
          <p:cNvSpPr txBox="1"/>
          <p:nvPr/>
        </p:nvSpPr>
        <p:spPr>
          <a:xfrm>
            <a:off x="1060704" y="3657600"/>
            <a:ext cx="3657600" cy="658368"/>
          </a:xfrm>
          <a:prstGeom prst="rect">
            <a:avLst/>
          </a:prstGeom>
          <a:noFill/>
        </p:spPr>
        <p:txBody>
          <a:bodyPr wrap="square" lIns="0" rIns="0" tIns="0" bIns="0" anchor="t">
            <a:spAutoFit/>
          </a:bodyPr>
          <a:lstStyle/>
          <a:p>
            <a:pPr algn="l">
              <a:lnSpc>
                <a:spcPct val="114000"/>
              </a:lnSpc>
              <a:spcAft>
                <a:spcPts val="600"/>
              </a:spcAft>
            </a:pPr>
            <a:r>
              <a:rPr sz="1450" b="1" i="0">
                <a:solidFill>
                  <a:srgbClr val="1F3A5F"/>
                </a:solidFill>
                <a:latin typeface="Calibri"/>
              </a:rPr>
              <a:t>Base rates are incompatible</a:t>
            </a:r>
          </a:p>
        </p:txBody>
      </p:sp>
      <p:sp>
        <p:nvSpPr>
          <p:cNvPr id="13" name="TextBox 12"/>
          <p:cNvSpPr txBox="1"/>
          <p:nvPr/>
        </p:nvSpPr>
        <p:spPr>
          <a:xfrm>
            <a:off x="4910328" y="3639312"/>
            <a:ext cx="6714439" cy="86868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A shared output layer propagates the 0.962 active fraction at P2X7 into another endpoint's decision boundary.</a:t>
            </a:r>
          </a:p>
        </p:txBody>
      </p:sp>
      <p:sp>
        <p:nvSpPr>
          <p:cNvPr id="14" name="Oval 13"/>
          <p:cNvSpPr/>
          <p:nvPr/>
        </p:nvSpPr>
        <p:spPr>
          <a:xfrm>
            <a:off x="566928" y="4718303"/>
            <a:ext cx="310896" cy="31089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5" name="TextBox 14"/>
          <p:cNvSpPr txBox="1"/>
          <p:nvPr/>
        </p:nvSpPr>
        <p:spPr>
          <a:xfrm>
            <a:off x="1060704" y="4663440"/>
            <a:ext cx="3657600" cy="658368"/>
          </a:xfrm>
          <a:prstGeom prst="rect">
            <a:avLst/>
          </a:prstGeom>
          <a:noFill/>
        </p:spPr>
        <p:txBody>
          <a:bodyPr wrap="square" lIns="0" rIns="0" tIns="0" bIns="0" anchor="t">
            <a:spAutoFit/>
          </a:bodyPr>
          <a:lstStyle/>
          <a:p>
            <a:pPr algn="l">
              <a:lnSpc>
                <a:spcPct val="114000"/>
              </a:lnSpc>
              <a:spcAft>
                <a:spcPts val="600"/>
              </a:spcAft>
            </a:pPr>
            <a:r>
              <a:rPr sz="1450" b="1" i="0">
                <a:solidFill>
                  <a:srgbClr val="1F3A5F"/>
                </a:solidFill>
                <a:latin typeface="Calibri"/>
              </a:rPr>
              <a:t>Failure stays local</a:t>
            </a:r>
          </a:p>
        </p:txBody>
      </p:sp>
      <p:sp>
        <p:nvSpPr>
          <p:cNvPr id="16" name="TextBox 15"/>
          <p:cNvSpPr txBox="1"/>
          <p:nvPr/>
        </p:nvSpPr>
        <p:spPr>
          <a:xfrm>
            <a:off x="4910328" y="4645152"/>
            <a:ext cx="6714439" cy="868680"/>
          </a:xfrm>
          <a:prstGeom prst="rect">
            <a:avLst/>
          </a:prstGeom>
          <a:noFill/>
        </p:spPr>
        <p:txBody>
          <a:bodyPr wrap="square" lIns="0" rIns="0" tIns="0" bIns="0" anchor="t">
            <a:spAutoFit/>
          </a:bodyPr>
          <a:lstStyle/>
          <a:p>
            <a:pPr algn="l">
              <a:lnSpc>
                <a:spcPct val="124000"/>
              </a:lnSpc>
              <a:spcAft>
                <a:spcPts val="600"/>
              </a:spcAft>
            </a:pPr>
            <a:r>
              <a:rPr sz="1250" b="0" i="0">
                <a:solidFill>
                  <a:srgbClr val="0F1A2E"/>
                </a:solidFill>
                <a:latin typeface="Calibri"/>
              </a:rPr>
              <a:t>Five endpoints were withdrawn. In an independent panel that removes one output. Under shared weights the same data would have shaped every other endpoint's representation.</a:t>
            </a:r>
          </a:p>
        </p:txBody>
      </p:sp>
      <p:sp>
        <p:nvSpPr>
          <p:cNvPr id="17" name="Rounded Rectangle 16"/>
          <p:cNvSpPr/>
          <p:nvPr/>
        </p:nvSpPr>
        <p:spPr>
          <a:xfrm>
            <a:off x="566928" y="5623560"/>
            <a:ext cx="11057839" cy="658368"/>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797296"/>
            <a:ext cx="10326319" cy="365760"/>
          </a:xfrm>
          <a:prstGeom prst="rect">
            <a:avLst/>
          </a:prstGeom>
          <a:noFill/>
        </p:spPr>
        <p:txBody>
          <a:bodyPr wrap="square" lIns="0" rIns="0" tIns="0" bIns="0" anchor="t">
            <a:spAutoFit/>
          </a:bodyPr>
          <a:lstStyle/>
          <a:p>
            <a:pPr algn="l">
              <a:spcAft>
                <a:spcPts val="600"/>
              </a:spcAft>
            </a:pPr>
            <a:r>
              <a:rPr sz="1300" b="0" i="1">
                <a:solidFill>
                  <a:srgbClr val="0F1A2E"/>
                </a:solidFill>
                <a:latin typeface="Calibri"/>
              </a:rPr>
              <a:t>The cost is real and is not hidden: the smallest deployed set has 387 compounds and would plausibly benefit from borrowing strength. That benefit is forgone deliberately.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A2E"/>
        </a:solidFill>
        <a:effectLst/>
      </p:bgPr>
    </p:bg>
    <p:spTree>
      <p:nvGrpSpPr>
        <p:cNvPr id="1" name=""/>
        <p:cNvGrpSpPr/>
        <p:nvPr/>
      </p:nvGrpSpPr>
      <p:grpSpPr/>
      <p:sp>
        <p:nvSpPr>
          <p:cNvPr id="2" name="TextBox 1"/>
          <p:cNvSpPr txBox="1"/>
          <p:nvPr/>
        </p:nvSpPr>
        <p:spPr>
          <a:xfrm>
            <a:off x="566928" y="1371600"/>
            <a:ext cx="7680960" cy="457200"/>
          </a:xfrm>
          <a:prstGeom prst="rect">
            <a:avLst/>
          </a:prstGeom>
          <a:noFill/>
        </p:spPr>
        <p:txBody>
          <a:bodyPr wrap="square" lIns="0" rIns="0" tIns="0" bIns="0" anchor="t">
            <a:spAutoFit/>
          </a:bodyPr>
          <a:lstStyle/>
          <a:p>
            <a:pPr algn="l">
              <a:spcAft>
                <a:spcPts val="600"/>
              </a:spcAft>
            </a:pPr>
            <a:r>
              <a:rPr sz="1500" b="1" i="0">
                <a:solidFill>
                  <a:srgbClr val="1C7293"/>
                </a:solidFill>
                <a:latin typeface="Calibri"/>
              </a:rPr>
              <a:t>Chapter 3, in one statement</a:t>
            </a:r>
          </a:p>
        </p:txBody>
      </p:sp>
      <p:sp>
        <p:nvSpPr>
          <p:cNvPr id="3" name="TextBox 2"/>
          <p:cNvSpPr txBox="1"/>
          <p:nvPr/>
        </p:nvSpPr>
        <p:spPr>
          <a:xfrm>
            <a:off x="566928" y="1874519"/>
            <a:ext cx="10241280" cy="2103120"/>
          </a:xfrm>
          <a:prstGeom prst="rect">
            <a:avLst/>
          </a:prstGeom>
          <a:noFill/>
        </p:spPr>
        <p:txBody>
          <a:bodyPr wrap="square" lIns="0" rIns="0" tIns="0" bIns="0" anchor="t">
            <a:spAutoFit/>
          </a:bodyPr>
          <a:lstStyle/>
          <a:p>
            <a:pPr algn="l">
              <a:lnSpc>
                <a:spcPct val="118000"/>
              </a:lnSpc>
              <a:spcAft>
                <a:spcPts val="600"/>
              </a:spcAft>
            </a:pPr>
            <a:r>
              <a:rPr sz="3100" b="0" i="0">
                <a:solidFill>
                  <a:srgbClr val="FFFFFF"/>
                </a:solidFill>
                <a:latin typeface="Cambria"/>
              </a:rPr>
              <a:t>The forest was not chosen because it is the most accurate model available. On this evidence it is not.</a:t>
            </a:r>
          </a:p>
        </p:txBody>
      </p:sp>
      <p:sp>
        <p:nvSpPr>
          <p:cNvPr id="4" name="TextBox 3"/>
          <p:cNvSpPr txBox="1"/>
          <p:nvPr/>
        </p:nvSpPr>
        <p:spPr>
          <a:xfrm>
            <a:off x="566928" y="3840480"/>
            <a:ext cx="10241280" cy="2011680"/>
          </a:xfrm>
          <a:prstGeom prst="rect">
            <a:avLst/>
          </a:prstGeom>
          <a:noFill/>
        </p:spPr>
        <p:txBody>
          <a:bodyPr wrap="square" lIns="0" rIns="0" tIns="0" bIns="0" anchor="t">
            <a:spAutoFit/>
          </a:bodyPr>
          <a:lstStyle/>
          <a:p>
            <a:pPr algn="l">
              <a:lnSpc>
                <a:spcPct val="132000"/>
              </a:lnSpc>
              <a:spcAft>
                <a:spcPts val="600"/>
              </a:spcAft>
            </a:pPr>
            <a:r>
              <a:rPr sz="1700" b="0" i="0">
                <a:solidFill>
                  <a:srgbClr val="D7DFEA"/>
                </a:solidFill>
                <a:latin typeface="Calibri"/>
              </a:rPr>
              <a:t>It was chosen because it does not extrapolate at the edge of the applicability domain, because TreeSHAP is exact for it rather than approximate, and because it is the most stable of the three ensembles under hyperparameter choice. Those are defensible grounds. Superior accuracy would not have been.</a:t>
            </a:r>
          </a:p>
        </p:txBody>
      </p:sp>
      <p:sp>
        <p:nvSpPr>
          <p:cNvPr id="5" name="TextBox 4"/>
          <p:cNvSpPr txBox="1"/>
          <p:nvPr/>
        </p:nvSpPr>
        <p:spPr>
          <a:xfrm>
            <a:off x="566928" y="5806440"/>
            <a:ext cx="10241280" cy="457200"/>
          </a:xfrm>
          <a:prstGeom prst="rect">
            <a:avLst/>
          </a:prstGeom>
          <a:noFill/>
        </p:spPr>
        <p:txBody>
          <a:bodyPr wrap="square" lIns="0" rIns="0" tIns="0" bIns="0" anchor="t">
            <a:spAutoFit/>
          </a:bodyPr>
          <a:lstStyle/>
          <a:p>
            <a:pPr algn="l">
              <a:spcAft>
                <a:spcPts val="600"/>
              </a:spcAft>
            </a:pPr>
            <a:r>
              <a:rPr sz="1400" b="0" i="1">
                <a:solidFill>
                  <a:srgbClr val="D98324"/>
                </a:solidFill>
                <a:latin typeface="Calibri"/>
              </a:rPr>
              <a:t>The cost of that uniformity is 0.023 mean R² on the potency regressions, and it is stated.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