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time split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below 0.40
different chemotype</c:v>
                </c:pt>
                <c:pt idx="1">
                  <c:v>0.40 to 0.55
related series</c:v>
                </c:pt>
                <c:pt idx="2">
                  <c:v>0.55 to 0.70
same series</c:v>
                </c:pt>
                <c:pt idx="3">
                  <c:v>0.70 and above
close analogue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0.1612</c:v>
                </c:pt>
                <c:pt idx="1">
                  <c:v>0.5532</c:v>
                </c:pt>
                <c:pt idx="2">
                  <c:v>0.7403</c:v>
                </c:pt>
                <c:pt idx="3">
                  <c:v>0.8616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cross-provenance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below 0.40
different chemotype</c:v>
                </c:pt>
                <c:pt idx="1">
                  <c:v>0.40 to 0.55
related series</c:v>
                </c:pt>
                <c:pt idx="2">
                  <c:v>0.55 to 0.70
same series</c:v>
                </c:pt>
                <c:pt idx="3">
                  <c:v>0.70 and above
close analogue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0.0494</c:v>
                </c:pt>
                <c:pt idx="1">
                  <c:v>0.4641</c:v>
                </c:pt>
                <c:pt idx="2">
                  <c:v>0.8264</c:v>
                </c:pt>
                <c:pt idx="3">
                  <c:v>0.9011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open with an apology. Open with the separation: a limitation of the science, a defect in the record, and a piece of work are three different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for the single most important sentence in the thesis, this is it. The server reports the expected recall beside a negative result because of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model does clearly beat, on both populations and by a wide margin, is the published heuristic. Say that second, not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this slide. A referee who assembles these three findings unaided will read it as something the project failed to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is the point: eight endpoints a user rarely queries have three layers of uncertainty, and thirty-eight they query constantly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contamination count is the transferable lesson: an InChYKey check is not enough, because the featuriser is stereo-blind. Chapter 8 found the same thing in the barrier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mildest and most instructive: those two figures are genuinely measured, and the generator's own comment records that as prose they had already drifted once. Measuring was right; not writing to a file was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pressed on which single item matters most: extending the uncertainty stack to the panel. It needs no new data and it fixes the asymmetry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last line. Naming the boundary of the work is the strongest thing available in a viva, and all three items have a measurement behind them rather than a hedge.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9105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Chapter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3392"/>
            <a:ext cx="101434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Limitations, and what
should be done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749039"/>
            <a:ext cx="95947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 i="0">
                <a:solidFill>
                  <a:srgbClr val="D7DFEA"/>
                </a:solidFill>
                <a:latin typeface="Calibri"/>
              </a:rPr>
              <a:t>Three different things get called limitations: what the system cannot do, what the record gets wrong, and what should be done next. They are separated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3892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D98324"/>
                </a:solidFill>
                <a:latin typeface="Calibri"/>
              </a:rPr>
              <a:t>One item of the future work is done in this chapter rather than proposed.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4126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Chapter 9 named the falsification suite's largest gap. A gap named but not filled is half an observation.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Accuracy is a function of chemical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The limitation that bounds every number in Chapters 3 to 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645920"/>
          <a:ext cx="67208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44967" y="164592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18" b="1" i="0">
                <a:solidFill>
                  <a:srgbClr val="9E2A2B"/>
                </a:solidFill>
                <a:latin typeface="Cambria"/>
              </a:rPr>
              <a:t>0.1612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4967" y="228600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recall on a different chemotype, time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93807" y="164592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18" b="1" i="0">
                <a:solidFill>
                  <a:srgbClr val="9E2A2B"/>
                </a:solidFill>
                <a:latin typeface="Cambria"/>
              </a:rPr>
              <a:t>0.0494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3807" y="2286000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the same band across a database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4967" y="3127248"/>
            <a:ext cx="3879799" cy="1874519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00999" y="3310128"/>
            <a:ext cx="336773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Recall runs 0.1612 to 0.8616 across the four bands, a factor of five, on 4,366 and 2,586 actives. AUROC moves far less, 0.6711 to 0.8617, because ranking survives what a fixed threshold does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230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On genuinely novel chemistry the tool finds roughly one true activity in six, and across a database boundary roughly one in twenty. No analysis in this thesis improves that. Chapter 8 establishes that the figure is predictable, not that it is good.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5F6B7A"/>
                </a:solidFill>
                <a:latin typeface="Calibri"/>
              </a:rPr>
              <a:t>It is not a defect of the forest. It is what a similarity-based featuriser does, and every model family in Chapter 3 shares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results/tables/external_novelty_strata.csv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H10: does the barrier model earn its place?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The component the architecture is named for had no hypothesis until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50" b="0" i="1">
                <a:solidFill>
                  <a:srgbClr val="1F3A5F"/>
                </a:solidFill>
                <a:latin typeface="Calibri"/>
              </a:rPr>
              <a:t>Null: permeability is a bulk property, the twelve descriptors already in the feature vector encode it, and the fingerprint adds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03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estimator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9008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scaffold hold-out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external 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68296"/>
            <a:ext cx="9281160" cy="42062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323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Deployed forest, 1,036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24323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0.8779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323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0.7934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25496"/>
            <a:ext cx="928116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8895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Random forest, 12 descriptors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8895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0.8441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28895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0.7701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82696"/>
            <a:ext cx="928116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3467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Logistic regression, 12 descriptors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33467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0.8105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3467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0.7420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739896"/>
            <a:ext cx="928116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38039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TPSA alone, no fitting of any kind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38039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0.7687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8039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0.7440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97096"/>
            <a:ext cx="928116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26110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CNS heuristic: TPSA ≤ 90 and MW ≤ 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42611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0.6751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42611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0.6369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76688" y="2103120"/>
            <a:ext cx="1548079" cy="221284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259567" y="2249424"/>
            <a:ext cx="11823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 i="0">
                <a:solidFill>
                  <a:srgbClr val="5F6B7A"/>
                </a:solidFill>
                <a:latin typeface="Calibri"/>
              </a:rPr>
              <a:t>Paired
bootstrap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7" y="2743200"/>
            <a:ext cx="11823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scaffold
-0.0409 to -0.0263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9567" y="3419856"/>
            <a:ext cx="11823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1" i="0">
                <a:solidFill>
                  <a:srgbClr val="9E2A2B"/>
                </a:solidFill>
                <a:latin typeface="Calibri"/>
              </a:rPr>
              <a:t>external
-0.0553 to +0.0106
p = 0.083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82803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400" b="1" i="0">
                <a:solidFill>
                  <a:srgbClr val="9E2A2B"/>
                </a:solidFill>
                <a:latin typeface="Calibri"/>
              </a:rPr>
              <a:t>VERDICT WEAKENED. On the training distribution the fingerprint demonstrably earns its place. On 241 approved drugs the model has never seen, its advantage over twelve descriptors is not established: the interval crosses zero.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63270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1">
                <a:solidFill>
                  <a:srgbClr val="1F3A5F"/>
                </a:solidFill>
                <a:latin typeface="Calibri"/>
              </a:rPr>
              <a:t>Under a point-estimate rule this reads SUPPORTED. Chapter 9 criticised H4 for exactly that, so a hypothesis written in response to the criticism reads its interval instead. That difference is the whole value of having written the criticism down.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inversion/results/H10_barrier_necessity.csv, built for this chapter by inversion/inv_barrier_necessity.py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0467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8324"/>
                </a:solidFill>
                <a:latin typeface="Calibri"/>
              </a:rPr>
              <a:t>Three findings that converge on one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400" b="0" i="0">
                <a:solidFill>
                  <a:srgbClr val="D7DFEA"/>
                </a:solidFill>
                <a:latin typeface="Calibri"/>
              </a:rPr>
              <a:t>The barrier model gates every disease score. It multiplies, so whatever it gets wrong propagates into all sixteen conditions at once.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2066544"/>
            <a:ext cx="365760" cy="365760"/>
          </a:xfrm>
          <a:prstGeom prst="ellipse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01168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500" b="1" i="0">
                <a:solidFill>
                  <a:srgbClr val="D98324"/>
                </a:solidFill>
                <a:latin typeface="Calibri"/>
              </a:rPr>
              <a:t>Its advantage vanishes soonest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7528" y="1993392"/>
            <a:ext cx="6080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Against a twelve-descriptor forest on unseen approved drugs the margin is 0.0233 with an interval reaching +0.0106.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419856"/>
            <a:ext cx="365760" cy="365760"/>
          </a:xfrm>
          <a:prstGeom prst="ellipse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36499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500" b="1" i="0">
                <a:solidFill>
                  <a:srgbClr val="D98324"/>
                </a:solidFill>
                <a:latin typeface="Calibri"/>
              </a:rPr>
              <a:t>It is the worst-calibrated core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7528" y="3346704"/>
            <a:ext cx="6080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Expected calibration error 0.0412 after isotonic calibration, against a mean of 0.0147 across the 8 core classifiers and 0.0049 at the best. This has not been stated anywhere in the project.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773168"/>
            <a:ext cx="365760" cy="365760"/>
          </a:xfrm>
          <a:prstGeom prst="ellipse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4718304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500" b="1" i="0">
                <a:solidFill>
                  <a:srgbClr val="D98324"/>
                </a:solidFill>
                <a:latin typeface="Calibri"/>
              </a:rPr>
              <a:t>It is a coarser quantity than the science wants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4700016"/>
            <a:ext cx="6080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The gate multiplies by a probability of being CNS-positive, where the pharmacology asks for unbound brain-to-plasma ratio. H10 suggests the gain here lies in a better target variable, not a better model of this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9618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It is the single weakest link in the architecture, and it sits at the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inversion/results/H10_barrier_necessity.csv; results/tables/calibration.csv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F1A2E"/>
                </a:solidFill>
                <a:latin typeface="Cambria"/>
              </a:rPr>
              <a:t>Uncertainty is complete for eight estimators, thin for thirty-eight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The machinery is fullest where a user is least likely to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8249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C7293"/>
                </a:solidFill>
                <a:latin typeface="Cambri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22576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core classifiers with isotonic calibration, conformal prediction and a domain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168249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E2A2B"/>
                </a:solidFill>
                <a:latin typeface="Cambria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8" y="2322576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binder endpoints with Platt scaling and no conformal statement of any kind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168249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18" b="1" i="0">
                <a:solidFill>
                  <a:srgbClr val="1C7293"/>
                </a:solidFill>
                <a:latin typeface="Cambria"/>
              </a:rPr>
              <a:t>0.0147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322576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core expected calibration error, from 0.0801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168249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18" b="1" i="0">
                <a:solidFill>
                  <a:srgbClr val="9E2A2B"/>
                </a:solidFill>
                <a:latin typeface="Cambria"/>
              </a:rPr>
              <a:t>0.0762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322576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binder expected calibration error, about five times the core figure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91840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3474720"/>
            <a:ext cx="1047262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Stating the mean alone would hide both spreads. The core figures run 0.0049 to 0.0412; the binder figures run 0.0300 to 0.1780 with a median of 0.0675. The headline in the manuscript, the technical report and the evidence map quotes 0.0801 to 0.0147 without saying it covers 8 estimators.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72000"/>
            <a:ext cx="11057839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" y="4736592"/>
            <a:ext cx="10472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And the worst of the 8 is BBB, at 0.0412, nearly three times the mean. That is the model that multiplies every disease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60720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1F3A5F"/>
                </a:solidFill>
                <a:latin typeface="Calibri"/>
              </a:rPr>
              <a:t>Extending the stack to the panel is the largest single improvement available and needs no new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results/tables/calibration.csv; results/tables/integrity_calibration_per_target.csv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What the panel does not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Natural-product chemistry is the largest and best-characterised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9344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Visible in the library before any model is scored: across 170,617 parsed structures the median fraction of sp3 carbon is 0.3448, and only 9.23 per cent are both sp3-rich and carry at most one aromatic 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494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AUROC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median max Tanimoto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32888"/>
            <a:ext cx="9189720" cy="42062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" y="259689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F1A2E"/>
                </a:solidFill>
                <a:latin typeface="Calibri"/>
              </a:rPr>
              <a:t>GBA1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5968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5968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968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0.7414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5968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0.270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90088"/>
            <a:ext cx="9189720" cy="42062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5409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F1A2E"/>
                </a:solidFill>
                <a:latin typeface="Calibri"/>
              </a:rPr>
              <a:t>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0540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30540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0540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0.4628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30540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0.500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447288"/>
            <a:ext cx="9189720" cy="42062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7" y="351129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F1A2E"/>
                </a:solidFill>
                <a:latin typeface="Calibri"/>
              </a:rPr>
              <a:t>hERG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5112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5112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5112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0.4613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35112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0.309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249424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E2A2B"/>
                </a:solidFill>
                <a:latin typeface="Cambria"/>
              </a:rPr>
              <a:t>1,385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889504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of 3,547 removed: a tautomer or salt of a training compound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7" y="3986783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D98324"/>
                </a:solidFill>
                <a:latin typeface="Cambria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7" y="4626864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surveyed targets with no deployed estimator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13892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0" i="0">
                <a:solidFill>
                  <a:srgbClr val="1F3A5F"/>
                </a:solidFill>
                <a:latin typeface="Calibri"/>
              </a:rPr>
              <a:t>With two to five actives per endpoint those intervals are far too wide to establish failure, and equally far from supporting a claim of competence. The honest statement is that the system is untested on this chemistry, not that it fails on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results/tables/external_natural_products_summary.csv; results/tables/library_sp3_coverage.csv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F1A2E"/>
                </a:solidFill>
                <a:latin typeface="Cambria"/>
              </a:rPr>
              <a:t>One structural defect explains most of the record's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Two dozen document-artefact disagreements, almost all of one kind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104726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mbria"/>
              </a:rPr>
              <a:t>A number that lives in a generator rather than in an artefact cannot be checked, cannot be cited, and drifts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237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chapter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5237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the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252374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where it lived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7121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287121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The censored-bound recovery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871216"/>
            <a:ext cx="53885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21,994 against a recount of 29,751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40156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4015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The label-permutation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401568"/>
            <a:ext cx="53885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0.4938 and 0.4921, in a literal prose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3931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The independent-reproduction 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931920"/>
            <a:ext cx="53885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26 values to 4.7e-5, same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622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98324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44622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The H2 weight ablation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462272"/>
            <a:ext cx="53885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0.7917 / 0.7911 / 0.7899 over a population that never matched, in 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9926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1368" y="499262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Five co-firing correlations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4992624"/>
            <a:ext cx="53885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in app.py, and rendered on a result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1368" y="552297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The natural-product coverage figures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5522976"/>
            <a:ext cx="53885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measured at report time, held by no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7044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00" b="0" i="0">
                <a:solidFill>
                  <a:srgbClr val="1F3A5F"/>
                </a:solidFill>
                <a:latin typeface="Calibri"/>
              </a:rPr>
              <a:t>The remedy is uniform and cheap: every number a document states should be read from a file at build time, and every file declared in the freshness graph.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Two gaps in the checking machinery sit behind these: the freshness graph's inputs are data and models but never code, and no test pins any falsification verdict.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What should be done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Ordered by what it would change, not by how interesting it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3533546" cy="41605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810512"/>
            <a:ext cx="309463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Would change a user's decision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450592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95728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Extend the uncertainty stack to the target panel: isotonic calibration where the held-out positives support it, per-endpoint error carried with every prediction, and a conformal statement for the 38 endpoints that have none.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621024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566160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Report intervals on every per-endpoint figure. An AUROC of 0.719 on 37 compounds and one of 0.985 on 23 are not comparable numbers.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791456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736592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Decide about the six endpoints that fail the reliability gate. This thesis records that decision rather than making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9074" y="1645920"/>
            <a:ext cx="3533546" cy="41605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48530" y="1810512"/>
            <a:ext cx="309463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50" b="1" i="0">
                <a:solidFill>
                  <a:srgbClr val="D98324"/>
                </a:solidFill>
                <a:latin typeface="Calibri"/>
              </a:rPr>
              <a:t>Would change what may be claimed</a:t>
            </a:r>
          </a:p>
        </p:txBody>
      </p:sp>
      <p:sp>
        <p:nvSpPr>
          <p:cNvPr id="15" name="Oval 14"/>
          <p:cNvSpPr/>
          <p:nvPr/>
        </p:nvSpPr>
        <p:spPr>
          <a:xfrm>
            <a:off x="4548530" y="2450592"/>
            <a:ext cx="182880" cy="182880"/>
          </a:xfrm>
          <a:prstGeom prst="ellipse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1138" y="2395728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Migrate H1 to H9 to the single-verdict-rule arrangement H10 now uses, and pin the verdicts with a test.</a:t>
            </a:r>
          </a:p>
        </p:txBody>
      </p:sp>
      <p:sp>
        <p:nvSpPr>
          <p:cNvPr id="17" name="Oval 16"/>
          <p:cNvSpPr/>
          <p:nvPr/>
        </p:nvSpPr>
        <p:spPr>
          <a:xfrm>
            <a:off x="4548530" y="3621024"/>
            <a:ext cx="182880" cy="182880"/>
          </a:xfrm>
          <a:prstGeom prst="ellipse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1138" y="3566160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Write the missing hypotheses. The most valuable is a null for the aggregation rule: does the maximum over engaged targets beat a simple count?</a:t>
            </a:r>
          </a:p>
        </p:txBody>
      </p:sp>
      <p:sp>
        <p:nvSpPr>
          <p:cNvPr id="19" name="Oval 18"/>
          <p:cNvSpPr/>
          <p:nvPr/>
        </p:nvSpPr>
        <p:spPr>
          <a:xfrm>
            <a:off x="4548530" y="4791456"/>
            <a:ext cx="182880" cy="182880"/>
          </a:xfrm>
          <a:prstGeom prst="ellipse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1138" y="4736592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Make the freshness graph aware of code. An afternoon's work, and it would have caught the background_specificity.csv case.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1220" y="1645920"/>
            <a:ext cx="3533546" cy="41605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10676" y="1810512"/>
            <a:ext cx="309463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Needs new data, not new analysis</a:t>
            </a:r>
          </a:p>
        </p:txBody>
      </p:sp>
      <p:sp>
        <p:nvSpPr>
          <p:cNvPr id="23" name="Oval 22"/>
          <p:cNvSpPr/>
          <p:nvPr/>
        </p:nvSpPr>
        <p:spPr>
          <a:xfrm>
            <a:off x="8310676" y="2450592"/>
            <a:ext cx="182880" cy="182880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3284" y="2395728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Natural-product chemistry, with the feature-vector contamination check applied from the start rather than the InChIKey check.</a:t>
            </a:r>
          </a:p>
        </p:txBody>
      </p:sp>
      <p:sp>
        <p:nvSpPr>
          <p:cNvPr id="25" name="Oval 24"/>
          <p:cNvSpPr/>
          <p:nvPr/>
        </p:nvSpPr>
        <p:spPr>
          <a:xfrm>
            <a:off x="8310676" y="3621024"/>
            <a:ext cx="182880" cy="182880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3284" y="3566160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A prospective test in the proper sense. Every result in Chapter 8 is retrospective: the dates are real, but no compound was predicted before it was measured.</a:t>
            </a:r>
          </a:p>
        </p:txBody>
      </p:sp>
      <p:sp>
        <p:nvSpPr>
          <p:cNvPr id="27" name="Oval 26"/>
          <p:cNvSpPr/>
          <p:nvPr/>
        </p:nvSpPr>
        <p:spPr>
          <a:xfrm>
            <a:off x="8310676" y="4791456"/>
            <a:ext cx="182880" cy="182880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3284" y="4736592"/>
            <a:ext cx="278373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00" b="0" i="0">
                <a:solidFill>
                  <a:srgbClr val="0F1A2E"/>
                </a:solidFill>
                <a:latin typeface="Calibri"/>
              </a:rPr>
              <a:t>Measured brain exposure rather than a barrier classification, since H10 suggests the gain lies in a better target variable.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5F6B7A"/>
                </a:solidFill>
                <a:latin typeface="Calibri"/>
              </a:rPr>
              <a:t>41 items were raised across the nine preceding chapters. Five are now closed, and a sixth was raised and closed within this chapter.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Chapter 10, sections 10.8 and 10.9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863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What this thesis establishes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7043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D7DFEA"/>
                </a:solidFill>
                <a:latin typeface="Calibri"/>
              </a:rPr>
              <a:t>With the spread rather than the mean wherever one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73936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C7293"/>
                </a:solidFill>
                <a:latin typeface="Cambria"/>
              </a:rPr>
              <a:t>0.8777 to 0.9648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8" y="1755648"/>
            <a:ext cx="8275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scaffold-grouped AUROC across the eight core classifiers, against permuted-label nulls of 0.4959 and 0.5026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15184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C7293"/>
                </a:solidFill>
                <a:latin typeface="Cambria"/>
              </a:rPr>
              <a:t>0.1612 to 0.8616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2596896"/>
            <a:ext cx="8275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recall across four novelty bands, the same curve traced by three independently built test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56432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C7293"/>
                </a:solidFill>
                <a:latin typeface="Cambria"/>
              </a:rPr>
              <a:t>0.7638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3438144"/>
            <a:ext cx="8275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panel sensitivity on held-out actives, median 0.835, from 0.303 to 0.993, with 6 of 47 endpoints firing for fewer than half their own actives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C7293"/>
                </a:solidFill>
                <a:latin typeface="Cambria"/>
              </a:rPr>
              <a:t>0.925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279392"/>
            <a:ext cx="8275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specificity on presumed-inactive non-CNS chemistry, 0.907 to 0.940, and an upper bound rather than an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3892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C7293"/>
                </a:solidFill>
                <a:latin typeface="Cambria"/>
              </a:rPr>
              <a:t>4 of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5120640"/>
            <a:ext cx="8275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50" b="0" i="0">
                <a:solidFill>
                  <a:srgbClr val="D7DFEA"/>
                </a:solidFill>
                <a:latin typeface="Calibri"/>
              </a:rPr>
              <a:t>falsification hypotheses refuted, 2 weakened. The refutations cost a claim about the graph, a claim about the gate, a change to the interface, and four withdrawn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888736"/>
            <a:ext cx="10698480" cy="676656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6016752"/>
            <a:ext cx="10241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Not established: anything prospective, anything about natural-product chemistry, and any advantage for the barrier model over twelve descriptors on chemistry it has not seen.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