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Random 10-fold</c:v>
                </c:pt>
              </c:strCache>
            </c:strRef>
          </c:tx>
          <c:spPr>
            <a:solidFill>
              <a:srgbClr val="D7DFEA"/>
            </a:solidFill>
          </c:spPr>
          <c:cat>
            <c:strRef>
              <c:f>Sheet1!$A$2:$A$9</c:f>
              <c:strCache>
                <c:ptCount val="8"/>
                <c:pt idx="0">
                  <c:v>BBB</c:v>
                </c:pt>
                <c:pt idx="1">
                  <c:v>AChE</c:v>
                </c:pt>
                <c:pt idx="2">
                  <c:v>BChE</c:v>
                </c:pt>
                <c:pt idx="3">
                  <c:v>BACE1</c:v>
                </c:pt>
                <c:pt idx="4">
                  <c:v>GSK3B</c:v>
                </c:pt>
                <c:pt idx="5">
                  <c:v>MAO_A</c:v>
                </c:pt>
                <c:pt idx="6">
                  <c:v>MAO_B</c:v>
                </c:pt>
                <c:pt idx="7">
                  <c:v>hERG</c:v>
                </c:pt>
              </c:strCache>
            </c:strRef>
          </c:cat>
          <c:val>
            <c:numRef>
              <c:f>Sheet1!$B$2:$B$9</c:f>
              <c:numCache>
                <c:formatCode>General</c:formatCode>
                <c:ptCount val="8"/>
                <c:pt idx="0">
                  <c:v>0.899</c:v>
                </c:pt>
                <c:pt idx="1">
                  <c:v>0.9659</c:v>
                </c:pt>
                <c:pt idx="2">
                  <c:v>0.9724</c:v>
                </c:pt>
                <c:pt idx="3">
                  <c:v>0.9764</c:v>
                </c:pt>
                <c:pt idx="4">
                  <c:v>0.9649</c:v>
                </c:pt>
                <c:pt idx="5">
                  <c:v>0.9619</c:v>
                </c:pt>
                <c:pt idx="6">
                  <c:v>0.963</c:v>
                </c:pt>
                <c:pt idx="7">
                  <c:v>0.9565</c:v>
                </c:pt>
              </c:numCache>
            </c:numRef>
          </c:val>
        </c:ser>
        <c:ser>
          <c:idx val="1"/>
          <c:order val="1"/>
          <c:tx>
            <c:strRef>
              <c:f>Sheet1!$C$1</c:f>
              <c:strCache>
                <c:ptCount val="1"/>
                <c:pt idx="0">
                  <c:v>Scaffold-grouped 10-fold</c:v>
                </c:pt>
              </c:strCache>
            </c:strRef>
          </c:tx>
          <c:spPr>
            <a:solidFill>
              <a:srgbClr val="1F3A5F"/>
            </a:solidFill>
          </c:spPr>
          <c:cat>
            <c:strRef>
              <c:f>Sheet1!$A$2:$A$9</c:f>
              <c:strCache>
                <c:ptCount val="8"/>
                <c:pt idx="0">
                  <c:v>BBB</c:v>
                </c:pt>
                <c:pt idx="1">
                  <c:v>AChE</c:v>
                </c:pt>
                <c:pt idx="2">
                  <c:v>BChE</c:v>
                </c:pt>
                <c:pt idx="3">
                  <c:v>BACE1</c:v>
                </c:pt>
                <c:pt idx="4">
                  <c:v>GSK3B</c:v>
                </c:pt>
                <c:pt idx="5">
                  <c:v>MAO_A</c:v>
                </c:pt>
                <c:pt idx="6">
                  <c:v>MAO_B</c:v>
                </c:pt>
                <c:pt idx="7">
                  <c:v>hERG</c:v>
                </c:pt>
              </c:strCache>
            </c:strRef>
          </c:cat>
          <c:val>
            <c:numRef>
              <c:f>Sheet1!$C$2:$C$9</c:f>
              <c:numCache>
                <c:formatCode>General</c:formatCode>
                <c:ptCount val="8"/>
                <c:pt idx="0">
                  <c:v>0.8777</c:v>
                </c:pt>
                <c:pt idx="1">
                  <c:v>0.9212</c:v>
                </c:pt>
                <c:pt idx="2">
                  <c:v>0.9451</c:v>
                </c:pt>
                <c:pt idx="3">
                  <c:v>0.9648</c:v>
                </c:pt>
                <c:pt idx="4">
                  <c:v>0.9425</c:v>
                </c:pt>
                <c:pt idx="5">
                  <c:v>0.9059</c:v>
                </c:pt>
                <c:pt idx="6">
                  <c:v>0.917</c:v>
                </c:pt>
                <c:pt idx="7">
                  <c:v>0.927</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F6B7A"/>
                </a:solidFill>
              </a:defRPr>
            </a:pPr>
          </a:p>
        </c:txPr>
        <c:crossAx val="-2113994440"/>
        <c:crosses val="autoZero"/>
        <c:auto val="1"/>
        <c:lblAlgn val="ctr"/>
        <c:lblOffset val="100"/>
        <c:noMultiLvlLbl val="0"/>
      </c:catAx>
      <c:valAx>
        <c:axId val="-2113994440"/>
        <c:scaling>
          <c:max val="1.0"/>
          <c:min val="0.8"/>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Withheld by date</c:v>
                </c:pt>
              </c:strCache>
            </c:strRef>
          </c:tx>
          <c:spPr>
            <a:solidFill>
              <a:srgbClr val="1F3A5F"/>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Sheet1!$B$2:$B$5</c:f>
              <c:numCache>
                <c:formatCode>General</c:formatCode>
                <c:ptCount val="4"/>
                <c:pt idx="0">
                  <c:v>0.1612</c:v>
                </c:pt>
                <c:pt idx="1">
                  <c:v>0.5532</c:v>
                </c:pt>
                <c:pt idx="2">
                  <c:v>0.7403</c:v>
                </c:pt>
                <c:pt idx="3">
                  <c:v>0.8616</c:v>
                </c:pt>
              </c:numCache>
            </c:numRef>
          </c:val>
        </c:ser>
        <c:ser>
          <c:idx val="1"/>
          <c:order val="1"/>
          <c:tx>
            <c:strRef>
              <c:f>Sheet1!$C$1</c:f>
              <c:strCache>
                <c:ptCount val="1"/>
                <c:pt idx="0">
                  <c:v>Withheld at random</c:v>
                </c:pt>
              </c:strCache>
            </c:strRef>
          </c:tx>
          <c:spPr>
            <a:solidFill>
              <a:srgbClr val="1C7293"/>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Sheet1!$C$2:$C$5</c:f>
              <c:numCache>
                <c:formatCode>General</c:formatCode>
                <c:ptCount val="4"/>
                <c:pt idx="0">
                  <c:v>0.1179</c:v>
                </c:pt>
                <c:pt idx="1">
                  <c:v>0.5232</c:v>
                </c:pt>
                <c:pt idx="2">
                  <c:v>0.7683</c:v>
                </c:pt>
                <c:pt idx="3">
                  <c:v>0.9334</c:v>
                </c:pt>
              </c:numCache>
            </c:numRef>
          </c:val>
        </c:ser>
        <c:ser>
          <c:idx val="2"/>
          <c:order val="2"/>
          <c:tx>
            <c:strRef>
              <c:f>Sheet1!$D$1</c:f>
              <c:strCache>
                <c:ptCount val="1"/>
                <c:pt idx="0">
                  <c:v>Withheld by curator</c:v>
                </c:pt>
              </c:strCache>
            </c:strRef>
          </c:tx>
          <c:spPr>
            <a:solidFill>
              <a:srgbClr val="D98324"/>
            </a:solidFill>
          </c:spPr>
          <c:cat>
            <c:strRef>
              <c:f>Sheet1!$A$2:$A$5</c:f>
              <c:strCache>
                <c:ptCount val="4"/>
                <c:pt idx="0">
                  <c:v>below 0.40
different chemotype</c:v>
                </c:pt>
                <c:pt idx="1">
                  <c:v>0.40 to 0.55
related series</c:v>
                </c:pt>
                <c:pt idx="2">
                  <c:v>0.55 to 0.70
same series</c:v>
                </c:pt>
                <c:pt idx="3">
                  <c:v>0.70 and above
close analogue</c:v>
                </c:pt>
              </c:strCache>
            </c:strRef>
          </c:cat>
          <c:val>
            <c:numRef>
              <c:f>Sheet1!$D$2:$D$5</c:f>
              <c:numCache>
                <c:formatCode>General</c:formatCode>
                <c:ptCount val="4"/>
                <c:pt idx="0">
                  <c:v>0.0494</c:v>
                </c:pt>
                <c:pt idx="1">
                  <c:v>0.4641</c:v>
                </c:pt>
                <c:pt idx="2">
                  <c:v>0.8264</c:v>
                </c:pt>
                <c:pt idx="3">
                  <c:v>0.9011</c:v>
                </c:pt>
              </c:numCache>
            </c:numRef>
          </c:val>
        </c:ser>
        <c:gapWidth val="7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sets up the problem and states, at the outset, what the system does not do. Every figure in this deck is generated from an artefact in the repository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slowly. It is the thesis in two sentences, and the second sentence is the one that keeps the claim defensible.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honestly in the viva that the attrition citation is still to be resolved. The two failure modes themselves are not in dispute.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Kp,uu reaches R squared 0.352 on 566 compounds. If asked why it is still deployed: because the alternative is to report logBB and let the user believe it means free concentration.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examiners will want the algebra. Give it, then immediately give the refutation it implies,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buys credibility for everything after it. The system is an exposure filter over a mechanism ranking, and it should be described that way throughout.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the specific servers still need verified citations. Do not name them in the viva as though they were cited.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is the one nobody else does and the one this thesis is most confident about.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54 targets arises from 70 deployed estimators: it is the 47 deployed binders plus the seven measured-label target and safety classifiers, with the four receptor regressions excluded as duplicates and the antioxidant assay and pKa model excluded as not being targets.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censored-bound recovery is the most distinctive data decision in the thesis and the one a cheminformatics examiner will engage with.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quote the mean without the range. The barrier model is the weakest classifier at 0.878 and BACE1 the strongest at 0.965.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flatters the panel and the median more so. Name GABA-A and COX-2 before an examiner does.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 statistician to ask why Mondrian rather than marginal. The answer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result in the thesis and the one to spend time on. The finding is that the poor number is predictable, not that it is better than it looked.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Withanolide A is the slide that shows the system knows the difference between 'no' and 'I cannot see'. Most tools cannot make that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H2 removed a claim about the curated weights. H3 changed how gating is described. H7 changed how silence is reported. H8 changed how engaged targets are counted in the interface. Each cost something.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NFKB1 scores below chance against its own held-out measured inactives. Showing that is the point of reporting an inventory.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examiner presses on specificity, agree with them. It is a lower bound and it is labelled as one in the artefact, not just in the prose.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Leading with the limitations is a defence tactic and also the right thing to do. An examiner who has to find these themselves will trust everything else less.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to name the single contribution: the distance-conditioned recall reported at query time. Nothing else in this space tells a user what a silence is worth.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up while taking the first questions; it orients the panel.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examiner challenges a number, this slide says which file to open. That is the whole point of generating the deck rather than writing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1</a:t>
            </a:r>
          </a:p>
        </p:txBody>
      </p:sp>
      <p:sp>
        <p:nvSpPr>
          <p:cNvPr id="3" name="TextBox 2"/>
          <p:cNvSpPr txBox="1"/>
          <p:nvPr/>
        </p:nvSpPr>
        <p:spPr>
          <a:xfrm>
            <a:off x="566928" y="1993392"/>
            <a:ext cx="10143439" cy="1874519"/>
          </a:xfrm>
          <a:prstGeom prst="rect">
            <a:avLst/>
          </a:prstGeom>
          <a:noFill/>
        </p:spPr>
        <p:txBody>
          <a:bodyPr wrap="square" lIns="0" rIns="0" tIns="0" bIns="0" anchor="t">
            <a:spAutoFit/>
          </a:bodyPr>
          <a:lstStyle/>
          <a:p>
            <a:pPr algn="l">
              <a:lnSpc>
                <a:spcPct val="108000"/>
              </a:lnSpc>
              <a:spcAft>
                <a:spcPts val="600"/>
              </a:spcAft>
            </a:pPr>
            <a:r>
              <a:rPr sz="3400" b="1" i="0">
                <a:solidFill>
                  <a:srgbClr val="FFFFFF"/>
                </a:solidFill>
                <a:latin typeface="Cambria"/>
              </a:rPr>
              <a:t>Predicting small-molecule action in the human brain, exposure and engagement together</a:t>
            </a:r>
          </a:p>
        </p:txBody>
      </p:sp>
      <p:sp>
        <p:nvSpPr>
          <p:cNvPr id="4" name="TextBox 3"/>
          <p:cNvSpPr txBox="1"/>
          <p:nvPr/>
        </p:nvSpPr>
        <p:spPr>
          <a:xfrm>
            <a:off x="566928" y="4041648"/>
            <a:ext cx="9229039" cy="822960"/>
          </a:xfrm>
          <a:prstGeom prst="rect">
            <a:avLst/>
          </a:prstGeom>
          <a:noFill/>
        </p:spPr>
        <p:txBody>
          <a:bodyPr wrap="square" lIns="0" rIns="0" tIns="0" bIns="0" anchor="t">
            <a:spAutoFit/>
          </a:bodyPr>
          <a:lstStyle/>
          <a:p>
            <a:pPr algn="l">
              <a:spcAft>
                <a:spcPts val="600"/>
              </a:spcAft>
            </a:pPr>
            <a:r>
              <a:rPr sz="1600" b="0" i="1">
                <a:solidFill>
                  <a:srgbClr val="D7DFEA"/>
                </a:solidFill>
                <a:latin typeface="Calibri"/>
              </a:rPr>
              <a:t>A blood-brain-barrier-gated, multi-endpoint predictor, and an account of what it cannot do</a:t>
            </a:r>
          </a:p>
        </p:txBody>
      </p:sp>
      <p:sp>
        <p:nvSpPr>
          <p:cNvPr id="5" name="TextBox 4"/>
          <p:cNvSpPr txBox="1"/>
          <p:nvPr/>
        </p:nvSpPr>
        <p:spPr>
          <a:xfrm>
            <a:off x="566928" y="5166360"/>
            <a:ext cx="11057839" cy="822960"/>
          </a:xfrm>
          <a:prstGeom prst="rect">
            <a:avLst/>
          </a:prstGeom>
          <a:noFill/>
        </p:spPr>
        <p:txBody>
          <a:bodyPr wrap="square" lIns="0" rIns="0" tIns="0" bIns="0" anchor="t">
            <a:spAutoFit/>
          </a:bodyPr>
          <a:lstStyle/>
          <a:p>
            <a:pPr algn="l">
              <a:spcAft>
                <a:spcPts val="300"/>
              </a:spcAft>
            </a:pPr>
            <a:r>
              <a:rPr sz="1500" b="1" i="0">
                <a:solidFill>
                  <a:srgbClr val="FFFFFF"/>
                </a:solidFill>
                <a:latin typeface="Calibri"/>
              </a:rPr>
              <a:t>Krishnasalini Gunanathan</a:t>
            </a:r>
          </a:p>
          <a:p>
            <a:pPr algn="l">
              <a:spcAft>
                <a:spcPts val="300"/>
              </a:spcAft>
            </a:pPr>
            <a:r>
              <a:rPr sz="1300" b="0" i="0">
                <a:solidFill>
                  <a:srgbClr val="D7DFEA"/>
                </a:solidFill>
                <a:latin typeface="Calibri"/>
              </a:rPr>
              <a:t>Sri Sathya Sai Institute of Higher Learning</a:t>
            </a:r>
          </a:p>
          <a:p>
            <a:pPr algn="l">
              <a:spcAft>
                <a:spcPts val="300"/>
              </a:spcAft>
            </a:pPr>
            <a:r>
              <a:rPr sz="1100" b="0" i="0">
                <a:solidFill>
                  <a:srgbClr val="1C7293"/>
                </a:solidFill>
                <a:latin typeface="Calibri"/>
              </a:rPr>
              <a:t>Panel as deployed: 75 estimators, 70 of them serving predictions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417320"/>
            <a:ext cx="9960559"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The argument of this thesis</a:t>
            </a:r>
          </a:p>
        </p:txBody>
      </p:sp>
      <p:sp>
        <p:nvSpPr>
          <p:cNvPr id="3" name="TextBox 2"/>
          <p:cNvSpPr txBox="1"/>
          <p:nvPr/>
        </p:nvSpPr>
        <p:spPr>
          <a:xfrm>
            <a:off x="566928" y="1965960"/>
            <a:ext cx="9960559" cy="2743200"/>
          </a:xfrm>
          <a:prstGeom prst="rect">
            <a:avLst/>
          </a:prstGeom>
          <a:noFill/>
        </p:spPr>
        <p:txBody>
          <a:bodyPr wrap="square" lIns="0" rIns="0" tIns="0" bIns="0" anchor="t">
            <a:spAutoFit/>
          </a:bodyPr>
          <a:lstStyle/>
          <a:p>
            <a:pPr algn="l">
              <a:lnSpc>
                <a:spcPct val="122000"/>
              </a:lnSpc>
              <a:spcAft>
                <a:spcPts val="600"/>
              </a:spcAft>
            </a:pPr>
            <a:r>
              <a:rPr sz="3200" b="0" i="0">
                <a:solidFill>
                  <a:srgbClr val="FFFFFF"/>
                </a:solidFill>
                <a:latin typeface="Cambria"/>
              </a:rPr>
              <a:t>Potency at a target a compound cannot reach is not activity. Exposure and engagement are therefore one question, and a tool that answers them separately has answered neither.</a:t>
            </a:r>
          </a:p>
        </p:txBody>
      </p:sp>
      <p:sp>
        <p:nvSpPr>
          <p:cNvPr id="4" name="TextBox 3"/>
          <p:cNvSpPr txBox="1"/>
          <p:nvPr/>
        </p:nvSpPr>
        <p:spPr>
          <a:xfrm>
            <a:off x="566928" y="4892040"/>
            <a:ext cx="9960559" cy="914400"/>
          </a:xfrm>
          <a:prstGeom prst="rect">
            <a:avLst/>
          </a:prstGeom>
          <a:noFill/>
        </p:spPr>
        <p:txBody>
          <a:bodyPr wrap="square" lIns="0" rIns="0" tIns="0" bIns="0" anchor="t">
            <a:spAutoFit/>
          </a:bodyPr>
          <a:lstStyle/>
          <a:p>
            <a:pPr algn="l">
              <a:spcAft>
                <a:spcPts val="600"/>
              </a:spcAft>
            </a:pPr>
            <a:r>
              <a:rPr sz="1500" b="0" i="1">
                <a:solidFill>
                  <a:srgbClr val="D98324"/>
                </a:solidFill>
                <a:latin typeface="Calibri"/>
              </a:rPr>
              <a:t>The contribution is integration, validation and uncertainty reporting. It is not a new algorithm.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Two ways a central nervous system programme fails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Both happen late, after the medicinal chemistry has been paid for</a:t>
            </a:r>
          </a:p>
        </p:txBody>
      </p:sp>
      <p:sp>
        <p:nvSpPr>
          <p:cNvPr id="5" name="Rounded Rectangle 4"/>
          <p:cNvSpPr/>
          <p:nvPr/>
        </p:nvSpPr>
        <p:spPr>
          <a:xfrm>
            <a:off x="566928" y="1600200"/>
            <a:ext cx="5394960" cy="32004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86968" y="1874519"/>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a:t>
            </a:r>
          </a:p>
        </p:txBody>
      </p:sp>
      <p:sp>
        <p:nvSpPr>
          <p:cNvPr id="7" name="TextBox 6"/>
          <p:cNvSpPr txBox="1"/>
          <p:nvPr/>
        </p:nvSpPr>
        <p:spPr>
          <a:xfrm>
            <a:off x="886968" y="2395728"/>
            <a:ext cx="4754880" cy="365760"/>
          </a:xfrm>
          <a:prstGeom prst="rect">
            <a:avLst/>
          </a:prstGeom>
          <a:noFill/>
        </p:spPr>
        <p:txBody>
          <a:bodyPr wrap="square" lIns="0" rIns="0" tIns="0" bIns="0" anchor="t">
            <a:spAutoFit/>
          </a:bodyPr>
          <a:lstStyle/>
          <a:p>
            <a:pPr algn="l">
              <a:spcAft>
                <a:spcPts val="600"/>
              </a:spcAft>
            </a:pPr>
            <a:r>
              <a:rPr sz="2100" b="1" i="0">
                <a:solidFill>
                  <a:srgbClr val="1F3A5F"/>
                </a:solidFill>
                <a:latin typeface="Cambria"/>
              </a:rPr>
              <a:t>It never arrives</a:t>
            </a:r>
          </a:p>
        </p:txBody>
      </p:sp>
      <p:sp>
        <p:nvSpPr>
          <p:cNvPr id="8" name="TextBox 7"/>
          <p:cNvSpPr txBox="1"/>
          <p:nvPr/>
        </p:nvSpPr>
        <p:spPr>
          <a:xfrm>
            <a:off x="886968" y="2871216"/>
            <a:ext cx="4754880" cy="173736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The barrier is an active interface, not a membrane with a permeability constant: efflux transporters return compounds to the circulation and tight junctions exclude them. A compound can be excellent against isolated protein and inert in an animal.</a:t>
            </a:r>
          </a:p>
        </p:txBody>
      </p:sp>
      <p:sp>
        <p:nvSpPr>
          <p:cNvPr id="9" name="Rounded Rectangle 8"/>
          <p:cNvSpPr/>
          <p:nvPr/>
        </p:nvSpPr>
        <p:spPr>
          <a:xfrm>
            <a:off x="6281928" y="1600200"/>
            <a:ext cx="5394960" cy="32004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601968" y="1874519"/>
            <a:ext cx="384048" cy="384048"/>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B</a:t>
            </a:r>
          </a:p>
        </p:txBody>
      </p:sp>
      <p:sp>
        <p:nvSpPr>
          <p:cNvPr id="11" name="TextBox 10"/>
          <p:cNvSpPr txBox="1"/>
          <p:nvPr/>
        </p:nvSpPr>
        <p:spPr>
          <a:xfrm>
            <a:off x="6601968" y="2395728"/>
            <a:ext cx="4754880" cy="365760"/>
          </a:xfrm>
          <a:prstGeom prst="rect">
            <a:avLst/>
          </a:prstGeom>
          <a:noFill/>
        </p:spPr>
        <p:txBody>
          <a:bodyPr wrap="square" lIns="0" rIns="0" tIns="0" bIns="0" anchor="t">
            <a:spAutoFit/>
          </a:bodyPr>
          <a:lstStyle/>
          <a:p>
            <a:pPr algn="l">
              <a:spcAft>
                <a:spcPts val="600"/>
              </a:spcAft>
            </a:pPr>
            <a:r>
              <a:rPr sz="2100" b="1" i="0">
                <a:solidFill>
                  <a:srgbClr val="9E2A2B"/>
                </a:solidFill>
                <a:latin typeface="Cambria"/>
              </a:rPr>
              <a:t>It arrives and does more</a:t>
            </a:r>
          </a:p>
        </p:txBody>
      </p:sp>
      <p:sp>
        <p:nvSpPr>
          <p:cNvPr id="12" name="TextBox 11"/>
          <p:cNvSpPr txBox="1"/>
          <p:nvPr/>
        </p:nvSpPr>
        <p:spPr>
          <a:xfrm>
            <a:off x="6601968" y="2871216"/>
            <a:ext cx="4754880" cy="173736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A compound that reaches the tissue may engage more than its intended target. On the safety axis, hERG blockade prolongs the QT interval and remains a leading cause of late cardiovascular attrition. On the efficacy axis, the mechanism reached is not the one that drives the disease.</a:t>
            </a:r>
          </a:p>
        </p:txBody>
      </p:sp>
      <p:sp>
        <p:nvSpPr>
          <p:cNvPr id="13" name="TextBox 12"/>
          <p:cNvSpPr txBox="1"/>
          <p:nvPr/>
        </p:nvSpPr>
        <p:spPr>
          <a:xfrm>
            <a:off x="566928" y="5074920"/>
            <a:ext cx="11057839" cy="822960"/>
          </a:xfrm>
          <a:prstGeom prst="rect">
            <a:avLst/>
          </a:prstGeom>
          <a:noFill/>
        </p:spPr>
        <p:txBody>
          <a:bodyPr wrap="square" lIns="0" rIns="0" tIns="0" bIns="0" anchor="t">
            <a:spAutoFit/>
          </a:bodyPr>
          <a:lstStyle/>
          <a:p>
            <a:pPr algn="l">
              <a:lnSpc>
                <a:spcPct val="125000"/>
              </a:lnSpc>
              <a:spcAft>
                <a:spcPts val="600"/>
              </a:spcAft>
            </a:pPr>
            <a:r>
              <a:rPr sz="1500" b="0" i="1">
                <a:solidFill>
                  <a:srgbClr val="0F1A2E"/>
                </a:solidFill>
                <a:latin typeface="Calibri"/>
              </a:rPr>
              <a:t>Neither question is new. What is unusual is how rarely they are answered by one instrument, on one molecule, with a statement of confidence that covers both.</a:t>
            </a:r>
          </a:p>
        </p:txBody>
      </p:sp>
      <p:sp>
        <p:nvSpPr>
          <p:cNvPr id="14" name="TextBox 1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Attrition citation outstanding: references.md carries no attrition series. The key named cns_attrition resolves to Alavijeh 2005, a barrier review, not a success-rate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Exposure means unbound partition, not total concentration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And the honest report is that this is the weakest model in the panel</a:t>
            </a:r>
          </a:p>
        </p:txBody>
      </p:sp>
      <p:sp>
        <p:nvSpPr>
          <p:cNvPr id="5" name="TextBox 4"/>
          <p:cNvSpPr txBox="1"/>
          <p:nvPr/>
        </p:nvSpPr>
        <p:spPr>
          <a:xfrm>
            <a:off x="566928" y="1645920"/>
            <a:ext cx="5852160" cy="2194560"/>
          </a:xfrm>
          <a:prstGeom prst="rect">
            <a:avLst/>
          </a:prstGeom>
          <a:noFill/>
        </p:spPr>
        <p:txBody>
          <a:bodyPr wrap="square" lIns="0" rIns="0" tIns="0" bIns="0" anchor="t">
            <a:spAutoFit/>
          </a:bodyPr>
          <a:lstStyle/>
          <a:p>
            <a:pPr algn="l">
              <a:lnSpc>
                <a:spcPct val="130000"/>
              </a:lnSpc>
              <a:spcAft>
                <a:spcPts val="600"/>
              </a:spcAft>
            </a:pPr>
            <a:r>
              <a:rPr sz="1500" b="0" i="0">
                <a:solidFill>
                  <a:srgbClr val="0F1A2E"/>
                </a:solidFill>
                <a:latin typeface="Calibri"/>
              </a:rPr>
              <a:t>Total brain-to-plasma ratio counts drug bound to tissue lipid, which cannot engage a receptor. The variable that governs whether a free concentration is available at the target is the unbound partition coefficient, Kp,uu. This panel models it directly.</a:t>
            </a:r>
          </a:p>
        </p:txBody>
      </p:sp>
      <p:sp>
        <p:nvSpPr>
          <p:cNvPr id="6" name="TextBox 5"/>
          <p:cNvSpPr txBox="1"/>
          <p:nvPr/>
        </p:nvSpPr>
        <p:spPr>
          <a:xfrm>
            <a:off x="566928" y="3977639"/>
            <a:ext cx="5852160" cy="1737360"/>
          </a:xfrm>
          <a:prstGeom prst="rect">
            <a:avLst/>
          </a:prstGeom>
          <a:noFill/>
        </p:spPr>
        <p:txBody>
          <a:bodyPr wrap="square" lIns="0" rIns="0" tIns="0" bIns="0" anchor="t">
            <a:spAutoFit/>
          </a:bodyPr>
          <a:lstStyle/>
          <a:p>
            <a:pPr algn="l">
              <a:lnSpc>
                <a:spcPct val="130000"/>
              </a:lnSpc>
              <a:spcAft>
                <a:spcPts val="600"/>
              </a:spcAft>
            </a:pPr>
            <a:r>
              <a:rPr sz="1500" b="0" i="1">
                <a:solidFill>
                  <a:srgbClr val="D98324"/>
                </a:solidFill>
                <a:latin typeface="Calibri"/>
              </a:rPr>
              <a:t>Modelling the right quantity badly is preferable to modelling the wrong quantity well, but only if the weakness is reported. It is reported, here and in Chapter 7.</a:t>
            </a:r>
          </a:p>
        </p:txBody>
      </p:sp>
      <p:sp>
        <p:nvSpPr>
          <p:cNvPr id="7" name="Rounded Rectangle 6"/>
          <p:cNvSpPr/>
          <p:nvPr/>
        </p:nvSpPr>
        <p:spPr>
          <a:xfrm>
            <a:off x="6922008" y="1627632"/>
            <a:ext cx="4709160" cy="397763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33488" y="1874519"/>
            <a:ext cx="3931920" cy="365760"/>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Scaffold-split R² across the exposure layer</a:t>
            </a:r>
          </a:p>
        </p:txBody>
      </p:sp>
      <p:sp>
        <p:nvSpPr>
          <p:cNvPr id="9" name="TextBox 8"/>
          <p:cNvSpPr txBox="1"/>
          <p:nvPr/>
        </p:nvSpPr>
        <p:spPr>
          <a:xfrm>
            <a:off x="7333488" y="2395728"/>
            <a:ext cx="2788920" cy="292608"/>
          </a:xfrm>
          <a:prstGeom prst="rect">
            <a:avLst/>
          </a:prstGeom>
          <a:noFill/>
        </p:spPr>
        <p:txBody>
          <a:bodyPr wrap="square" lIns="0" rIns="0" tIns="0" bIns="0" anchor="t">
            <a:spAutoFit/>
          </a:bodyPr>
          <a:lstStyle/>
          <a:p>
            <a:pPr algn="l">
              <a:spcAft>
                <a:spcPts val="600"/>
              </a:spcAft>
            </a:pPr>
            <a:r>
              <a:rPr sz="1300" b="1" i="0">
                <a:solidFill>
                  <a:srgbClr val="D98324"/>
                </a:solidFill>
                <a:latin typeface="Calibri"/>
              </a:rPr>
              <a:t>Kp,uu, unbound partition</a:t>
            </a:r>
          </a:p>
        </p:txBody>
      </p:sp>
      <p:sp>
        <p:nvSpPr>
          <p:cNvPr id="10" name="TextBox 9"/>
          <p:cNvSpPr txBox="1"/>
          <p:nvPr/>
        </p:nvSpPr>
        <p:spPr>
          <a:xfrm>
            <a:off x="10168128" y="2395728"/>
            <a:ext cx="1005840" cy="292608"/>
          </a:xfrm>
          <a:prstGeom prst="rect">
            <a:avLst/>
          </a:prstGeom>
          <a:noFill/>
        </p:spPr>
        <p:txBody>
          <a:bodyPr wrap="square" lIns="0" rIns="0" tIns="0" bIns="0" anchor="t">
            <a:spAutoFit/>
          </a:bodyPr>
          <a:lstStyle/>
          <a:p>
            <a:pPr algn="r">
              <a:spcAft>
                <a:spcPts val="600"/>
              </a:spcAft>
            </a:pPr>
            <a:r>
              <a:rPr sz="1300" b="1" i="0">
                <a:solidFill>
                  <a:srgbClr val="D98324"/>
                </a:solidFill>
                <a:latin typeface="Calibri"/>
              </a:rPr>
              <a:t>0.352</a:t>
            </a:r>
          </a:p>
        </p:txBody>
      </p:sp>
      <p:sp>
        <p:nvSpPr>
          <p:cNvPr id="11" name="TextBox 10"/>
          <p:cNvSpPr txBox="1"/>
          <p:nvPr/>
        </p:nvSpPr>
        <p:spPr>
          <a:xfrm>
            <a:off x="7333488" y="2816352"/>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logBB, total ratio</a:t>
            </a:r>
          </a:p>
        </p:txBody>
      </p:sp>
      <p:sp>
        <p:nvSpPr>
          <p:cNvPr id="12" name="TextBox 11"/>
          <p:cNvSpPr txBox="1"/>
          <p:nvPr/>
        </p:nvSpPr>
        <p:spPr>
          <a:xfrm>
            <a:off x="10168128" y="2816352"/>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0.413</a:t>
            </a:r>
          </a:p>
        </p:txBody>
      </p:sp>
      <p:sp>
        <p:nvSpPr>
          <p:cNvPr id="13" name="TextBox 12"/>
          <p:cNvSpPr txBox="1"/>
          <p:nvPr/>
        </p:nvSpPr>
        <p:spPr>
          <a:xfrm>
            <a:off x="7333488" y="3236976"/>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Aqueous solubility</a:t>
            </a:r>
          </a:p>
        </p:txBody>
      </p:sp>
      <p:sp>
        <p:nvSpPr>
          <p:cNvPr id="14" name="TextBox 13"/>
          <p:cNvSpPr txBox="1"/>
          <p:nvPr/>
        </p:nvSpPr>
        <p:spPr>
          <a:xfrm>
            <a:off x="10168128" y="3236976"/>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0.726</a:t>
            </a:r>
          </a:p>
        </p:txBody>
      </p:sp>
      <p:sp>
        <p:nvSpPr>
          <p:cNvPr id="15" name="TextBox 14"/>
          <p:cNvSpPr txBox="1"/>
          <p:nvPr/>
        </p:nvSpPr>
        <p:spPr>
          <a:xfrm>
            <a:off x="7333488" y="3657600"/>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Caco-2 permeability</a:t>
            </a:r>
          </a:p>
        </p:txBody>
      </p:sp>
      <p:sp>
        <p:nvSpPr>
          <p:cNvPr id="16" name="TextBox 15"/>
          <p:cNvSpPr txBox="1"/>
          <p:nvPr/>
        </p:nvSpPr>
        <p:spPr>
          <a:xfrm>
            <a:off x="10168128" y="3657600"/>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0.582</a:t>
            </a:r>
          </a:p>
        </p:txBody>
      </p:sp>
      <p:sp>
        <p:nvSpPr>
          <p:cNvPr id="17" name="TextBox 16"/>
          <p:cNvSpPr txBox="1"/>
          <p:nvPr/>
        </p:nvSpPr>
        <p:spPr>
          <a:xfrm>
            <a:off x="7333488" y="4078224"/>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Lipophilicity</a:t>
            </a:r>
          </a:p>
        </p:txBody>
      </p:sp>
      <p:sp>
        <p:nvSpPr>
          <p:cNvPr id="18" name="TextBox 17"/>
          <p:cNvSpPr txBox="1"/>
          <p:nvPr/>
        </p:nvSpPr>
        <p:spPr>
          <a:xfrm>
            <a:off x="10168128" y="4078224"/>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0.566</a:t>
            </a:r>
          </a:p>
        </p:txBody>
      </p:sp>
      <p:sp>
        <p:nvSpPr>
          <p:cNvPr id="19" name="TextBox 18"/>
          <p:cNvSpPr txBox="1"/>
          <p:nvPr/>
        </p:nvSpPr>
        <p:spPr>
          <a:xfrm>
            <a:off x="7333488" y="4498848"/>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Plasma protein binding</a:t>
            </a:r>
          </a:p>
        </p:txBody>
      </p:sp>
      <p:sp>
        <p:nvSpPr>
          <p:cNvPr id="20" name="TextBox 19"/>
          <p:cNvSpPr txBox="1"/>
          <p:nvPr/>
        </p:nvSpPr>
        <p:spPr>
          <a:xfrm>
            <a:off x="10168128" y="4498848"/>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0.364</a:t>
            </a:r>
          </a:p>
        </p:txBody>
      </p:sp>
      <p:sp>
        <p:nvSpPr>
          <p:cNvPr id="21" name="TextBox 20"/>
          <p:cNvSpPr txBox="1"/>
          <p:nvPr/>
        </p:nvSpPr>
        <p:spPr>
          <a:xfrm>
            <a:off x="7333488" y="4919472"/>
            <a:ext cx="278892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Hepatocyte clearance</a:t>
            </a:r>
          </a:p>
        </p:txBody>
      </p:sp>
      <p:sp>
        <p:nvSpPr>
          <p:cNvPr id="22" name="TextBox 21"/>
          <p:cNvSpPr txBox="1"/>
          <p:nvPr/>
        </p:nvSpPr>
        <p:spPr>
          <a:xfrm>
            <a:off x="10168128" y="4919472"/>
            <a:ext cx="1005840" cy="292608"/>
          </a:xfrm>
          <a:prstGeom prst="rect">
            <a:avLst/>
          </a:prstGeom>
          <a:noFill/>
        </p:spPr>
        <p:txBody>
          <a:bodyPr wrap="square" lIns="0" rIns="0" tIns="0" bIns="0" anchor="t">
            <a:spAutoFit/>
          </a:bodyPr>
          <a:lstStyle/>
          <a:p>
            <a:pPr algn="r">
              <a:spcAft>
                <a:spcPts val="600"/>
              </a:spcAft>
            </a:pPr>
            <a:r>
              <a:rPr sz="1300" b="1" i="0">
                <a:solidFill>
                  <a:srgbClr val="0F1A2E"/>
                </a:solidFill>
                <a:latin typeface="Calibri"/>
              </a:rPr>
              <a:t>0.206</a:t>
            </a:r>
          </a:p>
        </p:txBody>
      </p:sp>
      <p:sp>
        <p:nvSpPr>
          <p:cNvPr id="23" name="TextBox 2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results/tables/adme_cv_summary.csv, scaffold-grouped 10-fold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Coupling is multiplicative, and that is the whole design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target score is admitted only in proportion to predicted exposure</a:t>
            </a:r>
          </a:p>
        </p:txBody>
      </p:sp>
      <p:sp>
        <p:nvSpPr>
          <p:cNvPr id="5" name="Rounded Rectangle 4"/>
          <p:cNvSpPr/>
          <p:nvPr/>
        </p:nvSpPr>
        <p:spPr>
          <a:xfrm>
            <a:off x="566928" y="1645920"/>
            <a:ext cx="11057839" cy="12344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938528"/>
            <a:ext cx="11057839" cy="731520"/>
          </a:xfrm>
          <a:prstGeom prst="rect">
            <a:avLst/>
          </a:prstGeom>
          <a:noFill/>
        </p:spPr>
        <p:txBody>
          <a:bodyPr wrap="square" lIns="0" rIns="0" tIns="0" bIns="0">
            <a:spAutoFit/>
          </a:bodyPr>
          <a:lstStyle/>
          <a:p>
            <a:pPr algn="ctr"/>
            <a:r>
              <a:rPr b="1" sz="2700">
                <a:solidFill>
                  <a:srgbClr val="1F3A5F"/>
                </a:solidFill>
                <a:latin typeface="Cambria"/>
              </a:rPr>
              <a:t>S̃</a:t>
            </a:r>
            <a:r>
              <a:rPr b="1" sz="1943" baseline="-25000">
                <a:solidFill>
                  <a:srgbClr val="1F3A5F"/>
                </a:solidFill>
                <a:latin typeface="Cambria"/>
              </a:rPr>
              <a:t>d</a:t>
            </a:r>
            <a:r>
              <a:rPr b="1" sz="2700">
                <a:solidFill>
                  <a:srgbClr val="1F3A5F"/>
                </a:solidFill>
                <a:latin typeface="Cambria"/>
              </a:rPr>
              <a:t>(x)   =   γ(x) · </a:t>
            </a:r>
            <a:r>
              <a:rPr b="1" sz="2700">
                <a:solidFill>
                  <a:srgbClr val="1F3A5F"/>
                </a:solidFill>
                <a:latin typeface="Cambria"/>
              </a:rPr>
              <a:t>max</a:t>
            </a:r>
            <a:r>
              <a:rPr b="1" sz="1943" baseline="-25000">
                <a:solidFill>
                  <a:srgbClr val="1F3A5F"/>
                </a:solidFill>
                <a:latin typeface="Cambria"/>
              </a:rPr>
              <a:t>(t,w) ∈ G(d)</a:t>
            </a:r>
            <a:r>
              <a:rPr b="1" sz="2700">
                <a:solidFill>
                  <a:srgbClr val="1F3A5F"/>
                </a:solidFill>
                <a:latin typeface="Cambria"/>
              </a:rPr>
              <a:t>   w · s</a:t>
            </a:r>
            <a:r>
              <a:rPr b="1" sz="1943" baseline="-25000">
                <a:solidFill>
                  <a:srgbClr val="1F3A5F"/>
                </a:solidFill>
                <a:latin typeface="Cambria"/>
              </a:rPr>
              <a:t>t</a:t>
            </a:r>
            <a:r>
              <a:rPr b="1" sz="2700">
                <a:solidFill>
                  <a:srgbClr val="1F3A5F"/>
                </a:solidFill>
                <a:latin typeface="Cambria"/>
              </a:rPr>
              <a:t>(x)</a:t>
            </a:r>
          </a:p>
        </p:txBody>
      </p:sp>
      <p:sp>
        <p:nvSpPr>
          <p:cNvPr id="7" name="TextBox 6"/>
          <p:cNvSpPr txBox="1"/>
          <p:nvPr/>
        </p:nvSpPr>
        <p:spPr>
          <a:xfrm>
            <a:off x="566928" y="2487168"/>
            <a:ext cx="11057839" cy="365760"/>
          </a:xfrm>
          <a:prstGeom prst="rect">
            <a:avLst/>
          </a:prstGeom>
          <a:noFill/>
        </p:spPr>
        <p:txBody>
          <a:bodyPr wrap="square" lIns="0" rIns="0" tIns="0" bIns="0" anchor="t">
            <a:spAutoFit/>
          </a:bodyPr>
          <a:lstStyle/>
          <a:p>
            <a:pPr algn="ctr">
              <a:spcAft>
                <a:spcPts val="600"/>
              </a:spcAft>
            </a:pPr>
            <a:r>
              <a:rPr sz="1300" b="0" i="1">
                <a:solidFill>
                  <a:srgbClr val="5F6B7A"/>
                </a:solidFill>
                <a:latin typeface="Calibri"/>
              </a:rPr>
              <a:t>γ(x) = 1 for the peripheral conditions, and the predicted barrier probability otherwise</a:t>
            </a:r>
          </a:p>
        </p:txBody>
      </p:sp>
      <p:sp>
        <p:nvSpPr>
          <p:cNvPr id="8" name="Oval 7"/>
          <p:cNvSpPr/>
          <p:nvPr/>
        </p:nvSpPr>
        <p:spPr>
          <a:xfrm>
            <a:off x="566928" y="3227832"/>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9" name="TextBox 8"/>
          <p:cNvSpPr txBox="1"/>
          <p:nvPr/>
        </p:nvSpPr>
        <p:spPr>
          <a:xfrm>
            <a:off x="1069848" y="3246120"/>
            <a:ext cx="3108960" cy="36576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The maximum, not a sum</a:t>
            </a:r>
          </a:p>
        </p:txBody>
      </p:sp>
      <p:sp>
        <p:nvSpPr>
          <p:cNvPr id="10" name="TextBox 9"/>
          <p:cNvSpPr txBox="1"/>
          <p:nvPr/>
        </p:nvSpPr>
        <p:spPr>
          <a:xfrm>
            <a:off x="4270248" y="3209544"/>
            <a:ext cx="735451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 condition is scored by its single strongest engaged mechanism, so one target explains the score and can be named. Engaging three of a condition's targets scores exactly as engaging its strongest.</a:t>
            </a:r>
          </a:p>
        </p:txBody>
      </p:sp>
      <p:sp>
        <p:nvSpPr>
          <p:cNvPr id="11" name="Oval 10"/>
          <p:cNvSpPr/>
          <p:nvPr/>
        </p:nvSpPr>
        <p:spPr>
          <a:xfrm>
            <a:off x="566928" y="4233672"/>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1069848" y="4251960"/>
            <a:ext cx="3108960" cy="36576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Why not a sum</a:t>
            </a:r>
          </a:p>
        </p:txBody>
      </p:sp>
      <p:sp>
        <p:nvSpPr>
          <p:cNvPr id="13" name="TextBox 12"/>
          <p:cNvSpPr txBox="1"/>
          <p:nvPr/>
        </p:nvSpPr>
        <p:spPr>
          <a:xfrm>
            <a:off x="4270248" y="4215384"/>
            <a:ext cx="735451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Because co-engaged targets are frequently homologues, and a sum would count one observation several times. Of the panel, 37 targets fire across approved drugs but span only 16 independent directions.</a:t>
            </a:r>
          </a:p>
        </p:txBody>
      </p:sp>
      <p:sp>
        <p:nvSpPr>
          <p:cNvPr id="14" name="Oval 13"/>
          <p:cNvSpPr/>
          <p:nvPr/>
        </p:nvSpPr>
        <p:spPr>
          <a:xfrm>
            <a:off x="566928" y="5239512"/>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1069848" y="5257800"/>
            <a:ext cx="3108960" cy="36576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The gate is shared</a:t>
            </a:r>
          </a:p>
        </p:txBody>
      </p:sp>
      <p:sp>
        <p:nvSpPr>
          <p:cNvPr id="16" name="TextBox 15"/>
          <p:cNvSpPr txBox="1"/>
          <p:nvPr/>
        </p:nvSpPr>
        <p:spPr>
          <a:xfrm>
            <a:off x="4270248" y="5221224"/>
            <a:ext cx="735451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γ does not depend on the condition, except for the 2 peripheral ones (migraine, multiple sclerosis). That single fact has a consequence the next slide states.</a:t>
            </a:r>
          </a:p>
        </p:txBody>
      </p:sp>
      <p:sp>
        <p:nvSpPr>
          <p:cNvPr id="17" name="TextBox 1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Formal specification: docs/TECHNICAL_REPORT.md section 3.7. Graph read from app.py: 51 targets, 16 conditions.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234440"/>
            <a:ext cx="6583680" cy="41148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the algebra also says</a:t>
            </a:r>
          </a:p>
        </p:txBody>
      </p:sp>
      <p:sp>
        <p:nvSpPr>
          <p:cNvPr id="3" name="TextBox 2"/>
          <p:cNvSpPr txBox="1"/>
          <p:nvPr/>
        </p:nvSpPr>
        <p:spPr>
          <a:xfrm>
            <a:off x="566928" y="1737360"/>
            <a:ext cx="6949440" cy="1920240"/>
          </a:xfrm>
          <a:prstGeom prst="rect">
            <a:avLst/>
          </a:prstGeom>
          <a:noFill/>
        </p:spPr>
        <p:txBody>
          <a:bodyPr wrap="square" lIns="0" rIns="0" tIns="0" bIns="0" anchor="t">
            <a:spAutoFit/>
          </a:bodyPr>
          <a:lstStyle/>
          <a:p>
            <a:pPr algn="l">
              <a:lnSpc>
                <a:spcPct val="114000"/>
              </a:lnSpc>
              <a:spcAft>
                <a:spcPts val="600"/>
              </a:spcAft>
            </a:pPr>
            <a:r>
              <a:rPr sz="3400" b="1" i="0">
                <a:solidFill>
                  <a:srgbClr val="FFFFFF"/>
                </a:solidFill>
                <a:latin typeface="Cambria"/>
              </a:rPr>
              <a:t>The exposure gate cannot discriminate between conditions.</a:t>
            </a:r>
          </a:p>
        </p:txBody>
      </p:sp>
      <p:sp>
        <p:nvSpPr>
          <p:cNvPr id="4" name="TextBox 3"/>
          <p:cNvSpPr txBox="1"/>
          <p:nvPr/>
        </p:nvSpPr>
        <p:spPr>
          <a:xfrm>
            <a:off x="566928" y="3520440"/>
            <a:ext cx="6949440" cy="2194560"/>
          </a:xfrm>
          <a:prstGeom prst="rect">
            <a:avLst/>
          </a:prstGeom>
          <a:noFill/>
        </p:spPr>
        <p:txBody>
          <a:bodyPr wrap="square" lIns="0" rIns="0" tIns="0" bIns="0" anchor="t">
            <a:spAutoFit/>
          </a:bodyPr>
          <a:lstStyle/>
          <a:p>
            <a:pPr algn="l">
              <a:lnSpc>
                <a:spcPct val="130000"/>
              </a:lnSpc>
              <a:spcAft>
                <a:spcPts val="600"/>
              </a:spcAft>
            </a:pPr>
            <a:r>
              <a:rPr sz="1600" b="0" i="0">
                <a:solidFill>
                  <a:srgbClr val="D7DFEA"/>
                </a:solidFill>
                <a:latin typeface="Calibri"/>
              </a:rPr>
              <a:t>Because γ does not depend on the condition, multiplying every condition's score by the same number leaves their ranking untouched. Gating decides whether anything is reported at all. It never decides which condition is reported.</a:t>
            </a:r>
          </a:p>
        </p:txBody>
      </p:sp>
      <p:sp>
        <p:nvSpPr>
          <p:cNvPr id="5" name="Rounded Rectangle 4"/>
          <p:cNvSpPr/>
          <p:nvPr/>
        </p:nvSpPr>
        <p:spPr>
          <a:xfrm>
            <a:off x="8019288" y="1645920"/>
            <a:ext cx="3611880" cy="379476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85048" y="2011680"/>
            <a:ext cx="2880360" cy="411480"/>
          </a:xfrm>
          <a:prstGeom prst="rect">
            <a:avLst/>
          </a:prstGeom>
          <a:noFill/>
        </p:spPr>
        <p:txBody>
          <a:bodyPr wrap="square" lIns="0" rIns="0" tIns="0" bIns="0" anchor="t">
            <a:spAutoFit/>
          </a:bodyPr>
          <a:lstStyle/>
          <a:p>
            <a:pPr algn="l">
              <a:spcAft>
                <a:spcPts val="600"/>
              </a:spcAft>
            </a:pPr>
            <a:r>
              <a:rPr sz="2600" b="1" i="0">
                <a:solidFill>
                  <a:srgbClr val="D98324"/>
                </a:solidFill>
                <a:latin typeface="Cambria"/>
              </a:rPr>
              <a:t>H3</a:t>
            </a:r>
          </a:p>
        </p:txBody>
      </p:sp>
      <p:sp>
        <p:nvSpPr>
          <p:cNvPr id="7" name="TextBox 6"/>
          <p:cNvSpPr txBox="1"/>
          <p:nvPr/>
        </p:nvSpPr>
        <p:spPr>
          <a:xfrm>
            <a:off x="8385048" y="2560320"/>
            <a:ext cx="2880360" cy="411480"/>
          </a:xfrm>
          <a:prstGeom prst="rect">
            <a:avLst/>
          </a:prstGeom>
          <a:noFill/>
        </p:spPr>
        <p:txBody>
          <a:bodyPr wrap="square" lIns="0" rIns="0" tIns="0" bIns="0" anchor="t">
            <a:spAutoFit/>
          </a:bodyPr>
          <a:lstStyle/>
          <a:p>
            <a:pPr algn="l">
              <a:spcAft>
                <a:spcPts val="600"/>
              </a:spcAft>
            </a:pPr>
            <a:r>
              <a:rPr sz="1900" b="1" i="0">
                <a:solidFill>
                  <a:srgbClr val="FFFFFF"/>
                </a:solidFill>
                <a:latin typeface="Calibri"/>
              </a:rPr>
              <a:t>REFUTED</a:t>
            </a:r>
          </a:p>
        </p:txBody>
      </p:sp>
      <p:sp>
        <p:nvSpPr>
          <p:cNvPr id="8" name="TextBox 7"/>
          <p:cNvSpPr txBox="1"/>
          <p:nvPr/>
        </p:nvSpPr>
        <p:spPr>
          <a:xfrm>
            <a:off x="8385048" y="3035808"/>
            <a:ext cx="2880360" cy="2103120"/>
          </a:xfrm>
          <a:prstGeom prst="rect">
            <a:avLst/>
          </a:prstGeom>
          <a:noFill/>
        </p:spPr>
        <p:txBody>
          <a:bodyPr wrap="square" lIns="0" rIns="0" tIns="0" bIns="0" anchor="t">
            <a:spAutoFit/>
          </a:bodyPr>
          <a:lstStyle/>
          <a:p>
            <a:pPr algn="l">
              <a:lnSpc>
                <a:spcPct val="128000"/>
              </a:lnSpc>
              <a:spcAft>
                <a:spcPts val="600"/>
              </a:spcAft>
            </a:pPr>
            <a:r>
              <a:rPr sz="1300" b="0" i="0">
                <a:solidFill>
                  <a:srgbClr val="D7DFEA"/>
                </a:solidFill>
                <a:latin typeface="Calibri"/>
              </a:rPr>
              <a:t>by construction, not by experiment. Stated in the introduction rather than the limitations, because it follows from the design and a reader meeting the architecture is entitled to it at that moment.</a:t>
            </a:r>
          </a:p>
        </p:txBody>
      </p:sp>
      <p:sp>
        <p:nvSpPr>
          <p:cNvPr id="9" name="TextBox 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inversion/results/VERDICTS.csv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existing servers do, and where they stop</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families, each answering one half of the question</a:t>
            </a:r>
          </a:p>
        </p:txBody>
      </p:sp>
      <p:sp>
        <p:nvSpPr>
          <p:cNvPr id="5" name="Rounded Rectangle 4"/>
          <p:cNvSpPr/>
          <p:nvPr/>
        </p:nvSpPr>
        <p:spPr>
          <a:xfrm>
            <a:off x="566928" y="1572768"/>
            <a:ext cx="3503066" cy="39319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59536" y="1828800"/>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859536" y="2304288"/>
            <a:ext cx="2917850" cy="685800"/>
          </a:xfrm>
          <a:prstGeom prst="rect">
            <a:avLst/>
          </a:prstGeom>
          <a:noFill/>
        </p:spPr>
        <p:txBody>
          <a:bodyPr wrap="square" lIns="0" rIns="0" tIns="0" bIns="0" anchor="t">
            <a:spAutoFit/>
          </a:bodyPr>
          <a:lstStyle/>
          <a:p>
            <a:pPr algn="l">
              <a:lnSpc>
                <a:spcPct val="112000"/>
              </a:lnSpc>
              <a:spcAft>
                <a:spcPts val="600"/>
              </a:spcAft>
            </a:pPr>
            <a:r>
              <a:rPr sz="1700" b="1" i="0">
                <a:solidFill>
                  <a:srgbClr val="1F3A5F"/>
                </a:solidFill>
                <a:latin typeface="Cambria"/>
              </a:rPr>
              <a:t>ADMET and physicochemical</a:t>
            </a:r>
          </a:p>
        </p:txBody>
      </p:sp>
      <p:sp>
        <p:nvSpPr>
          <p:cNvPr id="8" name="TextBox 7"/>
          <p:cNvSpPr txBox="1"/>
          <p:nvPr/>
        </p:nvSpPr>
        <p:spPr>
          <a:xfrm>
            <a:off x="859536" y="3063240"/>
            <a:ext cx="2917850" cy="13716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Estimate barrier penetration, permeability and efflux liability from structure. They answer exposure, often well, and say nothing about pharmacology.</a:t>
            </a:r>
          </a:p>
        </p:txBody>
      </p:sp>
      <p:sp>
        <p:nvSpPr>
          <p:cNvPr id="9" name="TextBox 8"/>
          <p:cNvSpPr txBox="1"/>
          <p:nvPr/>
        </p:nvSpPr>
        <p:spPr>
          <a:xfrm>
            <a:off x="859536" y="4498848"/>
            <a:ext cx="2917850" cy="914400"/>
          </a:xfrm>
          <a:prstGeom prst="rect">
            <a:avLst/>
          </a:prstGeom>
          <a:noFill/>
        </p:spPr>
        <p:txBody>
          <a:bodyPr wrap="square" lIns="0" rIns="0" tIns="0" bIns="0" anchor="t">
            <a:spAutoFit/>
          </a:bodyPr>
          <a:lstStyle/>
          <a:p>
            <a:pPr algn="l">
              <a:lnSpc>
                <a:spcPct val="124000"/>
              </a:lnSpc>
              <a:spcAft>
                <a:spcPts val="600"/>
              </a:spcAft>
            </a:pPr>
            <a:r>
              <a:rPr sz="1200" b="0" i="1">
                <a:solidFill>
                  <a:srgbClr val="5F6B7A"/>
                </a:solidFill>
                <a:latin typeface="Calibri"/>
              </a:rPr>
              <a:t>The CNS MPO score is a desirability function over six properties, presented as a design aid. Used as a proxy for central activity it is a category error: it contains no target information.</a:t>
            </a:r>
          </a:p>
        </p:txBody>
      </p:sp>
      <p:sp>
        <p:nvSpPr>
          <p:cNvPr id="10" name="Rounded Rectangle 9"/>
          <p:cNvSpPr/>
          <p:nvPr/>
        </p:nvSpPr>
        <p:spPr>
          <a:xfrm>
            <a:off x="4344314" y="1572768"/>
            <a:ext cx="3503066" cy="39319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36922" y="1828800"/>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4636922" y="2304288"/>
            <a:ext cx="2917850" cy="685800"/>
          </a:xfrm>
          <a:prstGeom prst="rect">
            <a:avLst/>
          </a:prstGeom>
          <a:noFill/>
        </p:spPr>
        <p:txBody>
          <a:bodyPr wrap="square" lIns="0" rIns="0" tIns="0" bIns="0" anchor="t">
            <a:spAutoFit/>
          </a:bodyPr>
          <a:lstStyle/>
          <a:p>
            <a:pPr algn="l">
              <a:lnSpc>
                <a:spcPct val="112000"/>
              </a:lnSpc>
              <a:spcAft>
                <a:spcPts val="600"/>
              </a:spcAft>
            </a:pPr>
            <a:r>
              <a:rPr sz="1700" b="1" i="0">
                <a:solidFill>
                  <a:srgbClr val="1C7293"/>
                </a:solidFill>
                <a:latin typeface="Cambria"/>
              </a:rPr>
              <a:t>Target prediction</a:t>
            </a:r>
          </a:p>
        </p:txBody>
      </p:sp>
      <p:sp>
        <p:nvSpPr>
          <p:cNvPr id="13" name="TextBox 12"/>
          <p:cNvSpPr txBox="1"/>
          <p:nvPr/>
        </p:nvSpPr>
        <p:spPr>
          <a:xfrm>
            <a:off x="4636922" y="3063240"/>
            <a:ext cx="2917850" cy="13716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Rank probable protein targets, typically by similarity to annotated ligands. They answer engagement, and are agnostic about whether the compound reaches the tissue.</a:t>
            </a:r>
          </a:p>
        </p:txBody>
      </p:sp>
      <p:sp>
        <p:nvSpPr>
          <p:cNvPr id="14" name="TextBox 13"/>
          <p:cNvSpPr txBox="1"/>
          <p:nvPr/>
        </p:nvSpPr>
        <p:spPr>
          <a:xfrm>
            <a:off x="4636922" y="4498848"/>
            <a:ext cx="2917850" cy="914400"/>
          </a:xfrm>
          <a:prstGeom prst="rect">
            <a:avLst/>
          </a:prstGeom>
          <a:noFill/>
        </p:spPr>
        <p:txBody>
          <a:bodyPr wrap="square" lIns="0" rIns="0" tIns="0" bIns="0" anchor="t">
            <a:spAutoFit/>
          </a:bodyPr>
          <a:lstStyle/>
          <a:p>
            <a:pPr algn="l">
              <a:lnSpc>
                <a:spcPct val="124000"/>
              </a:lnSpc>
              <a:spcAft>
                <a:spcPts val="600"/>
              </a:spcAft>
            </a:pPr>
            <a:r>
              <a:rPr sz="1200" b="0" i="1">
                <a:solidFill>
                  <a:srgbClr val="5F6B7A"/>
                </a:solidFill>
                <a:latin typeface="Calibri"/>
              </a:rPr>
              <a:t>Treated here as a strong baseline, not a straw man: read-across recovers the correct target for 0.973 of held-out compounds against 0.059 for a frequency baseline.</a:t>
            </a:r>
          </a:p>
        </p:txBody>
      </p:sp>
      <p:sp>
        <p:nvSpPr>
          <p:cNvPr id="15" name="Rounded Rectangle 14"/>
          <p:cNvSpPr/>
          <p:nvPr/>
        </p:nvSpPr>
        <p:spPr>
          <a:xfrm>
            <a:off x="8121700" y="1572768"/>
            <a:ext cx="3503066" cy="39319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414308" y="1828800"/>
            <a:ext cx="329184" cy="329184"/>
          </a:xfrm>
          <a:prstGeom prst="ellipse">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7" name="TextBox 16"/>
          <p:cNvSpPr txBox="1"/>
          <p:nvPr/>
        </p:nvSpPr>
        <p:spPr>
          <a:xfrm>
            <a:off x="8414308" y="2304288"/>
            <a:ext cx="2917850" cy="685800"/>
          </a:xfrm>
          <a:prstGeom prst="rect">
            <a:avLst/>
          </a:prstGeom>
          <a:noFill/>
        </p:spPr>
        <p:txBody>
          <a:bodyPr wrap="square" lIns="0" rIns="0" tIns="0" bIns="0" anchor="t">
            <a:spAutoFit/>
          </a:bodyPr>
          <a:lstStyle/>
          <a:p>
            <a:pPr algn="l">
              <a:lnSpc>
                <a:spcPct val="112000"/>
              </a:lnSpc>
              <a:spcAft>
                <a:spcPts val="600"/>
              </a:spcAft>
            </a:pPr>
            <a:r>
              <a:rPr sz="1700" b="1" i="0">
                <a:solidFill>
                  <a:srgbClr val="5F6B7A"/>
                </a:solidFill>
                <a:latin typeface="Cambria"/>
              </a:rPr>
              <a:t>Single-endpoint barrier models</a:t>
            </a:r>
          </a:p>
        </p:txBody>
      </p:sp>
      <p:sp>
        <p:nvSpPr>
          <p:cNvPr id="18" name="TextBox 17"/>
          <p:cNvSpPr txBox="1"/>
          <p:nvPr/>
        </p:nvSpPr>
        <p:spPr>
          <a:xfrm>
            <a:off x="8414308" y="3063240"/>
            <a:ext cx="2917850" cy="13716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Model blood-brain penetration alone, usually on one curated permeability set.</a:t>
            </a:r>
          </a:p>
        </p:txBody>
      </p:sp>
      <p:sp>
        <p:nvSpPr>
          <p:cNvPr id="19" name="TextBox 18"/>
          <p:cNvSpPr txBox="1"/>
          <p:nvPr/>
        </p:nvSpPr>
        <p:spPr>
          <a:xfrm>
            <a:off x="8414308" y="4498848"/>
            <a:ext cx="2917850" cy="914400"/>
          </a:xfrm>
          <a:prstGeom prst="rect">
            <a:avLst/>
          </a:prstGeom>
          <a:noFill/>
        </p:spPr>
        <p:txBody>
          <a:bodyPr wrap="square" lIns="0" rIns="0" tIns="0" bIns="0" anchor="t">
            <a:spAutoFit/>
          </a:bodyPr>
          <a:lstStyle/>
          <a:p>
            <a:pPr algn="l">
              <a:lnSpc>
                <a:spcPct val="124000"/>
              </a:lnSpc>
              <a:spcAft>
                <a:spcPts val="600"/>
              </a:spcAft>
            </a:pPr>
            <a:r>
              <a:rPr sz="1200" b="0" i="1">
                <a:solidFill>
                  <a:srgbClr val="5F6B7A"/>
                </a:solidFill>
                <a:latin typeface="Calibri"/>
              </a:rPr>
              <a:t>The exposure axis in isolation. Useful, and not a triage instrument.</a:t>
            </a:r>
          </a:p>
        </p:txBody>
      </p:sp>
      <p:sp>
        <p:nvSpPr>
          <p:cNvPr id="20" name="TextBox 1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Named-server citations outstanding: no server in the comparison is yet in references.md. H5 figures from inversion/results/H5_readacross_value.csv.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Three capabilities absent across all three families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Together they define what is claimed here</a:t>
            </a:r>
          </a:p>
        </p:txBody>
      </p:sp>
      <p:sp>
        <p:nvSpPr>
          <p:cNvPr id="5" name="Rounded Rectangle 4"/>
          <p:cNvSpPr/>
          <p:nvPr/>
        </p:nvSpPr>
        <p:spPr>
          <a:xfrm>
            <a:off x="566928" y="1691640"/>
            <a:ext cx="11057839" cy="12252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86968" y="2093976"/>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527048" y="1929384"/>
            <a:ext cx="3703320" cy="777240"/>
          </a:xfrm>
          <a:prstGeom prst="rect">
            <a:avLst/>
          </a:prstGeom>
          <a:noFill/>
        </p:spPr>
        <p:txBody>
          <a:bodyPr wrap="square" lIns="0" rIns="0" tIns="0" bIns="0" anchor="t">
            <a:spAutoFit/>
          </a:bodyPr>
          <a:lstStyle/>
          <a:p>
            <a:pPr algn="l">
              <a:lnSpc>
                <a:spcPct val="112000"/>
              </a:lnSpc>
              <a:spcAft>
                <a:spcPts val="600"/>
              </a:spcAft>
            </a:pPr>
            <a:r>
              <a:rPr sz="1700" b="1" i="0">
                <a:solidFill>
                  <a:srgbClr val="1F3A5F"/>
                </a:solidFill>
                <a:latin typeface="Cambria"/>
              </a:rPr>
              <a:t>Coupling</a:t>
            </a:r>
          </a:p>
        </p:txBody>
      </p:sp>
      <p:sp>
        <p:nvSpPr>
          <p:cNvPr id="8" name="TextBox 7"/>
          <p:cNvSpPr txBox="1"/>
          <p:nvPr/>
        </p:nvSpPr>
        <p:spPr>
          <a:xfrm>
            <a:off x="5367528" y="1929384"/>
            <a:ext cx="593719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No server admits a target score in proportion to predicted exposure. Where both quantities are produced they sit side by side and the integration is left to the reader.</a:t>
            </a:r>
          </a:p>
        </p:txBody>
      </p:sp>
      <p:sp>
        <p:nvSpPr>
          <p:cNvPr id="9" name="Rounded Rectangle 8"/>
          <p:cNvSpPr/>
          <p:nvPr/>
        </p:nvSpPr>
        <p:spPr>
          <a:xfrm>
            <a:off x="566928" y="3081528"/>
            <a:ext cx="11057839" cy="12252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86968" y="3483864"/>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1527048" y="3319272"/>
            <a:ext cx="3703320" cy="777240"/>
          </a:xfrm>
          <a:prstGeom prst="rect">
            <a:avLst/>
          </a:prstGeom>
          <a:noFill/>
        </p:spPr>
        <p:txBody>
          <a:bodyPr wrap="square" lIns="0" rIns="0" tIns="0" bIns="0" anchor="t">
            <a:spAutoFit/>
          </a:bodyPr>
          <a:lstStyle/>
          <a:p>
            <a:pPr algn="l">
              <a:lnSpc>
                <a:spcPct val="112000"/>
              </a:lnSpc>
              <a:spcAft>
                <a:spcPts val="600"/>
              </a:spcAft>
            </a:pPr>
            <a:r>
              <a:rPr sz="1700" b="1" i="0">
                <a:solidFill>
                  <a:srgbClr val="1F3A5F"/>
                </a:solidFill>
                <a:latin typeface="Cambria"/>
              </a:rPr>
              <a:t>Calibrated, compound-specific uncertainty</a:t>
            </a:r>
          </a:p>
        </p:txBody>
      </p:sp>
      <p:sp>
        <p:nvSpPr>
          <p:cNvPr id="12" name="TextBox 11"/>
          <p:cNvSpPr txBox="1"/>
          <p:nvPr/>
        </p:nvSpPr>
        <p:spPr>
          <a:xfrm>
            <a:off x="5367528" y="3319272"/>
            <a:ext cx="593719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Every value returned carries a calibrated probability, a conformal coverage statement measured at 0.876 to 0.933 against a 0.90 target, and a distance to the nearest measured analogue.</a:t>
            </a:r>
          </a:p>
        </p:txBody>
      </p:sp>
      <p:sp>
        <p:nvSpPr>
          <p:cNvPr id="13" name="Rounded Rectangle 12"/>
          <p:cNvSpPr/>
          <p:nvPr/>
        </p:nvSpPr>
        <p:spPr>
          <a:xfrm>
            <a:off x="566928" y="4471416"/>
            <a:ext cx="11057839" cy="12252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86968" y="4873752"/>
            <a:ext cx="384048" cy="384048"/>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1527048" y="4709160"/>
            <a:ext cx="3703320" cy="777240"/>
          </a:xfrm>
          <a:prstGeom prst="rect">
            <a:avLst/>
          </a:prstGeom>
          <a:noFill/>
        </p:spPr>
        <p:txBody>
          <a:bodyPr wrap="square" lIns="0" rIns="0" tIns="0" bIns="0" anchor="t">
            <a:spAutoFit/>
          </a:bodyPr>
          <a:lstStyle/>
          <a:p>
            <a:pPr algn="l">
              <a:lnSpc>
                <a:spcPct val="112000"/>
              </a:lnSpc>
              <a:spcAft>
                <a:spcPts val="600"/>
              </a:spcAft>
            </a:pPr>
            <a:r>
              <a:rPr sz="1700" b="1" i="0">
                <a:solidFill>
                  <a:srgbClr val="1F3A5F"/>
                </a:solidFill>
                <a:latin typeface="Cambria"/>
              </a:rPr>
              <a:t>A quantified statement of what silence means</a:t>
            </a:r>
          </a:p>
        </p:txBody>
      </p:sp>
      <p:sp>
        <p:nvSpPr>
          <p:cNvPr id="16" name="TextBox 15"/>
          <p:cNvSpPr txBox="1"/>
          <p:nvPr/>
        </p:nvSpPr>
        <p:spPr>
          <a:xfrm>
            <a:off x="5367528" y="4709160"/>
            <a:ext cx="5937199" cy="8686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When a tool returns nothing, the user cannot tell inactivity from blindness. This one reports the recall the panel achieves at that compound's own distance from training chemistry: 0.86 for a close analogue, 0.16 for a novel scaffold.</a:t>
            </a:r>
          </a:p>
        </p:txBody>
      </p:sp>
      <p:sp>
        <p:nvSpPr>
          <p:cNvPr id="17" name="TextBox 1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results/tables/rf_conformal.csv; results/tables/external_novelty_strata.csv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system, as deployed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Counted from the model inventory and the endpoint tables</a:t>
            </a:r>
          </a:p>
        </p:txBody>
      </p:sp>
      <p:sp>
        <p:nvSpPr>
          <p:cNvPr id="5" name="Rounded Rectangle 4"/>
          <p:cNvSpPr/>
          <p:nvPr/>
        </p:nvSpPr>
        <p:spPr>
          <a:xfrm>
            <a:off x="566928" y="1645920"/>
            <a:ext cx="2006742"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920240"/>
            <a:ext cx="1458102" cy="603504"/>
          </a:xfrm>
          <a:prstGeom prst="rect">
            <a:avLst/>
          </a:prstGeom>
          <a:noFill/>
        </p:spPr>
        <p:txBody>
          <a:bodyPr wrap="square" lIns="0" rIns="0" tIns="0" bIns="0" anchor="t">
            <a:spAutoFit/>
          </a:bodyPr>
          <a:lstStyle/>
          <a:p>
            <a:pPr algn="l">
              <a:spcAft>
                <a:spcPts val="600"/>
              </a:spcAft>
            </a:pPr>
            <a:r>
              <a:rPr sz="3600" b="1" i="0">
                <a:solidFill>
                  <a:srgbClr val="1F3A5F"/>
                </a:solidFill>
                <a:latin typeface="Cambria"/>
              </a:rPr>
              <a:t>75</a:t>
            </a:r>
          </a:p>
        </p:txBody>
      </p:sp>
      <p:sp>
        <p:nvSpPr>
          <p:cNvPr id="7" name="TextBox 6"/>
          <p:cNvSpPr txBox="1"/>
          <p:nvPr/>
        </p:nvSpPr>
        <p:spPr>
          <a:xfrm>
            <a:off x="841247" y="2560320"/>
            <a:ext cx="1458102"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fitted estimators</a:t>
            </a:r>
          </a:p>
        </p:txBody>
      </p:sp>
      <p:sp>
        <p:nvSpPr>
          <p:cNvPr id="8" name="Rounded Rectangle 7"/>
          <p:cNvSpPr/>
          <p:nvPr/>
        </p:nvSpPr>
        <p:spPr>
          <a:xfrm>
            <a:off x="2829702" y="1645920"/>
            <a:ext cx="2006742"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104022" y="1920240"/>
            <a:ext cx="1458102" cy="603504"/>
          </a:xfrm>
          <a:prstGeom prst="rect">
            <a:avLst/>
          </a:prstGeom>
          <a:noFill/>
        </p:spPr>
        <p:txBody>
          <a:bodyPr wrap="square" lIns="0" rIns="0" tIns="0" bIns="0" anchor="t">
            <a:spAutoFit/>
          </a:bodyPr>
          <a:lstStyle/>
          <a:p>
            <a:pPr algn="l">
              <a:spcAft>
                <a:spcPts val="600"/>
              </a:spcAft>
            </a:pPr>
            <a:r>
              <a:rPr sz="3600" b="1" i="0">
                <a:solidFill>
                  <a:srgbClr val="1F3A5F"/>
                </a:solidFill>
                <a:latin typeface="Cambria"/>
              </a:rPr>
              <a:t>70</a:t>
            </a:r>
          </a:p>
        </p:txBody>
      </p:sp>
      <p:sp>
        <p:nvSpPr>
          <p:cNvPr id="10" name="TextBox 9"/>
          <p:cNvSpPr txBox="1"/>
          <p:nvPr/>
        </p:nvSpPr>
        <p:spPr>
          <a:xfrm>
            <a:off x="3104022" y="2560320"/>
            <a:ext cx="1458102"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them deployed</a:t>
            </a:r>
          </a:p>
        </p:txBody>
      </p:sp>
      <p:sp>
        <p:nvSpPr>
          <p:cNvPr id="11" name="Rounded Rectangle 10"/>
          <p:cNvSpPr/>
          <p:nvPr/>
        </p:nvSpPr>
        <p:spPr>
          <a:xfrm>
            <a:off x="5092476" y="1645920"/>
            <a:ext cx="2006742"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66796" y="1920240"/>
            <a:ext cx="1458102" cy="603504"/>
          </a:xfrm>
          <a:prstGeom prst="rect">
            <a:avLst/>
          </a:prstGeom>
          <a:noFill/>
        </p:spPr>
        <p:txBody>
          <a:bodyPr wrap="square" lIns="0" rIns="0" tIns="0" bIns="0" anchor="t">
            <a:spAutoFit/>
          </a:bodyPr>
          <a:lstStyle/>
          <a:p>
            <a:pPr algn="l">
              <a:spcAft>
                <a:spcPts val="600"/>
              </a:spcAft>
            </a:pPr>
            <a:r>
              <a:rPr sz="3600" b="1" i="0">
                <a:solidFill>
                  <a:srgbClr val="1F3A5F"/>
                </a:solidFill>
                <a:latin typeface="Cambria"/>
              </a:rPr>
              <a:t>54</a:t>
            </a:r>
          </a:p>
        </p:txBody>
      </p:sp>
      <p:sp>
        <p:nvSpPr>
          <p:cNvPr id="13" name="TextBox 12"/>
          <p:cNvSpPr txBox="1"/>
          <p:nvPr/>
        </p:nvSpPr>
        <p:spPr>
          <a:xfrm>
            <a:off x="5366796" y="2560320"/>
            <a:ext cx="1458102"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distinct molecular targets</a:t>
            </a:r>
          </a:p>
        </p:txBody>
      </p:sp>
      <p:sp>
        <p:nvSpPr>
          <p:cNvPr id="14" name="Rounded Rectangle 13"/>
          <p:cNvSpPr/>
          <p:nvPr/>
        </p:nvSpPr>
        <p:spPr>
          <a:xfrm>
            <a:off x="7355250" y="1645920"/>
            <a:ext cx="2006742"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29570" y="1920240"/>
            <a:ext cx="1458102" cy="603504"/>
          </a:xfrm>
          <a:prstGeom prst="rect">
            <a:avLst/>
          </a:prstGeom>
          <a:noFill/>
        </p:spPr>
        <p:txBody>
          <a:bodyPr wrap="square" lIns="0" rIns="0" tIns="0" bIns="0" anchor="t">
            <a:spAutoFit/>
          </a:bodyPr>
          <a:lstStyle/>
          <a:p>
            <a:pPr algn="l">
              <a:spcAft>
                <a:spcPts val="600"/>
              </a:spcAft>
            </a:pPr>
            <a:r>
              <a:rPr sz="2991" b="1" i="0">
                <a:solidFill>
                  <a:srgbClr val="1F3A5F"/>
                </a:solidFill>
                <a:latin typeface="Cambria"/>
              </a:rPr>
              <a:t>228,200</a:t>
            </a:r>
          </a:p>
        </p:txBody>
      </p:sp>
      <p:sp>
        <p:nvSpPr>
          <p:cNvPr id="16" name="TextBox 15"/>
          <p:cNvSpPr txBox="1"/>
          <p:nvPr/>
        </p:nvSpPr>
        <p:spPr>
          <a:xfrm>
            <a:off x="7629570" y="2560320"/>
            <a:ext cx="1458102"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measured records</a:t>
            </a:r>
          </a:p>
        </p:txBody>
      </p:sp>
      <p:sp>
        <p:nvSpPr>
          <p:cNvPr id="17" name="Rounded Rectangle 16"/>
          <p:cNvSpPr/>
          <p:nvPr/>
        </p:nvSpPr>
        <p:spPr>
          <a:xfrm>
            <a:off x="9618024" y="1645920"/>
            <a:ext cx="2006742" cy="1691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892344" y="1920240"/>
            <a:ext cx="1458102" cy="603504"/>
          </a:xfrm>
          <a:prstGeom prst="rect">
            <a:avLst/>
          </a:prstGeom>
          <a:noFill/>
        </p:spPr>
        <p:txBody>
          <a:bodyPr wrap="square" lIns="0" rIns="0" tIns="0" bIns="0" anchor="t">
            <a:spAutoFit/>
          </a:bodyPr>
          <a:lstStyle/>
          <a:p>
            <a:pPr algn="l">
              <a:spcAft>
                <a:spcPts val="600"/>
              </a:spcAft>
            </a:pPr>
            <a:r>
              <a:rPr sz="3600" b="1" i="0">
                <a:solidFill>
                  <a:srgbClr val="1F3A5F"/>
                </a:solidFill>
                <a:latin typeface="Cambria"/>
              </a:rPr>
              <a:t>63</a:t>
            </a:r>
          </a:p>
        </p:txBody>
      </p:sp>
      <p:sp>
        <p:nvSpPr>
          <p:cNvPr id="19" name="TextBox 18"/>
          <p:cNvSpPr txBox="1"/>
          <p:nvPr/>
        </p:nvSpPr>
        <p:spPr>
          <a:xfrm>
            <a:off x="9892344" y="2560320"/>
            <a:ext cx="1458102"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endpoint tables</a:t>
            </a:r>
          </a:p>
        </p:txBody>
      </p:sp>
      <p:sp>
        <p:nvSpPr>
          <p:cNvPr id="20" name="TextBox 19"/>
          <p:cNvSpPr txBox="1"/>
          <p:nvPr/>
        </p:nvSpPr>
        <p:spPr>
          <a:xfrm>
            <a:off x="566928" y="3703320"/>
            <a:ext cx="5486400" cy="1920240"/>
          </a:xfrm>
          <a:prstGeom prst="rect">
            <a:avLst/>
          </a:prstGeom>
          <a:noFill/>
        </p:spPr>
        <p:txBody>
          <a:bodyPr wrap="square" lIns="0" rIns="0" tIns="0" bIns="0" anchor="t">
            <a:spAutoFit/>
          </a:bodyPr>
          <a:lstStyle/>
          <a:p>
            <a:pPr algn="l">
              <a:lnSpc>
                <a:spcPct val="126000"/>
              </a:lnSpc>
              <a:spcAft>
                <a:spcPts val="800"/>
              </a:spcAft>
            </a:pPr>
            <a:r>
              <a:rPr sz="1600" b="1" i="0">
                <a:solidFill>
                  <a:srgbClr val="1F3A5F"/>
                </a:solidFill>
                <a:latin typeface="Calibri"/>
              </a:rPr>
              <a:t>Every label is a measured experimental value.</a:t>
            </a:r>
          </a:p>
          <a:p>
            <a:pPr algn="l">
              <a:lnSpc>
                <a:spcPct val="126000"/>
              </a:lnSpc>
              <a:spcAft>
                <a:spcPts val="800"/>
              </a:spcAft>
            </a:pPr>
            <a:r>
              <a:rPr sz="1300" b="0" i="0">
                <a:solidFill>
                  <a:srgbClr val="0F1A2E"/>
                </a:solidFill>
                <a:latin typeface="Calibri"/>
              </a:rPr>
              <a:t>No label comes from curator annotation and no value is imputed. An earlier prototype trained on curated annotation scores was shown by feature ablation to be reading the answer back out of its own features, and structure-only performance collapsed to near zero.</a:t>
            </a:r>
          </a:p>
        </p:txBody>
      </p:sp>
      <p:sp>
        <p:nvSpPr>
          <p:cNvPr id="21" name="Rounded Rectangle 20"/>
          <p:cNvSpPr/>
          <p:nvPr/>
        </p:nvSpPr>
        <p:spPr>
          <a:xfrm>
            <a:off x="6510528" y="3611880"/>
            <a:ext cx="5114239"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76288" y="3858768"/>
            <a:ext cx="4480560" cy="36576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Each endpoint is fitted on its own set alone</a:t>
            </a:r>
          </a:p>
        </p:txBody>
      </p:sp>
      <p:sp>
        <p:nvSpPr>
          <p:cNvPr id="23" name="TextBox 22"/>
          <p:cNvSpPr txBox="1"/>
          <p:nvPr/>
        </p:nvSpPr>
        <p:spPr>
          <a:xfrm>
            <a:off x="6876288" y="4315968"/>
            <a:ext cx="4754880" cy="10058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Across the deployed classification tables the median is 3,789 rows, from 387 for KEAP1 to 10,276 for hERG. Nothing is shared between endpoints except the featurisation.</a:t>
            </a:r>
          </a:p>
        </p:txBody>
      </p:sp>
      <p:sp>
        <p:nvSpPr>
          <p:cNvPr id="24" name="TextBox 2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submission_package/07_MODELS/model_inventory.csv; submission_package/06_TRAINING_DATA/endpoints/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Three methodological decisions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Each is a decision rather than a default</a:t>
            </a:r>
          </a:p>
        </p:txBody>
      </p:sp>
      <p:sp>
        <p:nvSpPr>
          <p:cNvPr id="5" name="Rounded Rectangle 4"/>
          <p:cNvSpPr/>
          <p:nvPr/>
        </p:nvSpPr>
        <p:spPr>
          <a:xfrm>
            <a:off x="566928" y="1691640"/>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86968" y="2130552"/>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527048" y="1911095"/>
            <a:ext cx="388620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1F3A5F"/>
                </a:solidFill>
                <a:latin typeface="Cambria"/>
              </a:rPr>
              <a:t>The negative class is recovered from measurement</a:t>
            </a:r>
          </a:p>
        </p:txBody>
      </p:sp>
      <p:sp>
        <p:nvSpPr>
          <p:cNvPr id="8" name="TextBox 7"/>
          <p:cNvSpPr txBox="1"/>
          <p:nvPr/>
        </p:nvSpPr>
        <p:spPr>
          <a:xfrm>
            <a:off x="5550408" y="1892808"/>
            <a:ext cx="4748479" cy="96012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A compound assayed and found inactive is often deposited only as a censored bound, and the conventional query discards exactly those rows. A bound settles a label when the whole interval falls one side of the activity cut, and is discarded when it spans both. This recovers 29,751 measured non-binders across 57 endpoints.</a:t>
            </a:r>
          </a:p>
        </p:txBody>
      </p:sp>
      <p:sp>
        <p:nvSpPr>
          <p:cNvPr id="9" name="TextBox 8"/>
          <p:cNvSpPr txBox="1"/>
          <p:nvPr/>
        </p:nvSpPr>
        <p:spPr>
          <a:xfrm>
            <a:off x="10390327" y="2167128"/>
            <a:ext cx="1005840" cy="365760"/>
          </a:xfrm>
          <a:prstGeom prst="rect">
            <a:avLst/>
          </a:prstGeom>
          <a:noFill/>
        </p:spPr>
        <p:txBody>
          <a:bodyPr wrap="square" lIns="0" rIns="0" tIns="0" bIns="0" anchor="t">
            <a:spAutoFit/>
          </a:bodyPr>
          <a:lstStyle/>
          <a:p>
            <a:pPr algn="r">
              <a:spcAft>
                <a:spcPts val="600"/>
              </a:spcAft>
            </a:pPr>
            <a:r>
              <a:rPr sz="1200" b="1" i="0">
                <a:solidFill>
                  <a:srgbClr val="1C7293"/>
                </a:solidFill>
                <a:latin typeface="Calibri"/>
              </a:rPr>
              <a:t>Chapter 2</a:t>
            </a:r>
          </a:p>
        </p:txBody>
      </p:sp>
      <p:sp>
        <p:nvSpPr>
          <p:cNvPr id="10" name="Rounded Rectangle 9"/>
          <p:cNvSpPr/>
          <p:nvPr/>
        </p:nvSpPr>
        <p:spPr>
          <a:xfrm>
            <a:off x="566928" y="3136392"/>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86968" y="3575304"/>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1527048" y="3355848"/>
            <a:ext cx="388620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1F3A5F"/>
                </a:solidFill>
                <a:latin typeface="Cambria"/>
              </a:rPr>
              <a:t>Thresholds are measured on a sample disjoint from the one that set them</a:t>
            </a:r>
          </a:p>
        </p:txBody>
      </p:sp>
      <p:sp>
        <p:nvSpPr>
          <p:cNvPr id="13" name="TextBox 12"/>
          <p:cNvSpPr txBox="1"/>
          <p:nvPr/>
        </p:nvSpPr>
        <p:spPr>
          <a:xfrm>
            <a:off x="5550408" y="3337560"/>
            <a:ext cx="4748479" cy="96012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Choosing a cut as a quantile of a sample and then measuring the false-positive rate on that same sample cannot fail: the rate restates the quantile. Three disjoint pools, assigned by a stable hash of the structure, separate the decoys, the cut and the measurement.</a:t>
            </a:r>
          </a:p>
        </p:txBody>
      </p:sp>
      <p:sp>
        <p:nvSpPr>
          <p:cNvPr id="14" name="TextBox 13"/>
          <p:cNvSpPr txBox="1"/>
          <p:nvPr/>
        </p:nvSpPr>
        <p:spPr>
          <a:xfrm>
            <a:off x="10390327" y="3611880"/>
            <a:ext cx="1005840" cy="365760"/>
          </a:xfrm>
          <a:prstGeom prst="rect">
            <a:avLst/>
          </a:prstGeom>
          <a:noFill/>
        </p:spPr>
        <p:txBody>
          <a:bodyPr wrap="square" lIns="0" rIns="0" tIns="0" bIns="0" anchor="t">
            <a:spAutoFit/>
          </a:bodyPr>
          <a:lstStyle/>
          <a:p>
            <a:pPr algn="r">
              <a:spcAft>
                <a:spcPts val="600"/>
              </a:spcAft>
            </a:pPr>
            <a:r>
              <a:rPr sz="1200" b="1" i="0">
                <a:solidFill>
                  <a:srgbClr val="1C7293"/>
                </a:solidFill>
                <a:latin typeface="Calibri"/>
              </a:rPr>
              <a:t>Chapter 5</a:t>
            </a:r>
          </a:p>
        </p:txBody>
      </p:sp>
      <p:sp>
        <p:nvSpPr>
          <p:cNvPr id="15" name="Rounded Rectangle 14"/>
          <p:cNvSpPr/>
          <p:nvPr/>
        </p:nvSpPr>
        <p:spPr>
          <a:xfrm>
            <a:off x="566928" y="4581144"/>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86968" y="5020056"/>
            <a:ext cx="384048" cy="38404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7" name="TextBox 16"/>
          <p:cNvSpPr txBox="1"/>
          <p:nvPr/>
        </p:nvSpPr>
        <p:spPr>
          <a:xfrm>
            <a:off x="1527048" y="4800600"/>
            <a:ext cx="3886200" cy="822960"/>
          </a:xfrm>
          <a:prstGeom prst="rect">
            <a:avLst/>
          </a:prstGeom>
          <a:noFill/>
        </p:spPr>
        <p:txBody>
          <a:bodyPr wrap="square" lIns="0" rIns="0" tIns="0" bIns="0" anchor="t">
            <a:spAutoFit/>
          </a:bodyPr>
          <a:lstStyle/>
          <a:p>
            <a:pPr algn="l">
              <a:lnSpc>
                <a:spcPct val="112000"/>
              </a:lnSpc>
              <a:spcAft>
                <a:spcPts val="600"/>
              </a:spcAft>
            </a:pPr>
            <a:r>
              <a:rPr sz="1600" b="1" i="0">
                <a:solidFill>
                  <a:srgbClr val="1F3A5F"/>
                </a:solidFill>
                <a:latin typeface="Cambria"/>
              </a:rPr>
              <a:t>Target scores are gated by predicted exposure</a:t>
            </a:r>
          </a:p>
        </p:txBody>
      </p:sp>
      <p:sp>
        <p:nvSpPr>
          <p:cNvPr id="18" name="TextBox 17"/>
          <p:cNvSpPr txBox="1"/>
          <p:nvPr/>
        </p:nvSpPr>
        <p:spPr>
          <a:xfrm>
            <a:off x="5550408" y="4782312"/>
            <a:ext cx="4748479" cy="96012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Potency at a target the compound cannot reach contributes nothing. This is the one place the models are combined multiplicatively, and it encodes a pharmacological fact rather than a statistical convenience.</a:t>
            </a:r>
          </a:p>
        </p:txBody>
      </p:sp>
      <p:sp>
        <p:nvSpPr>
          <p:cNvPr id="19" name="TextBox 18"/>
          <p:cNvSpPr txBox="1"/>
          <p:nvPr/>
        </p:nvSpPr>
        <p:spPr>
          <a:xfrm>
            <a:off x="10390327" y="5056631"/>
            <a:ext cx="1005840" cy="365760"/>
          </a:xfrm>
          <a:prstGeom prst="rect">
            <a:avLst/>
          </a:prstGeom>
          <a:noFill/>
        </p:spPr>
        <p:txBody>
          <a:bodyPr wrap="square" lIns="0" rIns="0" tIns="0" bIns="0" anchor="t">
            <a:spAutoFit/>
          </a:bodyPr>
          <a:lstStyle/>
          <a:p>
            <a:pPr algn="r">
              <a:spcAft>
                <a:spcPts val="600"/>
              </a:spcAft>
            </a:pPr>
            <a:r>
              <a:rPr sz="1200" b="1" i="0">
                <a:solidFill>
                  <a:srgbClr val="1C7293"/>
                </a:solidFill>
                <a:latin typeface="Calibri"/>
              </a:rPr>
              <a:t>Chapter 7</a:t>
            </a:r>
          </a:p>
        </p:txBody>
      </p:sp>
      <p:sp>
        <p:nvSpPr>
          <p:cNvPr id="20" name="TextBox 1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submission_package/06_TRAINING_DATA/endpoints/, counted at build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Discrimination, with the spread rather than the mean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Scaffold-grouped folds withhold entire structural classes; random folds do not</a:t>
            </a:r>
          </a:p>
        </p:txBody>
      </p:sp>
      <p:graphicFrame>
        <p:nvGraphicFramePr>
          <p:cNvPr id="5" name="Chart 4"/>
          <p:cNvGraphicFramePr>
            <a:graphicFrameLocks noGrp="1"/>
          </p:cNvGraphicFramePr>
          <p:nvPr/>
        </p:nvGraphicFramePr>
        <p:xfrm>
          <a:off x="566928" y="1554480"/>
          <a:ext cx="7543800" cy="3977639"/>
        </p:xfrm>
        <a:graphic>
          <a:graphicData uri="http://schemas.openxmlformats.org/drawingml/2006/chart">
            <c:chart xmlns:c="http://schemas.openxmlformats.org/drawingml/2006/chart" r:id="rId2"/>
          </a:graphicData>
        </a:graphic>
      </p:graphicFrame>
      <p:sp>
        <p:nvSpPr>
          <p:cNvPr id="6" name="TextBox 5"/>
          <p:cNvSpPr txBox="1"/>
          <p:nvPr/>
        </p:nvSpPr>
        <p:spPr>
          <a:xfrm>
            <a:off x="8385048" y="1691640"/>
            <a:ext cx="3246120" cy="365760"/>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Mean AUROC</a:t>
            </a:r>
          </a:p>
        </p:txBody>
      </p:sp>
      <p:sp>
        <p:nvSpPr>
          <p:cNvPr id="7" name="TextBox 6"/>
          <p:cNvSpPr txBox="1"/>
          <p:nvPr/>
        </p:nvSpPr>
        <p:spPr>
          <a:xfrm>
            <a:off x="8385048" y="2103120"/>
            <a:ext cx="3246120" cy="1371600"/>
          </a:xfrm>
          <a:prstGeom prst="rect">
            <a:avLst/>
          </a:prstGeom>
          <a:noFill/>
        </p:spPr>
        <p:txBody>
          <a:bodyPr wrap="square" lIns="0" rIns="0" tIns="0" bIns="0" anchor="t">
            <a:spAutoFit/>
          </a:bodyPr>
          <a:lstStyle/>
          <a:p>
            <a:pPr algn="l">
              <a:spcAft>
                <a:spcPts val="700"/>
              </a:spcAft>
            </a:pPr>
            <a:r>
              <a:rPr sz="1400" b="0" i="0">
                <a:solidFill>
                  <a:srgbClr val="0F1A2E"/>
                </a:solidFill>
                <a:latin typeface="Calibri"/>
              </a:rPr>
              <a:t>0.958   random, 0.899 to 0.976</a:t>
            </a:r>
          </a:p>
          <a:p>
            <a:pPr algn="l">
              <a:spcAft>
                <a:spcPts val="700"/>
              </a:spcAft>
            </a:pPr>
            <a:r>
              <a:rPr sz="1400" b="1" i="0">
                <a:solidFill>
                  <a:srgbClr val="1F3A5F"/>
                </a:solidFill>
                <a:latin typeface="Calibri"/>
              </a:rPr>
              <a:t>0.925   scaffold, 0.878 to 0.965</a:t>
            </a:r>
          </a:p>
        </p:txBody>
      </p:sp>
      <p:sp>
        <p:nvSpPr>
          <p:cNvPr id="8" name="TextBox 7"/>
          <p:cNvSpPr txBox="1"/>
          <p:nvPr/>
        </p:nvSpPr>
        <p:spPr>
          <a:xfrm>
            <a:off x="8385048" y="3154680"/>
            <a:ext cx="3246120" cy="146304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The scaffold column is the honest one. It reports generalisation to chemistry the model has not seen; the random column reports interpolation within chemistry it has.</a:t>
            </a:r>
          </a:p>
        </p:txBody>
      </p:sp>
      <p:sp>
        <p:nvSpPr>
          <p:cNvPr id="9" name="TextBox 8"/>
          <p:cNvSpPr txBox="1"/>
          <p:nvPr/>
        </p:nvSpPr>
        <p:spPr>
          <a:xfrm>
            <a:off x="8385048" y="4617720"/>
            <a:ext cx="3246120" cy="914400"/>
          </a:xfrm>
          <a:prstGeom prst="rect">
            <a:avLst/>
          </a:prstGeom>
          <a:noFill/>
        </p:spPr>
        <p:txBody>
          <a:bodyPr wrap="square" lIns="0" rIns="0" tIns="0" bIns="0" anchor="t">
            <a:spAutoFit/>
          </a:bodyPr>
          <a:lstStyle/>
          <a:p>
            <a:pPr algn="l">
              <a:lnSpc>
                <a:spcPct val="124000"/>
              </a:lnSpc>
              <a:spcAft>
                <a:spcPts val="600"/>
              </a:spcAft>
            </a:pPr>
            <a:r>
              <a:rPr sz="1250" b="0" i="0">
                <a:solidFill>
                  <a:srgbClr val="5F6B7A"/>
                </a:solidFill>
                <a:latin typeface="Calibri"/>
              </a:rPr>
              <a:t>Receptor regressions, scaffold R²: 0.415 to 0.621.</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results/tables/rf_cv_summary.csv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The binder panel, validated against measured inactives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Not against the decoys used to train it</a:t>
            </a:r>
          </a:p>
        </p:txBody>
      </p:sp>
      <p:sp>
        <p:nvSpPr>
          <p:cNvPr id="5" name="Rounded Rectangle 4"/>
          <p:cNvSpPr/>
          <p:nvPr/>
        </p:nvSpPr>
        <p:spPr>
          <a:xfrm>
            <a:off x="566928" y="1627632"/>
            <a:ext cx="5120640" cy="39319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32688" y="1874519"/>
            <a:ext cx="4480560" cy="365760"/>
          </a:xfrm>
          <a:prstGeom prst="rect">
            <a:avLst/>
          </a:prstGeom>
          <a:noFill/>
        </p:spPr>
        <p:txBody>
          <a:bodyPr wrap="square" lIns="0" rIns="0" tIns="0" bIns="0" anchor="t">
            <a:spAutoFit/>
          </a:bodyPr>
          <a:lstStyle/>
          <a:p>
            <a:pPr algn="l">
              <a:lnSpc>
                <a:spcPct val="115000"/>
              </a:lnSpc>
              <a:spcAft>
                <a:spcPts val="600"/>
              </a:spcAft>
            </a:pPr>
            <a:r>
              <a:rPr sz="1300" b="1" i="0">
                <a:solidFill>
                  <a:srgbClr val="1F3A5F"/>
                </a:solidFill>
                <a:latin typeface="Calibri"/>
              </a:rPr>
              <a:t>AUROC against compounds tested and found inactive</a:t>
            </a:r>
          </a:p>
        </p:txBody>
      </p:sp>
      <p:sp>
        <p:nvSpPr>
          <p:cNvPr id="7" name="TextBox 6"/>
          <p:cNvSpPr txBox="1"/>
          <p:nvPr/>
        </p:nvSpPr>
        <p:spPr>
          <a:xfrm>
            <a:off x="932688" y="2331720"/>
            <a:ext cx="2103120" cy="603504"/>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0.917</a:t>
            </a:r>
          </a:p>
        </p:txBody>
      </p:sp>
      <p:sp>
        <p:nvSpPr>
          <p:cNvPr id="8" name="TextBox 7"/>
          <p:cNvSpPr txBox="1"/>
          <p:nvPr/>
        </p:nvSpPr>
        <p:spPr>
          <a:xfrm>
            <a:off x="932688" y="2971800"/>
            <a:ext cx="210312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mean over the 47 deployed</a:t>
            </a:r>
          </a:p>
        </p:txBody>
      </p:sp>
      <p:sp>
        <p:nvSpPr>
          <p:cNvPr id="9" name="TextBox 8"/>
          <p:cNvSpPr txBox="1"/>
          <p:nvPr/>
        </p:nvSpPr>
        <p:spPr>
          <a:xfrm>
            <a:off x="3355848" y="2331720"/>
            <a:ext cx="2103120" cy="603504"/>
          </a:xfrm>
          <a:prstGeom prst="rect">
            <a:avLst/>
          </a:prstGeom>
          <a:noFill/>
        </p:spPr>
        <p:txBody>
          <a:bodyPr wrap="square" lIns="0" rIns="0" tIns="0" bIns="0" anchor="t">
            <a:spAutoFit/>
          </a:bodyPr>
          <a:lstStyle/>
          <a:p>
            <a:pPr algn="l">
              <a:spcAft>
                <a:spcPts val="600"/>
              </a:spcAft>
            </a:pPr>
            <a:r>
              <a:rPr sz="3400" b="1" i="0">
                <a:solidFill>
                  <a:srgbClr val="1C7293"/>
                </a:solidFill>
                <a:latin typeface="Cambria"/>
              </a:rPr>
              <a:t>0.947</a:t>
            </a:r>
          </a:p>
        </p:txBody>
      </p:sp>
      <p:sp>
        <p:nvSpPr>
          <p:cNvPr id="10" name="TextBox 9"/>
          <p:cNvSpPr txBox="1"/>
          <p:nvPr/>
        </p:nvSpPr>
        <p:spPr>
          <a:xfrm>
            <a:off x="3355848" y="2971800"/>
            <a:ext cx="210312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median, the fairer summary</a:t>
            </a:r>
          </a:p>
        </p:txBody>
      </p:sp>
      <p:sp>
        <p:nvSpPr>
          <p:cNvPr id="11" name="TextBox 10"/>
          <p:cNvSpPr txBox="1"/>
          <p:nvPr/>
        </p:nvSpPr>
        <p:spPr>
          <a:xfrm>
            <a:off x="932688" y="3611880"/>
            <a:ext cx="4480560" cy="822960"/>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Range 0.719 at GABA-A to 0.985 at CGRP.</a:t>
            </a:r>
          </a:p>
        </p:txBody>
      </p:sp>
      <p:sp>
        <p:nvSpPr>
          <p:cNvPr id="12" name="TextBox 11"/>
          <p:cNvSpPr txBox="1"/>
          <p:nvPr/>
        </p:nvSpPr>
        <p:spPr>
          <a:xfrm>
            <a:off x="932688" y="4069080"/>
            <a:ext cx="4480560" cy="109728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Sensitivity: mean 0.764, median 0.835, from 0.303 at GABA-A to 0.993 at CGRP.</a:t>
            </a:r>
          </a:p>
        </p:txBody>
      </p:sp>
      <p:pic>
        <p:nvPicPr>
          <p:cNvPr id="13" name="Picture 12" descr="Figure9_model_atlas.png"/>
          <p:cNvPicPr>
            <a:picLocks noChangeAspect="1"/>
          </p:cNvPicPr>
          <p:nvPr/>
        </p:nvPicPr>
        <p:blipFill>
          <a:blip r:embed="rId2"/>
          <a:stretch>
            <a:fillRect/>
          </a:stretch>
        </p:blipFill>
        <p:spPr>
          <a:xfrm>
            <a:off x="6007608" y="1627632"/>
            <a:ext cx="5121162" cy="3931920"/>
          </a:xfrm>
          <a:prstGeom prst="rect">
            <a:avLst/>
          </a:prstGeom>
        </p:spPr>
      </p:pic>
      <p:sp>
        <p:nvSpPr>
          <p:cNvPr id="14" name="TextBox 13"/>
          <p:cNvSpPr txBox="1"/>
          <p:nvPr/>
        </p:nvSpPr>
        <p:spPr>
          <a:xfrm>
            <a:off x="566928" y="5669280"/>
            <a:ext cx="11057839" cy="502920"/>
          </a:xfrm>
          <a:prstGeom prst="rect">
            <a:avLst/>
          </a:prstGeom>
          <a:noFill/>
        </p:spPr>
        <p:txBody>
          <a:bodyPr wrap="square" lIns="0" rIns="0" tIns="0" bIns="0" anchor="t">
            <a:spAutoFit/>
          </a:bodyPr>
          <a:lstStyle/>
          <a:p>
            <a:pPr algn="l">
              <a:lnSpc>
                <a:spcPct val="124000"/>
              </a:lnSpc>
              <a:spcAft>
                <a:spcPts val="600"/>
              </a:spcAft>
            </a:pPr>
            <a:r>
              <a:rPr sz="1250" b="0" i="1">
                <a:solidFill>
                  <a:srgbClr val="5F6B7A"/>
                </a:solidFill>
                <a:latin typeface="Calibri"/>
              </a:rPr>
              <a:t>One mark per estimator, so that no claim rests on a mean a reader cannot check. The 5 withdrawn estimators are drawn in outline, because a panel showing only what survived is a selection rather than an inventory.</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submission_package/07_MODELS/binder_panel_registry.json; figure Figure9_model_atlas.png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10</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A probability that is not calibrated is not a probability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And a calibrated probability still says nothing about this compound</a:t>
            </a:r>
          </a:p>
        </p:txBody>
      </p:sp>
      <p:sp>
        <p:nvSpPr>
          <p:cNvPr id="5" name="Rounded Rectangle 4"/>
          <p:cNvSpPr/>
          <p:nvPr/>
        </p:nvSpPr>
        <p:spPr>
          <a:xfrm>
            <a:off x="566928" y="1691640"/>
            <a:ext cx="5349240" cy="3611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1965960"/>
            <a:ext cx="4572000" cy="384048"/>
          </a:xfrm>
          <a:prstGeom prst="rect">
            <a:avLst/>
          </a:prstGeom>
          <a:noFill/>
        </p:spPr>
        <p:txBody>
          <a:bodyPr wrap="square" lIns="0" rIns="0" tIns="0" bIns="0" anchor="t">
            <a:spAutoFit/>
          </a:bodyPr>
          <a:lstStyle/>
          <a:p>
            <a:pPr algn="l">
              <a:spcAft>
                <a:spcPts val="600"/>
              </a:spcAft>
            </a:pPr>
            <a:r>
              <a:rPr sz="1900" b="1" i="0">
                <a:solidFill>
                  <a:srgbClr val="1F3A5F"/>
                </a:solidFill>
                <a:latin typeface="Cambria"/>
              </a:rPr>
              <a:t>Calibration</a:t>
            </a:r>
          </a:p>
        </p:txBody>
      </p:sp>
      <p:sp>
        <p:nvSpPr>
          <p:cNvPr id="7" name="TextBox 6"/>
          <p:cNvSpPr txBox="1"/>
          <p:nvPr/>
        </p:nvSpPr>
        <p:spPr>
          <a:xfrm>
            <a:off x="950976" y="2487168"/>
            <a:ext cx="4572000" cy="411480"/>
          </a:xfrm>
          <a:prstGeom prst="rect">
            <a:avLst/>
          </a:prstGeom>
          <a:noFill/>
        </p:spPr>
        <p:txBody>
          <a:bodyPr wrap="square" lIns="0" rIns="0" tIns="0" bIns="0" anchor="t">
            <a:spAutoFit/>
          </a:bodyPr>
          <a:lstStyle/>
          <a:p>
            <a:pPr algn="l">
              <a:lnSpc>
                <a:spcPct val="120000"/>
              </a:lnSpc>
              <a:spcAft>
                <a:spcPts val="600"/>
              </a:spcAft>
            </a:pPr>
            <a:r>
              <a:rPr sz="1500" b="0" i="0">
                <a:solidFill>
                  <a:srgbClr val="0F1A2E"/>
                </a:solidFill>
                <a:latin typeface="Calibri"/>
              </a:rPr>
              <a:t>Expected calibration error falls from 0.0801 to 0.0147</a:t>
            </a:r>
          </a:p>
        </p:txBody>
      </p:sp>
      <p:sp>
        <p:nvSpPr>
          <p:cNvPr id="8" name="TextBox 7"/>
          <p:cNvSpPr txBox="1"/>
          <p:nvPr/>
        </p:nvSpPr>
        <p:spPr>
          <a:xfrm>
            <a:off x="950976" y="3108960"/>
            <a:ext cx="4572000" cy="192024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Isotonic regression fitted on out-of-fold predictions, so no compound contributes to the calibrator that scores it. Per endpoint the calibrated error runs 0.0049 to 0.0412, the barrier model being the worst of them. Because the map is monotone it cannot reorder compounds, so AUROC is unchanged and only the probability moves.</a:t>
            </a:r>
          </a:p>
        </p:txBody>
      </p:sp>
      <p:sp>
        <p:nvSpPr>
          <p:cNvPr id="9" name="Rounded Rectangle 8"/>
          <p:cNvSpPr/>
          <p:nvPr/>
        </p:nvSpPr>
        <p:spPr>
          <a:xfrm>
            <a:off x="6281928" y="1691640"/>
            <a:ext cx="5349240" cy="3611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65976" y="1965960"/>
            <a:ext cx="4572000" cy="384048"/>
          </a:xfrm>
          <a:prstGeom prst="rect">
            <a:avLst/>
          </a:prstGeom>
          <a:noFill/>
        </p:spPr>
        <p:txBody>
          <a:bodyPr wrap="square" lIns="0" rIns="0" tIns="0" bIns="0" anchor="t">
            <a:spAutoFit/>
          </a:bodyPr>
          <a:lstStyle/>
          <a:p>
            <a:pPr algn="l">
              <a:spcAft>
                <a:spcPts val="600"/>
              </a:spcAft>
            </a:pPr>
            <a:r>
              <a:rPr sz="1900" b="1" i="0">
                <a:solidFill>
                  <a:srgbClr val="1C7293"/>
                </a:solidFill>
                <a:latin typeface="Cambria"/>
              </a:rPr>
              <a:t>Conformal coverage</a:t>
            </a:r>
          </a:p>
        </p:txBody>
      </p:sp>
      <p:sp>
        <p:nvSpPr>
          <p:cNvPr id="11" name="TextBox 10"/>
          <p:cNvSpPr txBox="1"/>
          <p:nvPr/>
        </p:nvSpPr>
        <p:spPr>
          <a:xfrm>
            <a:off x="6665976" y="2487168"/>
            <a:ext cx="4572000" cy="411480"/>
          </a:xfrm>
          <a:prstGeom prst="rect">
            <a:avLst/>
          </a:prstGeom>
          <a:noFill/>
        </p:spPr>
        <p:txBody>
          <a:bodyPr wrap="square" lIns="0" rIns="0" tIns="0" bIns="0" anchor="t">
            <a:spAutoFit/>
          </a:bodyPr>
          <a:lstStyle/>
          <a:p>
            <a:pPr algn="l">
              <a:lnSpc>
                <a:spcPct val="120000"/>
              </a:lnSpc>
              <a:spcAft>
                <a:spcPts val="600"/>
              </a:spcAft>
            </a:pPr>
            <a:r>
              <a:rPr sz="1500" b="0" i="0">
                <a:solidFill>
                  <a:srgbClr val="0F1A2E"/>
                </a:solidFill>
                <a:latin typeface="Calibri"/>
              </a:rPr>
              <a:t>Empirical coverage 0.876 to 0.933 against a 0.90 target</a:t>
            </a:r>
          </a:p>
        </p:txBody>
      </p:sp>
      <p:sp>
        <p:nvSpPr>
          <p:cNvPr id="12" name="TextBox 11"/>
          <p:cNvSpPr txBox="1"/>
          <p:nvPr/>
        </p:nvSpPr>
        <p:spPr>
          <a:xfrm>
            <a:off x="6665976" y="3108960"/>
            <a:ext cx="4572000" cy="1920240"/>
          </a:xfrm>
          <a:prstGeom prst="rect">
            <a:avLst/>
          </a:prstGeom>
          <a:noFill/>
        </p:spPr>
        <p:txBody>
          <a:bodyPr wrap="square" lIns="0" rIns="0" tIns="0" bIns="0" anchor="t">
            <a:spAutoFit/>
          </a:bodyPr>
          <a:lstStyle/>
          <a:p>
            <a:pPr algn="l">
              <a:lnSpc>
                <a:spcPct val="128000"/>
              </a:lnSpc>
              <a:spcAft>
                <a:spcPts val="600"/>
              </a:spcAft>
            </a:pPr>
            <a:r>
              <a:rPr sz="1300" b="0" i="0">
                <a:solidFill>
                  <a:srgbClr val="0F1A2E"/>
                </a:solidFill>
                <a:latin typeface="Calibri"/>
              </a:rPr>
              <a:t>A Mondrian, class-conditional predictor over 8 endpoints turns the applicability domain from a caveat into a coverage statement that is measured rather than assumed. The class-conditional form matters because marginal coverage can be satisfied while the rare class fails systematically.</a:t>
            </a:r>
          </a:p>
        </p:txBody>
      </p:sp>
      <p:sp>
        <p:nvSpPr>
          <p:cNvPr id="13" name="TextBox 12"/>
          <p:cNvSpPr txBox="1"/>
          <p:nvPr/>
        </p:nvSpPr>
        <p:spPr>
          <a:xfrm>
            <a:off x="566928" y="5532120"/>
            <a:ext cx="11057839" cy="548640"/>
          </a:xfrm>
          <a:prstGeom prst="rect">
            <a:avLst/>
          </a:prstGeom>
          <a:noFill/>
        </p:spPr>
        <p:txBody>
          <a:bodyPr wrap="square" lIns="0" rIns="0" tIns="0" bIns="0" anchor="t">
            <a:spAutoFit/>
          </a:bodyPr>
          <a:lstStyle/>
          <a:p>
            <a:pPr algn="l">
              <a:lnSpc>
                <a:spcPct val="124000"/>
              </a:lnSpc>
              <a:spcAft>
                <a:spcPts val="600"/>
              </a:spcAft>
            </a:pPr>
            <a:r>
              <a:rPr sz="1300" b="0" i="1">
                <a:solidFill>
                  <a:srgbClr val="5F6B7A"/>
                </a:solidFill>
                <a:latin typeface="Calibri"/>
              </a:rPr>
              <a:t>A prediction set may be empty, meaning the compound conforms to neither class, or contain both, meaning it separates neither. Both are informative and both are displayed.</a:t>
            </a:r>
          </a:p>
        </p:txBody>
      </p:sp>
      <p:sp>
        <p:nvSpPr>
          <p:cNvPr id="14" name="TextBox 1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results/tables/calibration.csv; results/tables/rf_conformal.csv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Recall is a function of chemical distance, not of date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test sets built by unrelated rules trace one curve</a:t>
            </a:r>
          </a:p>
        </p:txBody>
      </p:sp>
      <p:graphicFrame>
        <p:nvGraphicFramePr>
          <p:cNvPr id="5" name="Chart 4"/>
          <p:cNvGraphicFramePr>
            <a:graphicFrameLocks noGrp="1"/>
          </p:cNvGraphicFramePr>
          <p:nvPr/>
        </p:nvGraphicFramePr>
        <p:xfrm>
          <a:off x="566928" y="1572768"/>
          <a:ext cx="7452360" cy="3977639"/>
        </p:xfrm>
        <a:graphic>
          <a:graphicData uri="http://schemas.openxmlformats.org/drawingml/2006/chart">
            <c:chart xmlns:c="http://schemas.openxmlformats.org/drawingml/2006/chart" r:id="rId2"/>
          </a:graphicData>
        </a:graphic>
      </p:graphicFrame>
      <p:sp>
        <p:nvSpPr>
          <p:cNvPr id="6" name="TextBox 5"/>
          <p:cNvSpPr txBox="1"/>
          <p:nvPr/>
        </p:nvSpPr>
        <p:spPr>
          <a:xfrm>
            <a:off x="8293607" y="1691640"/>
            <a:ext cx="3337560" cy="1371600"/>
          </a:xfrm>
          <a:prstGeom prst="rect">
            <a:avLst/>
          </a:prstGeom>
          <a:noFill/>
        </p:spPr>
        <p:txBody>
          <a:bodyPr wrap="square" lIns="0" rIns="0" tIns="0" bIns="0" anchor="t">
            <a:spAutoFit/>
          </a:bodyPr>
          <a:lstStyle/>
          <a:p>
            <a:pPr algn="l">
              <a:lnSpc>
                <a:spcPct val="126000"/>
              </a:lnSpc>
              <a:spcAft>
                <a:spcPts val="600"/>
              </a:spcAft>
            </a:pPr>
            <a:r>
              <a:rPr sz="1400" b="1" i="0">
                <a:solidFill>
                  <a:srgbClr val="1F3A5F"/>
                </a:solidFill>
                <a:latin typeface="Calibri"/>
              </a:rPr>
              <a:t>An apparent temporal decay is a change in the population being tested, not decay in the models.</a:t>
            </a:r>
          </a:p>
        </p:txBody>
      </p:sp>
      <p:sp>
        <p:nvSpPr>
          <p:cNvPr id="7" name="TextBox 6"/>
          <p:cNvSpPr txBox="1"/>
          <p:nvPr/>
        </p:nvSpPr>
        <p:spPr>
          <a:xfrm>
            <a:off x="8293607" y="2880360"/>
            <a:ext cx="3337560" cy="182880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A random split of medicinal-chemistry data holds out mostly close analogues of its own training set, because the published record is series. A time split does not. Conditioned on distance, it makes no difference how the compound was withheld.</a:t>
            </a:r>
          </a:p>
        </p:txBody>
      </p:sp>
      <p:sp>
        <p:nvSpPr>
          <p:cNvPr id="8" name="TextBox 7"/>
          <p:cNvSpPr txBox="1"/>
          <p:nvPr/>
        </p:nvSpPr>
        <p:spPr>
          <a:xfrm>
            <a:off x="8293607" y="4800600"/>
            <a:ext cx="3337560" cy="868680"/>
          </a:xfrm>
          <a:prstGeom prst="rect">
            <a:avLst/>
          </a:prstGeom>
          <a:noFill/>
        </p:spPr>
        <p:txBody>
          <a:bodyPr wrap="square" lIns="0" rIns="0" tIns="0" bIns="0" anchor="t">
            <a:spAutoFit/>
          </a:bodyPr>
          <a:lstStyle/>
          <a:p>
            <a:pPr algn="l">
              <a:lnSpc>
                <a:spcPct val="124000"/>
              </a:lnSpc>
              <a:spcAft>
                <a:spcPts val="600"/>
              </a:spcAft>
            </a:pPr>
            <a:r>
              <a:rPr sz="1300" b="0" i="1">
                <a:solidFill>
                  <a:srgbClr val="1C7293"/>
                </a:solidFill>
                <a:latin typeface="Calibri"/>
              </a:rPr>
              <a:t>So the expected recall for the compound in hand is knowable at the moment of the query.</a:t>
            </a:r>
          </a:p>
        </p:txBody>
      </p:sp>
      <p:sp>
        <p:nvSpPr>
          <p:cNvPr id="9" name="TextBox 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results/tables/external_novelty_strata.csv; the curator arm rests on three endpoints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Therefore silence carries a number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same design decision seen from both sides</a:t>
            </a:r>
          </a:p>
        </p:txBody>
      </p:sp>
      <p:pic>
        <p:nvPicPr>
          <p:cNvPr id="5" name="Picture 4" descr="Figure8_use_case.png"/>
          <p:cNvPicPr>
            <a:picLocks noChangeAspect="1"/>
          </p:cNvPicPr>
          <p:nvPr/>
        </p:nvPicPr>
        <p:blipFill>
          <a:blip r:embed="rId2"/>
          <a:stretch>
            <a:fillRect/>
          </a:stretch>
        </p:blipFill>
        <p:spPr>
          <a:xfrm>
            <a:off x="566928" y="1737360"/>
            <a:ext cx="6172200" cy="3224106"/>
          </a:xfrm>
          <a:prstGeom prst="rect">
            <a:avLst/>
          </a:prstGeom>
        </p:spPr>
      </p:pic>
      <p:sp>
        <p:nvSpPr>
          <p:cNvPr id="6" name="Rounded Rectangle 5"/>
          <p:cNvSpPr/>
          <p:nvPr/>
        </p:nvSpPr>
        <p:spPr>
          <a:xfrm>
            <a:off x="7013448" y="1691640"/>
            <a:ext cx="4611319" cy="117043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33488" y="1874520"/>
            <a:ext cx="2377440" cy="320040"/>
          </a:xfrm>
          <a:prstGeom prst="rect">
            <a:avLst/>
          </a:prstGeom>
          <a:noFill/>
        </p:spPr>
        <p:txBody>
          <a:bodyPr wrap="square" lIns="0" rIns="0" tIns="0" bIns="0" anchor="t">
            <a:spAutoFit/>
          </a:bodyPr>
          <a:lstStyle/>
          <a:p>
            <a:pPr algn="l">
              <a:spcAft>
                <a:spcPts val="600"/>
              </a:spcAft>
            </a:pPr>
            <a:r>
              <a:rPr sz="1500" b="1" i="0">
                <a:solidFill>
                  <a:srgbClr val="1F3A5F"/>
                </a:solidFill>
                <a:latin typeface="Cambria"/>
              </a:rPr>
              <a:t>Donepezil</a:t>
            </a:r>
          </a:p>
        </p:txBody>
      </p:sp>
      <p:sp>
        <p:nvSpPr>
          <p:cNvPr id="8" name="TextBox 7"/>
          <p:cNvSpPr txBox="1"/>
          <p:nvPr/>
        </p:nvSpPr>
        <p:spPr>
          <a:xfrm>
            <a:off x="9802367" y="1892808"/>
            <a:ext cx="1371600" cy="274320"/>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in domain</a:t>
            </a:r>
          </a:p>
        </p:txBody>
      </p:sp>
      <p:sp>
        <p:nvSpPr>
          <p:cNvPr id="9" name="TextBox 8"/>
          <p:cNvSpPr txBox="1"/>
          <p:nvPr/>
        </p:nvSpPr>
        <p:spPr>
          <a:xfrm>
            <a:off x="10991088" y="1819656"/>
            <a:ext cx="914400" cy="411480"/>
          </a:xfrm>
          <a:prstGeom prst="rect">
            <a:avLst/>
          </a:prstGeom>
          <a:noFill/>
        </p:spPr>
        <p:txBody>
          <a:bodyPr wrap="square" lIns="0" rIns="0" tIns="0" bIns="0" anchor="t">
            <a:spAutoFit/>
          </a:bodyPr>
          <a:lstStyle/>
          <a:p>
            <a:pPr algn="r">
              <a:spcAft>
                <a:spcPts val="600"/>
              </a:spcAft>
            </a:pPr>
            <a:r>
              <a:rPr sz="1900" b="1" i="0">
                <a:solidFill>
                  <a:srgbClr val="1F3A5F"/>
                </a:solidFill>
                <a:latin typeface="Calibri"/>
              </a:rPr>
              <a:t>0.86</a:t>
            </a:r>
          </a:p>
        </p:txBody>
      </p:sp>
      <p:sp>
        <p:nvSpPr>
          <p:cNvPr id="10" name="TextBox 9"/>
          <p:cNvSpPr txBox="1"/>
          <p:nvPr/>
        </p:nvSpPr>
        <p:spPr>
          <a:xfrm>
            <a:off x="7333488" y="2258568"/>
            <a:ext cx="3971239" cy="548640"/>
          </a:xfrm>
          <a:prstGeom prst="rect">
            <a:avLst/>
          </a:prstGeom>
          <a:noFill/>
        </p:spPr>
        <p:txBody>
          <a:bodyPr wrap="square" lIns="0" rIns="0" tIns="0" bIns="0" anchor="t">
            <a:spAutoFit/>
          </a:bodyPr>
          <a:lstStyle/>
          <a:p>
            <a:pPr algn="l">
              <a:lnSpc>
                <a:spcPct val="122000"/>
              </a:lnSpc>
              <a:spcAft>
                <a:spcPts val="600"/>
              </a:spcAft>
            </a:pPr>
            <a:r>
              <a:rPr sz="1200" b="0" i="0">
                <a:solidFill>
                  <a:srgbClr val="0F1A2E"/>
                </a:solidFill>
                <a:latin typeface="Calibri"/>
              </a:rPr>
              <a:t>A silence would be reasonably strong evidence of inactivity.</a:t>
            </a:r>
          </a:p>
        </p:txBody>
      </p:sp>
      <p:sp>
        <p:nvSpPr>
          <p:cNvPr id="11" name="Rounded Rectangle 10"/>
          <p:cNvSpPr/>
          <p:nvPr/>
        </p:nvSpPr>
        <p:spPr>
          <a:xfrm>
            <a:off x="7013448" y="3008376"/>
            <a:ext cx="4611319" cy="117043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33488" y="3191256"/>
            <a:ext cx="2377440" cy="320040"/>
          </a:xfrm>
          <a:prstGeom prst="rect">
            <a:avLst/>
          </a:prstGeom>
          <a:noFill/>
        </p:spPr>
        <p:txBody>
          <a:bodyPr wrap="square" lIns="0" rIns="0" tIns="0" bIns="0" anchor="t">
            <a:spAutoFit/>
          </a:bodyPr>
          <a:lstStyle/>
          <a:p>
            <a:pPr algn="l">
              <a:spcAft>
                <a:spcPts val="600"/>
              </a:spcAft>
            </a:pPr>
            <a:r>
              <a:rPr sz="1500" b="1" i="0">
                <a:solidFill>
                  <a:srgbClr val="1C7293"/>
                </a:solidFill>
                <a:latin typeface="Cambria"/>
              </a:rPr>
              <a:t>Atenolol</a:t>
            </a:r>
          </a:p>
        </p:txBody>
      </p:sp>
      <p:sp>
        <p:nvSpPr>
          <p:cNvPr id="13" name="TextBox 12"/>
          <p:cNvSpPr txBox="1"/>
          <p:nvPr/>
        </p:nvSpPr>
        <p:spPr>
          <a:xfrm>
            <a:off x="9802367" y="3209544"/>
            <a:ext cx="1371600" cy="274320"/>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in domain</a:t>
            </a:r>
          </a:p>
        </p:txBody>
      </p:sp>
      <p:sp>
        <p:nvSpPr>
          <p:cNvPr id="14" name="TextBox 13"/>
          <p:cNvSpPr txBox="1"/>
          <p:nvPr/>
        </p:nvSpPr>
        <p:spPr>
          <a:xfrm>
            <a:off x="10991088" y="3136392"/>
            <a:ext cx="914400" cy="411480"/>
          </a:xfrm>
          <a:prstGeom prst="rect">
            <a:avLst/>
          </a:prstGeom>
          <a:noFill/>
        </p:spPr>
        <p:txBody>
          <a:bodyPr wrap="square" lIns="0" rIns="0" tIns="0" bIns="0" anchor="t">
            <a:spAutoFit/>
          </a:bodyPr>
          <a:lstStyle/>
          <a:p>
            <a:pPr algn="r">
              <a:spcAft>
                <a:spcPts val="600"/>
              </a:spcAft>
            </a:pPr>
            <a:r>
              <a:rPr sz="1900" b="1" i="0">
                <a:solidFill>
                  <a:srgbClr val="1C7293"/>
                </a:solidFill>
                <a:latin typeface="Calibri"/>
              </a:rPr>
              <a:t>0.86</a:t>
            </a:r>
          </a:p>
        </p:txBody>
      </p:sp>
      <p:sp>
        <p:nvSpPr>
          <p:cNvPr id="15" name="TextBox 14"/>
          <p:cNvSpPr txBox="1"/>
          <p:nvPr/>
        </p:nvSpPr>
        <p:spPr>
          <a:xfrm>
            <a:off x="7333488" y="3575304"/>
            <a:ext cx="3971239" cy="548640"/>
          </a:xfrm>
          <a:prstGeom prst="rect">
            <a:avLst/>
          </a:prstGeom>
          <a:noFill/>
        </p:spPr>
        <p:txBody>
          <a:bodyPr wrap="square" lIns="0" rIns="0" tIns="0" bIns="0" anchor="t">
            <a:spAutoFit/>
          </a:bodyPr>
          <a:lstStyle/>
          <a:p>
            <a:pPr algn="l">
              <a:lnSpc>
                <a:spcPct val="122000"/>
              </a:lnSpc>
              <a:spcAft>
                <a:spcPts val="600"/>
              </a:spcAft>
            </a:pPr>
            <a:r>
              <a:rPr sz="1200" b="0" i="0">
                <a:solidFill>
                  <a:srgbClr val="0F1A2E"/>
                </a:solidFill>
                <a:latin typeface="Calibri"/>
              </a:rPr>
              <a:t>Every target sits below its base rate; the server is correctly quiet.</a:t>
            </a:r>
          </a:p>
        </p:txBody>
      </p:sp>
      <p:sp>
        <p:nvSpPr>
          <p:cNvPr id="16" name="Rounded Rectangle 15"/>
          <p:cNvSpPr/>
          <p:nvPr/>
        </p:nvSpPr>
        <p:spPr>
          <a:xfrm>
            <a:off x="7013448" y="4325112"/>
            <a:ext cx="4611319" cy="117043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33488" y="4507992"/>
            <a:ext cx="2377440" cy="320040"/>
          </a:xfrm>
          <a:prstGeom prst="rect">
            <a:avLst/>
          </a:prstGeom>
          <a:noFill/>
        </p:spPr>
        <p:txBody>
          <a:bodyPr wrap="square" lIns="0" rIns="0" tIns="0" bIns="0" anchor="t">
            <a:spAutoFit/>
          </a:bodyPr>
          <a:lstStyle/>
          <a:p>
            <a:pPr algn="l">
              <a:spcAft>
                <a:spcPts val="600"/>
              </a:spcAft>
            </a:pPr>
            <a:r>
              <a:rPr sz="1500" b="1" i="0">
                <a:solidFill>
                  <a:srgbClr val="D98324"/>
                </a:solidFill>
                <a:latin typeface="Cambria"/>
              </a:rPr>
              <a:t>Withanolide A</a:t>
            </a:r>
          </a:p>
        </p:txBody>
      </p:sp>
      <p:sp>
        <p:nvSpPr>
          <p:cNvPr id="18" name="TextBox 17"/>
          <p:cNvSpPr txBox="1"/>
          <p:nvPr/>
        </p:nvSpPr>
        <p:spPr>
          <a:xfrm>
            <a:off x="9802367" y="4526280"/>
            <a:ext cx="1371600" cy="274320"/>
          </a:xfrm>
          <a:prstGeom prst="rect">
            <a:avLst/>
          </a:prstGeom>
          <a:noFill/>
        </p:spPr>
        <p:txBody>
          <a:bodyPr wrap="square" lIns="0" rIns="0" tIns="0" bIns="0" anchor="t">
            <a:spAutoFit/>
          </a:bodyPr>
          <a:lstStyle/>
          <a:p>
            <a:pPr algn="l">
              <a:spcAft>
                <a:spcPts val="600"/>
              </a:spcAft>
            </a:pPr>
            <a:r>
              <a:rPr sz="1150" b="0" i="0">
                <a:solidFill>
                  <a:srgbClr val="5F6B7A"/>
                </a:solidFill>
                <a:latin typeface="Calibri"/>
              </a:rPr>
              <a:t>near domain</a:t>
            </a:r>
          </a:p>
        </p:txBody>
      </p:sp>
      <p:sp>
        <p:nvSpPr>
          <p:cNvPr id="19" name="TextBox 18"/>
          <p:cNvSpPr txBox="1"/>
          <p:nvPr/>
        </p:nvSpPr>
        <p:spPr>
          <a:xfrm>
            <a:off x="10991088" y="4453128"/>
            <a:ext cx="914400" cy="411480"/>
          </a:xfrm>
          <a:prstGeom prst="rect">
            <a:avLst/>
          </a:prstGeom>
          <a:noFill/>
        </p:spPr>
        <p:txBody>
          <a:bodyPr wrap="square" lIns="0" rIns="0" tIns="0" bIns="0" anchor="t">
            <a:spAutoFit/>
          </a:bodyPr>
          <a:lstStyle/>
          <a:p>
            <a:pPr algn="r">
              <a:spcAft>
                <a:spcPts val="600"/>
              </a:spcAft>
            </a:pPr>
            <a:r>
              <a:rPr sz="1900" b="1" i="0">
                <a:solidFill>
                  <a:srgbClr val="D98324"/>
                </a:solidFill>
                <a:latin typeface="Calibri"/>
              </a:rPr>
              <a:t>0.55</a:t>
            </a:r>
          </a:p>
        </p:txBody>
      </p:sp>
      <p:sp>
        <p:nvSpPr>
          <p:cNvPr id="20" name="TextBox 19"/>
          <p:cNvSpPr txBox="1"/>
          <p:nvPr/>
        </p:nvSpPr>
        <p:spPr>
          <a:xfrm>
            <a:off x="7333488" y="4892040"/>
            <a:ext cx="3971239" cy="548640"/>
          </a:xfrm>
          <a:prstGeom prst="rect">
            <a:avLst/>
          </a:prstGeom>
          <a:noFill/>
        </p:spPr>
        <p:txBody>
          <a:bodyPr wrap="square" lIns="0" rIns="0" tIns="0" bIns="0" anchor="t">
            <a:spAutoFit/>
          </a:bodyPr>
          <a:lstStyle/>
          <a:p>
            <a:pPr algn="l">
              <a:lnSpc>
                <a:spcPct val="122000"/>
              </a:lnSpc>
              <a:spcAft>
                <a:spcPts val="600"/>
              </a:spcAft>
            </a:pPr>
            <a:r>
              <a:rPr sz="1200" b="0" i="0">
                <a:solidFill>
                  <a:srgbClr val="0F1A2E"/>
                </a:solidFill>
                <a:latin typeface="Calibri"/>
              </a:rPr>
              <a:t>At this distance the panel recovers barely half of what is there. The silence is not a result.</a:t>
            </a:r>
          </a:p>
        </p:txBody>
      </p:sp>
      <p:sp>
        <p:nvSpPr>
          <p:cNvPr id="21" name="TextBox 20"/>
          <p:cNvSpPr txBox="1"/>
          <p:nvPr/>
        </p:nvSpPr>
        <p:spPr>
          <a:xfrm>
            <a:off x="566928" y="5394960"/>
            <a:ext cx="6035040" cy="777240"/>
          </a:xfrm>
          <a:prstGeom prst="rect">
            <a:avLst/>
          </a:prstGeom>
          <a:noFill/>
        </p:spPr>
        <p:txBody>
          <a:bodyPr wrap="square" lIns="0" rIns="0" tIns="0" bIns="0" anchor="t">
            <a:spAutoFit/>
          </a:bodyPr>
          <a:lstStyle/>
          <a:p>
            <a:pPr algn="l">
              <a:lnSpc>
                <a:spcPct val="124000"/>
              </a:lnSpc>
              <a:spcAft>
                <a:spcPts val="600"/>
              </a:spcAft>
            </a:pPr>
            <a:r>
              <a:rPr sz="1300" b="0" i="1">
                <a:solidFill>
                  <a:srgbClr val="5F6B7A"/>
                </a:solidFill>
                <a:latin typeface="Calibri"/>
              </a:rPr>
              <a:t>A compound that does not arrive cannot generate a disease call. Reported silence and reported engagement are one rule seen from opposite sides.</a:t>
            </a:r>
          </a:p>
        </p:txBody>
      </p:sp>
      <p:sp>
        <p:nvSpPr>
          <p:cNvPr id="22" name="TextBox 2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docs/TECHNICAL_REPORT.md section 5.1; recall figures from external_novelty_strata.csv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749808"/>
            <a:ext cx="7315200" cy="45720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The falsification suite</a:t>
            </a:r>
          </a:p>
        </p:txBody>
      </p:sp>
      <p:sp>
        <p:nvSpPr>
          <p:cNvPr id="3" name="TextBox 2"/>
          <p:cNvSpPr txBox="1"/>
          <p:nvPr/>
        </p:nvSpPr>
        <p:spPr>
          <a:xfrm>
            <a:off x="566928" y="1170432"/>
            <a:ext cx="8686800" cy="658368"/>
          </a:xfrm>
          <a:prstGeom prst="rect">
            <a:avLst/>
          </a:prstGeom>
          <a:noFill/>
        </p:spPr>
        <p:txBody>
          <a:bodyPr wrap="square" lIns="0" rIns="0" tIns="0" bIns="0" anchor="t">
            <a:spAutoFit/>
          </a:bodyPr>
          <a:lstStyle/>
          <a:p>
            <a:pPr algn="l">
              <a:lnSpc>
                <a:spcPct val="108000"/>
              </a:lnSpc>
              <a:spcAft>
                <a:spcPts val="600"/>
              </a:spcAft>
            </a:pPr>
            <a:r>
              <a:rPr sz="3400" b="1" i="0">
                <a:solidFill>
                  <a:srgbClr val="FFFFFF"/>
                </a:solidFill>
                <a:latin typeface="Cambria"/>
              </a:rPr>
              <a:t>4 of 10 hypotheses were refuted</a:t>
            </a:r>
          </a:p>
        </p:txBody>
      </p:sp>
      <p:sp>
        <p:nvSpPr>
          <p:cNvPr id="4" name="TextBox 3"/>
          <p:cNvSpPr txBox="1"/>
          <p:nvPr/>
        </p:nvSpPr>
        <p:spPr>
          <a:xfrm>
            <a:off x="566928" y="1938528"/>
            <a:ext cx="9692640" cy="685800"/>
          </a:xfrm>
          <a:prstGeom prst="rect">
            <a:avLst/>
          </a:prstGeom>
          <a:noFill/>
        </p:spPr>
        <p:txBody>
          <a:bodyPr wrap="square" lIns="0" rIns="0" tIns="0" bIns="0" anchor="t">
            <a:spAutoFit/>
          </a:bodyPr>
          <a:lstStyle/>
          <a:p>
            <a:pPr algn="l">
              <a:lnSpc>
                <a:spcPct val="126000"/>
              </a:lnSpc>
              <a:spcAft>
                <a:spcPts val="600"/>
              </a:spcAft>
            </a:pPr>
            <a:r>
              <a:rPr sz="1400" b="0" i="0">
                <a:solidFill>
                  <a:srgbClr val="D7DFEA"/>
                </a:solidFill>
                <a:latin typeface="Calibri"/>
              </a:rPr>
              <a:t>Each was stated so that it could fail, and paired with a null model capable of producing the same apparent success by accident. All four are reported as refuted.</a:t>
            </a:r>
          </a:p>
        </p:txBody>
      </p:sp>
      <p:sp>
        <p:nvSpPr>
          <p:cNvPr id="5" name="Oval 4"/>
          <p:cNvSpPr/>
          <p:nvPr/>
        </p:nvSpPr>
        <p:spPr>
          <a:xfrm>
            <a:off x="566928" y="2852928"/>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H2</a:t>
            </a:r>
          </a:p>
        </p:txBody>
      </p:sp>
      <p:sp>
        <p:nvSpPr>
          <p:cNvPr id="6" name="TextBox 5"/>
          <p:cNvSpPr txBox="1"/>
          <p:nvPr/>
        </p:nvSpPr>
        <p:spPr>
          <a:xfrm>
            <a:off x="1115568" y="2834640"/>
            <a:ext cx="3794760" cy="731520"/>
          </a:xfrm>
          <a:prstGeom prst="rect">
            <a:avLst/>
          </a:prstGeom>
          <a:noFill/>
        </p:spPr>
        <p:txBody>
          <a:bodyPr wrap="square" lIns="0" rIns="0" tIns="0" bIns="0" anchor="t">
            <a:spAutoFit/>
          </a:bodyPr>
          <a:lstStyle/>
          <a:p>
            <a:pPr algn="l">
              <a:lnSpc>
                <a:spcPct val="116000"/>
              </a:lnSpc>
              <a:spcAft>
                <a:spcPts val="600"/>
              </a:spcAft>
            </a:pPr>
            <a:r>
              <a:rPr sz="1350" b="1" i="0">
                <a:solidFill>
                  <a:srgbClr val="FFFFFF"/>
                </a:solidFill>
                <a:latin typeface="Calibri"/>
              </a:rPr>
              <a:t>the curated edge weights add value</a:t>
            </a:r>
          </a:p>
        </p:txBody>
      </p:sp>
      <p:sp>
        <p:nvSpPr>
          <p:cNvPr id="7" name="TextBox 6"/>
          <p:cNvSpPr txBox="1"/>
          <p:nvPr/>
        </p:nvSpPr>
        <p:spPr>
          <a:xfrm>
            <a:off x="5138928" y="2834640"/>
            <a:ext cx="6485839" cy="731520"/>
          </a:xfrm>
          <a:prstGeom prst="rect">
            <a:avLst/>
          </a:prstGeom>
          <a:noFill/>
        </p:spPr>
        <p:txBody>
          <a:bodyPr wrap="square" lIns="0" rIns="0" tIns="0" bIns="0" anchor="t">
            <a:spAutoFit/>
          </a:bodyPr>
          <a:lstStyle/>
          <a:p>
            <a:pPr algn="l">
              <a:lnSpc>
                <a:spcPct val="120000"/>
              </a:lnSpc>
              <a:spcAft>
                <a:spcPts val="600"/>
              </a:spcAft>
            </a:pPr>
            <a:r>
              <a:rPr sz="1200" b="0" i="0">
                <a:solidFill>
                  <a:srgbClr val="D7DFEA"/>
                </a:solidFill>
                <a:latin typeface="Calibri"/>
              </a:rPr>
              <a:t>curated 0.7901, uniform 0.7897, permuted 0.7874</a:t>
            </a:r>
          </a:p>
        </p:txBody>
      </p:sp>
      <p:sp>
        <p:nvSpPr>
          <p:cNvPr id="8" name="Oval 7"/>
          <p:cNvSpPr/>
          <p:nvPr/>
        </p:nvSpPr>
        <p:spPr>
          <a:xfrm>
            <a:off x="566928" y="3675887"/>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H3</a:t>
            </a:r>
          </a:p>
        </p:txBody>
      </p:sp>
      <p:sp>
        <p:nvSpPr>
          <p:cNvPr id="9" name="TextBox 8"/>
          <p:cNvSpPr txBox="1"/>
          <p:nvPr/>
        </p:nvSpPr>
        <p:spPr>
          <a:xfrm>
            <a:off x="1115568" y="3657600"/>
            <a:ext cx="3794760" cy="731520"/>
          </a:xfrm>
          <a:prstGeom prst="rect">
            <a:avLst/>
          </a:prstGeom>
          <a:noFill/>
        </p:spPr>
        <p:txBody>
          <a:bodyPr wrap="square" lIns="0" rIns="0" tIns="0" bIns="0" anchor="t">
            <a:spAutoFit/>
          </a:bodyPr>
          <a:lstStyle/>
          <a:p>
            <a:pPr algn="l">
              <a:lnSpc>
                <a:spcPct val="116000"/>
              </a:lnSpc>
              <a:spcAft>
                <a:spcPts val="600"/>
              </a:spcAft>
            </a:pPr>
            <a:r>
              <a:rPr sz="1350" b="1" i="0">
                <a:solidFill>
                  <a:srgbClr val="FFFFFF"/>
                </a:solidFill>
                <a:latin typeface="Calibri"/>
              </a:rPr>
              <a:t>BBB gating discriminates between diseases</a:t>
            </a:r>
          </a:p>
        </p:txBody>
      </p:sp>
      <p:sp>
        <p:nvSpPr>
          <p:cNvPr id="10" name="TextBox 9"/>
          <p:cNvSpPr txBox="1"/>
          <p:nvPr/>
        </p:nvSpPr>
        <p:spPr>
          <a:xfrm>
            <a:off x="5138928" y="3657600"/>
            <a:ext cx="6485839" cy="731520"/>
          </a:xfrm>
          <a:prstGeom prst="rect">
            <a:avLst/>
          </a:prstGeom>
          <a:noFill/>
        </p:spPr>
        <p:txBody>
          <a:bodyPr wrap="square" lIns="0" rIns="0" tIns="0" bIns="0" anchor="t">
            <a:spAutoFit/>
          </a:bodyPr>
          <a:lstStyle/>
          <a:p>
            <a:pPr algn="l">
              <a:lnSpc>
                <a:spcPct val="120000"/>
              </a:lnSpc>
              <a:spcAft>
                <a:spcPts val="600"/>
              </a:spcAft>
            </a:pPr>
            <a:r>
              <a:rPr sz="1200" b="0" i="0">
                <a:solidFill>
                  <a:srgbClr val="D7DFEA"/>
                </a:solidFill>
                <a:latin typeface="Calibri"/>
              </a:rPr>
              <a:t>the gate multiplies every disease equally and cannot change their order</a:t>
            </a:r>
          </a:p>
        </p:txBody>
      </p:sp>
      <p:sp>
        <p:nvSpPr>
          <p:cNvPr id="11" name="Oval 10"/>
          <p:cNvSpPr/>
          <p:nvPr/>
        </p:nvSpPr>
        <p:spPr>
          <a:xfrm>
            <a:off x="566928" y="4498848"/>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H7</a:t>
            </a:r>
          </a:p>
        </p:txBody>
      </p:sp>
      <p:sp>
        <p:nvSpPr>
          <p:cNvPr id="12" name="TextBox 11"/>
          <p:cNvSpPr txBox="1"/>
          <p:nvPr/>
        </p:nvSpPr>
        <p:spPr>
          <a:xfrm>
            <a:off x="1115568" y="4480560"/>
            <a:ext cx="3794760" cy="731520"/>
          </a:xfrm>
          <a:prstGeom prst="rect">
            <a:avLst/>
          </a:prstGeom>
          <a:noFill/>
        </p:spPr>
        <p:txBody>
          <a:bodyPr wrap="square" lIns="0" rIns="0" tIns="0" bIns="0" anchor="t">
            <a:spAutoFit/>
          </a:bodyPr>
          <a:lstStyle/>
          <a:p>
            <a:pPr algn="l">
              <a:lnSpc>
                <a:spcPct val="116000"/>
              </a:lnSpc>
              <a:spcAft>
                <a:spcPts val="600"/>
              </a:spcAft>
            </a:pPr>
            <a:r>
              <a:rPr sz="1350" b="1" i="0">
                <a:solidFill>
                  <a:srgbClr val="FFFFFF"/>
                </a:solidFill>
                <a:latin typeface="Calibri"/>
              </a:rPr>
              <a:t>some panel targets are non-discriminative and explain the silent antiepileptics</a:t>
            </a:r>
          </a:p>
        </p:txBody>
      </p:sp>
      <p:sp>
        <p:nvSpPr>
          <p:cNvPr id="13" name="TextBox 12"/>
          <p:cNvSpPr txBox="1"/>
          <p:nvPr/>
        </p:nvSpPr>
        <p:spPr>
          <a:xfrm>
            <a:off x="5138928" y="4480560"/>
            <a:ext cx="6485839" cy="731520"/>
          </a:xfrm>
          <a:prstGeom prst="rect">
            <a:avLst/>
          </a:prstGeom>
          <a:noFill/>
        </p:spPr>
        <p:txBody>
          <a:bodyPr wrap="square" lIns="0" rIns="0" tIns="0" bIns="0" anchor="t">
            <a:spAutoFit/>
          </a:bodyPr>
          <a:lstStyle/>
          <a:p>
            <a:pPr algn="l">
              <a:lnSpc>
                <a:spcPct val="120000"/>
              </a:lnSpc>
              <a:spcAft>
                <a:spcPts val="600"/>
              </a:spcAft>
            </a:pPr>
            <a:r>
              <a:rPr sz="1200" b="0" i="0">
                <a:solidFill>
                  <a:srgbClr val="D7DFEA"/>
                </a:solidFill>
                <a:latin typeface="Calibri"/>
              </a:rPr>
              <a:t>none of 37 targets ranks below AUROC 0.70; the cause is the operating point, with median deployed sensitivity 0.79 and 6 targets under 0.50</a:t>
            </a:r>
          </a:p>
        </p:txBody>
      </p:sp>
      <p:sp>
        <p:nvSpPr>
          <p:cNvPr id="14" name="Oval 13"/>
          <p:cNvSpPr/>
          <p:nvPr/>
        </p:nvSpPr>
        <p:spPr>
          <a:xfrm>
            <a:off x="566928" y="5321808"/>
            <a:ext cx="365760" cy="365760"/>
          </a:xfrm>
          <a:prstGeom prst="ellipse">
            <a:avLst/>
          </a:prstGeom>
          <a:solidFill>
            <a:srgbClr val="D983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0F1A2E"/>
                </a:solidFill>
                <a:latin typeface="Calibri"/>
              </a:rPr>
              <a:t>H8</a:t>
            </a:r>
          </a:p>
        </p:txBody>
      </p:sp>
      <p:sp>
        <p:nvSpPr>
          <p:cNvPr id="15" name="TextBox 14"/>
          <p:cNvSpPr txBox="1"/>
          <p:nvPr/>
        </p:nvSpPr>
        <p:spPr>
          <a:xfrm>
            <a:off x="1115568" y="5303520"/>
            <a:ext cx="3794760" cy="731520"/>
          </a:xfrm>
          <a:prstGeom prst="rect">
            <a:avLst/>
          </a:prstGeom>
          <a:noFill/>
        </p:spPr>
        <p:txBody>
          <a:bodyPr wrap="square" lIns="0" rIns="0" tIns="0" bIns="0" anchor="t">
            <a:spAutoFit/>
          </a:bodyPr>
          <a:lstStyle/>
          <a:p>
            <a:pPr algn="l">
              <a:lnSpc>
                <a:spcPct val="116000"/>
              </a:lnSpc>
              <a:spcAft>
                <a:spcPts val="600"/>
              </a:spcAft>
            </a:pPr>
            <a:r>
              <a:rPr sz="1350" b="1" i="0">
                <a:solidFill>
                  <a:srgbClr val="FFFFFF"/>
                </a:solidFill>
                <a:latin typeface="Calibri"/>
              </a:rPr>
              <a:t>engaged targets are independent observations</a:t>
            </a:r>
          </a:p>
        </p:txBody>
      </p:sp>
      <p:sp>
        <p:nvSpPr>
          <p:cNvPr id="16" name="TextBox 15"/>
          <p:cNvSpPr txBox="1"/>
          <p:nvPr/>
        </p:nvSpPr>
        <p:spPr>
          <a:xfrm>
            <a:off x="5138928" y="5303520"/>
            <a:ext cx="6485839" cy="731520"/>
          </a:xfrm>
          <a:prstGeom prst="rect">
            <a:avLst/>
          </a:prstGeom>
          <a:noFill/>
        </p:spPr>
        <p:txBody>
          <a:bodyPr wrap="square" lIns="0" rIns="0" tIns="0" bIns="0" anchor="t">
            <a:spAutoFit/>
          </a:bodyPr>
          <a:lstStyle/>
          <a:p>
            <a:pPr algn="l">
              <a:lnSpc>
                <a:spcPct val="120000"/>
              </a:lnSpc>
              <a:spcAft>
                <a:spcPts val="600"/>
              </a:spcAft>
            </a:pPr>
            <a:r>
              <a:rPr sz="1200" b="0" i="0">
                <a:solidFill>
                  <a:srgbClr val="D7DFEA"/>
                </a:solidFill>
                <a:latin typeface="Calibri"/>
              </a:rPr>
              <a:t>37 targets fire across approved drugs but span only 16 independent directions; 5 homologous pairs correlate above 0.5</a:t>
            </a:r>
          </a:p>
        </p:txBody>
      </p:sp>
      <p:sp>
        <p:nvSpPr>
          <p:cNvPr id="17" name="TextBox 16"/>
          <p:cNvSpPr txBox="1"/>
          <p:nvPr/>
        </p:nvSpPr>
        <p:spPr>
          <a:xfrm>
            <a:off x="566928" y="6236208"/>
            <a:ext cx="11057839" cy="365760"/>
          </a:xfrm>
          <a:prstGeom prst="rect">
            <a:avLst/>
          </a:prstGeom>
          <a:noFill/>
        </p:spPr>
        <p:txBody>
          <a:bodyPr wrap="square" lIns="0" rIns="0" tIns="0" bIns="0" anchor="t">
            <a:spAutoFit/>
          </a:bodyPr>
          <a:lstStyle/>
          <a:p>
            <a:pPr algn="l">
              <a:spcAft>
                <a:spcPts val="600"/>
              </a:spcAft>
            </a:pPr>
            <a:r>
              <a:rPr sz="1250" b="0" i="1">
                <a:solidFill>
                  <a:srgbClr val="1C7293"/>
                </a:solidFill>
                <a:latin typeface="Calibri"/>
              </a:rPr>
              <a:t>4 supported, 2 weakened. The refutations changed the design and are the most useful output the project has produced.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5 endpoints were trained, tested and withdrawn</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panel is reported as an inventory, not as a selection</a:t>
            </a:r>
          </a:p>
        </p:txBody>
      </p:sp>
      <p:sp>
        <p:nvSpPr>
          <p:cNvPr id="5" name="TextBox 4"/>
          <p:cNvSpPr txBox="1"/>
          <p:nvPr/>
        </p:nvSpPr>
        <p:spPr>
          <a:xfrm>
            <a:off x="566928" y="1645920"/>
            <a:ext cx="4251960" cy="3017520"/>
          </a:xfrm>
          <a:prstGeom prst="rect">
            <a:avLst/>
          </a:prstGeom>
          <a:noFill/>
        </p:spPr>
        <p:txBody>
          <a:bodyPr wrap="square" lIns="0" rIns="0" tIns="0" bIns="0" anchor="t">
            <a:spAutoFit/>
          </a:bodyPr>
          <a:lstStyle/>
          <a:p>
            <a:pPr algn="l">
              <a:lnSpc>
                <a:spcPct val="130000"/>
              </a:lnSpc>
              <a:spcAft>
                <a:spcPts val="600"/>
              </a:spcAft>
            </a:pPr>
            <a:r>
              <a:rPr sz="1400" b="0" i="0">
                <a:solidFill>
                  <a:srgbClr val="0F1A2E"/>
                </a:solidFill>
                <a:latin typeface="Calibri"/>
              </a:rPr>
              <a:t>Two fired on glucose, urea and atenolol at their calibrated thresholds. Three were added specifically to test natural-product coverage, and all three failed.
Withdrawal is re-derived whenever the panel is refitted rather than carried forward, because it is a claim about a particular fit.</a:t>
            </a:r>
          </a:p>
        </p:txBody>
      </p:sp>
      <p:sp>
        <p:nvSpPr>
          <p:cNvPr id="6" name="TextBox 5"/>
          <p:cNvSpPr txBox="1"/>
          <p:nvPr/>
        </p:nvSpPr>
        <p:spPr>
          <a:xfrm>
            <a:off x="5276088" y="1664208"/>
            <a:ext cx="237744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7" name="TextBox 6"/>
          <p:cNvSpPr txBox="1"/>
          <p:nvPr/>
        </p:nvSpPr>
        <p:spPr>
          <a:xfrm>
            <a:off x="7744968" y="1664208"/>
            <a:ext cx="17373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AUROC</a:t>
            </a:r>
          </a:p>
        </p:txBody>
      </p:sp>
      <p:sp>
        <p:nvSpPr>
          <p:cNvPr id="8" name="TextBox 7"/>
          <p:cNvSpPr txBox="1"/>
          <p:nvPr/>
        </p:nvSpPr>
        <p:spPr>
          <a:xfrm>
            <a:off x="9665208" y="1664208"/>
            <a:ext cx="173736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sensitivity</a:t>
            </a:r>
          </a:p>
        </p:txBody>
      </p:sp>
      <p:sp>
        <p:nvSpPr>
          <p:cNvPr id="9" name="Rounded Rectangle 8"/>
          <p:cNvSpPr/>
          <p:nvPr/>
        </p:nvSpPr>
        <p:spPr>
          <a:xfrm>
            <a:off x="5111496" y="1956816"/>
            <a:ext cx="6513271"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76088" y="2066544"/>
            <a:ext cx="2377440" cy="320040"/>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GluA2</a:t>
            </a:r>
          </a:p>
        </p:txBody>
      </p:sp>
      <p:sp>
        <p:nvSpPr>
          <p:cNvPr id="11" name="TextBox 10"/>
          <p:cNvSpPr txBox="1"/>
          <p:nvPr/>
        </p:nvSpPr>
        <p:spPr>
          <a:xfrm>
            <a:off x="7744968" y="2066544"/>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0.696</a:t>
            </a:r>
          </a:p>
        </p:txBody>
      </p:sp>
      <p:sp>
        <p:nvSpPr>
          <p:cNvPr id="12" name="TextBox 11"/>
          <p:cNvSpPr txBox="1"/>
          <p:nvPr/>
        </p:nvSpPr>
        <p:spPr>
          <a:xfrm>
            <a:off x="9665208" y="2066544"/>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0.103</a:t>
            </a:r>
          </a:p>
        </p:txBody>
      </p:sp>
      <p:sp>
        <p:nvSpPr>
          <p:cNvPr id="13" name="Rounded Rectangle 12"/>
          <p:cNvSpPr/>
          <p:nvPr/>
        </p:nvSpPr>
        <p:spPr>
          <a:xfrm>
            <a:off x="5111496" y="2633472"/>
            <a:ext cx="6513271"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2743200"/>
            <a:ext cx="2377440" cy="320040"/>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Nav1.1</a:t>
            </a:r>
          </a:p>
        </p:txBody>
      </p:sp>
      <p:sp>
        <p:nvSpPr>
          <p:cNvPr id="15" name="TextBox 14"/>
          <p:cNvSpPr txBox="1"/>
          <p:nvPr/>
        </p:nvSpPr>
        <p:spPr>
          <a:xfrm>
            <a:off x="7744968" y="2743200"/>
            <a:ext cx="1737360" cy="320040"/>
          </a:xfrm>
          <a:prstGeom prst="rect">
            <a:avLst/>
          </a:prstGeom>
          <a:noFill/>
        </p:spPr>
        <p:txBody>
          <a:bodyPr wrap="square" lIns="0" rIns="0" tIns="0" bIns="0" anchor="t">
            <a:spAutoFit/>
          </a:bodyPr>
          <a:lstStyle/>
          <a:p>
            <a:pPr algn="r">
              <a:spcAft>
                <a:spcPts val="600"/>
              </a:spcAft>
            </a:pPr>
            <a:r>
              <a:rPr sz="1400" b="0" i="0">
                <a:solidFill>
                  <a:srgbClr val="0F1A2E"/>
                </a:solidFill>
                <a:latin typeface="Calibri"/>
              </a:rPr>
              <a:t>0.952</a:t>
            </a:r>
          </a:p>
        </p:txBody>
      </p:sp>
      <p:sp>
        <p:nvSpPr>
          <p:cNvPr id="16" name="TextBox 15"/>
          <p:cNvSpPr txBox="1"/>
          <p:nvPr/>
        </p:nvSpPr>
        <p:spPr>
          <a:xfrm>
            <a:off x="9665208" y="2743200"/>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0.120</a:t>
            </a:r>
          </a:p>
        </p:txBody>
      </p:sp>
      <p:sp>
        <p:nvSpPr>
          <p:cNvPr id="17" name="Rounded Rectangle 16"/>
          <p:cNvSpPr/>
          <p:nvPr/>
        </p:nvSpPr>
        <p:spPr>
          <a:xfrm>
            <a:off x="5111496" y="3310128"/>
            <a:ext cx="6513271"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76088" y="3419856"/>
            <a:ext cx="2377440" cy="320040"/>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NRF2</a:t>
            </a:r>
          </a:p>
        </p:txBody>
      </p:sp>
      <p:sp>
        <p:nvSpPr>
          <p:cNvPr id="19" name="TextBox 18"/>
          <p:cNvSpPr txBox="1"/>
          <p:nvPr/>
        </p:nvSpPr>
        <p:spPr>
          <a:xfrm>
            <a:off x="7744968" y="3419856"/>
            <a:ext cx="1737360" cy="320040"/>
          </a:xfrm>
          <a:prstGeom prst="rect">
            <a:avLst/>
          </a:prstGeom>
          <a:noFill/>
        </p:spPr>
        <p:txBody>
          <a:bodyPr wrap="square" lIns="0" rIns="0" tIns="0" bIns="0" anchor="t">
            <a:spAutoFit/>
          </a:bodyPr>
          <a:lstStyle/>
          <a:p>
            <a:pPr algn="r">
              <a:spcAft>
                <a:spcPts val="600"/>
              </a:spcAft>
            </a:pPr>
            <a:r>
              <a:rPr sz="1400" b="0" i="0">
                <a:solidFill>
                  <a:srgbClr val="0F1A2E"/>
                </a:solidFill>
                <a:latin typeface="Calibri"/>
              </a:rPr>
              <a:t>0.789</a:t>
            </a:r>
          </a:p>
        </p:txBody>
      </p:sp>
      <p:sp>
        <p:nvSpPr>
          <p:cNvPr id="20" name="TextBox 19"/>
          <p:cNvSpPr txBox="1"/>
          <p:nvPr/>
        </p:nvSpPr>
        <p:spPr>
          <a:xfrm>
            <a:off x="9665208" y="3419856"/>
            <a:ext cx="1737360" cy="320040"/>
          </a:xfrm>
          <a:prstGeom prst="rect">
            <a:avLst/>
          </a:prstGeom>
          <a:noFill/>
        </p:spPr>
        <p:txBody>
          <a:bodyPr wrap="square" lIns="0" rIns="0" tIns="0" bIns="0" anchor="t">
            <a:spAutoFit/>
          </a:bodyPr>
          <a:lstStyle/>
          <a:p>
            <a:pPr algn="r">
              <a:spcAft>
                <a:spcPts val="600"/>
              </a:spcAft>
            </a:pPr>
            <a:r>
              <a:rPr sz="1400" b="0" i="0">
                <a:solidFill>
                  <a:srgbClr val="0F1A2E"/>
                </a:solidFill>
                <a:latin typeface="Calibri"/>
              </a:rPr>
              <a:t>0.545</a:t>
            </a:r>
          </a:p>
        </p:txBody>
      </p:sp>
      <p:sp>
        <p:nvSpPr>
          <p:cNvPr id="21" name="Rounded Rectangle 20"/>
          <p:cNvSpPr/>
          <p:nvPr/>
        </p:nvSpPr>
        <p:spPr>
          <a:xfrm>
            <a:off x="5111496" y="3986784"/>
            <a:ext cx="6513271"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76088" y="4096512"/>
            <a:ext cx="2377440" cy="320040"/>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NFKB1</a:t>
            </a:r>
          </a:p>
        </p:txBody>
      </p:sp>
      <p:sp>
        <p:nvSpPr>
          <p:cNvPr id="23" name="TextBox 22"/>
          <p:cNvSpPr txBox="1"/>
          <p:nvPr/>
        </p:nvSpPr>
        <p:spPr>
          <a:xfrm>
            <a:off x="7744968" y="4096512"/>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0.459</a:t>
            </a:r>
          </a:p>
        </p:txBody>
      </p:sp>
      <p:sp>
        <p:nvSpPr>
          <p:cNvPr id="24" name="TextBox 23"/>
          <p:cNvSpPr txBox="1"/>
          <p:nvPr/>
        </p:nvSpPr>
        <p:spPr>
          <a:xfrm>
            <a:off x="9665208" y="4096512"/>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0.000</a:t>
            </a:r>
          </a:p>
        </p:txBody>
      </p:sp>
      <p:sp>
        <p:nvSpPr>
          <p:cNvPr id="25" name="Rounded Rectangle 24"/>
          <p:cNvSpPr/>
          <p:nvPr/>
        </p:nvSpPr>
        <p:spPr>
          <a:xfrm>
            <a:off x="5111496" y="4663440"/>
            <a:ext cx="6513271"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276088" y="4773168"/>
            <a:ext cx="2377440" cy="320040"/>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NR3C1</a:t>
            </a:r>
          </a:p>
        </p:txBody>
      </p:sp>
      <p:sp>
        <p:nvSpPr>
          <p:cNvPr id="27" name="TextBox 26"/>
          <p:cNvSpPr txBox="1"/>
          <p:nvPr/>
        </p:nvSpPr>
        <p:spPr>
          <a:xfrm>
            <a:off x="7744968" y="4773168"/>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0.410</a:t>
            </a:r>
          </a:p>
        </p:txBody>
      </p:sp>
      <p:sp>
        <p:nvSpPr>
          <p:cNvPr id="28" name="TextBox 27"/>
          <p:cNvSpPr txBox="1"/>
          <p:nvPr/>
        </p:nvSpPr>
        <p:spPr>
          <a:xfrm>
            <a:off x="9665208" y="4773168"/>
            <a:ext cx="1737360" cy="320040"/>
          </a:xfrm>
          <a:prstGeom prst="rect">
            <a:avLst/>
          </a:prstGeom>
          <a:noFill/>
        </p:spPr>
        <p:txBody>
          <a:bodyPr wrap="square" lIns="0" rIns="0" tIns="0" bIns="0" anchor="t">
            <a:spAutoFit/>
          </a:bodyPr>
          <a:lstStyle/>
          <a:p>
            <a:pPr algn="r">
              <a:spcAft>
                <a:spcPts val="600"/>
              </a:spcAft>
            </a:pPr>
            <a:r>
              <a:rPr sz="1400" b="0" i="0">
                <a:solidFill>
                  <a:srgbClr val="9E2A2B"/>
                </a:solidFill>
                <a:latin typeface="Calibri"/>
              </a:rPr>
              <a:t>0.167</a:t>
            </a:r>
          </a:p>
        </p:txBody>
      </p:sp>
      <p:sp>
        <p:nvSpPr>
          <p:cNvPr id="29" name="TextBox 2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submission_package/07_MODELS/binder_panel_registry.json, withdrawal reasons recorded per endpoint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Specificity, stated as the bound it is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assumption is named in the sentence that makes the claim</a:t>
            </a:r>
          </a:p>
        </p:txBody>
      </p:sp>
      <p:sp>
        <p:nvSpPr>
          <p:cNvPr id="5" name="Rounded Rectangle 4"/>
          <p:cNvSpPr/>
          <p:nvPr/>
        </p:nvSpPr>
        <p:spPr>
          <a:xfrm>
            <a:off x="566928" y="1691640"/>
            <a:ext cx="4937760" cy="32004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2011680"/>
            <a:ext cx="4114800" cy="603504"/>
          </a:xfrm>
          <a:prstGeom prst="rect">
            <a:avLst/>
          </a:prstGeom>
          <a:noFill/>
        </p:spPr>
        <p:txBody>
          <a:bodyPr wrap="square" lIns="0" rIns="0" tIns="0" bIns="0" anchor="t">
            <a:spAutoFit/>
          </a:bodyPr>
          <a:lstStyle/>
          <a:p>
            <a:pPr algn="l">
              <a:spcAft>
                <a:spcPts val="600"/>
              </a:spcAft>
            </a:pPr>
            <a:r>
              <a:rPr sz="5200" b="1" i="0">
                <a:solidFill>
                  <a:srgbClr val="1F3A5F"/>
                </a:solidFill>
                <a:latin typeface="Cambria"/>
              </a:rPr>
              <a:t>0.925</a:t>
            </a:r>
          </a:p>
        </p:txBody>
      </p:sp>
      <p:sp>
        <p:nvSpPr>
          <p:cNvPr id="7" name="TextBox 6"/>
          <p:cNvSpPr txBox="1"/>
          <p:nvPr/>
        </p:nvSpPr>
        <p:spPr>
          <a:xfrm>
            <a:off x="978408" y="2771140"/>
            <a:ext cx="41148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1,000 compounds with no recorded activity at any modelled target returned no actionable disease signal</a:t>
            </a:r>
          </a:p>
        </p:txBody>
      </p:sp>
      <p:sp>
        <p:nvSpPr>
          <p:cNvPr id="8" name="TextBox 7"/>
          <p:cNvSpPr txBox="1"/>
          <p:nvPr/>
        </p:nvSpPr>
        <p:spPr>
          <a:xfrm>
            <a:off x="978408" y="3977639"/>
            <a:ext cx="4114800" cy="457200"/>
          </a:xfrm>
          <a:prstGeom prst="rect">
            <a:avLst/>
          </a:prstGeom>
          <a:noFill/>
        </p:spPr>
        <p:txBody>
          <a:bodyPr wrap="square" lIns="0" rIns="0" tIns="0" bIns="0" anchor="t">
            <a:spAutoFit/>
          </a:bodyPr>
          <a:lstStyle/>
          <a:p>
            <a:pPr algn="l">
              <a:spcAft>
                <a:spcPts val="600"/>
              </a:spcAft>
            </a:pPr>
            <a:r>
              <a:rPr sz="1300" b="0" i="0">
                <a:solidFill>
                  <a:srgbClr val="5F6B7A"/>
                </a:solidFill>
                <a:latin typeface="Calibri"/>
              </a:rPr>
              <a:t>95 per cent interval 0.907 to 0.940</a:t>
            </a:r>
          </a:p>
        </p:txBody>
      </p:sp>
      <p:sp>
        <p:nvSpPr>
          <p:cNvPr id="9" name="Rounded Rectangle 8"/>
          <p:cNvSpPr/>
          <p:nvPr/>
        </p:nvSpPr>
        <p:spPr>
          <a:xfrm>
            <a:off x="5916168" y="1691640"/>
            <a:ext cx="5708599" cy="3200400"/>
          </a:xfrm>
          <a:prstGeom prst="roundRect">
            <a:avLst>
              <a:gd name="adj" fmla="val 5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27648" y="2011680"/>
            <a:ext cx="4937760" cy="411480"/>
          </a:xfrm>
          <a:prstGeom prst="rect">
            <a:avLst/>
          </a:prstGeom>
          <a:noFill/>
        </p:spPr>
        <p:txBody>
          <a:bodyPr wrap="square" lIns="0" rIns="0" tIns="0" bIns="0" anchor="t">
            <a:spAutoFit/>
          </a:bodyPr>
          <a:lstStyle/>
          <a:p>
            <a:pPr algn="l">
              <a:spcAft>
                <a:spcPts val="600"/>
              </a:spcAft>
            </a:pPr>
            <a:r>
              <a:rPr sz="1900" b="1" i="0">
                <a:solidFill>
                  <a:srgbClr val="D98324"/>
                </a:solidFill>
                <a:latin typeface="Cambria"/>
              </a:rPr>
              <a:t>Why this is a lower bound</a:t>
            </a:r>
          </a:p>
        </p:txBody>
      </p:sp>
      <p:sp>
        <p:nvSpPr>
          <p:cNvPr id="11" name="TextBox 10"/>
          <p:cNvSpPr txBox="1"/>
          <p:nvPr/>
        </p:nvSpPr>
        <p:spPr>
          <a:xfrm>
            <a:off x="6327648" y="2606040"/>
            <a:ext cx="4937760" cy="2011680"/>
          </a:xfrm>
          <a:prstGeom prst="rect">
            <a:avLst/>
          </a:prstGeom>
          <a:noFill/>
        </p:spPr>
        <p:txBody>
          <a:bodyPr wrap="square" lIns="0" rIns="0" tIns="0" bIns="0" anchor="t">
            <a:spAutoFit/>
          </a:bodyPr>
          <a:lstStyle/>
          <a:p>
            <a:pPr algn="l">
              <a:lnSpc>
                <a:spcPct val="130000"/>
              </a:lnSpc>
              <a:spcAft>
                <a:spcPts val="600"/>
              </a:spcAft>
            </a:pPr>
            <a:r>
              <a:rPr sz="1350" b="0" i="0">
                <a:solidFill>
                  <a:srgbClr val="0F1A2E"/>
                </a:solidFill>
                <a:latin typeface="Calibri"/>
              </a:rPr>
              <a:t>Those compounds are presumed inactive because nothing is recorded about them, not proven inactive. The artefact itself labels the paired false-positive rate an upper bound. They are also drawn from within the reference library, so this does not bound behaviour on genuinely distant chemistry.</a:t>
            </a:r>
          </a:p>
        </p:txBody>
      </p:sp>
      <p:sp>
        <p:nvSpPr>
          <p:cNvPr id="12" name="TextBox 11"/>
          <p:cNvSpPr txBox="1"/>
          <p:nvPr/>
        </p:nvSpPr>
        <p:spPr>
          <a:xfrm>
            <a:off x="566928" y="5166360"/>
            <a:ext cx="11057839" cy="822960"/>
          </a:xfrm>
          <a:prstGeom prst="rect">
            <a:avLst/>
          </a:prstGeom>
          <a:noFill/>
        </p:spPr>
        <p:txBody>
          <a:bodyPr wrap="square" lIns="0" rIns="0" tIns="0" bIns="0" anchor="t">
            <a:spAutoFit/>
          </a:bodyPr>
          <a:lstStyle/>
          <a:p>
            <a:pPr algn="l">
              <a:lnSpc>
                <a:spcPct val="126000"/>
              </a:lnSpc>
              <a:spcAft>
                <a:spcPts val="600"/>
              </a:spcAft>
            </a:pPr>
            <a:r>
              <a:rPr sz="1400" b="0" i="1">
                <a:solidFill>
                  <a:srgbClr val="0F1A2E"/>
                </a:solidFill>
                <a:latin typeface="Calibri"/>
              </a:rPr>
              <a:t>This is the pattern the whole thesis follows: report the number, then report the assumption that the number rests on, in the same breath rather than in a footnote.</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results/tables/noncns_specificity_summary.csv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the system does not do</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Stated in the introduction, not deferred</a:t>
            </a:r>
          </a:p>
        </p:txBody>
      </p:sp>
      <p:sp>
        <p:nvSpPr>
          <p:cNvPr id="5" name="Oval 4"/>
          <p:cNvSpPr/>
          <p:nvPr/>
        </p:nvSpPr>
        <p:spPr>
          <a:xfrm>
            <a:off x="566928" y="1700784"/>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097280" y="1645920"/>
            <a:ext cx="384048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9E2A2B"/>
                </a:solidFill>
                <a:latin typeface="Calibri"/>
              </a:rPr>
              <a:t>Chirality is not represented</a:t>
            </a:r>
          </a:p>
        </p:txBody>
      </p:sp>
      <p:sp>
        <p:nvSpPr>
          <p:cNvPr id="7" name="TextBox 6"/>
          <p:cNvSpPr txBox="1"/>
          <p:nvPr/>
        </p:nvSpPr>
        <p:spPr>
          <a:xfrm>
            <a:off x="5138928" y="1627632"/>
            <a:ext cx="64858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Two enantiomers give identical predictions. Bounded in Chapter 10 at 0.19 per cent of the panel, which is a bound and not an absolution.</a:t>
            </a:r>
          </a:p>
        </p:txBody>
      </p:sp>
      <p:sp>
        <p:nvSpPr>
          <p:cNvPr id="8" name="Oval 7"/>
          <p:cNvSpPr/>
          <p:nvPr/>
        </p:nvSpPr>
        <p:spPr>
          <a:xfrm>
            <a:off x="566928" y="2761488"/>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1097280" y="2706624"/>
            <a:ext cx="384048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9E2A2B"/>
                </a:solidFill>
                <a:latin typeface="Calibri"/>
              </a:rPr>
              <a:t>Agonism and antagonism are not distinguished</a:t>
            </a:r>
          </a:p>
        </p:txBody>
      </p:sp>
      <p:sp>
        <p:nvSpPr>
          <p:cNvPr id="10" name="TextBox 9"/>
          <p:cNvSpPr txBox="1"/>
          <p:nvPr/>
        </p:nvSpPr>
        <p:spPr>
          <a:xfrm>
            <a:off x="5138928" y="2688336"/>
            <a:ext cx="64858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The training label is an affinity, which an agonist and an antagonist at the same receptor can share. The honest description of what the panel predicts is engagement, not modulation.</a:t>
            </a:r>
          </a:p>
        </p:txBody>
      </p:sp>
      <p:sp>
        <p:nvSpPr>
          <p:cNvPr id="11" name="Oval 10"/>
          <p:cNvSpPr/>
          <p:nvPr/>
        </p:nvSpPr>
        <p:spPr>
          <a:xfrm>
            <a:off x="566928" y="3822191"/>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2" name="TextBox 11"/>
          <p:cNvSpPr txBox="1"/>
          <p:nvPr/>
        </p:nvSpPr>
        <p:spPr>
          <a:xfrm>
            <a:off x="1097280" y="3767328"/>
            <a:ext cx="384048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9E2A2B"/>
                </a:solidFill>
                <a:latin typeface="Calibri"/>
              </a:rPr>
              <a:t>The disease layer does not predict indication</a:t>
            </a:r>
          </a:p>
        </p:txBody>
      </p:sp>
      <p:sp>
        <p:nvSpPr>
          <p:cNvPr id="13" name="TextBox 12"/>
          <p:cNvSpPr txBox="1"/>
          <p:nvPr/>
        </p:nvSpPr>
        <p:spPr>
          <a:xfrm>
            <a:off x="5138928" y="3749040"/>
            <a:ext cx="64858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27 of the 51 targets in the pathway graph drive more than one of its 16 conditions, and what selects among them, dose, regimen and patient population, is not present in a structure.</a:t>
            </a:r>
          </a:p>
        </p:txBody>
      </p:sp>
      <p:sp>
        <p:nvSpPr>
          <p:cNvPr id="14" name="Oval 13"/>
          <p:cNvSpPr/>
          <p:nvPr/>
        </p:nvSpPr>
        <p:spPr>
          <a:xfrm>
            <a:off x="566928" y="4882896"/>
            <a:ext cx="329184" cy="329184"/>
          </a:xfrm>
          <a:prstGeom prst="ellipse">
            <a:avLst/>
          </a:prstGeom>
          <a:solidFill>
            <a:srgbClr val="9E2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5" name="TextBox 14"/>
          <p:cNvSpPr txBox="1"/>
          <p:nvPr/>
        </p:nvSpPr>
        <p:spPr>
          <a:xfrm>
            <a:off x="1097280" y="4828032"/>
            <a:ext cx="384048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9E2A2B"/>
                </a:solidFill>
                <a:latin typeface="Calibri"/>
              </a:rPr>
              <a:t>Recall on genuinely novel chemistry is poor</a:t>
            </a:r>
          </a:p>
        </p:txBody>
      </p:sp>
      <p:sp>
        <p:nvSpPr>
          <p:cNvPr id="16" name="TextBox 15"/>
          <p:cNvSpPr txBox="1"/>
          <p:nvPr/>
        </p:nvSpPr>
        <p:spPr>
          <a:xfrm>
            <a:off x="5138928" y="4809744"/>
            <a:ext cx="648583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Below Tanimoto 0.40 recall is 0.161. No analysis in this thesis improves that number. The finding is that it is predictable, not that it is better than it looked.</a:t>
            </a:r>
          </a:p>
        </p:txBody>
      </p:sp>
      <p:sp>
        <p:nvSpPr>
          <p:cNvPr id="17" name="Rounded Rectangle 16"/>
          <p:cNvSpPr/>
          <p:nvPr/>
        </p:nvSpPr>
        <p:spPr>
          <a:xfrm>
            <a:off x="566928" y="5532120"/>
            <a:ext cx="11057839" cy="65836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705856"/>
            <a:ext cx="10326319" cy="365760"/>
          </a:xfrm>
          <a:prstGeom prst="rect">
            <a:avLst/>
          </a:prstGeom>
          <a:noFill/>
        </p:spPr>
        <p:txBody>
          <a:bodyPr wrap="square" lIns="0" rIns="0" tIns="0" bIns="0" anchor="t">
            <a:spAutoFit/>
          </a:bodyPr>
          <a:lstStyle/>
          <a:p>
            <a:pPr algn="l">
              <a:spcAft>
                <a:spcPts val="600"/>
              </a:spcAft>
            </a:pPr>
            <a:r>
              <a:rPr sz="1300" b="0" i="1">
                <a:solidFill>
                  <a:srgbClr val="0F1A2E"/>
                </a:solidFill>
                <a:latin typeface="Calibri"/>
              </a:rPr>
              <a:t>None of these is a defect discovered late. Each was measured, bounded, and written into the introduction, because a limitation an examiner has to find is worth less than one they are handed.</a:t>
            </a:r>
          </a:p>
        </p:txBody>
      </p:sp>
      <p:sp>
        <p:nvSpPr>
          <p:cNvPr id="19" name="TextBox 1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docs/TECHNICAL_REPORT.md section 8; inversion/results/; app.py KNOWLEDGE_GRAPH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417320"/>
            <a:ext cx="7680960"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The contribution</a:t>
            </a:r>
          </a:p>
        </p:txBody>
      </p:sp>
      <p:sp>
        <p:nvSpPr>
          <p:cNvPr id="3" name="TextBox 2"/>
          <p:cNvSpPr txBox="1"/>
          <p:nvPr/>
        </p:nvSpPr>
        <p:spPr>
          <a:xfrm>
            <a:off x="566928" y="1920240"/>
            <a:ext cx="10058400" cy="2194560"/>
          </a:xfrm>
          <a:prstGeom prst="rect">
            <a:avLst/>
          </a:prstGeom>
          <a:noFill/>
        </p:spPr>
        <p:txBody>
          <a:bodyPr wrap="square" lIns="0" rIns="0" tIns="0" bIns="0" anchor="t">
            <a:spAutoFit/>
          </a:bodyPr>
          <a:lstStyle/>
          <a:p>
            <a:pPr algn="l">
              <a:lnSpc>
                <a:spcPct val="118000"/>
              </a:lnSpc>
              <a:spcAft>
                <a:spcPts val="600"/>
              </a:spcAft>
            </a:pPr>
            <a:r>
              <a:rPr sz="3000" b="0" i="0">
                <a:solidFill>
                  <a:srgbClr val="FFFFFF"/>
                </a:solidFill>
                <a:latin typeface="Cambria"/>
              </a:rPr>
              <a:t>The estimator is a random forest over a fingerprint and twelve descriptors. None of the components is new.</a:t>
            </a:r>
          </a:p>
        </p:txBody>
      </p:sp>
      <p:sp>
        <p:nvSpPr>
          <p:cNvPr id="4" name="TextBox 3"/>
          <p:cNvSpPr txBox="1"/>
          <p:nvPr/>
        </p:nvSpPr>
        <p:spPr>
          <a:xfrm>
            <a:off x="566928" y="3840480"/>
            <a:ext cx="10058400" cy="2011680"/>
          </a:xfrm>
          <a:prstGeom prst="rect">
            <a:avLst/>
          </a:prstGeom>
          <a:noFill/>
        </p:spPr>
        <p:txBody>
          <a:bodyPr wrap="square" lIns="0" rIns="0" tIns="0" bIns="0" anchor="t">
            <a:spAutoFit/>
          </a:bodyPr>
          <a:lstStyle/>
          <a:p>
            <a:pPr algn="l">
              <a:lnSpc>
                <a:spcPct val="132000"/>
              </a:lnSpc>
              <a:spcAft>
                <a:spcPts val="600"/>
              </a:spcAft>
            </a:pPr>
            <a:r>
              <a:rPr sz="1700" b="0" i="0">
                <a:solidFill>
                  <a:srgbClr val="D7DFEA"/>
                </a:solidFill>
                <a:latin typeface="Calibri"/>
              </a:rPr>
              <a:t>What has not been assembled elsewhere is the coupling of a measured-label CNS target panel to a predicted exposure term, with a calibrated probability, a verified coverage statement and a distance-conditioned recall attached to every value, and with the failures reported at the same size as the successes.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How the rest of the thesis is arranged</a:t>
            </a:r>
          </a:p>
        </p:txBody>
      </p:sp>
      <p:sp>
        <p:nvSpPr>
          <p:cNvPr id="4" name="Oval 3"/>
          <p:cNvSpPr/>
          <p:nvPr/>
        </p:nvSpPr>
        <p:spPr>
          <a:xfrm>
            <a:off x="566928" y="1645920"/>
            <a:ext cx="347472" cy="34747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5" name="TextBox 4"/>
          <p:cNvSpPr txBox="1"/>
          <p:nvPr/>
        </p:nvSpPr>
        <p:spPr>
          <a:xfrm>
            <a:off x="1078992" y="1572768"/>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Data</a:t>
            </a:r>
          </a:p>
        </p:txBody>
      </p:sp>
      <p:sp>
        <p:nvSpPr>
          <p:cNvPr id="6" name="TextBox 5"/>
          <p:cNvSpPr txBox="1"/>
          <p:nvPr/>
        </p:nvSpPr>
        <p:spPr>
          <a:xfrm>
            <a:off x="1078992" y="1920240"/>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Sources, censored-bound recovery, deduplication, per-endpoint sizes</a:t>
            </a:r>
          </a:p>
        </p:txBody>
      </p:sp>
      <p:sp>
        <p:nvSpPr>
          <p:cNvPr id="7" name="Oval 6"/>
          <p:cNvSpPr/>
          <p:nvPr/>
        </p:nvSpPr>
        <p:spPr>
          <a:xfrm>
            <a:off x="6278727" y="1645920"/>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8" name="TextBox 7"/>
          <p:cNvSpPr txBox="1"/>
          <p:nvPr/>
        </p:nvSpPr>
        <p:spPr>
          <a:xfrm>
            <a:off x="6790791" y="1572768"/>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Representation and models</a:t>
            </a:r>
          </a:p>
        </p:txBody>
      </p:sp>
      <p:sp>
        <p:nvSpPr>
          <p:cNvPr id="9" name="TextBox 8"/>
          <p:cNvSpPr txBox="1"/>
          <p:nvPr/>
        </p:nvSpPr>
        <p:spPr>
          <a:xfrm>
            <a:off x="6790791" y="1920240"/>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The featuriser, why a forest, the five-family comparison</a:t>
            </a:r>
          </a:p>
        </p:txBody>
      </p:sp>
      <p:sp>
        <p:nvSpPr>
          <p:cNvPr id="10" name="Oval 9"/>
          <p:cNvSpPr/>
          <p:nvPr/>
        </p:nvSpPr>
        <p:spPr>
          <a:xfrm>
            <a:off x="566928" y="2542032"/>
            <a:ext cx="347472" cy="34747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1" name="TextBox 10"/>
          <p:cNvSpPr txBox="1"/>
          <p:nvPr/>
        </p:nvSpPr>
        <p:spPr>
          <a:xfrm>
            <a:off x="1078992" y="2468880"/>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Uncertainty</a:t>
            </a:r>
          </a:p>
        </p:txBody>
      </p:sp>
      <p:sp>
        <p:nvSpPr>
          <p:cNvPr id="12" name="TextBox 11"/>
          <p:cNvSpPr txBox="1"/>
          <p:nvPr/>
        </p:nvSpPr>
        <p:spPr>
          <a:xfrm>
            <a:off x="1078992" y="2816352"/>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Calibration, conformal prediction, the applicability domain</a:t>
            </a:r>
          </a:p>
        </p:txBody>
      </p:sp>
      <p:sp>
        <p:nvSpPr>
          <p:cNvPr id="13" name="Oval 12"/>
          <p:cNvSpPr/>
          <p:nvPr/>
        </p:nvSpPr>
        <p:spPr>
          <a:xfrm>
            <a:off x="6278727" y="2542032"/>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4" name="TextBox 13"/>
          <p:cNvSpPr txBox="1"/>
          <p:nvPr/>
        </p:nvSpPr>
        <p:spPr>
          <a:xfrm>
            <a:off x="6790791" y="2468880"/>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Thresholds</a:t>
            </a:r>
          </a:p>
        </p:txBody>
      </p:sp>
      <p:sp>
        <p:nvSpPr>
          <p:cNvPr id="15" name="TextBox 14"/>
          <p:cNvSpPr txBox="1"/>
          <p:nvPr/>
        </p:nvSpPr>
        <p:spPr>
          <a:xfrm>
            <a:off x="6790791" y="2816352"/>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The three disjoint background pools</a:t>
            </a:r>
          </a:p>
        </p:txBody>
      </p:sp>
      <p:sp>
        <p:nvSpPr>
          <p:cNvPr id="16" name="Oval 15"/>
          <p:cNvSpPr/>
          <p:nvPr/>
        </p:nvSpPr>
        <p:spPr>
          <a:xfrm>
            <a:off x="566928" y="3438144"/>
            <a:ext cx="347472" cy="34747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17" name="TextBox 16"/>
          <p:cNvSpPr txBox="1"/>
          <p:nvPr/>
        </p:nvSpPr>
        <p:spPr>
          <a:xfrm>
            <a:off x="1078992" y="3364991"/>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The binder panel</a:t>
            </a:r>
          </a:p>
        </p:txBody>
      </p:sp>
      <p:sp>
        <p:nvSpPr>
          <p:cNvPr id="18" name="TextBox 17"/>
          <p:cNvSpPr txBox="1"/>
          <p:nvPr/>
        </p:nvSpPr>
        <p:spPr>
          <a:xfrm>
            <a:off x="1078992" y="3712463"/>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Validation against measured inactives</a:t>
            </a:r>
          </a:p>
        </p:txBody>
      </p:sp>
      <p:sp>
        <p:nvSpPr>
          <p:cNvPr id="19" name="Oval 18"/>
          <p:cNvSpPr/>
          <p:nvPr/>
        </p:nvSpPr>
        <p:spPr>
          <a:xfrm>
            <a:off x="6278727" y="3438144"/>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20" name="TextBox 19"/>
          <p:cNvSpPr txBox="1"/>
          <p:nvPr/>
        </p:nvSpPr>
        <p:spPr>
          <a:xfrm>
            <a:off x="6790791" y="3364991"/>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Exposure gating</a:t>
            </a:r>
          </a:p>
        </p:txBody>
      </p:sp>
      <p:sp>
        <p:nvSpPr>
          <p:cNvPr id="21" name="TextBox 20"/>
          <p:cNvSpPr txBox="1"/>
          <p:nvPr/>
        </p:nvSpPr>
        <p:spPr>
          <a:xfrm>
            <a:off x="6790791" y="3712463"/>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The gate and the pathway graph</a:t>
            </a:r>
          </a:p>
        </p:txBody>
      </p:sp>
      <p:sp>
        <p:nvSpPr>
          <p:cNvPr id="22" name="Oval 21"/>
          <p:cNvSpPr/>
          <p:nvPr/>
        </p:nvSpPr>
        <p:spPr>
          <a:xfrm>
            <a:off x="566928" y="4334256"/>
            <a:ext cx="347472" cy="34747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23" name="TextBox 22"/>
          <p:cNvSpPr txBox="1"/>
          <p:nvPr/>
        </p:nvSpPr>
        <p:spPr>
          <a:xfrm>
            <a:off x="1078992" y="4261104"/>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Validation</a:t>
            </a:r>
          </a:p>
        </p:txBody>
      </p:sp>
      <p:sp>
        <p:nvSpPr>
          <p:cNvPr id="24" name="TextBox 23"/>
          <p:cNvSpPr txBox="1"/>
          <p:nvPr/>
        </p:nvSpPr>
        <p:spPr>
          <a:xfrm>
            <a:off x="1078992" y="4608576"/>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External, prospective across 39 of 47 endpoints, and the composition finding</a:t>
            </a:r>
          </a:p>
        </p:txBody>
      </p:sp>
      <p:sp>
        <p:nvSpPr>
          <p:cNvPr id="25" name="Oval 24"/>
          <p:cNvSpPr/>
          <p:nvPr/>
        </p:nvSpPr>
        <p:spPr>
          <a:xfrm>
            <a:off x="6278727" y="4334256"/>
            <a:ext cx="347472" cy="34747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26" name="TextBox 25"/>
          <p:cNvSpPr txBox="1"/>
          <p:nvPr/>
        </p:nvSpPr>
        <p:spPr>
          <a:xfrm>
            <a:off x="6790791" y="4261104"/>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Falsification</a:t>
            </a:r>
          </a:p>
        </p:txBody>
      </p:sp>
      <p:sp>
        <p:nvSpPr>
          <p:cNvPr id="27" name="TextBox 26"/>
          <p:cNvSpPr txBox="1"/>
          <p:nvPr/>
        </p:nvSpPr>
        <p:spPr>
          <a:xfrm>
            <a:off x="6790791" y="4608576"/>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10 hypotheses, 4 refuted</a:t>
            </a:r>
          </a:p>
        </p:txBody>
      </p:sp>
      <p:sp>
        <p:nvSpPr>
          <p:cNvPr id="28" name="Oval 27"/>
          <p:cNvSpPr/>
          <p:nvPr/>
        </p:nvSpPr>
        <p:spPr>
          <a:xfrm>
            <a:off x="566928" y="5230368"/>
            <a:ext cx="347472" cy="347472"/>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10</a:t>
            </a:r>
          </a:p>
        </p:txBody>
      </p:sp>
      <p:sp>
        <p:nvSpPr>
          <p:cNvPr id="29" name="TextBox 28"/>
          <p:cNvSpPr txBox="1"/>
          <p:nvPr/>
        </p:nvSpPr>
        <p:spPr>
          <a:xfrm>
            <a:off x="1078992" y="5157216"/>
            <a:ext cx="4797399" cy="320040"/>
          </a:xfrm>
          <a:prstGeom prst="rect">
            <a:avLst/>
          </a:prstGeom>
          <a:noFill/>
        </p:spPr>
        <p:txBody>
          <a:bodyPr wrap="square" lIns="0" rIns="0" tIns="0" bIns="0" anchor="t">
            <a:spAutoFit/>
          </a:bodyPr>
          <a:lstStyle/>
          <a:p>
            <a:pPr algn="l">
              <a:spcAft>
                <a:spcPts val="600"/>
              </a:spcAft>
            </a:pPr>
            <a:r>
              <a:rPr sz="1500" b="1" i="0">
                <a:solidFill>
                  <a:srgbClr val="0F1A2E"/>
                </a:solidFill>
                <a:latin typeface="Cambria"/>
              </a:rPr>
              <a:t>Limitations</a:t>
            </a:r>
          </a:p>
        </p:txBody>
      </p:sp>
      <p:sp>
        <p:nvSpPr>
          <p:cNvPr id="30" name="TextBox 29"/>
          <p:cNvSpPr txBox="1"/>
          <p:nvPr/>
        </p:nvSpPr>
        <p:spPr>
          <a:xfrm>
            <a:off x="1078992" y="5504688"/>
            <a:ext cx="4797399" cy="457200"/>
          </a:xfrm>
          <a:prstGeom prst="rect">
            <a:avLst/>
          </a:prstGeom>
          <a:noFill/>
        </p:spPr>
        <p:txBody>
          <a:bodyPr wrap="square" lIns="0" rIns="0" tIns="0" bIns="0" anchor="t">
            <a:spAutoFit/>
          </a:bodyPr>
          <a:lstStyle/>
          <a:p>
            <a:pPr algn="l">
              <a:lnSpc>
                <a:spcPct val="120000"/>
              </a:lnSpc>
              <a:spcAft>
                <a:spcPts val="600"/>
              </a:spcAft>
            </a:pPr>
            <a:r>
              <a:rPr sz="1200" b="0" i="0">
                <a:solidFill>
                  <a:srgbClr val="5F6B7A"/>
                </a:solidFill>
                <a:latin typeface="Calibri"/>
              </a:rPr>
              <a:t>And the work that follows from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Backup: where every number comes from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Nothing in this deck was typed by hand; the generator reads each value at build time</a:t>
            </a:r>
          </a:p>
        </p:txBody>
      </p:sp>
      <p:sp>
        <p:nvSpPr>
          <p:cNvPr id="5" name="Rounded Rectangle 4"/>
          <p:cNvSpPr/>
          <p:nvPr/>
        </p:nvSpPr>
        <p:spPr>
          <a:xfrm>
            <a:off x="566928" y="1572768"/>
            <a:ext cx="11057839" cy="42062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627632"/>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Panel shape, deployed count, targets</a:t>
            </a:r>
          </a:p>
        </p:txBody>
      </p:sp>
      <p:sp>
        <p:nvSpPr>
          <p:cNvPr id="7" name="TextBox 6"/>
          <p:cNvSpPr txBox="1"/>
          <p:nvPr/>
        </p:nvSpPr>
        <p:spPr>
          <a:xfrm>
            <a:off x="5916168" y="1627632"/>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submission_package/07_MODELS/model_inventory.csv</a:t>
            </a:r>
          </a:p>
        </p:txBody>
      </p:sp>
      <p:sp>
        <p:nvSpPr>
          <p:cNvPr id="8" name="TextBox 7"/>
          <p:cNvSpPr txBox="1"/>
          <p:nvPr/>
        </p:nvSpPr>
        <p:spPr>
          <a:xfrm>
            <a:off x="822960" y="2048256"/>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Binder AUROC and sensitivity, withdrawals</a:t>
            </a:r>
          </a:p>
        </p:txBody>
      </p:sp>
      <p:sp>
        <p:nvSpPr>
          <p:cNvPr id="9" name="TextBox 8"/>
          <p:cNvSpPr txBox="1"/>
          <p:nvPr/>
        </p:nvSpPr>
        <p:spPr>
          <a:xfrm>
            <a:off x="5916168" y="2048256"/>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submission_package/07_MODELS/binder_panel_registry.json</a:t>
            </a:r>
          </a:p>
        </p:txBody>
      </p:sp>
      <p:sp>
        <p:nvSpPr>
          <p:cNvPr id="10" name="Rounded Rectangle 9"/>
          <p:cNvSpPr/>
          <p:nvPr/>
        </p:nvSpPr>
        <p:spPr>
          <a:xfrm>
            <a:off x="566928" y="2414016"/>
            <a:ext cx="11057839" cy="42062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468880"/>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Record count, per-endpoint sizes, censored recovery</a:t>
            </a:r>
          </a:p>
        </p:txBody>
      </p:sp>
      <p:sp>
        <p:nvSpPr>
          <p:cNvPr id="12" name="TextBox 11"/>
          <p:cNvSpPr txBox="1"/>
          <p:nvPr/>
        </p:nvSpPr>
        <p:spPr>
          <a:xfrm>
            <a:off x="5916168" y="2468880"/>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submission_package/06_TRAINING_DATA/endpoints/</a:t>
            </a:r>
          </a:p>
        </p:txBody>
      </p:sp>
      <p:sp>
        <p:nvSpPr>
          <p:cNvPr id="13" name="TextBox 12"/>
          <p:cNvSpPr txBox="1"/>
          <p:nvPr/>
        </p:nvSpPr>
        <p:spPr>
          <a:xfrm>
            <a:off x="822960" y="2889504"/>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Cross-validation, both split regimes</a:t>
            </a:r>
          </a:p>
        </p:txBody>
      </p:sp>
      <p:sp>
        <p:nvSpPr>
          <p:cNvPr id="14" name="TextBox 13"/>
          <p:cNvSpPr txBox="1"/>
          <p:nvPr/>
        </p:nvSpPr>
        <p:spPr>
          <a:xfrm>
            <a:off x="5916168" y="2889504"/>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results/tables/rf_cv_summary.csv</a:t>
            </a:r>
          </a:p>
        </p:txBody>
      </p:sp>
      <p:sp>
        <p:nvSpPr>
          <p:cNvPr id="15" name="Rounded Rectangle 14"/>
          <p:cNvSpPr/>
          <p:nvPr/>
        </p:nvSpPr>
        <p:spPr>
          <a:xfrm>
            <a:off x="566928" y="3255264"/>
            <a:ext cx="11057839" cy="42062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3310128"/>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Calibration and conformal coverage</a:t>
            </a:r>
          </a:p>
        </p:txBody>
      </p:sp>
      <p:sp>
        <p:nvSpPr>
          <p:cNvPr id="17" name="TextBox 16"/>
          <p:cNvSpPr txBox="1"/>
          <p:nvPr/>
        </p:nvSpPr>
        <p:spPr>
          <a:xfrm>
            <a:off x="5916168" y="3310128"/>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results/tables/calibration.csv, rf_conformal.csv</a:t>
            </a:r>
          </a:p>
        </p:txBody>
      </p:sp>
      <p:sp>
        <p:nvSpPr>
          <p:cNvPr id="18" name="TextBox 17"/>
          <p:cNvSpPr txBox="1"/>
          <p:nvPr/>
        </p:nvSpPr>
        <p:spPr>
          <a:xfrm>
            <a:off x="822960" y="3730752"/>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Exposure layer R²</a:t>
            </a:r>
          </a:p>
        </p:txBody>
      </p:sp>
      <p:sp>
        <p:nvSpPr>
          <p:cNvPr id="19" name="TextBox 18"/>
          <p:cNvSpPr txBox="1"/>
          <p:nvPr/>
        </p:nvSpPr>
        <p:spPr>
          <a:xfrm>
            <a:off x="5916168" y="3730752"/>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results/tables/adme_cv_summary.csv</a:t>
            </a:r>
          </a:p>
        </p:txBody>
      </p:sp>
      <p:sp>
        <p:nvSpPr>
          <p:cNvPr id="20" name="Rounded Rectangle 19"/>
          <p:cNvSpPr/>
          <p:nvPr/>
        </p:nvSpPr>
        <p:spPr>
          <a:xfrm>
            <a:off x="566928" y="4096512"/>
            <a:ext cx="11057839" cy="42062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60" y="4151376"/>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Recall against chemical distance</a:t>
            </a:r>
          </a:p>
        </p:txBody>
      </p:sp>
      <p:sp>
        <p:nvSpPr>
          <p:cNvPr id="22" name="TextBox 21"/>
          <p:cNvSpPr txBox="1"/>
          <p:nvPr/>
        </p:nvSpPr>
        <p:spPr>
          <a:xfrm>
            <a:off x="5916168" y="4151376"/>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results/tables/external_novelty_strata.csv</a:t>
            </a:r>
          </a:p>
        </p:txBody>
      </p:sp>
      <p:sp>
        <p:nvSpPr>
          <p:cNvPr id="23" name="TextBox 22"/>
          <p:cNvSpPr txBox="1"/>
          <p:nvPr/>
        </p:nvSpPr>
        <p:spPr>
          <a:xfrm>
            <a:off x="822960" y="4572000"/>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Specificity and its interval</a:t>
            </a:r>
          </a:p>
        </p:txBody>
      </p:sp>
      <p:sp>
        <p:nvSpPr>
          <p:cNvPr id="24" name="TextBox 23"/>
          <p:cNvSpPr txBox="1"/>
          <p:nvPr/>
        </p:nvSpPr>
        <p:spPr>
          <a:xfrm>
            <a:off x="5916168" y="4572000"/>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results/tables/noncns_specificity_summary.csv</a:t>
            </a:r>
          </a:p>
        </p:txBody>
      </p:sp>
      <p:sp>
        <p:nvSpPr>
          <p:cNvPr id="25" name="Rounded Rectangle 24"/>
          <p:cNvSpPr/>
          <p:nvPr/>
        </p:nvSpPr>
        <p:spPr>
          <a:xfrm>
            <a:off x="566928" y="4937760"/>
            <a:ext cx="11057839" cy="42062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2960" y="4992624"/>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Falsification verdicts and each hypothesis</a:t>
            </a:r>
          </a:p>
        </p:txBody>
      </p:sp>
      <p:sp>
        <p:nvSpPr>
          <p:cNvPr id="27" name="TextBox 26"/>
          <p:cNvSpPr txBox="1"/>
          <p:nvPr/>
        </p:nvSpPr>
        <p:spPr>
          <a:xfrm>
            <a:off x="5916168" y="4992624"/>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inversion/results/VERDICTS.csv and H1-H9 tables</a:t>
            </a:r>
          </a:p>
        </p:txBody>
      </p:sp>
      <p:sp>
        <p:nvSpPr>
          <p:cNvPr id="28" name="TextBox 27"/>
          <p:cNvSpPr txBox="1"/>
          <p:nvPr/>
        </p:nvSpPr>
        <p:spPr>
          <a:xfrm>
            <a:off x="822960" y="5413248"/>
            <a:ext cx="484632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Pathway graph shape</a:t>
            </a:r>
          </a:p>
        </p:txBody>
      </p:sp>
      <p:sp>
        <p:nvSpPr>
          <p:cNvPr id="29" name="TextBox 28"/>
          <p:cNvSpPr txBox="1"/>
          <p:nvPr/>
        </p:nvSpPr>
        <p:spPr>
          <a:xfrm>
            <a:off x="5916168" y="5413248"/>
            <a:ext cx="5479999" cy="310896"/>
          </a:xfrm>
          <a:prstGeom prst="rect">
            <a:avLst/>
          </a:prstGeom>
          <a:noFill/>
        </p:spPr>
        <p:txBody>
          <a:bodyPr wrap="square" lIns="0" rIns="0" tIns="0" bIns="0" anchor="t">
            <a:spAutoFit/>
          </a:bodyPr>
          <a:lstStyle/>
          <a:p>
            <a:pPr algn="l">
              <a:spcAft>
                <a:spcPts val="600"/>
              </a:spcAft>
            </a:pPr>
            <a:r>
              <a:rPr sz="1200" b="0" i="0">
                <a:solidFill>
                  <a:srgbClr val="1C7293"/>
                </a:solidFill>
                <a:latin typeface="Consolas"/>
              </a:rPr>
              <a:t>app.py, KNOWLEDGE_GRAPH read directly</a:t>
            </a:r>
          </a:p>
        </p:txBody>
      </p:sp>
      <p:sp>
        <p:nvSpPr>
          <p:cNvPr id="30" name="TextBox 29"/>
          <p:cNvSpPr txBox="1"/>
          <p:nvPr/>
        </p:nvSpPr>
        <p:spPr>
          <a:xfrm>
            <a:off x="566928" y="5989320"/>
            <a:ext cx="11057839" cy="457200"/>
          </a:xfrm>
          <a:prstGeom prst="rect">
            <a:avLst/>
          </a:prstGeom>
          <a:noFill/>
        </p:spPr>
        <p:txBody>
          <a:bodyPr wrap="square" lIns="0" rIns="0" tIns="0" bIns="0" anchor="t">
            <a:spAutoFit/>
          </a:bodyPr>
          <a:lstStyle/>
          <a:p>
            <a:pPr algn="l">
              <a:spcAft>
                <a:spcPts val="600"/>
              </a:spcAft>
            </a:pPr>
            <a:r>
              <a:rPr sz="1200" b="0" i="0">
                <a:solidFill>
                  <a:srgbClr val="5F6B7A"/>
                </a:solidFill>
                <a:latin typeface="Consolas"/>
              </a:rPr>
              <a:t>Rebuild:  brainsafe_env/Scripts/python.exe thesis/presentations/build_chapter01_defence.py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