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idea in the deck. The training data is a convenience sample, not a random sample: it is what chemists chose to publish. That is why a random cross-validation split flatters the model and why the scaffold split is the honest one. Everything else follows from this.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because the featuriser docstring once claimed the encoding was collision-free by construction. That was the reverse of the truth. An external audit measured it and the claim was corrected. If asked whether collisions invalidate the results: no, they add noise rather than bias, because the mapping is consistent. What they invalidate is per-bit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saying what the deck is for: this is the machine-learning side from first principles, not a results talk. Every number is read from an artefact at build time, so if a figure here disagrees with a paper, the artefact is right and the paper needs fixing.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come from this table. Why is BACE1 so easy? Because it is 86.5 per cent positive, so the base rate does much of the work, which is exactly why enrichment over the base rate is reported rather than the raw probability. And why does regression degrade more than classification? Because predicting a potency value is harder than predicting a side of a threshold.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that one representation is used everywhere. If asked why not a different fingerprint per endpoint: because then a comparison between endpoints, or between algorithms, would be confounded by representation and would mean nothing.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there is no learning in this step. People often assume the fingerprint is trained. It is a deterministic hashing procedure, fixed before any model sees the data. That is why it can be computed once and reused by every endpoint.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grey zone is the point to dwell on. Throwing away data feels wrong to most audiences. The argument is that a label you do not believe is worse than no label, because the model will learn the boundary you asserted rather than the one the assay supports.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not deduplicate on InChIKey: because the InChIKey distinguishes stereoisomers and salts while the model does not, so it would leave the duplicates in place. The right level is the one at which the rows are indistinguishable to the estimator. Mention that an audit found this guard missing from the conformal analysis, and that fixing it made the reported uncertainty worse, which is the correct direction.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likely challenge is that not doing feature selection is lazy. The answer is that it is conservative: selection done on the full dataset leaks test labels, and doing it correctly requires nesting inside every fold. Volunteer the descriptor result before it is extracted: they were retained, not validated.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scaling point is the one worth landing. Trees are invariant to monotone rescaling, so scaling is a no-op for them and a correctness requirement for logistic regression. That is why one family is wrapped in a StandardScaler and the others are not; it is not an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Tanimoto appears in four roles and audiences conflate them. The applicability domain and the leakage checks use 2,048 bits while the models use 1,024, and that is deliberate: a wider fingerprint collides less and so measures chemistry more sharply, and it never feeds an estimator.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300 trees: because the variance reduction has plateaued by then, and more trees cost time without changing the answer. If asked why min_samples_leaf 2: a leaf holding one compound is memorisation, and this is the cheapest structural guard against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the arithmetic aloud. It makes the abstraction concrete and it pre-empts the question of whether class imbalance was handled. Then make the fairness point: the audit found HistGradientBoosting was the only unweighted ensemble, which biased the comparison against it, and it was corrected.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contrast to draw is parallel versus sequential. A forest averages many independent low-bias high-variance trees; boosting adds many shallow high-bias trees in sequence. They attack the bias-variance trade-off from opposite ends, which is why comparing them on identical folds is informative.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baselines are what make the whole comparison credible. If a fitted model cannot beat a five-nearest-neighbour similarity search, it has learned nothing a chemist could not do by eye. The negative R-squared for logistic regression is worth pausing on: it means worse than predicting the mean.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sum aggregation matters if the audience is technical: mean and max pooling cannot distinguish certain graph structures, sum can, and that is the Weisfeiler-Lehman result GIN is built on. If the audience is not technical, the message is simply that the network learns its own features instead of being handed fixed ones.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apologise for this result. State it as expected at this data scale and give the reason: graph networks need far more data per endpoint before a learned representation beats a good fixed one. Then volunteer the qualification about the single hold-out before anyone asks, because being the one to raise it is much stronger than conceding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answers the question most likely to be asked. The four comparison families are genuinely like-for-like; the graph network is not, and saying so unprompted is the whole point. Finish on the significance result: the forest is deployed for its calibration behaviour, not because it is more accurate.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challenged that GroupKFold is deterministic and therefore fragile, give the number: ten shuffled partitions move BBB by 0.0029 in total. The concern is reasonable and it was checked and refuted.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slide for credibility. Give both halves in one breath: no optimality claim is available, and an untuned XGBoost beats us on all five regression endpoints, but there was no tuning set so there can be no tuning-set leakage. Say it first rather than conceding it under questioning.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property is monotonicity. Because isotonic regression is non-decreasing, calibration cannot reorder compounds, so AUROC is untouched and only the meaning of the number changes. People frequently assume calibration improves discrimination.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a concrete example: a base rate of 24 per cent means a probability of 0.5 is roughly double the prior and is real evidence; a base rate of 86 per cent means 0.5 is well below the prior and is evidence of inactivity. The same number, opposite meanings.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empty set is the part audiences find strange. A set of size zero is not a failure, it is the method saying no class is plausible, which is a useful signal that the compound is anomalous. BACE1's mean set size below 1.0 is the proof that empty sets occur, and it is why reading the excess over 1.0 as ambiguity is invalid.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circularity point is the one that matters scientifically. An earlier prototype learned the disease layer and an ablation showed it was reading the answer out of its own features. Making the layer a fixed, externally verified graph is what makes the disease results non-circular, and it is a deliberate design decision rather than a shortcut.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recap and as the answer sheet. If one line is worth repeating, it is that nothing was tuned, and that this is a strength as well as a limitation.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2103120"/>
            <a:ext cx="11057839" cy="1188720"/>
          </a:xfrm>
          <a:prstGeom prst="rect">
            <a:avLst/>
          </a:prstGeom>
          <a:noFill/>
        </p:spPr>
        <p:txBody>
          <a:bodyPr wrap="square" lIns="0" rIns="0" tIns="0" bIns="0" anchor="t">
            <a:spAutoFit/>
          </a:bodyPr>
          <a:lstStyle/>
          <a:p>
            <a:pPr algn="l">
              <a:spcAft>
                <a:spcPts val="600"/>
              </a:spcAft>
            </a:pPr>
            <a:r>
              <a:rPr sz="4800" b="1" i="0">
                <a:solidFill>
                  <a:srgbClr val="FFFFFF"/>
                </a:solidFill>
                <a:latin typeface="Cambria"/>
              </a:rPr>
              <a:t>The mathematics and computation</a:t>
            </a:r>
          </a:p>
        </p:txBody>
      </p:sp>
      <p:sp>
        <p:nvSpPr>
          <p:cNvPr id="3" name="TextBox 2"/>
          <p:cNvSpPr txBox="1"/>
          <p:nvPr/>
        </p:nvSpPr>
        <p:spPr>
          <a:xfrm>
            <a:off x="566928" y="3154680"/>
            <a:ext cx="11057839" cy="640080"/>
          </a:xfrm>
          <a:prstGeom prst="rect">
            <a:avLst/>
          </a:prstGeom>
          <a:noFill/>
        </p:spPr>
        <p:txBody>
          <a:bodyPr wrap="square" lIns="0" rIns="0" tIns="0" bIns="0" anchor="t">
            <a:spAutoFit/>
          </a:bodyPr>
          <a:lstStyle/>
          <a:p>
            <a:pPr algn="l">
              <a:spcAft>
                <a:spcPts val="600"/>
              </a:spcAft>
            </a:pPr>
            <a:r>
              <a:rPr sz="2200" b="0" i="0">
                <a:solidFill>
                  <a:srgbClr val="D7DFEA"/>
                </a:solidFill>
                <a:latin typeface="Cambria"/>
              </a:rPr>
              <a:t>Features, labels, algorithms and probability, from first principles</a:t>
            </a:r>
          </a:p>
        </p:txBody>
      </p:sp>
      <p:sp>
        <p:nvSpPr>
          <p:cNvPr id="4" name="TextBox 3"/>
          <p:cNvSpPr txBox="1"/>
          <p:nvPr/>
        </p:nvSpPr>
        <p:spPr>
          <a:xfrm>
            <a:off x="566928" y="4160520"/>
            <a:ext cx="11057839" cy="457200"/>
          </a:xfrm>
          <a:prstGeom prst="rect">
            <a:avLst/>
          </a:prstGeom>
          <a:noFill/>
        </p:spPr>
        <p:txBody>
          <a:bodyPr wrap="square" lIns="0" rIns="0" tIns="0" bIns="0" anchor="t">
            <a:spAutoFit/>
          </a:bodyPr>
          <a:lstStyle/>
          <a:p>
            <a:pPr algn="l">
              <a:spcAft>
                <a:spcPts val="600"/>
              </a:spcAft>
            </a:pPr>
            <a:r>
              <a:rPr sz="1500" b="0" i="0">
                <a:solidFill>
                  <a:srgbClr val="1C7293"/>
                </a:solidFill>
                <a:latin typeface="Calibri"/>
              </a:rPr>
              <a:t>170,619 distinct structures   |   1,036 features   |   52 endpoints, 47 deployed   |   no hyperparameter search</a:t>
            </a:r>
          </a:p>
        </p:txBody>
      </p:sp>
      <p:sp>
        <p:nvSpPr>
          <p:cNvPr id="5" name="TextBox 4"/>
          <p:cNvSpPr txBox="1"/>
          <p:nvPr/>
        </p:nvSpPr>
        <p:spPr>
          <a:xfrm>
            <a:off x="566928" y="5897880"/>
            <a:ext cx="11057839" cy="365760"/>
          </a:xfrm>
          <a:prstGeom prst="rect">
            <a:avLst/>
          </a:prstGeom>
          <a:noFill/>
        </p:spPr>
        <p:txBody>
          <a:bodyPr wrap="square" lIns="0" rIns="0" tIns="0" bIns="0" anchor="t">
            <a:spAutoFit/>
          </a:bodyPr>
          <a:lstStyle/>
          <a:p>
            <a:pPr algn="l">
              <a:spcAft>
                <a:spcPts val="600"/>
              </a:spcAft>
            </a:pPr>
            <a:r>
              <a:rPr sz="1200" b="0" i="1">
                <a:solidFill>
                  <a:srgbClr val="5F6B7A"/>
                </a:solidFill>
                <a:latin typeface="Calibri"/>
              </a:rPr>
              <a:t>Every number on every slide is read from an artefact at build 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one sample is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unit of observation is not a molecule; it is a molecule measured against an endpoint</a:t>
            </a:r>
          </a:p>
        </p:txBody>
      </p:sp>
      <p:sp>
        <p:nvSpPr>
          <p:cNvPr id="5" name="Rounded Rectangle 4"/>
          <p:cNvSpPr/>
          <p:nvPr/>
        </p:nvSpPr>
        <p:spPr>
          <a:xfrm>
            <a:off x="566928" y="1600200"/>
            <a:ext cx="11057839" cy="9601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41247" y="1783080"/>
            <a:ext cx="10509199" cy="640080"/>
          </a:xfrm>
          <a:prstGeom prst="rect">
            <a:avLst/>
          </a:prstGeom>
          <a:noFill/>
        </p:spPr>
        <p:txBody>
          <a:bodyPr wrap="square" lIns="0" rIns="0" tIns="0" bIns="0" anchor="t">
            <a:spAutoFit/>
          </a:bodyPr>
          <a:lstStyle/>
          <a:p>
            <a:pPr algn="ctr">
              <a:spcAft>
                <a:spcPts val="600"/>
              </a:spcAft>
            </a:pPr>
            <a:r>
              <a:rPr sz="2400" b="1" i="0">
                <a:solidFill>
                  <a:srgbClr val="1F3A5F"/>
                </a:solidFill>
                <a:latin typeface="Cambria"/>
              </a:rPr>
              <a:t>fₜ : Ω → 𝒴ₜ        Ω = small drug-like molecules,   𝒴ₜ = {0,1} or ℝ</a:t>
            </a:r>
          </a:p>
        </p:txBody>
      </p:sp>
      <p:sp>
        <p:nvSpPr>
          <p:cNvPr id="7" name="TextBox 6"/>
          <p:cNvSpPr txBox="1"/>
          <p:nvPr/>
        </p:nvSpPr>
        <p:spPr>
          <a:xfrm>
            <a:off x="566928" y="2834640"/>
            <a:ext cx="11057839" cy="3291840"/>
          </a:xfrm>
          <a:prstGeom prst="rect">
            <a:avLst/>
          </a:prstGeom>
          <a:noFill/>
        </p:spPr>
        <p:txBody>
          <a:bodyPr wrap="square" lIns="0" rIns="0" tIns="0" bIns="0" anchor="t">
            <a:spAutoFit/>
          </a:bodyPr>
          <a:lstStyle/>
          <a:p>
            <a:pPr algn="l">
              <a:lnSpc>
                <a:spcPct val="122000"/>
              </a:lnSpc>
              <a:spcAft>
                <a:spcPts val="900"/>
              </a:spcAft>
            </a:pPr>
            <a:r>
              <a:rPr sz="1500" b="0" i="0">
                <a:solidFill>
                  <a:srgbClr val="0F1A2E"/>
                </a:solidFill>
                <a:latin typeface="Calibri"/>
              </a:rPr>
              <a:t>•   We never observe fₜ. We observe a finite sample of noisy laboratory measurements of it.</a:t>
            </a:r>
          </a:p>
          <a:p>
            <a:pPr algn="l">
              <a:lnSpc>
                <a:spcPct val="122000"/>
              </a:lnSpc>
              <a:spcAft>
                <a:spcPts val="900"/>
              </a:spcAft>
            </a:pPr>
            <a:r>
              <a:rPr sz="1500" b="0" i="0">
                <a:solidFill>
                  <a:srgbClr val="D98324"/>
                </a:solidFill>
                <a:latin typeface="Calibri"/>
              </a:rPr>
              <a:t>•   The sample is NOT drawn uniformly from Ω. It is drawn from what medicinal chemists chose to synthesise and publish, which clusters tightly around a few series per target.</a:t>
            </a:r>
          </a:p>
          <a:p>
            <a:pPr algn="l">
              <a:lnSpc>
                <a:spcPct val="122000"/>
              </a:lnSpc>
              <a:spcAft>
                <a:spcPts val="900"/>
              </a:spcAft>
            </a:pPr>
            <a:r>
              <a:rPr sz="1500" b="0" i="0">
                <a:solidFill>
                  <a:srgbClr val="0F1A2E"/>
                </a:solidFill>
                <a:latin typeface="Calibri"/>
              </a:rPr>
              <a:t>•   Every design decision downstream, above all the scaffold split, exists to deal with that non-uniformity.</a:t>
            </a:r>
          </a:p>
          <a:p>
            <a:pPr algn="l">
              <a:lnSpc>
                <a:spcPct val="122000"/>
              </a:lnSpc>
              <a:spcAft>
                <a:spcPts val="900"/>
              </a:spcAft>
            </a:pPr>
            <a:r>
              <a:rPr sz="1500" b="0" i="0">
                <a:solidFill>
                  <a:srgbClr val="0F1A2E"/>
                </a:solidFill>
                <a:latin typeface="Calibri"/>
              </a:rPr>
              <a:t>•   A classification endpoint asks a yes/no question; a regression endpoint asks how much.</a:t>
            </a:r>
          </a:p>
        </p:txBody>
      </p:sp>
      <p:sp>
        <p:nvSpPr>
          <p:cNvPr id="8" name="TextBox 7"/>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src/brainsafe/models/train_rf.py; data/endpoints/*.csv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sample space, endpoint by endpoint</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After deduplication: the rows the models are actually fitted and scored on</a:t>
            </a:r>
          </a:p>
        </p:txBody>
      </p:sp>
      <p:sp>
        <p:nvSpPr>
          <p:cNvPr id="5" name="TextBox 4"/>
          <p:cNvSpPr txBox="1"/>
          <p:nvPr/>
        </p:nvSpPr>
        <p:spPr>
          <a:xfrm>
            <a:off x="566928" y="1645920"/>
            <a:ext cx="1126540" cy="237744"/>
          </a:xfrm>
          <a:prstGeom prst="rect">
            <a:avLst/>
          </a:prstGeom>
          <a:noFill/>
        </p:spPr>
        <p:txBody>
          <a:bodyPr wrap="square" lIns="0" rIns="0" tIns="0" bIns="0" anchor="t">
            <a:spAutoFit/>
          </a:bodyPr>
          <a:lstStyle/>
          <a:p>
            <a:pPr algn="l">
              <a:spcAft>
                <a:spcPts val="600"/>
              </a:spcAft>
            </a:pPr>
            <a:r>
              <a:rPr sz="1150" b="1" i="0">
                <a:solidFill>
                  <a:srgbClr val="1F3A5F"/>
                </a:solidFill>
                <a:latin typeface="Calibri"/>
              </a:rPr>
              <a:t>endpoint</a:t>
            </a:r>
          </a:p>
        </p:txBody>
      </p:sp>
      <p:sp>
        <p:nvSpPr>
          <p:cNvPr id="6" name="TextBox 5"/>
          <p:cNvSpPr txBox="1"/>
          <p:nvPr/>
        </p:nvSpPr>
        <p:spPr>
          <a:xfrm>
            <a:off x="1748332" y="1645920"/>
            <a:ext cx="779068" cy="237744"/>
          </a:xfrm>
          <a:prstGeom prst="rect">
            <a:avLst/>
          </a:prstGeom>
          <a:noFill/>
        </p:spPr>
        <p:txBody>
          <a:bodyPr wrap="square" lIns="0" rIns="0" tIns="0" bIns="0" anchor="t">
            <a:spAutoFit/>
          </a:bodyPr>
          <a:lstStyle/>
          <a:p>
            <a:pPr algn="l">
              <a:spcAft>
                <a:spcPts val="600"/>
              </a:spcAft>
            </a:pPr>
            <a:r>
              <a:rPr sz="1150" b="1" i="0">
                <a:solidFill>
                  <a:srgbClr val="1F3A5F"/>
                </a:solidFill>
                <a:latin typeface="Calibri"/>
              </a:rPr>
              <a:t>n</a:t>
            </a:r>
          </a:p>
        </p:txBody>
      </p:sp>
      <p:sp>
        <p:nvSpPr>
          <p:cNvPr id="7" name="TextBox 6"/>
          <p:cNvSpPr txBox="1"/>
          <p:nvPr/>
        </p:nvSpPr>
        <p:spPr>
          <a:xfrm>
            <a:off x="2582265" y="1645920"/>
            <a:ext cx="709574" cy="237744"/>
          </a:xfrm>
          <a:prstGeom prst="rect">
            <a:avLst/>
          </a:prstGeom>
          <a:noFill/>
        </p:spPr>
        <p:txBody>
          <a:bodyPr wrap="square" lIns="0" rIns="0" tIns="0" bIns="0" anchor="t">
            <a:spAutoFit/>
          </a:bodyPr>
          <a:lstStyle/>
          <a:p>
            <a:pPr algn="l">
              <a:spcAft>
                <a:spcPts val="600"/>
              </a:spcAft>
            </a:pPr>
            <a:r>
              <a:rPr sz="1150" b="1" i="0">
                <a:solidFill>
                  <a:srgbClr val="1F3A5F"/>
                </a:solidFill>
                <a:latin typeface="Calibri"/>
              </a:rPr>
              <a:t>pos</a:t>
            </a:r>
          </a:p>
        </p:txBody>
      </p:sp>
      <p:sp>
        <p:nvSpPr>
          <p:cNvPr id="8" name="TextBox 7"/>
          <p:cNvSpPr txBox="1"/>
          <p:nvPr/>
        </p:nvSpPr>
        <p:spPr>
          <a:xfrm>
            <a:off x="3346703" y="1645920"/>
            <a:ext cx="709574" cy="237744"/>
          </a:xfrm>
          <a:prstGeom prst="rect">
            <a:avLst/>
          </a:prstGeom>
          <a:noFill/>
        </p:spPr>
        <p:txBody>
          <a:bodyPr wrap="square" lIns="0" rIns="0" tIns="0" bIns="0" anchor="t">
            <a:spAutoFit/>
          </a:bodyPr>
          <a:lstStyle/>
          <a:p>
            <a:pPr algn="l">
              <a:spcAft>
                <a:spcPts val="600"/>
              </a:spcAft>
            </a:pPr>
            <a:r>
              <a:rPr sz="1150" b="1" i="0">
                <a:solidFill>
                  <a:srgbClr val="1F3A5F"/>
                </a:solidFill>
                <a:latin typeface="Calibri"/>
              </a:rPr>
              <a:t>neg</a:t>
            </a:r>
          </a:p>
        </p:txBody>
      </p:sp>
      <p:sp>
        <p:nvSpPr>
          <p:cNvPr id="9" name="TextBox 8"/>
          <p:cNvSpPr txBox="1"/>
          <p:nvPr/>
        </p:nvSpPr>
        <p:spPr>
          <a:xfrm>
            <a:off x="4111142" y="1645920"/>
            <a:ext cx="848563" cy="237744"/>
          </a:xfrm>
          <a:prstGeom prst="rect">
            <a:avLst/>
          </a:prstGeom>
          <a:noFill/>
        </p:spPr>
        <p:txBody>
          <a:bodyPr wrap="square" lIns="0" rIns="0" tIns="0" bIns="0" anchor="t">
            <a:spAutoFit/>
          </a:bodyPr>
          <a:lstStyle/>
          <a:p>
            <a:pPr algn="l">
              <a:spcAft>
                <a:spcPts val="600"/>
              </a:spcAft>
            </a:pPr>
            <a:r>
              <a:rPr sz="1150" b="1" i="0">
                <a:solidFill>
                  <a:srgbClr val="1F3A5F"/>
                </a:solidFill>
                <a:latin typeface="Calibri"/>
              </a:rPr>
              <a:t>pos rate</a:t>
            </a:r>
          </a:p>
        </p:txBody>
      </p:sp>
      <p:sp>
        <p:nvSpPr>
          <p:cNvPr id="10" name="TextBox 9"/>
          <p:cNvSpPr txBox="1"/>
          <p:nvPr/>
        </p:nvSpPr>
        <p:spPr>
          <a:xfrm>
            <a:off x="5014569" y="1645920"/>
            <a:ext cx="918057" cy="237744"/>
          </a:xfrm>
          <a:prstGeom prst="rect">
            <a:avLst/>
          </a:prstGeom>
          <a:noFill/>
        </p:spPr>
        <p:txBody>
          <a:bodyPr wrap="square" lIns="0" rIns="0" tIns="0" bIns="0" anchor="t">
            <a:spAutoFit/>
          </a:bodyPr>
          <a:lstStyle/>
          <a:p>
            <a:pPr algn="l">
              <a:spcAft>
                <a:spcPts val="600"/>
              </a:spcAft>
            </a:pPr>
            <a:r>
              <a:rPr sz="1150" b="1" i="0">
                <a:solidFill>
                  <a:srgbClr val="1F3A5F"/>
                </a:solidFill>
                <a:latin typeface="Calibri"/>
              </a:rPr>
              <a:t>AUROC rand</a:t>
            </a:r>
          </a:p>
        </p:txBody>
      </p:sp>
      <p:sp>
        <p:nvSpPr>
          <p:cNvPr id="11" name="TextBox 10"/>
          <p:cNvSpPr txBox="1"/>
          <p:nvPr/>
        </p:nvSpPr>
        <p:spPr>
          <a:xfrm>
            <a:off x="5987491" y="1645920"/>
            <a:ext cx="779068" cy="237744"/>
          </a:xfrm>
          <a:prstGeom prst="rect">
            <a:avLst/>
          </a:prstGeom>
          <a:noFill/>
        </p:spPr>
        <p:txBody>
          <a:bodyPr wrap="square" lIns="0" rIns="0" tIns="0" bIns="0" anchor="t">
            <a:spAutoFit/>
          </a:bodyPr>
          <a:lstStyle/>
          <a:p>
            <a:pPr algn="l">
              <a:spcAft>
                <a:spcPts val="600"/>
              </a:spcAft>
            </a:pPr>
            <a:r>
              <a:rPr sz="1150" b="1" i="0">
                <a:solidFill>
                  <a:srgbClr val="1F3A5F"/>
                </a:solidFill>
                <a:latin typeface="Calibri"/>
              </a:rPr>
              <a:t>scaffold</a:t>
            </a:r>
          </a:p>
        </p:txBody>
      </p:sp>
      <p:sp>
        <p:nvSpPr>
          <p:cNvPr id="12" name="TextBox 11"/>
          <p:cNvSpPr txBox="1"/>
          <p:nvPr/>
        </p:nvSpPr>
        <p:spPr>
          <a:xfrm>
            <a:off x="6821424" y="1645920"/>
            <a:ext cx="640080" cy="237744"/>
          </a:xfrm>
          <a:prstGeom prst="rect">
            <a:avLst/>
          </a:prstGeom>
          <a:noFill/>
        </p:spPr>
        <p:txBody>
          <a:bodyPr wrap="square" lIns="0" rIns="0" tIns="0" bIns="0" anchor="t">
            <a:spAutoFit/>
          </a:bodyPr>
          <a:lstStyle/>
          <a:p>
            <a:pPr algn="l">
              <a:spcAft>
                <a:spcPts val="600"/>
              </a:spcAft>
            </a:pPr>
            <a:r>
              <a:rPr sz="1150" b="1" i="0">
                <a:solidFill>
                  <a:srgbClr val="1F3A5F"/>
                </a:solidFill>
                <a:latin typeface="Calibri"/>
              </a:rPr>
              <a:t>gap</a:t>
            </a:r>
          </a:p>
        </p:txBody>
      </p:sp>
      <p:sp>
        <p:nvSpPr>
          <p:cNvPr id="13" name="Rounded Rectangle 12"/>
          <p:cNvSpPr/>
          <p:nvPr/>
        </p:nvSpPr>
        <p:spPr>
          <a:xfrm>
            <a:off x="493776" y="1883664"/>
            <a:ext cx="7040879" cy="260603"/>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1920240"/>
            <a:ext cx="1126540"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hERG</a:t>
            </a:r>
          </a:p>
        </p:txBody>
      </p:sp>
      <p:sp>
        <p:nvSpPr>
          <p:cNvPr id="15" name="TextBox 14"/>
          <p:cNvSpPr txBox="1"/>
          <p:nvPr/>
        </p:nvSpPr>
        <p:spPr>
          <a:xfrm>
            <a:off x="1748332" y="1920240"/>
            <a:ext cx="779068"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9,933</a:t>
            </a:r>
          </a:p>
        </p:txBody>
      </p:sp>
      <p:sp>
        <p:nvSpPr>
          <p:cNvPr id="16" name="TextBox 15"/>
          <p:cNvSpPr txBox="1"/>
          <p:nvPr/>
        </p:nvSpPr>
        <p:spPr>
          <a:xfrm>
            <a:off x="2582265" y="1920240"/>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2,370</a:t>
            </a:r>
          </a:p>
        </p:txBody>
      </p:sp>
      <p:sp>
        <p:nvSpPr>
          <p:cNvPr id="17" name="TextBox 16"/>
          <p:cNvSpPr txBox="1"/>
          <p:nvPr/>
        </p:nvSpPr>
        <p:spPr>
          <a:xfrm>
            <a:off x="3346703" y="1920240"/>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7,563</a:t>
            </a:r>
          </a:p>
        </p:txBody>
      </p:sp>
      <p:sp>
        <p:nvSpPr>
          <p:cNvPr id="18" name="TextBox 17"/>
          <p:cNvSpPr txBox="1"/>
          <p:nvPr/>
        </p:nvSpPr>
        <p:spPr>
          <a:xfrm>
            <a:off x="4111142" y="1920240"/>
            <a:ext cx="848563"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23.9%</a:t>
            </a:r>
          </a:p>
        </p:txBody>
      </p:sp>
      <p:sp>
        <p:nvSpPr>
          <p:cNvPr id="19" name="TextBox 18"/>
          <p:cNvSpPr txBox="1"/>
          <p:nvPr/>
        </p:nvSpPr>
        <p:spPr>
          <a:xfrm>
            <a:off x="5014569" y="1920240"/>
            <a:ext cx="918057"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0.9565</a:t>
            </a:r>
          </a:p>
        </p:txBody>
      </p:sp>
      <p:sp>
        <p:nvSpPr>
          <p:cNvPr id="20" name="TextBox 19"/>
          <p:cNvSpPr txBox="1"/>
          <p:nvPr/>
        </p:nvSpPr>
        <p:spPr>
          <a:xfrm>
            <a:off x="5987491" y="1920240"/>
            <a:ext cx="779068" cy="224027"/>
          </a:xfrm>
          <a:prstGeom prst="rect">
            <a:avLst/>
          </a:prstGeom>
          <a:noFill/>
        </p:spPr>
        <p:txBody>
          <a:bodyPr wrap="square" lIns="0" rIns="0" tIns="0" bIns="0" anchor="t">
            <a:spAutoFit/>
          </a:bodyPr>
          <a:lstStyle/>
          <a:p>
            <a:pPr algn="l">
              <a:spcAft>
                <a:spcPts val="600"/>
              </a:spcAft>
            </a:pPr>
            <a:r>
              <a:rPr sz="1150" b="1" i="0">
                <a:solidFill>
                  <a:srgbClr val="0F1A2E"/>
                </a:solidFill>
                <a:latin typeface="Calibri"/>
              </a:rPr>
              <a:t>0.9270</a:t>
            </a:r>
          </a:p>
        </p:txBody>
      </p:sp>
      <p:sp>
        <p:nvSpPr>
          <p:cNvPr id="21" name="TextBox 20"/>
          <p:cNvSpPr txBox="1"/>
          <p:nvPr/>
        </p:nvSpPr>
        <p:spPr>
          <a:xfrm>
            <a:off x="6821424" y="1920240"/>
            <a:ext cx="640080" cy="224027"/>
          </a:xfrm>
          <a:prstGeom prst="rect">
            <a:avLst/>
          </a:prstGeom>
          <a:noFill/>
        </p:spPr>
        <p:txBody>
          <a:bodyPr wrap="square" lIns="0" rIns="0" tIns="0" bIns="0" anchor="t">
            <a:spAutoFit/>
          </a:bodyPr>
          <a:lstStyle/>
          <a:p>
            <a:pPr algn="l">
              <a:spcAft>
                <a:spcPts val="600"/>
              </a:spcAft>
            </a:pPr>
            <a:r>
              <a:rPr sz="1150" b="0" i="0">
                <a:solidFill>
                  <a:srgbClr val="D98324"/>
                </a:solidFill>
                <a:latin typeface="Calibri"/>
              </a:rPr>
              <a:t>-0.0295</a:t>
            </a:r>
          </a:p>
        </p:txBody>
      </p:sp>
      <p:sp>
        <p:nvSpPr>
          <p:cNvPr id="22" name="TextBox 21"/>
          <p:cNvSpPr txBox="1"/>
          <p:nvPr/>
        </p:nvSpPr>
        <p:spPr>
          <a:xfrm>
            <a:off x="566928" y="2180844"/>
            <a:ext cx="1126540"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BACE1</a:t>
            </a:r>
          </a:p>
        </p:txBody>
      </p:sp>
      <p:sp>
        <p:nvSpPr>
          <p:cNvPr id="23" name="TextBox 22"/>
          <p:cNvSpPr txBox="1"/>
          <p:nvPr/>
        </p:nvSpPr>
        <p:spPr>
          <a:xfrm>
            <a:off x="1748332" y="2180844"/>
            <a:ext cx="779068"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8,207</a:t>
            </a:r>
          </a:p>
        </p:txBody>
      </p:sp>
      <p:sp>
        <p:nvSpPr>
          <p:cNvPr id="24" name="TextBox 23"/>
          <p:cNvSpPr txBox="1"/>
          <p:nvPr/>
        </p:nvSpPr>
        <p:spPr>
          <a:xfrm>
            <a:off x="2582265" y="2180844"/>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7,096</a:t>
            </a:r>
          </a:p>
        </p:txBody>
      </p:sp>
      <p:sp>
        <p:nvSpPr>
          <p:cNvPr id="25" name="TextBox 24"/>
          <p:cNvSpPr txBox="1"/>
          <p:nvPr/>
        </p:nvSpPr>
        <p:spPr>
          <a:xfrm>
            <a:off x="3346703" y="2180844"/>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1,111</a:t>
            </a:r>
          </a:p>
        </p:txBody>
      </p:sp>
      <p:sp>
        <p:nvSpPr>
          <p:cNvPr id="26" name="TextBox 25"/>
          <p:cNvSpPr txBox="1"/>
          <p:nvPr/>
        </p:nvSpPr>
        <p:spPr>
          <a:xfrm>
            <a:off x="4111142" y="2180844"/>
            <a:ext cx="848563"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86.5%</a:t>
            </a:r>
          </a:p>
        </p:txBody>
      </p:sp>
      <p:sp>
        <p:nvSpPr>
          <p:cNvPr id="27" name="TextBox 26"/>
          <p:cNvSpPr txBox="1"/>
          <p:nvPr/>
        </p:nvSpPr>
        <p:spPr>
          <a:xfrm>
            <a:off x="5014569" y="2180844"/>
            <a:ext cx="918057"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0.9764</a:t>
            </a:r>
          </a:p>
        </p:txBody>
      </p:sp>
      <p:sp>
        <p:nvSpPr>
          <p:cNvPr id="28" name="TextBox 27"/>
          <p:cNvSpPr txBox="1"/>
          <p:nvPr/>
        </p:nvSpPr>
        <p:spPr>
          <a:xfrm>
            <a:off x="5987491" y="2180844"/>
            <a:ext cx="779068" cy="224027"/>
          </a:xfrm>
          <a:prstGeom prst="rect">
            <a:avLst/>
          </a:prstGeom>
          <a:noFill/>
        </p:spPr>
        <p:txBody>
          <a:bodyPr wrap="square" lIns="0" rIns="0" tIns="0" bIns="0" anchor="t">
            <a:spAutoFit/>
          </a:bodyPr>
          <a:lstStyle/>
          <a:p>
            <a:pPr algn="l">
              <a:spcAft>
                <a:spcPts val="600"/>
              </a:spcAft>
            </a:pPr>
            <a:r>
              <a:rPr sz="1150" b="1" i="0">
                <a:solidFill>
                  <a:srgbClr val="0F1A2E"/>
                </a:solidFill>
                <a:latin typeface="Calibri"/>
              </a:rPr>
              <a:t>0.9648</a:t>
            </a:r>
          </a:p>
        </p:txBody>
      </p:sp>
      <p:sp>
        <p:nvSpPr>
          <p:cNvPr id="29" name="TextBox 28"/>
          <p:cNvSpPr txBox="1"/>
          <p:nvPr/>
        </p:nvSpPr>
        <p:spPr>
          <a:xfrm>
            <a:off x="6821424" y="2180844"/>
            <a:ext cx="640080" cy="224027"/>
          </a:xfrm>
          <a:prstGeom prst="rect">
            <a:avLst/>
          </a:prstGeom>
          <a:noFill/>
        </p:spPr>
        <p:txBody>
          <a:bodyPr wrap="square" lIns="0" rIns="0" tIns="0" bIns="0" anchor="t">
            <a:spAutoFit/>
          </a:bodyPr>
          <a:lstStyle/>
          <a:p>
            <a:pPr algn="l">
              <a:spcAft>
                <a:spcPts val="600"/>
              </a:spcAft>
            </a:pPr>
            <a:r>
              <a:rPr sz="1150" b="0" i="0">
                <a:solidFill>
                  <a:srgbClr val="D98324"/>
                </a:solidFill>
                <a:latin typeface="Calibri"/>
              </a:rPr>
              <a:t>-0.0116</a:t>
            </a:r>
          </a:p>
        </p:txBody>
      </p:sp>
      <p:sp>
        <p:nvSpPr>
          <p:cNvPr id="30" name="Rounded Rectangle 29"/>
          <p:cNvSpPr/>
          <p:nvPr/>
        </p:nvSpPr>
        <p:spPr>
          <a:xfrm>
            <a:off x="493776" y="2404872"/>
            <a:ext cx="7040879" cy="260603"/>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66928" y="2441448"/>
            <a:ext cx="1126540"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GSK3B</a:t>
            </a:r>
          </a:p>
        </p:txBody>
      </p:sp>
      <p:sp>
        <p:nvSpPr>
          <p:cNvPr id="32" name="TextBox 31"/>
          <p:cNvSpPr txBox="1"/>
          <p:nvPr/>
        </p:nvSpPr>
        <p:spPr>
          <a:xfrm>
            <a:off x="1748332" y="2441448"/>
            <a:ext cx="779068"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5,439</a:t>
            </a:r>
          </a:p>
        </p:txBody>
      </p:sp>
      <p:sp>
        <p:nvSpPr>
          <p:cNvPr id="33" name="TextBox 32"/>
          <p:cNvSpPr txBox="1"/>
          <p:nvPr/>
        </p:nvSpPr>
        <p:spPr>
          <a:xfrm>
            <a:off x="2582265" y="2441448"/>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4,056</a:t>
            </a:r>
          </a:p>
        </p:txBody>
      </p:sp>
      <p:sp>
        <p:nvSpPr>
          <p:cNvPr id="34" name="TextBox 33"/>
          <p:cNvSpPr txBox="1"/>
          <p:nvPr/>
        </p:nvSpPr>
        <p:spPr>
          <a:xfrm>
            <a:off x="3346703" y="2441448"/>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1,383</a:t>
            </a:r>
          </a:p>
        </p:txBody>
      </p:sp>
      <p:sp>
        <p:nvSpPr>
          <p:cNvPr id="35" name="TextBox 34"/>
          <p:cNvSpPr txBox="1"/>
          <p:nvPr/>
        </p:nvSpPr>
        <p:spPr>
          <a:xfrm>
            <a:off x="4111142" y="2441448"/>
            <a:ext cx="848563"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74.6%</a:t>
            </a:r>
          </a:p>
        </p:txBody>
      </p:sp>
      <p:sp>
        <p:nvSpPr>
          <p:cNvPr id="36" name="TextBox 35"/>
          <p:cNvSpPr txBox="1"/>
          <p:nvPr/>
        </p:nvSpPr>
        <p:spPr>
          <a:xfrm>
            <a:off x="5014569" y="2441448"/>
            <a:ext cx="918057"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0.9649</a:t>
            </a:r>
          </a:p>
        </p:txBody>
      </p:sp>
      <p:sp>
        <p:nvSpPr>
          <p:cNvPr id="37" name="TextBox 36"/>
          <p:cNvSpPr txBox="1"/>
          <p:nvPr/>
        </p:nvSpPr>
        <p:spPr>
          <a:xfrm>
            <a:off x="5987491" y="2441448"/>
            <a:ext cx="779068" cy="224027"/>
          </a:xfrm>
          <a:prstGeom prst="rect">
            <a:avLst/>
          </a:prstGeom>
          <a:noFill/>
        </p:spPr>
        <p:txBody>
          <a:bodyPr wrap="square" lIns="0" rIns="0" tIns="0" bIns="0" anchor="t">
            <a:spAutoFit/>
          </a:bodyPr>
          <a:lstStyle/>
          <a:p>
            <a:pPr algn="l">
              <a:spcAft>
                <a:spcPts val="600"/>
              </a:spcAft>
            </a:pPr>
            <a:r>
              <a:rPr sz="1150" b="1" i="0">
                <a:solidFill>
                  <a:srgbClr val="0F1A2E"/>
                </a:solidFill>
                <a:latin typeface="Calibri"/>
              </a:rPr>
              <a:t>0.9425</a:t>
            </a:r>
          </a:p>
        </p:txBody>
      </p:sp>
      <p:sp>
        <p:nvSpPr>
          <p:cNvPr id="38" name="TextBox 37"/>
          <p:cNvSpPr txBox="1"/>
          <p:nvPr/>
        </p:nvSpPr>
        <p:spPr>
          <a:xfrm>
            <a:off x="6821424" y="2441448"/>
            <a:ext cx="640080" cy="224027"/>
          </a:xfrm>
          <a:prstGeom prst="rect">
            <a:avLst/>
          </a:prstGeom>
          <a:noFill/>
        </p:spPr>
        <p:txBody>
          <a:bodyPr wrap="square" lIns="0" rIns="0" tIns="0" bIns="0" anchor="t">
            <a:spAutoFit/>
          </a:bodyPr>
          <a:lstStyle/>
          <a:p>
            <a:pPr algn="l">
              <a:spcAft>
                <a:spcPts val="600"/>
              </a:spcAft>
            </a:pPr>
            <a:r>
              <a:rPr sz="1150" b="0" i="0">
                <a:solidFill>
                  <a:srgbClr val="D98324"/>
                </a:solidFill>
                <a:latin typeface="Calibri"/>
              </a:rPr>
              <a:t>-0.0224</a:t>
            </a:r>
          </a:p>
        </p:txBody>
      </p:sp>
      <p:sp>
        <p:nvSpPr>
          <p:cNvPr id="39" name="TextBox 38"/>
          <p:cNvSpPr txBox="1"/>
          <p:nvPr/>
        </p:nvSpPr>
        <p:spPr>
          <a:xfrm>
            <a:off x="566928" y="2702052"/>
            <a:ext cx="1126540"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AChE</a:t>
            </a:r>
          </a:p>
        </p:txBody>
      </p:sp>
      <p:sp>
        <p:nvSpPr>
          <p:cNvPr id="40" name="TextBox 39"/>
          <p:cNvSpPr txBox="1"/>
          <p:nvPr/>
        </p:nvSpPr>
        <p:spPr>
          <a:xfrm>
            <a:off x="1748332" y="2702052"/>
            <a:ext cx="779068"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5,125</a:t>
            </a:r>
          </a:p>
        </p:txBody>
      </p:sp>
      <p:sp>
        <p:nvSpPr>
          <p:cNvPr id="41" name="TextBox 40"/>
          <p:cNvSpPr txBox="1"/>
          <p:nvPr/>
        </p:nvSpPr>
        <p:spPr>
          <a:xfrm>
            <a:off x="2582265" y="2702052"/>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3,014</a:t>
            </a:r>
          </a:p>
        </p:txBody>
      </p:sp>
      <p:sp>
        <p:nvSpPr>
          <p:cNvPr id="42" name="TextBox 41"/>
          <p:cNvSpPr txBox="1"/>
          <p:nvPr/>
        </p:nvSpPr>
        <p:spPr>
          <a:xfrm>
            <a:off x="3346703" y="2702052"/>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2,111</a:t>
            </a:r>
          </a:p>
        </p:txBody>
      </p:sp>
      <p:sp>
        <p:nvSpPr>
          <p:cNvPr id="43" name="TextBox 42"/>
          <p:cNvSpPr txBox="1"/>
          <p:nvPr/>
        </p:nvSpPr>
        <p:spPr>
          <a:xfrm>
            <a:off x="4111142" y="2702052"/>
            <a:ext cx="848563"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58.8%</a:t>
            </a:r>
          </a:p>
        </p:txBody>
      </p:sp>
      <p:sp>
        <p:nvSpPr>
          <p:cNvPr id="44" name="TextBox 43"/>
          <p:cNvSpPr txBox="1"/>
          <p:nvPr/>
        </p:nvSpPr>
        <p:spPr>
          <a:xfrm>
            <a:off x="5014569" y="2702052"/>
            <a:ext cx="918057"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0.9659</a:t>
            </a:r>
          </a:p>
        </p:txBody>
      </p:sp>
      <p:sp>
        <p:nvSpPr>
          <p:cNvPr id="45" name="TextBox 44"/>
          <p:cNvSpPr txBox="1"/>
          <p:nvPr/>
        </p:nvSpPr>
        <p:spPr>
          <a:xfrm>
            <a:off x="5987491" y="2702052"/>
            <a:ext cx="779068" cy="224027"/>
          </a:xfrm>
          <a:prstGeom prst="rect">
            <a:avLst/>
          </a:prstGeom>
          <a:noFill/>
        </p:spPr>
        <p:txBody>
          <a:bodyPr wrap="square" lIns="0" rIns="0" tIns="0" bIns="0" anchor="t">
            <a:spAutoFit/>
          </a:bodyPr>
          <a:lstStyle/>
          <a:p>
            <a:pPr algn="l">
              <a:spcAft>
                <a:spcPts val="600"/>
              </a:spcAft>
            </a:pPr>
            <a:r>
              <a:rPr sz="1150" b="1" i="0">
                <a:solidFill>
                  <a:srgbClr val="0F1A2E"/>
                </a:solidFill>
                <a:latin typeface="Calibri"/>
              </a:rPr>
              <a:t>0.9212</a:t>
            </a:r>
          </a:p>
        </p:txBody>
      </p:sp>
      <p:sp>
        <p:nvSpPr>
          <p:cNvPr id="46" name="TextBox 45"/>
          <p:cNvSpPr txBox="1"/>
          <p:nvPr/>
        </p:nvSpPr>
        <p:spPr>
          <a:xfrm>
            <a:off x="6821424" y="2702052"/>
            <a:ext cx="640080" cy="224027"/>
          </a:xfrm>
          <a:prstGeom prst="rect">
            <a:avLst/>
          </a:prstGeom>
          <a:noFill/>
        </p:spPr>
        <p:txBody>
          <a:bodyPr wrap="square" lIns="0" rIns="0" tIns="0" bIns="0" anchor="t">
            <a:spAutoFit/>
          </a:bodyPr>
          <a:lstStyle/>
          <a:p>
            <a:pPr algn="l">
              <a:spcAft>
                <a:spcPts val="600"/>
              </a:spcAft>
            </a:pPr>
            <a:r>
              <a:rPr sz="1150" b="0" i="0">
                <a:solidFill>
                  <a:srgbClr val="D98324"/>
                </a:solidFill>
                <a:latin typeface="Calibri"/>
              </a:rPr>
              <a:t>-0.0447</a:t>
            </a:r>
          </a:p>
        </p:txBody>
      </p:sp>
      <p:sp>
        <p:nvSpPr>
          <p:cNvPr id="47" name="Rounded Rectangle 46"/>
          <p:cNvSpPr/>
          <p:nvPr/>
        </p:nvSpPr>
        <p:spPr>
          <a:xfrm>
            <a:off x="493776" y="2926080"/>
            <a:ext cx="7040879" cy="260603"/>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566928" y="2962656"/>
            <a:ext cx="1126540"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MAO_B</a:t>
            </a:r>
          </a:p>
        </p:txBody>
      </p:sp>
      <p:sp>
        <p:nvSpPr>
          <p:cNvPr id="49" name="TextBox 48"/>
          <p:cNvSpPr txBox="1"/>
          <p:nvPr/>
        </p:nvSpPr>
        <p:spPr>
          <a:xfrm>
            <a:off x="1748332" y="2962656"/>
            <a:ext cx="779068"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4,534</a:t>
            </a:r>
          </a:p>
        </p:txBody>
      </p:sp>
      <p:sp>
        <p:nvSpPr>
          <p:cNvPr id="50" name="TextBox 49"/>
          <p:cNvSpPr txBox="1"/>
          <p:nvPr/>
        </p:nvSpPr>
        <p:spPr>
          <a:xfrm>
            <a:off x="2582265" y="2962656"/>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2,299</a:t>
            </a:r>
          </a:p>
        </p:txBody>
      </p:sp>
      <p:sp>
        <p:nvSpPr>
          <p:cNvPr id="51" name="TextBox 50"/>
          <p:cNvSpPr txBox="1"/>
          <p:nvPr/>
        </p:nvSpPr>
        <p:spPr>
          <a:xfrm>
            <a:off x="3346703" y="2962656"/>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2,235</a:t>
            </a:r>
          </a:p>
        </p:txBody>
      </p:sp>
      <p:sp>
        <p:nvSpPr>
          <p:cNvPr id="52" name="TextBox 51"/>
          <p:cNvSpPr txBox="1"/>
          <p:nvPr/>
        </p:nvSpPr>
        <p:spPr>
          <a:xfrm>
            <a:off x="4111142" y="2962656"/>
            <a:ext cx="848563"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50.7%</a:t>
            </a:r>
          </a:p>
        </p:txBody>
      </p:sp>
      <p:sp>
        <p:nvSpPr>
          <p:cNvPr id="53" name="TextBox 52"/>
          <p:cNvSpPr txBox="1"/>
          <p:nvPr/>
        </p:nvSpPr>
        <p:spPr>
          <a:xfrm>
            <a:off x="5014569" y="2962656"/>
            <a:ext cx="918057"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0.9630</a:t>
            </a:r>
          </a:p>
        </p:txBody>
      </p:sp>
      <p:sp>
        <p:nvSpPr>
          <p:cNvPr id="54" name="TextBox 53"/>
          <p:cNvSpPr txBox="1"/>
          <p:nvPr/>
        </p:nvSpPr>
        <p:spPr>
          <a:xfrm>
            <a:off x="5987491" y="2962656"/>
            <a:ext cx="779068" cy="224027"/>
          </a:xfrm>
          <a:prstGeom prst="rect">
            <a:avLst/>
          </a:prstGeom>
          <a:noFill/>
        </p:spPr>
        <p:txBody>
          <a:bodyPr wrap="square" lIns="0" rIns="0" tIns="0" bIns="0" anchor="t">
            <a:spAutoFit/>
          </a:bodyPr>
          <a:lstStyle/>
          <a:p>
            <a:pPr algn="l">
              <a:spcAft>
                <a:spcPts val="600"/>
              </a:spcAft>
            </a:pPr>
            <a:r>
              <a:rPr sz="1150" b="1" i="0">
                <a:solidFill>
                  <a:srgbClr val="0F1A2E"/>
                </a:solidFill>
                <a:latin typeface="Calibri"/>
              </a:rPr>
              <a:t>0.9170</a:t>
            </a:r>
          </a:p>
        </p:txBody>
      </p:sp>
      <p:sp>
        <p:nvSpPr>
          <p:cNvPr id="55" name="TextBox 54"/>
          <p:cNvSpPr txBox="1"/>
          <p:nvPr/>
        </p:nvSpPr>
        <p:spPr>
          <a:xfrm>
            <a:off x="6821424" y="2962656"/>
            <a:ext cx="640080" cy="224027"/>
          </a:xfrm>
          <a:prstGeom prst="rect">
            <a:avLst/>
          </a:prstGeom>
          <a:noFill/>
        </p:spPr>
        <p:txBody>
          <a:bodyPr wrap="square" lIns="0" rIns="0" tIns="0" bIns="0" anchor="t">
            <a:spAutoFit/>
          </a:bodyPr>
          <a:lstStyle/>
          <a:p>
            <a:pPr algn="l">
              <a:spcAft>
                <a:spcPts val="600"/>
              </a:spcAft>
            </a:pPr>
            <a:r>
              <a:rPr sz="1150" b="0" i="0">
                <a:solidFill>
                  <a:srgbClr val="D98324"/>
                </a:solidFill>
                <a:latin typeface="Calibri"/>
              </a:rPr>
              <a:t>-0.0460</a:t>
            </a:r>
          </a:p>
        </p:txBody>
      </p:sp>
      <p:sp>
        <p:nvSpPr>
          <p:cNvPr id="56" name="TextBox 55"/>
          <p:cNvSpPr txBox="1"/>
          <p:nvPr/>
        </p:nvSpPr>
        <p:spPr>
          <a:xfrm>
            <a:off x="566928" y="3223260"/>
            <a:ext cx="1126540"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BBB</a:t>
            </a:r>
          </a:p>
        </p:txBody>
      </p:sp>
      <p:sp>
        <p:nvSpPr>
          <p:cNvPr id="57" name="TextBox 56"/>
          <p:cNvSpPr txBox="1"/>
          <p:nvPr/>
        </p:nvSpPr>
        <p:spPr>
          <a:xfrm>
            <a:off x="1748332" y="3223260"/>
            <a:ext cx="779068"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3,901</a:t>
            </a:r>
          </a:p>
        </p:txBody>
      </p:sp>
      <p:sp>
        <p:nvSpPr>
          <p:cNvPr id="58" name="TextBox 57"/>
          <p:cNvSpPr txBox="1"/>
          <p:nvPr/>
        </p:nvSpPr>
        <p:spPr>
          <a:xfrm>
            <a:off x="2582265" y="3223260"/>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2,473</a:t>
            </a:r>
          </a:p>
        </p:txBody>
      </p:sp>
      <p:sp>
        <p:nvSpPr>
          <p:cNvPr id="59" name="TextBox 58"/>
          <p:cNvSpPr txBox="1"/>
          <p:nvPr/>
        </p:nvSpPr>
        <p:spPr>
          <a:xfrm>
            <a:off x="3346703" y="3223260"/>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1,428</a:t>
            </a:r>
          </a:p>
        </p:txBody>
      </p:sp>
      <p:sp>
        <p:nvSpPr>
          <p:cNvPr id="60" name="TextBox 59"/>
          <p:cNvSpPr txBox="1"/>
          <p:nvPr/>
        </p:nvSpPr>
        <p:spPr>
          <a:xfrm>
            <a:off x="4111142" y="3223260"/>
            <a:ext cx="848563"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63.4%</a:t>
            </a:r>
          </a:p>
        </p:txBody>
      </p:sp>
      <p:sp>
        <p:nvSpPr>
          <p:cNvPr id="61" name="TextBox 60"/>
          <p:cNvSpPr txBox="1"/>
          <p:nvPr/>
        </p:nvSpPr>
        <p:spPr>
          <a:xfrm>
            <a:off x="5014569" y="3223260"/>
            <a:ext cx="918057"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0.8990</a:t>
            </a:r>
          </a:p>
        </p:txBody>
      </p:sp>
      <p:sp>
        <p:nvSpPr>
          <p:cNvPr id="62" name="TextBox 61"/>
          <p:cNvSpPr txBox="1"/>
          <p:nvPr/>
        </p:nvSpPr>
        <p:spPr>
          <a:xfrm>
            <a:off x="5987491" y="3223260"/>
            <a:ext cx="779068" cy="224027"/>
          </a:xfrm>
          <a:prstGeom prst="rect">
            <a:avLst/>
          </a:prstGeom>
          <a:noFill/>
        </p:spPr>
        <p:txBody>
          <a:bodyPr wrap="square" lIns="0" rIns="0" tIns="0" bIns="0" anchor="t">
            <a:spAutoFit/>
          </a:bodyPr>
          <a:lstStyle/>
          <a:p>
            <a:pPr algn="l">
              <a:spcAft>
                <a:spcPts val="600"/>
              </a:spcAft>
            </a:pPr>
            <a:r>
              <a:rPr sz="1150" b="1" i="0">
                <a:solidFill>
                  <a:srgbClr val="0F1A2E"/>
                </a:solidFill>
                <a:latin typeface="Calibri"/>
              </a:rPr>
              <a:t>0.8777</a:t>
            </a:r>
          </a:p>
        </p:txBody>
      </p:sp>
      <p:sp>
        <p:nvSpPr>
          <p:cNvPr id="63" name="TextBox 62"/>
          <p:cNvSpPr txBox="1"/>
          <p:nvPr/>
        </p:nvSpPr>
        <p:spPr>
          <a:xfrm>
            <a:off x="6821424" y="3223260"/>
            <a:ext cx="640080" cy="224027"/>
          </a:xfrm>
          <a:prstGeom prst="rect">
            <a:avLst/>
          </a:prstGeom>
          <a:noFill/>
        </p:spPr>
        <p:txBody>
          <a:bodyPr wrap="square" lIns="0" rIns="0" tIns="0" bIns="0" anchor="t">
            <a:spAutoFit/>
          </a:bodyPr>
          <a:lstStyle/>
          <a:p>
            <a:pPr algn="l">
              <a:spcAft>
                <a:spcPts val="600"/>
              </a:spcAft>
            </a:pPr>
            <a:r>
              <a:rPr sz="1150" b="0" i="0">
                <a:solidFill>
                  <a:srgbClr val="D98324"/>
                </a:solidFill>
                <a:latin typeface="Calibri"/>
              </a:rPr>
              <a:t>-0.0213</a:t>
            </a:r>
          </a:p>
        </p:txBody>
      </p:sp>
      <p:sp>
        <p:nvSpPr>
          <p:cNvPr id="64" name="Rounded Rectangle 63"/>
          <p:cNvSpPr/>
          <p:nvPr/>
        </p:nvSpPr>
        <p:spPr>
          <a:xfrm>
            <a:off x="493776" y="3447288"/>
            <a:ext cx="7040879" cy="260603"/>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566928" y="3483864"/>
            <a:ext cx="1126540"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MAO_A</a:t>
            </a:r>
          </a:p>
        </p:txBody>
      </p:sp>
      <p:sp>
        <p:nvSpPr>
          <p:cNvPr id="66" name="TextBox 65"/>
          <p:cNvSpPr txBox="1"/>
          <p:nvPr/>
        </p:nvSpPr>
        <p:spPr>
          <a:xfrm>
            <a:off x="1748332" y="3483864"/>
            <a:ext cx="779068"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3,585</a:t>
            </a:r>
          </a:p>
        </p:txBody>
      </p:sp>
      <p:sp>
        <p:nvSpPr>
          <p:cNvPr id="67" name="TextBox 66"/>
          <p:cNvSpPr txBox="1"/>
          <p:nvPr/>
        </p:nvSpPr>
        <p:spPr>
          <a:xfrm>
            <a:off x="2582265" y="3483864"/>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857</a:t>
            </a:r>
          </a:p>
        </p:txBody>
      </p:sp>
      <p:sp>
        <p:nvSpPr>
          <p:cNvPr id="68" name="TextBox 67"/>
          <p:cNvSpPr txBox="1"/>
          <p:nvPr/>
        </p:nvSpPr>
        <p:spPr>
          <a:xfrm>
            <a:off x="3346703" y="3483864"/>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2,728</a:t>
            </a:r>
          </a:p>
        </p:txBody>
      </p:sp>
      <p:sp>
        <p:nvSpPr>
          <p:cNvPr id="69" name="TextBox 68"/>
          <p:cNvSpPr txBox="1"/>
          <p:nvPr/>
        </p:nvSpPr>
        <p:spPr>
          <a:xfrm>
            <a:off x="4111142" y="3483864"/>
            <a:ext cx="848563"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23.9%</a:t>
            </a:r>
          </a:p>
        </p:txBody>
      </p:sp>
      <p:sp>
        <p:nvSpPr>
          <p:cNvPr id="70" name="TextBox 69"/>
          <p:cNvSpPr txBox="1"/>
          <p:nvPr/>
        </p:nvSpPr>
        <p:spPr>
          <a:xfrm>
            <a:off x="5014569" y="3483864"/>
            <a:ext cx="918057"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0.9619</a:t>
            </a:r>
          </a:p>
        </p:txBody>
      </p:sp>
      <p:sp>
        <p:nvSpPr>
          <p:cNvPr id="71" name="TextBox 70"/>
          <p:cNvSpPr txBox="1"/>
          <p:nvPr/>
        </p:nvSpPr>
        <p:spPr>
          <a:xfrm>
            <a:off x="5987491" y="3483864"/>
            <a:ext cx="779068" cy="224027"/>
          </a:xfrm>
          <a:prstGeom prst="rect">
            <a:avLst/>
          </a:prstGeom>
          <a:noFill/>
        </p:spPr>
        <p:txBody>
          <a:bodyPr wrap="square" lIns="0" rIns="0" tIns="0" bIns="0" anchor="t">
            <a:spAutoFit/>
          </a:bodyPr>
          <a:lstStyle/>
          <a:p>
            <a:pPr algn="l">
              <a:spcAft>
                <a:spcPts val="600"/>
              </a:spcAft>
            </a:pPr>
            <a:r>
              <a:rPr sz="1150" b="1" i="0">
                <a:solidFill>
                  <a:srgbClr val="0F1A2E"/>
                </a:solidFill>
                <a:latin typeface="Calibri"/>
              </a:rPr>
              <a:t>0.9059</a:t>
            </a:r>
          </a:p>
        </p:txBody>
      </p:sp>
      <p:sp>
        <p:nvSpPr>
          <p:cNvPr id="72" name="TextBox 71"/>
          <p:cNvSpPr txBox="1"/>
          <p:nvPr/>
        </p:nvSpPr>
        <p:spPr>
          <a:xfrm>
            <a:off x="6821424" y="3483864"/>
            <a:ext cx="640080" cy="224027"/>
          </a:xfrm>
          <a:prstGeom prst="rect">
            <a:avLst/>
          </a:prstGeom>
          <a:noFill/>
        </p:spPr>
        <p:txBody>
          <a:bodyPr wrap="square" lIns="0" rIns="0" tIns="0" bIns="0" anchor="t">
            <a:spAutoFit/>
          </a:bodyPr>
          <a:lstStyle/>
          <a:p>
            <a:pPr algn="l">
              <a:spcAft>
                <a:spcPts val="600"/>
              </a:spcAft>
            </a:pPr>
            <a:r>
              <a:rPr sz="1150" b="0" i="0">
                <a:solidFill>
                  <a:srgbClr val="D98324"/>
                </a:solidFill>
                <a:latin typeface="Calibri"/>
              </a:rPr>
              <a:t>-0.0560</a:t>
            </a:r>
          </a:p>
        </p:txBody>
      </p:sp>
      <p:sp>
        <p:nvSpPr>
          <p:cNvPr id="73" name="TextBox 72"/>
          <p:cNvSpPr txBox="1"/>
          <p:nvPr/>
        </p:nvSpPr>
        <p:spPr>
          <a:xfrm>
            <a:off x="566928" y="3744468"/>
            <a:ext cx="1126540"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BChE</a:t>
            </a:r>
          </a:p>
        </p:txBody>
      </p:sp>
      <p:sp>
        <p:nvSpPr>
          <p:cNvPr id="74" name="TextBox 73"/>
          <p:cNvSpPr txBox="1"/>
          <p:nvPr/>
        </p:nvSpPr>
        <p:spPr>
          <a:xfrm>
            <a:off x="1748332" y="3744468"/>
            <a:ext cx="779068"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3,278</a:t>
            </a:r>
          </a:p>
        </p:txBody>
      </p:sp>
      <p:sp>
        <p:nvSpPr>
          <p:cNvPr id="75" name="TextBox 74"/>
          <p:cNvSpPr txBox="1"/>
          <p:nvPr/>
        </p:nvSpPr>
        <p:spPr>
          <a:xfrm>
            <a:off x="2582265" y="3744468"/>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1,760</a:t>
            </a:r>
          </a:p>
        </p:txBody>
      </p:sp>
      <p:sp>
        <p:nvSpPr>
          <p:cNvPr id="76" name="TextBox 75"/>
          <p:cNvSpPr txBox="1"/>
          <p:nvPr/>
        </p:nvSpPr>
        <p:spPr>
          <a:xfrm>
            <a:off x="3346703" y="3744468"/>
            <a:ext cx="709574"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1,518</a:t>
            </a:r>
          </a:p>
        </p:txBody>
      </p:sp>
      <p:sp>
        <p:nvSpPr>
          <p:cNvPr id="77" name="TextBox 76"/>
          <p:cNvSpPr txBox="1"/>
          <p:nvPr/>
        </p:nvSpPr>
        <p:spPr>
          <a:xfrm>
            <a:off x="4111142" y="3744468"/>
            <a:ext cx="848563"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53.7%</a:t>
            </a:r>
          </a:p>
        </p:txBody>
      </p:sp>
      <p:sp>
        <p:nvSpPr>
          <p:cNvPr id="78" name="TextBox 77"/>
          <p:cNvSpPr txBox="1"/>
          <p:nvPr/>
        </p:nvSpPr>
        <p:spPr>
          <a:xfrm>
            <a:off x="5014569" y="3744468"/>
            <a:ext cx="918057" cy="224027"/>
          </a:xfrm>
          <a:prstGeom prst="rect">
            <a:avLst/>
          </a:prstGeom>
          <a:noFill/>
        </p:spPr>
        <p:txBody>
          <a:bodyPr wrap="square" lIns="0" rIns="0" tIns="0" bIns="0" anchor="t">
            <a:spAutoFit/>
          </a:bodyPr>
          <a:lstStyle/>
          <a:p>
            <a:pPr algn="l">
              <a:spcAft>
                <a:spcPts val="600"/>
              </a:spcAft>
            </a:pPr>
            <a:r>
              <a:rPr sz="1150" b="0" i="0">
                <a:solidFill>
                  <a:srgbClr val="0F1A2E"/>
                </a:solidFill>
                <a:latin typeface="Calibri"/>
              </a:rPr>
              <a:t>0.9724</a:t>
            </a:r>
          </a:p>
        </p:txBody>
      </p:sp>
      <p:sp>
        <p:nvSpPr>
          <p:cNvPr id="79" name="TextBox 78"/>
          <p:cNvSpPr txBox="1"/>
          <p:nvPr/>
        </p:nvSpPr>
        <p:spPr>
          <a:xfrm>
            <a:off x="5987491" y="3744468"/>
            <a:ext cx="779068" cy="224027"/>
          </a:xfrm>
          <a:prstGeom prst="rect">
            <a:avLst/>
          </a:prstGeom>
          <a:noFill/>
        </p:spPr>
        <p:txBody>
          <a:bodyPr wrap="square" lIns="0" rIns="0" tIns="0" bIns="0" anchor="t">
            <a:spAutoFit/>
          </a:bodyPr>
          <a:lstStyle/>
          <a:p>
            <a:pPr algn="l">
              <a:spcAft>
                <a:spcPts val="600"/>
              </a:spcAft>
            </a:pPr>
            <a:r>
              <a:rPr sz="1150" b="1" i="0">
                <a:solidFill>
                  <a:srgbClr val="0F1A2E"/>
                </a:solidFill>
                <a:latin typeface="Calibri"/>
              </a:rPr>
              <a:t>0.9451</a:t>
            </a:r>
          </a:p>
        </p:txBody>
      </p:sp>
      <p:sp>
        <p:nvSpPr>
          <p:cNvPr id="80" name="TextBox 79"/>
          <p:cNvSpPr txBox="1"/>
          <p:nvPr/>
        </p:nvSpPr>
        <p:spPr>
          <a:xfrm>
            <a:off x="6821424" y="3744468"/>
            <a:ext cx="640080" cy="224027"/>
          </a:xfrm>
          <a:prstGeom prst="rect">
            <a:avLst/>
          </a:prstGeom>
          <a:noFill/>
        </p:spPr>
        <p:txBody>
          <a:bodyPr wrap="square" lIns="0" rIns="0" tIns="0" bIns="0" anchor="t">
            <a:spAutoFit/>
          </a:bodyPr>
          <a:lstStyle/>
          <a:p>
            <a:pPr algn="l">
              <a:spcAft>
                <a:spcPts val="600"/>
              </a:spcAft>
            </a:pPr>
            <a:r>
              <a:rPr sz="1150" b="0" i="0">
                <a:solidFill>
                  <a:srgbClr val="D98324"/>
                </a:solidFill>
                <a:latin typeface="Calibri"/>
              </a:rPr>
              <a:t>-0.0273</a:t>
            </a:r>
          </a:p>
        </p:txBody>
      </p:sp>
      <p:sp>
        <p:nvSpPr>
          <p:cNvPr id="81" name="TextBox 80"/>
          <p:cNvSpPr txBox="1"/>
          <p:nvPr/>
        </p:nvSpPr>
        <p:spPr>
          <a:xfrm>
            <a:off x="7882127" y="1645920"/>
            <a:ext cx="3742639" cy="292608"/>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Two things to notice</a:t>
            </a:r>
          </a:p>
        </p:txBody>
      </p:sp>
      <p:sp>
        <p:nvSpPr>
          <p:cNvPr id="82" name="TextBox 81"/>
          <p:cNvSpPr txBox="1"/>
          <p:nvPr/>
        </p:nvSpPr>
        <p:spPr>
          <a:xfrm>
            <a:off x="7882127" y="2029968"/>
            <a:ext cx="3742639" cy="4096511"/>
          </a:xfrm>
          <a:prstGeom prst="rect">
            <a:avLst/>
          </a:prstGeom>
          <a:noFill/>
        </p:spPr>
        <p:txBody>
          <a:bodyPr wrap="square" lIns="0" rIns="0" tIns="0" bIns="0" anchor="t">
            <a:spAutoFit/>
          </a:bodyPr>
          <a:lstStyle/>
          <a:p>
            <a:pPr algn="l">
              <a:lnSpc>
                <a:spcPct val="122000"/>
              </a:lnSpc>
              <a:spcAft>
                <a:spcPts val="1000"/>
              </a:spcAft>
            </a:pPr>
            <a:r>
              <a:rPr sz="1300" b="0" i="0">
                <a:solidFill>
                  <a:srgbClr val="0F1A2E"/>
                </a:solidFill>
                <a:latin typeface="Calibri"/>
              </a:rPr>
              <a:t>•   Class balance ranges from 23.9% to 86.5% positive. This is why class weighting is not optional.</a:t>
            </a:r>
          </a:p>
          <a:p>
            <a:pPr algn="l">
              <a:lnSpc>
                <a:spcPct val="122000"/>
              </a:lnSpc>
              <a:spcAft>
                <a:spcPts val="1000"/>
              </a:spcAft>
            </a:pPr>
            <a:r>
              <a:rPr sz="1300" b="0" i="0">
                <a:solidFill>
                  <a:srgbClr val="D98324"/>
                </a:solidFill>
                <a:latin typeface="Calibri"/>
              </a:rPr>
              <a:t>•   Every endpoint drops under the scaffold split. That gap is the honest measure of how much random-split performance was analogue recall.</a:t>
            </a:r>
          </a:p>
        </p:txBody>
      </p:sp>
      <p:sp>
        <p:nvSpPr>
          <p:cNvPr id="83" name="TextBox 82"/>
          <p:cNvSpPr txBox="1"/>
          <p:nvPr/>
        </p:nvSpPr>
        <p:spPr>
          <a:xfrm>
            <a:off x="7882127" y="4160520"/>
            <a:ext cx="2011680" cy="603504"/>
          </a:xfrm>
          <a:prstGeom prst="rect">
            <a:avLst/>
          </a:prstGeom>
          <a:noFill/>
        </p:spPr>
        <p:txBody>
          <a:bodyPr wrap="square" lIns="0" rIns="0" tIns="0" bIns="0" anchor="t">
            <a:spAutoFit/>
          </a:bodyPr>
          <a:lstStyle/>
          <a:p>
            <a:pPr algn="l">
              <a:spcAft>
                <a:spcPts val="600"/>
              </a:spcAft>
            </a:pPr>
            <a:r>
              <a:rPr sz="3400" b="1" i="0">
                <a:solidFill>
                  <a:srgbClr val="1C7293"/>
                </a:solidFill>
                <a:latin typeface="Cambria"/>
              </a:rPr>
              <a:t>5</a:t>
            </a:r>
          </a:p>
        </p:txBody>
      </p:sp>
      <p:sp>
        <p:nvSpPr>
          <p:cNvPr id="84" name="TextBox 83"/>
          <p:cNvSpPr txBox="1"/>
          <p:nvPr/>
        </p:nvSpPr>
        <p:spPr>
          <a:xfrm>
            <a:off x="7882127" y="4800600"/>
            <a:ext cx="201168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regression endpoints,
R² 0.4153 to 0.7231 scaffold</a:t>
            </a:r>
          </a:p>
        </p:txBody>
      </p:sp>
      <p:sp>
        <p:nvSpPr>
          <p:cNvPr id="85" name="TextBox 84"/>
          <p:cNvSpPr txBox="1"/>
          <p:nvPr/>
        </p:nvSpPr>
        <p:spPr>
          <a:xfrm>
            <a:off x="10076688" y="4160520"/>
            <a:ext cx="2011680" cy="603504"/>
          </a:xfrm>
          <a:prstGeom prst="rect">
            <a:avLst/>
          </a:prstGeom>
          <a:noFill/>
        </p:spPr>
        <p:txBody>
          <a:bodyPr wrap="square" lIns="0" rIns="0" tIns="0" bIns="0" anchor="t">
            <a:spAutoFit/>
          </a:bodyPr>
          <a:lstStyle/>
          <a:p>
            <a:pPr algn="l">
              <a:spcAft>
                <a:spcPts val="600"/>
              </a:spcAft>
            </a:pPr>
            <a:r>
              <a:rPr sz="3400" b="1" i="0">
                <a:solidFill>
                  <a:srgbClr val="1C7293"/>
                </a:solidFill>
                <a:latin typeface="Cambria"/>
              </a:rPr>
              <a:t>47</a:t>
            </a:r>
          </a:p>
        </p:txBody>
      </p:sp>
      <p:sp>
        <p:nvSpPr>
          <p:cNvPr id="86" name="TextBox 85"/>
          <p:cNvSpPr txBox="1"/>
          <p:nvPr/>
        </p:nvSpPr>
        <p:spPr>
          <a:xfrm>
            <a:off x="10076688" y="4800600"/>
            <a:ext cx="201168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binder endpoints deployed
of 52 registered</a:t>
            </a:r>
          </a:p>
        </p:txBody>
      </p:sp>
      <p:sp>
        <p:nvSpPr>
          <p:cNvPr id="87" name="TextBox 86"/>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results/tables/rf_cv_summary.csv; data/processed/cv_predictions/*_random_oof.csv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features: one map, used by every model</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φ : Ω → ℝ¹⁰³⁶, identical for every endpoint and every algorithm except the graph network</a:t>
            </a:r>
          </a:p>
        </p:txBody>
      </p:sp>
      <p:sp>
        <p:nvSpPr>
          <p:cNvPr id="5" name="Rounded Rectangle 4"/>
          <p:cNvSpPr/>
          <p:nvPr/>
        </p:nvSpPr>
        <p:spPr>
          <a:xfrm>
            <a:off x="566928" y="1645920"/>
            <a:ext cx="6524975" cy="14173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95528" y="1810512"/>
            <a:ext cx="6086063" cy="365760"/>
          </a:xfrm>
          <a:prstGeom prst="rect">
            <a:avLst/>
          </a:prstGeom>
          <a:noFill/>
        </p:spPr>
        <p:txBody>
          <a:bodyPr wrap="square" lIns="0" rIns="0" tIns="0" bIns="0" anchor="t">
            <a:spAutoFit/>
          </a:bodyPr>
          <a:lstStyle/>
          <a:p>
            <a:pPr algn="l">
              <a:spcAft>
                <a:spcPts val="600"/>
              </a:spcAft>
            </a:pPr>
            <a:r>
              <a:rPr sz="1600" b="1" i="0">
                <a:solidFill>
                  <a:srgbClr val="1F3A5F"/>
                </a:solidFill>
                <a:latin typeface="Calibri"/>
              </a:rPr>
              <a:t>Block 1   —   1,024-bit ECFP-4 fingerprint</a:t>
            </a:r>
          </a:p>
        </p:txBody>
      </p:sp>
      <p:sp>
        <p:nvSpPr>
          <p:cNvPr id="7" name="TextBox 6"/>
          <p:cNvSpPr txBox="1"/>
          <p:nvPr/>
        </p:nvSpPr>
        <p:spPr>
          <a:xfrm>
            <a:off x="795528" y="2176272"/>
            <a:ext cx="6086063" cy="777240"/>
          </a:xfrm>
          <a:prstGeom prst="rect">
            <a:avLst/>
          </a:prstGeom>
          <a:noFill/>
        </p:spPr>
        <p:txBody>
          <a:bodyPr wrap="square" lIns="0" rIns="0" tIns="0" bIns="0" anchor="t">
            <a:spAutoFit/>
          </a:bodyPr>
          <a:lstStyle/>
          <a:p>
            <a:pPr algn="l">
              <a:lnSpc>
                <a:spcPct val="120000"/>
              </a:lnSpc>
              <a:spcAft>
                <a:spcPts val="600"/>
              </a:spcAft>
            </a:pPr>
            <a:r>
              <a:rPr sz="1250" b="0" i="0">
                <a:solidFill>
                  <a:srgbClr val="0F1A2E"/>
                </a:solidFill>
                <a:latin typeface="Calibri"/>
              </a:rPr>
              <a:t>Morgan, radius 2. Each bit is 0 or 1 and records that at least one local atomic environment hashed into that bit. Binary, sparse, and the block that carries almost all of the predictive signal.</a:t>
            </a:r>
          </a:p>
        </p:txBody>
      </p:sp>
      <p:sp>
        <p:nvSpPr>
          <p:cNvPr id="8" name="Rounded Rectangle 7"/>
          <p:cNvSpPr/>
          <p:nvPr/>
        </p:nvSpPr>
        <p:spPr>
          <a:xfrm>
            <a:off x="7311359" y="1645920"/>
            <a:ext cx="4313407" cy="14173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539959" y="1810512"/>
            <a:ext cx="3874495" cy="365760"/>
          </a:xfrm>
          <a:prstGeom prst="rect">
            <a:avLst/>
          </a:prstGeom>
          <a:noFill/>
        </p:spPr>
        <p:txBody>
          <a:bodyPr wrap="square" lIns="0" rIns="0" tIns="0" bIns="0" anchor="t">
            <a:spAutoFit/>
          </a:bodyPr>
          <a:lstStyle/>
          <a:p>
            <a:pPr algn="l">
              <a:spcAft>
                <a:spcPts val="600"/>
              </a:spcAft>
            </a:pPr>
            <a:r>
              <a:rPr sz="1600" b="1" i="0">
                <a:solidFill>
                  <a:srgbClr val="1F3A5F"/>
                </a:solidFill>
                <a:latin typeface="Calibri"/>
              </a:rPr>
              <a:t>Block 2   —   12 descriptors</a:t>
            </a:r>
          </a:p>
        </p:txBody>
      </p:sp>
      <p:sp>
        <p:nvSpPr>
          <p:cNvPr id="10" name="TextBox 9"/>
          <p:cNvSpPr txBox="1"/>
          <p:nvPr/>
        </p:nvSpPr>
        <p:spPr>
          <a:xfrm>
            <a:off x="7539959" y="2176272"/>
            <a:ext cx="3874495" cy="777240"/>
          </a:xfrm>
          <a:prstGeom prst="rect">
            <a:avLst/>
          </a:prstGeom>
          <a:noFill/>
        </p:spPr>
        <p:txBody>
          <a:bodyPr wrap="square" lIns="0" rIns="0" tIns="0" bIns="0" anchor="t">
            <a:spAutoFit/>
          </a:bodyPr>
          <a:lstStyle/>
          <a:p>
            <a:pPr algn="l">
              <a:lnSpc>
                <a:spcPct val="120000"/>
              </a:lnSpc>
              <a:spcAft>
                <a:spcPts val="600"/>
              </a:spcAft>
            </a:pPr>
            <a:r>
              <a:rPr sz="1250" b="0" i="0">
                <a:solidFill>
                  <a:srgbClr val="0F1A2E"/>
                </a:solidFill>
                <a:latin typeface="Calibri"/>
              </a:rPr>
              <a:t>mw, clogp, tpsa, hbd, hba, rotatable bonds, aromatic rings, fraction csp3, ring count, heavy atoms, formal charge, qed</a:t>
            </a:r>
          </a:p>
        </p:txBody>
      </p:sp>
      <p:sp>
        <p:nvSpPr>
          <p:cNvPr id="11" name="TextBox 10"/>
          <p:cNvSpPr txBox="1"/>
          <p:nvPr/>
        </p:nvSpPr>
        <p:spPr>
          <a:xfrm>
            <a:off x="566928" y="3337560"/>
            <a:ext cx="11057839" cy="731520"/>
          </a:xfrm>
          <a:prstGeom prst="rect">
            <a:avLst/>
          </a:prstGeom>
          <a:noFill/>
        </p:spPr>
        <p:txBody>
          <a:bodyPr wrap="square" lIns="0" rIns="0" tIns="0" bIns="0">
            <a:spAutoFit/>
          </a:bodyPr>
          <a:lstStyle/>
          <a:p>
            <a:pPr algn="ctr"/>
            <a:r>
              <a:rPr b="1" sz="2600">
                <a:solidFill>
                  <a:srgbClr val="1F3A5F"/>
                </a:solidFill>
                <a:latin typeface="Cambria"/>
              </a:rPr>
              <a:t>φ(m) = [ b</a:t>
            </a:r>
            <a:r>
              <a:rPr b="1" sz="1872" baseline="-25000">
                <a:solidFill>
                  <a:srgbClr val="1F3A5F"/>
                </a:solidFill>
                <a:latin typeface="Cambria"/>
              </a:rPr>
              <a:t>0</a:t>
            </a:r>
            <a:r>
              <a:rPr b="1" sz="2600">
                <a:solidFill>
                  <a:srgbClr val="1F3A5F"/>
                </a:solidFill>
                <a:latin typeface="Cambria"/>
              </a:rPr>
              <a:t>, …, b</a:t>
            </a:r>
            <a:r>
              <a:rPr b="1" sz="1872" baseline="-25000">
                <a:solidFill>
                  <a:srgbClr val="1F3A5F"/>
                </a:solidFill>
                <a:latin typeface="Cambria"/>
              </a:rPr>
              <a:t>1023</a:t>
            </a:r>
            <a:r>
              <a:rPr b="1" sz="2600">
                <a:solidFill>
                  <a:srgbClr val="1F3A5F"/>
                </a:solidFill>
                <a:latin typeface="Cambria"/>
              </a:rPr>
              <a:t>,  d</a:t>
            </a:r>
            <a:r>
              <a:rPr b="1" sz="1872" baseline="-25000">
                <a:solidFill>
                  <a:srgbClr val="1F3A5F"/>
                </a:solidFill>
                <a:latin typeface="Cambria"/>
              </a:rPr>
              <a:t>1</a:t>
            </a:r>
            <a:r>
              <a:rPr b="1" sz="2600">
                <a:solidFill>
                  <a:srgbClr val="1F3A5F"/>
                </a:solidFill>
                <a:latin typeface="Cambria"/>
              </a:rPr>
              <a:t>, …, d</a:t>
            </a:r>
            <a:r>
              <a:rPr b="1" sz="1872" baseline="-25000">
                <a:solidFill>
                  <a:srgbClr val="1F3A5F"/>
                </a:solidFill>
                <a:latin typeface="Cambria"/>
              </a:rPr>
              <a:t>12</a:t>
            </a:r>
            <a:r>
              <a:rPr b="1" sz="2600">
                <a:solidFill>
                  <a:srgbClr val="1F3A5F"/>
                </a:solidFill>
                <a:latin typeface="Cambria"/>
              </a:rPr>
              <a:t> ]   ∈  ℝ</a:t>
            </a:r>
            <a:r>
              <a:rPr b="1" sz="1872" baseline="-25000">
                <a:solidFill>
                  <a:srgbClr val="1F3A5F"/>
                </a:solidFill>
                <a:latin typeface="Cambria"/>
              </a:rPr>
              <a:t>1036</a:t>
            </a:r>
          </a:p>
        </p:txBody>
      </p:sp>
      <p:sp>
        <p:nvSpPr>
          <p:cNvPr id="12" name="TextBox 11"/>
          <p:cNvSpPr txBox="1"/>
          <p:nvPr/>
        </p:nvSpPr>
        <p:spPr>
          <a:xfrm>
            <a:off x="566928" y="4160520"/>
            <a:ext cx="11057839" cy="1965960"/>
          </a:xfrm>
          <a:prstGeom prst="rect">
            <a:avLst/>
          </a:prstGeom>
          <a:noFill/>
        </p:spPr>
        <p:txBody>
          <a:bodyPr wrap="square" lIns="0" rIns="0" tIns="0" bIns="0" anchor="t">
            <a:spAutoFit/>
          </a:bodyPr>
          <a:lstStyle/>
          <a:p>
            <a:pPr algn="l">
              <a:lnSpc>
                <a:spcPct val="122000"/>
              </a:lnSpc>
              <a:spcAft>
                <a:spcPts val="900"/>
              </a:spcAft>
            </a:pPr>
            <a:r>
              <a:rPr sz="1400" b="0" i="0">
                <a:solidFill>
                  <a:srgbClr val="0F1A2E"/>
                </a:solidFill>
                <a:latin typeface="Calibri"/>
              </a:rPr>
              <a:t>•   Using one representation everywhere means a comparison between two algorithms is never confounded by a difference in features.</a:t>
            </a:r>
          </a:p>
          <a:p>
            <a:pPr algn="l">
              <a:lnSpc>
                <a:spcPct val="122000"/>
              </a:lnSpc>
              <a:spcAft>
                <a:spcPts val="900"/>
              </a:spcAft>
            </a:pPr>
            <a:r>
              <a:rPr sz="1400" b="0" i="0">
                <a:solidFill>
                  <a:srgbClr val="0F1A2E"/>
                </a:solidFill>
                <a:latin typeface="Calibri"/>
              </a:rPr>
              <a:t>•   The twelve descriptors are the classical determinants of passive permeability, which is why they are present at all: the barrier endpoint is where physicochemistry, not substructure, is the mechanism.</a:t>
            </a:r>
          </a:p>
        </p:txBody>
      </p:sp>
      <p:sp>
        <p:nvSpPr>
          <p:cNvPr id="13" name="TextBox 12"/>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src/brainsafe/features/featurize.py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How the fingerprint is computed</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Iterative neighbourhood hashing. There is no learning anywhere in this step</a:t>
            </a:r>
          </a:p>
        </p:txBody>
      </p:sp>
      <p:sp>
        <p:nvSpPr>
          <p:cNvPr id="5" name="Oval 4"/>
          <p:cNvSpPr/>
          <p:nvPr/>
        </p:nvSpPr>
        <p:spPr>
          <a:xfrm>
            <a:off x="566928" y="1664208"/>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6" name="TextBox 5"/>
          <p:cNvSpPr txBox="1"/>
          <p:nvPr/>
        </p:nvSpPr>
        <p:spPr>
          <a:xfrm>
            <a:off x="1024128" y="1645920"/>
            <a:ext cx="1234440" cy="274320"/>
          </a:xfrm>
          <a:prstGeom prst="rect">
            <a:avLst/>
          </a:prstGeom>
          <a:noFill/>
        </p:spPr>
        <p:txBody>
          <a:bodyPr wrap="square" lIns="0" rIns="0" tIns="0" bIns="0" anchor="t">
            <a:spAutoFit/>
          </a:bodyPr>
          <a:lstStyle/>
          <a:p>
            <a:pPr algn="l">
              <a:spcAft>
                <a:spcPts val="600"/>
              </a:spcAft>
            </a:pPr>
            <a:r>
              <a:rPr sz="1400" b="1" i="0">
                <a:solidFill>
                  <a:srgbClr val="1F3A5F"/>
                </a:solidFill>
                <a:latin typeface="Calibri"/>
              </a:rPr>
              <a:t>Step 0</a:t>
            </a:r>
          </a:p>
        </p:txBody>
      </p:sp>
      <p:sp>
        <p:nvSpPr>
          <p:cNvPr id="7" name="TextBox 6"/>
          <p:cNvSpPr txBox="1"/>
          <p:nvPr/>
        </p:nvSpPr>
        <p:spPr>
          <a:xfrm>
            <a:off x="2350008" y="1645920"/>
            <a:ext cx="9274759" cy="658368"/>
          </a:xfrm>
          <a:prstGeom prst="rect">
            <a:avLst/>
          </a:prstGeom>
          <a:noFill/>
        </p:spPr>
        <p:txBody>
          <a:bodyPr wrap="square" lIns="0" rIns="0" tIns="0" bIns="0" anchor="t">
            <a:spAutoFit/>
          </a:bodyPr>
          <a:lstStyle/>
          <a:p>
            <a:pPr algn="l">
              <a:lnSpc>
                <a:spcPct val="120000"/>
              </a:lnSpc>
              <a:spcAft>
                <a:spcPts val="600"/>
              </a:spcAft>
            </a:pPr>
            <a:r>
              <a:rPr sz="1300" b="0" i="0">
                <a:solidFill>
                  <a:srgbClr val="0F1A2E"/>
                </a:solidFill>
                <a:latin typeface="Calibri"/>
              </a:rPr>
              <a:t>Each atom gets an integer identifier hashed from its own properties: element, degree, charge, attached hydrogens, ring membership.</a:t>
            </a:r>
          </a:p>
        </p:txBody>
      </p:sp>
      <p:sp>
        <p:nvSpPr>
          <p:cNvPr id="8" name="Oval 7"/>
          <p:cNvSpPr/>
          <p:nvPr/>
        </p:nvSpPr>
        <p:spPr>
          <a:xfrm>
            <a:off x="566928" y="2505456"/>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9" name="TextBox 8"/>
          <p:cNvSpPr txBox="1"/>
          <p:nvPr/>
        </p:nvSpPr>
        <p:spPr>
          <a:xfrm>
            <a:off x="1024128" y="2487168"/>
            <a:ext cx="1234440" cy="274320"/>
          </a:xfrm>
          <a:prstGeom prst="rect">
            <a:avLst/>
          </a:prstGeom>
          <a:noFill/>
        </p:spPr>
        <p:txBody>
          <a:bodyPr wrap="square" lIns="0" rIns="0" tIns="0" bIns="0" anchor="t">
            <a:spAutoFit/>
          </a:bodyPr>
          <a:lstStyle/>
          <a:p>
            <a:pPr algn="l">
              <a:spcAft>
                <a:spcPts val="600"/>
              </a:spcAft>
            </a:pPr>
            <a:r>
              <a:rPr sz="1400" b="1" i="0">
                <a:solidFill>
                  <a:srgbClr val="1F3A5F"/>
                </a:solidFill>
                <a:latin typeface="Calibri"/>
              </a:rPr>
              <a:t>Step k</a:t>
            </a:r>
          </a:p>
        </p:txBody>
      </p:sp>
      <p:sp>
        <p:nvSpPr>
          <p:cNvPr id="10" name="TextBox 9"/>
          <p:cNvSpPr txBox="1"/>
          <p:nvPr/>
        </p:nvSpPr>
        <p:spPr>
          <a:xfrm>
            <a:off x="2350008" y="2487168"/>
            <a:ext cx="9274759" cy="658368"/>
          </a:xfrm>
          <a:prstGeom prst="rect">
            <a:avLst/>
          </a:prstGeom>
          <a:noFill/>
        </p:spPr>
        <p:txBody>
          <a:bodyPr wrap="square" lIns="0" rIns="0" tIns="0" bIns="0" anchor="t">
            <a:spAutoFit/>
          </a:bodyPr>
          <a:lstStyle/>
          <a:p>
            <a:pPr algn="l">
              <a:lnSpc>
                <a:spcPct val="120000"/>
              </a:lnSpc>
              <a:spcAft>
                <a:spcPts val="600"/>
              </a:spcAft>
            </a:pPr>
            <a:r>
              <a:rPr sz="1300" b="0" i="0">
                <a:solidFill>
                  <a:srgbClr val="0F1A2E"/>
                </a:solidFill>
                <a:latin typeface="Calibri"/>
              </a:rPr>
              <a:t>Each identifier is replaced by a hash of itself together with its bonded neighbours' identifiers and the bond types. Neighbours are sorted first, so the result does not depend on atom ordering.</a:t>
            </a:r>
          </a:p>
        </p:txBody>
      </p:sp>
      <p:sp>
        <p:nvSpPr>
          <p:cNvPr id="11" name="Oval 10"/>
          <p:cNvSpPr/>
          <p:nvPr/>
        </p:nvSpPr>
        <p:spPr>
          <a:xfrm>
            <a:off x="566928" y="3346704"/>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2" name="TextBox 11"/>
          <p:cNvSpPr txBox="1"/>
          <p:nvPr/>
        </p:nvSpPr>
        <p:spPr>
          <a:xfrm>
            <a:off x="1024128" y="3328416"/>
            <a:ext cx="1234440" cy="274320"/>
          </a:xfrm>
          <a:prstGeom prst="rect">
            <a:avLst/>
          </a:prstGeom>
          <a:noFill/>
        </p:spPr>
        <p:txBody>
          <a:bodyPr wrap="square" lIns="0" rIns="0" tIns="0" bIns="0" anchor="t">
            <a:spAutoFit/>
          </a:bodyPr>
          <a:lstStyle/>
          <a:p>
            <a:pPr algn="l">
              <a:spcAft>
                <a:spcPts val="600"/>
              </a:spcAft>
            </a:pPr>
            <a:r>
              <a:rPr sz="1400" b="1" i="0">
                <a:solidFill>
                  <a:srgbClr val="1F3A5F"/>
                </a:solidFill>
                <a:latin typeface="Calibri"/>
              </a:rPr>
              <a:t>Radius 2</a:t>
            </a:r>
          </a:p>
        </p:txBody>
      </p:sp>
      <p:sp>
        <p:nvSpPr>
          <p:cNvPr id="13" name="TextBox 12"/>
          <p:cNvSpPr txBox="1"/>
          <p:nvPr/>
        </p:nvSpPr>
        <p:spPr>
          <a:xfrm>
            <a:off x="2350008" y="3328416"/>
            <a:ext cx="9274759" cy="658368"/>
          </a:xfrm>
          <a:prstGeom prst="rect">
            <a:avLst/>
          </a:prstGeom>
          <a:noFill/>
        </p:spPr>
        <p:txBody>
          <a:bodyPr wrap="square" lIns="0" rIns="0" tIns="0" bIns="0" anchor="t">
            <a:spAutoFit/>
          </a:bodyPr>
          <a:lstStyle/>
          <a:p>
            <a:pPr algn="l">
              <a:lnSpc>
                <a:spcPct val="120000"/>
              </a:lnSpc>
              <a:spcAft>
                <a:spcPts val="600"/>
              </a:spcAft>
            </a:pPr>
            <a:r>
              <a:rPr sz="1300" b="0" i="0">
                <a:solidFill>
                  <a:srgbClr val="0F1A2E"/>
                </a:solidFill>
                <a:latin typeface="Calibri"/>
              </a:rPr>
              <a:t>Done twice. Each final identifier now encodes the atom plus everything within two bonds: a circular substructure. ECFP-4 names the diameter, 2 × radius, so radius 2 and ECFP-4 are the same thing.</a:t>
            </a:r>
          </a:p>
        </p:txBody>
      </p:sp>
      <p:sp>
        <p:nvSpPr>
          <p:cNvPr id="14" name="Oval 13"/>
          <p:cNvSpPr/>
          <p:nvPr/>
        </p:nvSpPr>
        <p:spPr>
          <a:xfrm>
            <a:off x="566928" y="4187952"/>
            <a:ext cx="310896" cy="310896"/>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5" name="TextBox 14"/>
          <p:cNvSpPr txBox="1"/>
          <p:nvPr/>
        </p:nvSpPr>
        <p:spPr>
          <a:xfrm>
            <a:off x="1024128" y="4169664"/>
            <a:ext cx="1234440" cy="274320"/>
          </a:xfrm>
          <a:prstGeom prst="rect">
            <a:avLst/>
          </a:prstGeom>
          <a:noFill/>
        </p:spPr>
        <p:txBody>
          <a:bodyPr wrap="square" lIns="0" rIns="0" tIns="0" bIns="0" anchor="t">
            <a:spAutoFit/>
          </a:bodyPr>
          <a:lstStyle/>
          <a:p>
            <a:pPr algn="l">
              <a:spcAft>
                <a:spcPts val="600"/>
              </a:spcAft>
            </a:pPr>
            <a:r>
              <a:rPr sz="1400" b="1" i="0">
                <a:solidFill>
                  <a:srgbClr val="1F3A5F"/>
                </a:solidFill>
                <a:latin typeface="Calibri"/>
              </a:rPr>
              <a:t>Folding</a:t>
            </a:r>
          </a:p>
        </p:txBody>
      </p:sp>
      <p:sp>
        <p:nvSpPr>
          <p:cNvPr id="16" name="TextBox 15"/>
          <p:cNvSpPr txBox="1"/>
          <p:nvPr/>
        </p:nvSpPr>
        <p:spPr>
          <a:xfrm>
            <a:off x="2350008" y="4169664"/>
            <a:ext cx="9274759" cy="658368"/>
          </a:xfrm>
          <a:prstGeom prst="rect">
            <a:avLst/>
          </a:prstGeom>
          <a:noFill/>
        </p:spPr>
        <p:txBody>
          <a:bodyPr wrap="square" lIns="0" rIns="0" tIns="0" bIns="0" anchor="t">
            <a:spAutoFit/>
          </a:bodyPr>
          <a:lstStyle/>
          <a:p>
            <a:pPr algn="l">
              <a:lnSpc>
                <a:spcPct val="120000"/>
              </a:lnSpc>
              <a:spcAft>
                <a:spcPts val="600"/>
              </a:spcAft>
            </a:pPr>
            <a:r>
              <a:rPr sz="1300" b="0" i="0">
                <a:solidFill>
                  <a:srgbClr val="0F1A2E"/>
                </a:solidFill>
                <a:latin typeface="Calibri"/>
              </a:rPr>
              <a:t>The set of identifiers across a library is unbounded, so each is reduced modulo the bit width to give a fixed-length vector.</a:t>
            </a:r>
          </a:p>
        </p:txBody>
      </p:sp>
      <p:sp>
        <p:nvSpPr>
          <p:cNvPr id="17" name="Rounded Rectangle 16"/>
          <p:cNvSpPr/>
          <p:nvPr/>
        </p:nvSpPr>
        <p:spPr>
          <a:xfrm>
            <a:off x="566928" y="5074920"/>
            <a:ext cx="11057839" cy="8686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66928" y="5285232"/>
            <a:ext cx="11057839" cy="731520"/>
          </a:xfrm>
          <a:prstGeom prst="rect">
            <a:avLst/>
          </a:prstGeom>
          <a:noFill/>
        </p:spPr>
        <p:txBody>
          <a:bodyPr wrap="square" lIns="0" rIns="0" tIns="0" bIns="0">
            <a:spAutoFit/>
          </a:bodyPr>
          <a:lstStyle/>
          <a:p>
            <a:pPr algn="ctr"/>
            <a:r>
              <a:rPr b="1" sz="2000">
                <a:solidFill>
                  <a:srgbClr val="1F3A5F"/>
                </a:solidFill>
                <a:latin typeface="Cambria"/>
              </a:rPr>
              <a:t>id</a:t>
            </a:r>
            <a:r>
              <a:rPr b="1" sz="1439" baseline="-25000">
                <a:solidFill>
                  <a:srgbClr val="1F3A5F"/>
                </a:solidFill>
                <a:latin typeface="Cambria"/>
              </a:rPr>
              <a:t>a</a:t>
            </a:r>
            <a:r>
              <a:rPr b="1" sz="1439" baseline="-25000">
                <a:solidFill>
                  <a:srgbClr val="1F3A5F"/>
                </a:solidFill>
                <a:latin typeface="Cambria"/>
              </a:rPr>
              <a:t>(k)</a:t>
            </a:r>
            <a:r>
              <a:rPr b="1" sz="2000">
                <a:solidFill>
                  <a:srgbClr val="1F3A5F"/>
                </a:solidFill>
                <a:latin typeface="Cambria"/>
              </a:rPr>
              <a:t>  =  H( id</a:t>
            </a:r>
            <a:r>
              <a:rPr b="1" sz="1439" baseline="-25000">
                <a:solidFill>
                  <a:srgbClr val="1F3A5F"/>
                </a:solidFill>
                <a:latin typeface="Cambria"/>
              </a:rPr>
              <a:t>a</a:t>
            </a:r>
            <a:r>
              <a:rPr b="1" sz="1439" baseline="-25000">
                <a:solidFill>
                  <a:srgbClr val="1F3A5F"/>
                </a:solidFill>
                <a:latin typeface="Cambria"/>
              </a:rPr>
              <a:t>(k−1)</a:t>
            </a:r>
            <a:r>
              <a:rPr b="1" sz="2000">
                <a:solidFill>
                  <a:srgbClr val="1F3A5F"/>
                </a:solidFill>
                <a:latin typeface="Cambria"/>
              </a:rPr>
              <a:t> ,  { (β</a:t>
            </a:r>
            <a:r>
              <a:rPr b="1" sz="1439" baseline="-25000">
                <a:solidFill>
                  <a:srgbClr val="1F3A5F"/>
                </a:solidFill>
                <a:latin typeface="Cambria"/>
              </a:rPr>
              <a:t>ab</a:t>
            </a:r>
            <a:r>
              <a:rPr b="1" sz="2000">
                <a:solidFill>
                  <a:srgbClr val="1F3A5F"/>
                </a:solidFill>
                <a:latin typeface="Cambria"/>
              </a:rPr>
              <a:t> , id</a:t>
            </a:r>
            <a:r>
              <a:rPr b="1" sz="1439" baseline="-25000">
                <a:solidFill>
                  <a:srgbClr val="1F3A5F"/>
                </a:solidFill>
                <a:latin typeface="Cambria"/>
              </a:rPr>
              <a:t>b</a:t>
            </a:r>
            <a:r>
              <a:rPr b="1" sz="1439" baseline="-25000">
                <a:solidFill>
                  <a:srgbClr val="1F3A5F"/>
                </a:solidFill>
                <a:latin typeface="Cambria"/>
              </a:rPr>
              <a:t>(k−1)</a:t>
            </a:r>
            <a:r>
              <a:rPr b="1" sz="2000">
                <a:solidFill>
                  <a:srgbClr val="1F3A5F"/>
                </a:solidFill>
                <a:latin typeface="Cambria"/>
              </a:rPr>
              <a:t>) : b ∈ N(a) } )</a:t>
            </a:r>
          </a:p>
        </p:txBody>
      </p:sp>
      <p:sp>
        <p:nvSpPr>
          <p:cNvPr id="19" name="TextBox 18"/>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RDKit rdFingerprintGenerator.GetMorganGenerator(radius=2, fpSize=1024)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Folding makes collisions certain, and we measured them</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most important caveat about the representation, stated as a number rather than a hedge</a:t>
            </a:r>
          </a:p>
        </p:txBody>
      </p:sp>
      <p:sp>
        <p:nvSpPr>
          <p:cNvPr id="5" name="TextBox 4"/>
          <p:cNvSpPr txBox="1"/>
          <p:nvPr/>
        </p:nvSpPr>
        <p:spPr>
          <a:xfrm>
            <a:off x="566928" y="1691640"/>
            <a:ext cx="2468880" cy="603504"/>
          </a:xfrm>
          <a:prstGeom prst="rect">
            <a:avLst/>
          </a:prstGeom>
          <a:noFill/>
        </p:spPr>
        <p:txBody>
          <a:bodyPr wrap="square" lIns="0" rIns="0" tIns="0" bIns="0" anchor="t">
            <a:spAutoFit/>
          </a:bodyPr>
          <a:lstStyle/>
          <a:p>
            <a:pPr algn="l">
              <a:spcAft>
                <a:spcPts val="600"/>
              </a:spcAft>
            </a:pPr>
            <a:r>
              <a:rPr sz="3618" b="1" i="0">
                <a:solidFill>
                  <a:srgbClr val="1F3A5F"/>
                </a:solidFill>
                <a:latin typeface="Cambria"/>
              </a:rPr>
              <a:t>52,882</a:t>
            </a:r>
          </a:p>
        </p:txBody>
      </p:sp>
      <p:sp>
        <p:nvSpPr>
          <p:cNvPr id="6" name="TextBox 5"/>
          <p:cNvSpPr txBox="1"/>
          <p:nvPr/>
        </p:nvSpPr>
        <p:spPr>
          <a:xfrm>
            <a:off x="566928" y="2331720"/>
            <a:ext cx="246888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distinct atomic environments
seen in 20,000 structures</a:t>
            </a:r>
          </a:p>
        </p:txBody>
      </p:sp>
      <p:sp>
        <p:nvSpPr>
          <p:cNvPr id="7" name="TextBox 6"/>
          <p:cNvSpPr txBox="1"/>
          <p:nvPr/>
        </p:nvSpPr>
        <p:spPr>
          <a:xfrm>
            <a:off x="3218688" y="1691640"/>
            <a:ext cx="2468880" cy="603504"/>
          </a:xfrm>
          <a:prstGeom prst="rect">
            <a:avLst/>
          </a:prstGeom>
          <a:noFill/>
        </p:spPr>
        <p:txBody>
          <a:bodyPr wrap="square" lIns="0" rIns="0" tIns="0" bIns="0" anchor="t">
            <a:spAutoFit/>
          </a:bodyPr>
          <a:lstStyle/>
          <a:p>
            <a:pPr algn="l">
              <a:spcAft>
                <a:spcPts val="600"/>
              </a:spcAft>
            </a:pPr>
            <a:r>
              <a:rPr sz="4000" b="1" i="0">
                <a:solidFill>
                  <a:srgbClr val="1F3A5F"/>
                </a:solidFill>
                <a:latin typeface="Cambria"/>
              </a:rPr>
              <a:t>1,024</a:t>
            </a:r>
          </a:p>
        </p:txBody>
      </p:sp>
      <p:sp>
        <p:nvSpPr>
          <p:cNvPr id="8" name="TextBox 7"/>
          <p:cNvSpPr txBox="1"/>
          <p:nvPr/>
        </p:nvSpPr>
        <p:spPr>
          <a:xfrm>
            <a:off x="3218688" y="2331720"/>
            <a:ext cx="246888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bits available
to hold them</a:t>
            </a:r>
          </a:p>
        </p:txBody>
      </p:sp>
      <p:sp>
        <p:nvSpPr>
          <p:cNvPr id="9" name="TextBox 8"/>
          <p:cNvSpPr txBox="1"/>
          <p:nvPr/>
        </p:nvSpPr>
        <p:spPr>
          <a:xfrm>
            <a:off x="5870448" y="1691640"/>
            <a:ext cx="2468880" cy="603504"/>
          </a:xfrm>
          <a:prstGeom prst="rect">
            <a:avLst/>
          </a:prstGeom>
          <a:noFill/>
        </p:spPr>
        <p:txBody>
          <a:bodyPr wrap="square" lIns="0" rIns="0" tIns="0" bIns="0" anchor="t">
            <a:spAutoFit/>
          </a:bodyPr>
          <a:lstStyle/>
          <a:p>
            <a:pPr algn="l">
              <a:spcAft>
                <a:spcPts val="600"/>
              </a:spcAft>
            </a:pPr>
            <a:r>
              <a:rPr sz="4000" b="1" i="0">
                <a:solidFill>
                  <a:srgbClr val="9E2A2B"/>
                </a:solidFill>
                <a:latin typeface="Cambria"/>
              </a:rPr>
              <a:t>1,024</a:t>
            </a:r>
          </a:p>
        </p:txBody>
      </p:sp>
      <p:sp>
        <p:nvSpPr>
          <p:cNvPr id="10" name="TextBox 9"/>
          <p:cNvSpPr txBox="1"/>
          <p:nvPr/>
        </p:nvSpPr>
        <p:spPr>
          <a:xfrm>
            <a:off x="5870448" y="2331720"/>
            <a:ext cx="246888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of 1,024 bits carry MORE
than one environment</a:t>
            </a:r>
          </a:p>
        </p:txBody>
      </p:sp>
      <p:sp>
        <p:nvSpPr>
          <p:cNvPr id="11" name="TextBox 10"/>
          <p:cNvSpPr txBox="1"/>
          <p:nvPr/>
        </p:nvSpPr>
        <p:spPr>
          <a:xfrm>
            <a:off x="8522207" y="1691640"/>
            <a:ext cx="2468880" cy="603504"/>
          </a:xfrm>
          <a:prstGeom prst="rect">
            <a:avLst/>
          </a:prstGeom>
          <a:noFill/>
        </p:spPr>
        <p:txBody>
          <a:bodyPr wrap="square" lIns="0" rIns="0" tIns="0" bIns="0" anchor="t">
            <a:spAutoFit/>
          </a:bodyPr>
          <a:lstStyle/>
          <a:p>
            <a:pPr algn="l">
              <a:spcAft>
                <a:spcPts val="600"/>
              </a:spcAft>
            </a:pPr>
            <a:r>
              <a:rPr sz="4000" b="1" i="0">
                <a:solidFill>
                  <a:srgbClr val="9E2A2B"/>
                </a:solidFill>
                <a:latin typeface="Cambria"/>
              </a:rPr>
              <a:t>52</a:t>
            </a:r>
          </a:p>
        </p:txBody>
      </p:sp>
      <p:sp>
        <p:nvSpPr>
          <p:cNvPr id="12" name="TextBox 11"/>
          <p:cNvSpPr txBox="1"/>
          <p:nvPr/>
        </p:nvSpPr>
        <p:spPr>
          <a:xfrm>
            <a:off x="8522207" y="2331720"/>
            <a:ext cx="246888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environments share the
median bit (max 73)</a:t>
            </a:r>
          </a:p>
        </p:txBody>
      </p:sp>
      <p:sp>
        <p:nvSpPr>
          <p:cNvPr id="13" name="Rounded Rectangle 12"/>
          <p:cNvSpPr/>
          <p:nvPr/>
        </p:nvSpPr>
        <p:spPr>
          <a:xfrm>
            <a:off x="566928" y="3429000"/>
            <a:ext cx="11057839" cy="9601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611880"/>
            <a:ext cx="10509199" cy="640080"/>
          </a:xfrm>
          <a:prstGeom prst="rect">
            <a:avLst/>
          </a:prstGeom>
          <a:noFill/>
        </p:spPr>
        <p:txBody>
          <a:bodyPr wrap="square" lIns="0" rIns="0" tIns="0" bIns="0" anchor="t">
            <a:spAutoFit/>
          </a:bodyPr>
          <a:lstStyle/>
          <a:p>
            <a:pPr algn="ctr">
              <a:lnSpc>
                <a:spcPct val="125000"/>
              </a:lnSpc>
              <a:spcAft>
                <a:spcPts val="600"/>
              </a:spcAft>
            </a:pPr>
            <a:r>
              <a:rPr sz="1700" b="1" i="0">
                <a:solidFill>
                  <a:srgbClr val="9E2A2B"/>
                </a:solidFill>
                <a:latin typeface="Calibri"/>
              </a:rPr>
              <a:t>Bit i does NOT mean “substructure i is present”.
It means “at least one of about 52 different substructures is present”.</a:t>
            </a:r>
          </a:p>
        </p:txBody>
      </p:sp>
      <p:sp>
        <p:nvSpPr>
          <p:cNvPr id="15" name="TextBox 14"/>
          <p:cNvSpPr txBox="1"/>
          <p:nvPr/>
        </p:nvSpPr>
        <p:spPr>
          <a:xfrm>
            <a:off x="566928" y="4617720"/>
            <a:ext cx="11057839" cy="1508760"/>
          </a:xfrm>
          <a:prstGeom prst="rect">
            <a:avLst/>
          </a:prstGeom>
          <a:noFill/>
        </p:spPr>
        <p:txBody>
          <a:bodyPr wrap="square" lIns="0" rIns="0" tIns="0" bIns="0" anchor="t">
            <a:spAutoFit/>
          </a:bodyPr>
          <a:lstStyle/>
          <a:p>
            <a:pPr algn="l">
              <a:lnSpc>
                <a:spcPct val="122000"/>
              </a:lnSpc>
              <a:spcAft>
                <a:spcPts val="700"/>
              </a:spcAft>
            </a:pPr>
            <a:r>
              <a:rPr sz="1350" b="0" i="0">
                <a:solidFill>
                  <a:srgbClr val="0F1A2E"/>
                </a:solidFill>
                <a:latin typeface="Calibri"/>
              </a:rPr>
              <a:t>•   Consequence for interpretation: a bit a tree ranks important names a SET of environments, so a SHAP attribution to one bit cannot be read as a chemical substructure.</a:t>
            </a:r>
          </a:p>
          <a:p>
            <a:pPr algn="l">
              <a:lnSpc>
                <a:spcPct val="122000"/>
              </a:lnSpc>
              <a:spcAft>
                <a:spcPts val="700"/>
              </a:spcAft>
            </a:pPr>
            <a:r>
              <a:rPr sz="1350" b="0" i="0">
                <a:solidFill>
                  <a:srgbClr val="1C7293"/>
                </a:solidFill>
                <a:latin typeface="Calibri"/>
              </a:rPr>
              <a:t>•   Consequence for prediction: none. The model only needs the mapping to be consistent, and it is. Collisions add noise, they do not add bias.</a:t>
            </a:r>
          </a:p>
          <a:p>
            <a:pPr algn="l">
              <a:lnSpc>
                <a:spcPct val="122000"/>
              </a:lnSpc>
              <a:spcAft>
                <a:spcPts val="700"/>
              </a:spcAft>
            </a:pPr>
            <a:r>
              <a:rPr sz="1350" b="0" i="0">
                <a:solidFill>
                  <a:srgbClr val="0F1A2E"/>
                </a:solidFill>
                <a:latin typeface="Calibri"/>
              </a:rPr>
              <a:t>•   Second consequence: the fingerprint is stereo-blind, so enantiomers give identical vectors. This forces the deduplication step on slide 8.</a:t>
            </a:r>
          </a:p>
        </p:txBody>
      </p:sp>
      <p:sp>
        <p:nvSpPr>
          <p:cNvPr id="16" name="TextBox 15"/>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results/tables/fingerprint_collisions.csv; src/brainsafe/evaluation/fingerprint_collisions.py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Where the labels came from</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pChEMBL = −log₁₀(molar potency), so each whole unit is a tenfold change</a:t>
            </a:r>
          </a:p>
        </p:txBody>
      </p:sp>
      <p:sp>
        <p:nvSpPr>
          <p:cNvPr id="5" name="Rounded Rectangle 4"/>
          <p:cNvSpPr/>
          <p:nvPr/>
        </p:nvSpPr>
        <p:spPr>
          <a:xfrm>
            <a:off x="566928" y="1645920"/>
            <a:ext cx="5750076" cy="21488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41247" y="1828800"/>
            <a:ext cx="5201436" cy="320040"/>
          </a:xfrm>
          <a:prstGeom prst="rect">
            <a:avLst/>
          </a:prstGeom>
          <a:noFill/>
        </p:spPr>
        <p:txBody>
          <a:bodyPr wrap="square" lIns="0" rIns="0" tIns="0" bIns="0" anchor="t">
            <a:spAutoFit/>
          </a:bodyPr>
          <a:lstStyle/>
          <a:p>
            <a:pPr algn="l">
              <a:spcAft>
                <a:spcPts val="600"/>
              </a:spcAft>
            </a:pPr>
            <a:r>
              <a:rPr sz="1600" b="1" i="0">
                <a:solidFill>
                  <a:srgbClr val="1F3A5F"/>
                </a:solidFill>
                <a:latin typeface="Calibri"/>
              </a:rPr>
              <a:t>The classification cuts</a:t>
            </a:r>
          </a:p>
        </p:txBody>
      </p:sp>
      <p:sp>
        <p:nvSpPr>
          <p:cNvPr id="7" name="TextBox 6"/>
          <p:cNvSpPr txBox="1"/>
          <p:nvPr/>
        </p:nvSpPr>
        <p:spPr>
          <a:xfrm>
            <a:off x="841247" y="2267712"/>
            <a:ext cx="1188720" cy="310896"/>
          </a:xfrm>
          <a:prstGeom prst="rect">
            <a:avLst/>
          </a:prstGeom>
          <a:noFill/>
        </p:spPr>
        <p:txBody>
          <a:bodyPr wrap="square" lIns="0" rIns="0" tIns="0" bIns="0" anchor="t">
            <a:spAutoFit/>
          </a:bodyPr>
          <a:lstStyle/>
          <a:p>
            <a:pPr algn="l">
              <a:spcAft>
                <a:spcPts val="600"/>
              </a:spcAft>
            </a:pPr>
            <a:r>
              <a:rPr sz="1500" b="1" i="0">
                <a:solidFill>
                  <a:srgbClr val="1C7293"/>
                </a:solidFill>
                <a:latin typeface="Calibri"/>
              </a:rPr>
              <a:t>y = 1</a:t>
            </a:r>
          </a:p>
        </p:txBody>
      </p:sp>
      <p:sp>
        <p:nvSpPr>
          <p:cNvPr id="8" name="TextBox 7"/>
          <p:cNvSpPr txBox="1"/>
          <p:nvPr/>
        </p:nvSpPr>
        <p:spPr>
          <a:xfrm>
            <a:off x="2167128" y="2267712"/>
            <a:ext cx="3875556" cy="310896"/>
          </a:xfrm>
          <a:prstGeom prst="rect">
            <a:avLst/>
          </a:prstGeom>
          <a:noFill/>
        </p:spPr>
        <p:txBody>
          <a:bodyPr wrap="square" lIns="0" rIns="0" tIns="0" bIns="0" anchor="t">
            <a:spAutoFit/>
          </a:bodyPr>
          <a:lstStyle/>
          <a:p>
            <a:pPr algn="l">
              <a:spcAft>
                <a:spcPts val="600"/>
              </a:spcAft>
            </a:pPr>
            <a:r>
              <a:rPr sz="1350" b="0" i="0">
                <a:solidFill>
                  <a:srgbClr val="0F1A2E"/>
                </a:solidFill>
                <a:latin typeface="Calibri"/>
              </a:rPr>
              <a:t>pChEMBL ≥ 6.0      (≤ 1 µM, active)</a:t>
            </a:r>
          </a:p>
        </p:txBody>
      </p:sp>
      <p:sp>
        <p:nvSpPr>
          <p:cNvPr id="9" name="TextBox 8"/>
          <p:cNvSpPr txBox="1"/>
          <p:nvPr/>
        </p:nvSpPr>
        <p:spPr>
          <a:xfrm>
            <a:off x="841247" y="2743200"/>
            <a:ext cx="1188720" cy="310896"/>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y = 0</a:t>
            </a:r>
          </a:p>
        </p:txBody>
      </p:sp>
      <p:sp>
        <p:nvSpPr>
          <p:cNvPr id="10" name="TextBox 9"/>
          <p:cNvSpPr txBox="1"/>
          <p:nvPr/>
        </p:nvSpPr>
        <p:spPr>
          <a:xfrm>
            <a:off x="2167128" y="2743200"/>
            <a:ext cx="3875556" cy="310896"/>
          </a:xfrm>
          <a:prstGeom prst="rect">
            <a:avLst/>
          </a:prstGeom>
          <a:noFill/>
        </p:spPr>
        <p:txBody>
          <a:bodyPr wrap="square" lIns="0" rIns="0" tIns="0" bIns="0" anchor="t">
            <a:spAutoFit/>
          </a:bodyPr>
          <a:lstStyle/>
          <a:p>
            <a:pPr algn="l">
              <a:spcAft>
                <a:spcPts val="600"/>
              </a:spcAft>
            </a:pPr>
            <a:r>
              <a:rPr sz="1350" b="0" i="0">
                <a:solidFill>
                  <a:srgbClr val="0F1A2E"/>
                </a:solidFill>
                <a:latin typeface="Calibri"/>
              </a:rPr>
              <a:t>pChEMBL &lt; 5.0       (&gt; 10 µM, inactive)</a:t>
            </a:r>
          </a:p>
        </p:txBody>
      </p:sp>
      <p:sp>
        <p:nvSpPr>
          <p:cNvPr id="11" name="TextBox 10"/>
          <p:cNvSpPr txBox="1"/>
          <p:nvPr/>
        </p:nvSpPr>
        <p:spPr>
          <a:xfrm>
            <a:off x="841247" y="3218688"/>
            <a:ext cx="1188720" cy="310896"/>
          </a:xfrm>
          <a:prstGeom prst="rect">
            <a:avLst/>
          </a:prstGeom>
          <a:noFill/>
        </p:spPr>
        <p:txBody>
          <a:bodyPr wrap="square" lIns="0" rIns="0" tIns="0" bIns="0" anchor="t">
            <a:spAutoFit/>
          </a:bodyPr>
          <a:lstStyle/>
          <a:p>
            <a:pPr algn="l">
              <a:spcAft>
                <a:spcPts val="600"/>
              </a:spcAft>
            </a:pPr>
            <a:r>
              <a:rPr sz="1500" b="1" i="0">
                <a:solidFill>
                  <a:srgbClr val="D98324"/>
                </a:solidFill>
                <a:latin typeface="Calibri"/>
              </a:rPr>
              <a:t>discarded</a:t>
            </a:r>
          </a:p>
        </p:txBody>
      </p:sp>
      <p:sp>
        <p:nvSpPr>
          <p:cNvPr id="12" name="TextBox 11"/>
          <p:cNvSpPr txBox="1"/>
          <p:nvPr/>
        </p:nvSpPr>
        <p:spPr>
          <a:xfrm>
            <a:off x="2167128" y="3218688"/>
            <a:ext cx="3875556" cy="310896"/>
          </a:xfrm>
          <a:prstGeom prst="rect">
            <a:avLst/>
          </a:prstGeom>
          <a:noFill/>
        </p:spPr>
        <p:txBody>
          <a:bodyPr wrap="square" lIns="0" rIns="0" tIns="0" bIns="0" anchor="t">
            <a:spAutoFit/>
          </a:bodyPr>
          <a:lstStyle/>
          <a:p>
            <a:pPr algn="l">
              <a:spcAft>
                <a:spcPts val="600"/>
              </a:spcAft>
            </a:pPr>
            <a:r>
              <a:rPr sz="1350" b="0" i="0">
                <a:solidFill>
                  <a:srgbClr val="0F1A2E"/>
                </a:solidFill>
                <a:latin typeface="Calibri"/>
              </a:rPr>
              <a:t>5.0 ≤ pChEMBL &lt; 6.0</a:t>
            </a:r>
          </a:p>
        </p:txBody>
      </p:sp>
      <p:sp>
        <p:nvSpPr>
          <p:cNvPr id="13" name="TextBox 12"/>
          <p:cNvSpPr txBox="1"/>
          <p:nvPr/>
        </p:nvSpPr>
        <p:spPr>
          <a:xfrm>
            <a:off x="6545604" y="1691640"/>
            <a:ext cx="5079162" cy="292608"/>
          </a:xfrm>
          <a:prstGeom prst="rect">
            <a:avLst/>
          </a:prstGeom>
          <a:noFill/>
        </p:spPr>
        <p:txBody>
          <a:bodyPr wrap="square" lIns="0" rIns="0" tIns="0" bIns="0" anchor="t">
            <a:spAutoFit/>
          </a:bodyPr>
          <a:lstStyle/>
          <a:p>
            <a:pPr algn="l">
              <a:spcAft>
                <a:spcPts val="600"/>
              </a:spcAft>
            </a:pPr>
            <a:r>
              <a:rPr sz="1600" b="1" i="0">
                <a:solidFill>
                  <a:srgbClr val="1F3A5F"/>
                </a:solidFill>
                <a:latin typeface="Calibri"/>
              </a:rPr>
              <a:t>Why the grey zone is thrown away</a:t>
            </a:r>
          </a:p>
        </p:txBody>
      </p:sp>
      <p:sp>
        <p:nvSpPr>
          <p:cNvPr id="14" name="TextBox 13"/>
          <p:cNvSpPr txBox="1"/>
          <p:nvPr/>
        </p:nvSpPr>
        <p:spPr>
          <a:xfrm>
            <a:off x="6545604" y="2084831"/>
            <a:ext cx="5079162" cy="4041648"/>
          </a:xfrm>
          <a:prstGeom prst="rect">
            <a:avLst/>
          </a:prstGeom>
          <a:noFill/>
        </p:spPr>
        <p:txBody>
          <a:bodyPr wrap="square" lIns="0" rIns="0" tIns="0" bIns="0" anchor="t">
            <a:spAutoFit/>
          </a:bodyPr>
          <a:lstStyle/>
          <a:p>
            <a:pPr algn="l">
              <a:lnSpc>
                <a:spcPct val="122000"/>
              </a:lnSpc>
              <a:spcAft>
                <a:spcPts val="800"/>
              </a:spcAft>
            </a:pPr>
            <a:r>
              <a:rPr sz="1300" b="0" i="0">
                <a:solidFill>
                  <a:srgbClr val="0F1A2E"/>
                </a:solidFill>
                <a:latin typeface="Calibri"/>
              </a:rPr>
              <a:t>•   A compound at pChEMBL 5.5 is neither usefully active nor confidently inactive.</a:t>
            </a:r>
          </a:p>
          <a:p>
            <a:pPr algn="l">
              <a:lnSpc>
                <a:spcPct val="122000"/>
              </a:lnSpc>
              <a:spcAft>
                <a:spcPts val="800"/>
              </a:spcAft>
            </a:pPr>
            <a:r>
              <a:rPr sz="1300" b="0" i="0">
                <a:solidFill>
                  <a:srgbClr val="0F1A2E"/>
                </a:solidFill>
                <a:latin typeface="Calibri"/>
              </a:rPr>
              <a:t>•   Forcing it to one side would teach the model a boundary the assay data does not support.</a:t>
            </a:r>
          </a:p>
          <a:p>
            <a:pPr algn="l">
              <a:lnSpc>
                <a:spcPct val="122000"/>
              </a:lnSpc>
              <a:spcAft>
                <a:spcPts val="800"/>
              </a:spcAft>
            </a:pPr>
            <a:r>
              <a:rPr sz="1300" b="0" i="0">
                <a:solidFill>
                  <a:srgbClr val="1C7293"/>
                </a:solidFill>
                <a:latin typeface="Calibri"/>
              </a:rPr>
              <a:t>•   The cost is discarded data. The benefit is that the two classes are separated by a full log unit, comfortably more than inter-laboratory assay variability.</a:t>
            </a:r>
          </a:p>
        </p:txBody>
      </p:sp>
      <p:sp>
        <p:nvSpPr>
          <p:cNvPr id="15" name="TextBox 14"/>
          <p:cNvSpPr txBox="1"/>
          <p:nvPr/>
        </p:nvSpPr>
        <p:spPr>
          <a:xfrm>
            <a:off x="566928" y="4069080"/>
            <a:ext cx="11057839" cy="292608"/>
          </a:xfrm>
          <a:prstGeom prst="rect">
            <a:avLst/>
          </a:prstGeom>
          <a:noFill/>
        </p:spPr>
        <p:txBody>
          <a:bodyPr wrap="square" lIns="0" rIns="0" tIns="0" bIns="0" anchor="t">
            <a:spAutoFit/>
          </a:bodyPr>
          <a:lstStyle/>
          <a:p>
            <a:pPr algn="l">
              <a:spcAft>
                <a:spcPts val="600"/>
              </a:spcAft>
            </a:pPr>
            <a:r>
              <a:rPr sz="1600" b="1" i="0">
                <a:solidFill>
                  <a:srgbClr val="1F3A5F"/>
                </a:solidFill>
                <a:latin typeface="Calibri"/>
              </a:rPr>
              <a:t>Three further curation rules</a:t>
            </a:r>
          </a:p>
        </p:txBody>
      </p:sp>
      <p:sp>
        <p:nvSpPr>
          <p:cNvPr id="16" name="TextBox 15"/>
          <p:cNvSpPr txBox="1"/>
          <p:nvPr/>
        </p:nvSpPr>
        <p:spPr>
          <a:xfrm>
            <a:off x="566928" y="4462272"/>
            <a:ext cx="11057839" cy="1664208"/>
          </a:xfrm>
          <a:prstGeom prst="rect">
            <a:avLst/>
          </a:prstGeom>
          <a:noFill/>
        </p:spPr>
        <p:txBody>
          <a:bodyPr wrap="square" lIns="0" rIns="0" tIns="0" bIns="0" anchor="t">
            <a:spAutoFit/>
          </a:bodyPr>
          <a:lstStyle/>
          <a:p>
            <a:pPr algn="l">
              <a:lnSpc>
                <a:spcPct val="122000"/>
              </a:lnSpc>
              <a:spcAft>
                <a:spcPts val="700"/>
              </a:spcAft>
            </a:pPr>
            <a:r>
              <a:rPr sz="1300" b="0" i="0">
                <a:solidFill>
                  <a:srgbClr val="0F1A2E"/>
                </a:solidFill>
                <a:latin typeface="Calibri"/>
              </a:rPr>
              <a:t>•   Replicates resolve by MEDIAN, not mean: robust to the single badly transcribed outlier that is common in aggregated assay literature.</a:t>
            </a:r>
          </a:p>
          <a:p>
            <a:pPr algn="l">
              <a:lnSpc>
                <a:spcPct val="122000"/>
              </a:lnSpc>
              <a:spcAft>
                <a:spcPts val="700"/>
              </a:spcAft>
            </a:pPr>
            <a:r>
              <a:rPr sz="1300" b="0" i="0">
                <a:solidFill>
                  <a:srgbClr val="0F1A2E"/>
                </a:solidFill>
                <a:latin typeface="Calibri"/>
              </a:rPr>
              <a:t>•   Censored values (“&gt; 10 µM”) are labelled inactive directly, never passed through the cut. They are a real observation of inactivity, and discarding them would throw away most of the negative class.</a:t>
            </a:r>
          </a:p>
          <a:p>
            <a:pPr algn="l">
              <a:lnSpc>
                <a:spcPct val="122000"/>
              </a:lnSpc>
              <a:spcAft>
                <a:spcPts val="700"/>
              </a:spcAft>
            </a:pPr>
            <a:r>
              <a:rPr sz="1300" b="0" i="0">
                <a:solidFill>
                  <a:srgbClr val="0F1A2E"/>
                </a:solidFill>
                <a:latin typeface="Calibri"/>
              </a:rPr>
              <a:t>•   The binder panel uses a stricter cut, pChEMBL ≥ 7.0, because a binder call is a stronger claim than an activity call.</a:t>
            </a:r>
          </a:p>
        </p:txBody>
      </p:sp>
      <p:sp>
        <p:nvSpPr>
          <p:cNvPr id="17" name="TextBox 16"/>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src/brainsafe/data/rebuild_endpoints.py:56; src/brainsafe/models/train_binders_hybrid.py:57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7</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Deduplication, and why it happens on the feature vector</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Because φ is stereo-blind and desalts, distinct database rows become byte-identical inputs</a:t>
            </a:r>
          </a:p>
        </p:txBody>
      </p:sp>
      <p:sp>
        <p:nvSpPr>
          <p:cNvPr id="5" name="TextBox 4"/>
          <p:cNvSpPr txBox="1"/>
          <p:nvPr/>
        </p:nvSpPr>
        <p:spPr>
          <a:xfrm>
            <a:off x="566928" y="1737360"/>
            <a:ext cx="2743200" cy="603504"/>
          </a:xfrm>
          <a:prstGeom prst="rect">
            <a:avLst/>
          </a:prstGeom>
          <a:noFill/>
        </p:spPr>
        <p:txBody>
          <a:bodyPr wrap="square" lIns="0" rIns="0" tIns="0" bIns="0" anchor="t">
            <a:spAutoFit/>
          </a:bodyPr>
          <a:lstStyle/>
          <a:p>
            <a:pPr algn="l">
              <a:spcAft>
                <a:spcPts val="600"/>
              </a:spcAft>
            </a:pPr>
            <a:r>
              <a:rPr sz="4000" b="1" i="0">
                <a:solidFill>
                  <a:srgbClr val="5F6B7A"/>
                </a:solidFill>
                <a:latin typeface="Cambria"/>
              </a:rPr>
              <a:t>7,807</a:t>
            </a:r>
          </a:p>
        </p:txBody>
      </p:sp>
      <p:sp>
        <p:nvSpPr>
          <p:cNvPr id="6" name="TextBox 5"/>
          <p:cNvSpPr txBox="1"/>
          <p:nvPr/>
        </p:nvSpPr>
        <p:spPr>
          <a:xfrm>
            <a:off x="566928" y="2377439"/>
            <a:ext cx="274320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raw BBB rows</a:t>
            </a:r>
          </a:p>
        </p:txBody>
      </p:sp>
      <p:sp>
        <p:nvSpPr>
          <p:cNvPr id="7" name="TextBox 6"/>
          <p:cNvSpPr txBox="1"/>
          <p:nvPr/>
        </p:nvSpPr>
        <p:spPr>
          <a:xfrm>
            <a:off x="3447288" y="1874519"/>
            <a:ext cx="731520" cy="548640"/>
          </a:xfrm>
          <a:prstGeom prst="rect">
            <a:avLst/>
          </a:prstGeom>
          <a:noFill/>
        </p:spPr>
        <p:txBody>
          <a:bodyPr wrap="square" lIns="0" rIns="0" tIns="0" bIns="0" anchor="t">
            <a:spAutoFit/>
          </a:bodyPr>
          <a:lstStyle/>
          <a:p>
            <a:pPr algn="l">
              <a:spcAft>
                <a:spcPts val="600"/>
              </a:spcAft>
            </a:pPr>
            <a:r>
              <a:rPr sz="4000" b="1" i="0">
                <a:solidFill>
                  <a:srgbClr val="D98324"/>
                </a:solidFill>
                <a:latin typeface="Calibri"/>
              </a:rPr>
              <a:t>→</a:t>
            </a:r>
          </a:p>
        </p:txBody>
      </p:sp>
      <p:sp>
        <p:nvSpPr>
          <p:cNvPr id="8" name="TextBox 7"/>
          <p:cNvSpPr txBox="1"/>
          <p:nvPr/>
        </p:nvSpPr>
        <p:spPr>
          <a:xfrm>
            <a:off x="4315968" y="1737360"/>
            <a:ext cx="2743200" cy="603504"/>
          </a:xfrm>
          <a:prstGeom prst="rect">
            <a:avLst/>
          </a:prstGeom>
          <a:noFill/>
        </p:spPr>
        <p:txBody>
          <a:bodyPr wrap="square" lIns="0" rIns="0" tIns="0" bIns="0" anchor="t">
            <a:spAutoFit/>
          </a:bodyPr>
          <a:lstStyle/>
          <a:p>
            <a:pPr algn="l">
              <a:spcAft>
                <a:spcPts val="600"/>
              </a:spcAft>
            </a:pPr>
            <a:r>
              <a:rPr sz="4000" b="1" i="0">
                <a:solidFill>
                  <a:srgbClr val="1F3A5F"/>
                </a:solidFill>
                <a:latin typeface="Cambria"/>
              </a:rPr>
              <a:t>3,901</a:t>
            </a:r>
          </a:p>
        </p:txBody>
      </p:sp>
      <p:sp>
        <p:nvSpPr>
          <p:cNvPr id="9" name="TextBox 8"/>
          <p:cNvSpPr txBox="1"/>
          <p:nvPr/>
        </p:nvSpPr>
        <p:spPr>
          <a:xfrm>
            <a:off x="4315968" y="2377439"/>
            <a:ext cx="274320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rows the model is fitted on</a:t>
            </a:r>
          </a:p>
        </p:txBody>
      </p:sp>
      <p:sp>
        <p:nvSpPr>
          <p:cNvPr id="10" name="Rounded Rectangle 9"/>
          <p:cNvSpPr/>
          <p:nvPr/>
        </p:nvSpPr>
        <p:spPr>
          <a:xfrm>
            <a:off x="7424927" y="1691640"/>
            <a:ext cx="4199839" cy="11887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53527" y="1874519"/>
            <a:ext cx="3742639" cy="868680"/>
          </a:xfrm>
          <a:prstGeom prst="rect">
            <a:avLst/>
          </a:prstGeom>
          <a:noFill/>
        </p:spPr>
        <p:txBody>
          <a:bodyPr wrap="square" lIns="0" rIns="0" tIns="0" bIns="0" anchor="t">
            <a:spAutoFit/>
          </a:bodyPr>
          <a:lstStyle/>
          <a:p>
            <a:pPr algn="l">
              <a:lnSpc>
                <a:spcPct val="130000"/>
              </a:lnSpc>
              <a:spcAft>
                <a:spcPts val="600"/>
              </a:spcAft>
            </a:pPr>
            <a:r>
              <a:rPr sz="1600" b="1" i="0">
                <a:solidFill>
                  <a:srgbClr val="9E2A2B"/>
                </a:solidFill>
                <a:latin typeface="Calibri"/>
              </a:rPr>
              <a:t>Half the BBB table is duplicate input.
This is not a marginal correction.</a:t>
            </a:r>
          </a:p>
        </p:txBody>
      </p:sp>
      <p:sp>
        <p:nvSpPr>
          <p:cNvPr id="12" name="TextBox 11"/>
          <p:cNvSpPr txBox="1"/>
          <p:nvPr/>
        </p:nvSpPr>
        <p:spPr>
          <a:xfrm>
            <a:off x="566928" y="3154680"/>
            <a:ext cx="11057839" cy="2971800"/>
          </a:xfrm>
          <a:prstGeom prst="rect">
            <a:avLst/>
          </a:prstGeom>
          <a:noFill/>
        </p:spPr>
        <p:txBody>
          <a:bodyPr wrap="square" lIns="0" rIns="0" tIns="0" bIns="0" anchor="t">
            <a:spAutoFit/>
          </a:bodyPr>
          <a:lstStyle/>
          <a:p>
            <a:pPr algn="l">
              <a:lnSpc>
                <a:spcPct val="122000"/>
              </a:lnSpc>
              <a:spcAft>
                <a:spcPts val="900"/>
              </a:spcAft>
            </a:pPr>
            <a:r>
              <a:rPr sz="1350" b="0" i="0">
                <a:solidFill>
                  <a:srgbClr val="D98324"/>
                </a:solidFill>
                <a:latin typeface="Calibri"/>
              </a:rPr>
              <a:t>•   Left in place, any splitter puts copies of one compound on both sides of a fold, and the model is scored on rows it has memorised.</a:t>
            </a:r>
          </a:p>
          <a:p>
            <a:pPr algn="l">
              <a:lnSpc>
                <a:spcPct val="122000"/>
              </a:lnSpc>
              <a:spcAft>
                <a:spcPts val="900"/>
              </a:spcAft>
            </a:pPr>
            <a:r>
              <a:rPr sz="1350" b="0" i="0">
                <a:solidFill>
                  <a:srgbClr val="0F1A2E"/>
                </a:solidFill>
                <a:latin typeface="Calibri"/>
              </a:rPr>
              <a:t>•   It must happen on the FEATURE VECTOR, because that is the level at which the rows are indistinguishable. Neither the SMILES string nor the InChIKey collapses them: both are unique for every BBB row.</a:t>
            </a:r>
          </a:p>
          <a:p>
            <a:pPr algn="l">
              <a:lnSpc>
                <a:spcPct val="122000"/>
              </a:lnSpc>
              <a:spcAft>
                <a:spcPts val="900"/>
              </a:spcAft>
            </a:pPr>
            <a:r>
              <a:rPr sz="1350" b="0" i="0">
                <a:solidFill>
                  <a:srgbClr val="0F1A2E"/>
                </a:solidFill>
                <a:latin typeface="Calibri"/>
              </a:rPr>
              <a:t>•   Where duplicated rows disagree on the label, the whole group is DROPPED, not voted on. The same input carrying both labels cannot be learned from, and picking one would be an arbitrary decision dressed as data. Regression takes the median.</a:t>
            </a:r>
          </a:p>
          <a:p>
            <a:pPr algn="l">
              <a:lnSpc>
                <a:spcPct val="122000"/>
              </a:lnSpc>
              <a:spcAft>
                <a:spcPts val="900"/>
              </a:spcAft>
            </a:pPr>
            <a:r>
              <a:rPr sz="1350" b="0" i="0">
                <a:solidFill>
                  <a:srgbClr val="1C7293"/>
                </a:solidFill>
                <a:latin typeface="Calibri"/>
              </a:rPr>
              <a:t>•   An external audit found this guard was applied in training but not in the conformal analysis. Correcting it moved BBB's mean prediction-set size from 1.013 to 1.215.</a:t>
            </a:r>
          </a:p>
        </p:txBody>
      </p:sp>
      <p:sp>
        <p:nvSpPr>
          <p:cNvPr id="13" name="TextBox 12"/>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src/brainsafe/models/train_rf.py::_dedup_features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8</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Feature selection: there is none</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honest answer to “how did you get from many features to these?”</a:t>
            </a:r>
          </a:p>
        </p:txBody>
      </p:sp>
      <p:sp>
        <p:nvSpPr>
          <p:cNvPr id="5" name="Rounded Rectangle 4"/>
          <p:cNvSpPr/>
          <p:nvPr/>
        </p:nvSpPr>
        <p:spPr>
          <a:xfrm>
            <a:off x="566928" y="1645920"/>
            <a:ext cx="11057839" cy="9144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41247" y="1828800"/>
            <a:ext cx="10509199" cy="566928"/>
          </a:xfrm>
          <a:prstGeom prst="rect">
            <a:avLst/>
          </a:prstGeom>
          <a:noFill/>
        </p:spPr>
        <p:txBody>
          <a:bodyPr wrap="square" lIns="0" rIns="0" tIns="0" bIns="0" anchor="t">
            <a:spAutoFit/>
          </a:bodyPr>
          <a:lstStyle/>
          <a:p>
            <a:pPr algn="ctr">
              <a:lnSpc>
                <a:spcPct val="130000"/>
              </a:lnSpc>
              <a:spcAft>
                <a:spcPts val="600"/>
              </a:spcAft>
            </a:pPr>
            <a:r>
              <a:rPr sz="1700" b="1" i="0">
                <a:solidFill>
                  <a:srgbClr val="1F3A5F"/>
                </a:solidFill>
                <a:latin typeface="Calibri"/>
              </a:rPr>
              <a:t>No SelectKBest, no SelectFromModel, no RFE, no variance threshold, no χ², no mutual information, no PCA.
All 1,036 columns go into every model, always.</a:t>
            </a:r>
          </a:p>
        </p:txBody>
      </p:sp>
      <p:sp>
        <p:nvSpPr>
          <p:cNvPr id="7" name="TextBox 6"/>
          <p:cNvSpPr txBox="1"/>
          <p:nvPr/>
        </p:nvSpPr>
        <p:spPr>
          <a:xfrm>
            <a:off x="566928" y="2788920"/>
            <a:ext cx="5197184" cy="292608"/>
          </a:xfrm>
          <a:prstGeom prst="rect">
            <a:avLst/>
          </a:prstGeom>
          <a:noFill/>
        </p:spPr>
        <p:txBody>
          <a:bodyPr wrap="square" lIns="0" rIns="0" tIns="0" bIns="0" anchor="t">
            <a:spAutoFit/>
          </a:bodyPr>
          <a:lstStyle/>
          <a:p>
            <a:pPr algn="l">
              <a:spcAft>
                <a:spcPts val="600"/>
              </a:spcAft>
            </a:pPr>
            <a:r>
              <a:rPr sz="1600" b="1" i="0">
                <a:solidFill>
                  <a:srgbClr val="1F3A5F"/>
                </a:solidFill>
                <a:latin typeface="Calibri"/>
              </a:rPr>
              <a:t>Why not select</a:t>
            </a:r>
          </a:p>
        </p:txBody>
      </p:sp>
      <p:sp>
        <p:nvSpPr>
          <p:cNvPr id="8" name="TextBox 7"/>
          <p:cNvSpPr txBox="1"/>
          <p:nvPr/>
        </p:nvSpPr>
        <p:spPr>
          <a:xfrm>
            <a:off x="566928" y="3182112"/>
            <a:ext cx="5197184" cy="2944368"/>
          </a:xfrm>
          <a:prstGeom prst="rect">
            <a:avLst/>
          </a:prstGeom>
          <a:noFill/>
        </p:spPr>
        <p:txBody>
          <a:bodyPr wrap="square" lIns="0" rIns="0" tIns="0" bIns="0" anchor="t">
            <a:spAutoFit/>
          </a:bodyPr>
          <a:lstStyle/>
          <a:p>
            <a:pPr algn="l">
              <a:lnSpc>
                <a:spcPct val="122000"/>
              </a:lnSpc>
              <a:spcAft>
                <a:spcPts val="800"/>
              </a:spcAft>
            </a:pPr>
            <a:r>
              <a:rPr sz="1300" b="0" i="0">
                <a:solidFill>
                  <a:srgbClr val="0F1A2E"/>
                </a:solidFill>
                <a:latin typeface="Calibri"/>
              </a:rPr>
              <a:t>•   Selection on the full dataset before cross-validation is a classic way a score is inflated: the selector has seen the test fold's labels.</a:t>
            </a:r>
          </a:p>
          <a:p>
            <a:pPr algn="l">
              <a:lnSpc>
                <a:spcPct val="122000"/>
              </a:lnSpc>
              <a:spcAft>
                <a:spcPts val="800"/>
              </a:spcAft>
            </a:pPr>
            <a:r>
              <a:rPr sz="1300" b="0" i="0">
                <a:solidFill>
                  <a:srgbClr val="0F1A2E"/>
                </a:solidFill>
                <a:latin typeface="Calibri"/>
              </a:rPr>
              <a:t>•   Doing it correctly needs nesting inside every fold, multiplying compute and complicating every artefact.</a:t>
            </a:r>
          </a:p>
          <a:p>
            <a:pPr algn="l">
              <a:lnSpc>
                <a:spcPct val="122000"/>
              </a:lnSpc>
              <a:spcAft>
                <a:spcPts val="800"/>
              </a:spcAft>
            </a:pPr>
            <a:r>
              <a:rPr sz="1300" b="0" i="0">
                <a:solidFill>
                  <a:srgbClr val="1C7293"/>
                </a:solidFill>
                <a:latin typeface="Calibri"/>
              </a:rPr>
              <a:t>•   Tree ensembles already perform implicit selection at each split, so the gain would be small and the leakage risk real.</a:t>
            </a:r>
          </a:p>
        </p:txBody>
      </p:sp>
      <p:sp>
        <p:nvSpPr>
          <p:cNvPr id="9" name="TextBox 8"/>
          <p:cNvSpPr txBox="1"/>
          <p:nvPr/>
        </p:nvSpPr>
        <p:spPr>
          <a:xfrm>
            <a:off x="6427582" y="2788920"/>
            <a:ext cx="5197184" cy="292608"/>
          </a:xfrm>
          <a:prstGeom prst="rect">
            <a:avLst/>
          </a:prstGeom>
          <a:noFill/>
        </p:spPr>
        <p:txBody>
          <a:bodyPr wrap="square" lIns="0" rIns="0" tIns="0" bIns="0" anchor="t">
            <a:spAutoFit/>
          </a:bodyPr>
          <a:lstStyle/>
          <a:p>
            <a:pPr algn="l">
              <a:spcAft>
                <a:spcPts val="600"/>
              </a:spcAft>
            </a:pPr>
            <a:r>
              <a:rPr sz="1600" b="1" i="0">
                <a:solidFill>
                  <a:srgbClr val="1F3A5F"/>
                </a:solidFill>
                <a:latin typeface="Calibri"/>
              </a:rPr>
              <a:t>What was done instead: an ablation over 13 endpoints</a:t>
            </a:r>
          </a:p>
        </p:txBody>
      </p:sp>
      <p:sp>
        <p:nvSpPr>
          <p:cNvPr id="10" name="TextBox 9"/>
          <p:cNvSpPr txBox="1"/>
          <p:nvPr/>
        </p:nvSpPr>
        <p:spPr>
          <a:xfrm>
            <a:off x="6427582" y="3200400"/>
            <a:ext cx="3167390" cy="237744"/>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remove this block</a:t>
            </a:r>
          </a:p>
        </p:txBody>
      </p:sp>
      <p:sp>
        <p:nvSpPr>
          <p:cNvPr id="11" name="TextBox 10"/>
          <p:cNvSpPr txBox="1"/>
          <p:nvPr/>
        </p:nvSpPr>
        <p:spPr>
          <a:xfrm>
            <a:off x="9649837" y="3200400"/>
            <a:ext cx="1920066" cy="237744"/>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mean change</a:t>
            </a:r>
          </a:p>
        </p:txBody>
      </p:sp>
      <p:sp>
        <p:nvSpPr>
          <p:cNvPr id="12" name="Rounded Rectangle 11"/>
          <p:cNvSpPr/>
          <p:nvPr/>
        </p:nvSpPr>
        <p:spPr>
          <a:xfrm>
            <a:off x="6354430" y="3438144"/>
            <a:ext cx="5288624" cy="32918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7582" y="3474720"/>
            <a:ext cx="316739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descriptors only kept</a:t>
            </a:r>
          </a:p>
        </p:txBody>
      </p:sp>
      <p:sp>
        <p:nvSpPr>
          <p:cNvPr id="14" name="TextBox 13"/>
          <p:cNvSpPr txBox="1"/>
          <p:nvPr/>
        </p:nvSpPr>
        <p:spPr>
          <a:xfrm>
            <a:off x="9649837" y="3474720"/>
            <a:ext cx="1920066" cy="292608"/>
          </a:xfrm>
          <a:prstGeom prst="rect">
            <a:avLst/>
          </a:prstGeom>
          <a:noFill/>
        </p:spPr>
        <p:txBody>
          <a:bodyPr wrap="square" lIns="0" rIns="0" tIns="0" bIns="0" anchor="t">
            <a:spAutoFit/>
          </a:bodyPr>
          <a:lstStyle/>
          <a:p>
            <a:pPr algn="l">
              <a:spcAft>
                <a:spcPts val="600"/>
              </a:spcAft>
            </a:pPr>
            <a:r>
              <a:rPr sz="1300" b="1" i="0">
                <a:solidFill>
                  <a:srgbClr val="1C7293"/>
                </a:solidFill>
                <a:latin typeface="Calibri"/>
              </a:rPr>
              <a:t>+0.1049</a:t>
            </a:r>
          </a:p>
        </p:txBody>
      </p:sp>
      <p:sp>
        <p:nvSpPr>
          <p:cNvPr id="15" name="TextBox 14"/>
          <p:cNvSpPr txBox="1"/>
          <p:nvPr/>
        </p:nvSpPr>
        <p:spPr>
          <a:xfrm>
            <a:off x="6427582" y="3803904"/>
            <a:ext cx="3167390" cy="292608"/>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fingerprint only kept</a:t>
            </a:r>
          </a:p>
        </p:txBody>
      </p:sp>
      <p:sp>
        <p:nvSpPr>
          <p:cNvPr id="16" name="TextBox 15"/>
          <p:cNvSpPr txBox="1"/>
          <p:nvPr/>
        </p:nvSpPr>
        <p:spPr>
          <a:xfrm>
            <a:off x="9649837" y="3803904"/>
            <a:ext cx="1920066" cy="292608"/>
          </a:xfrm>
          <a:prstGeom prst="rect">
            <a:avLst/>
          </a:prstGeom>
          <a:noFill/>
        </p:spPr>
        <p:txBody>
          <a:bodyPr wrap="square" lIns="0" rIns="0" tIns="0" bIns="0" anchor="t">
            <a:spAutoFit/>
          </a:bodyPr>
          <a:lstStyle/>
          <a:p>
            <a:pPr algn="l">
              <a:spcAft>
                <a:spcPts val="600"/>
              </a:spcAft>
            </a:pPr>
            <a:r>
              <a:rPr sz="1300" b="1" i="0">
                <a:solidFill>
                  <a:srgbClr val="D98324"/>
                </a:solidFill>
                <a:latin typeface="Calibri"/>
              </a:rPr>
              <a:t>+0.0014</a:t>
            </a:r>
          </a:p>
        </p:txBody>
      </p:sp>
      <p:sp>
        <p:nvSpPr>
          <p:cNvPr id="17" name="TextBox 16"/>
          <p:cNvSpPr txBox="1"/>
          <p:nvPr/>
        </p:nvSpPr>
        <p:spPr>
          <a:xfrm>
            <a:off x="6427582" y="4160520"/>
            <a:ext cx="5197184" cy="1463040"/>
          </a:xfrm>
          <a:prstGeom prst="rect">
            <a:avLst/>
          </a:prstGeom>
          <a:noFill/>
        </p:spPr>
        <p:txBody>
          <a:bodyPr wrap="square" lIns="0" rIns="0" tIns="0" bIns="0" anchor="t">
            <a:spAutoFit/>
          </a:bodyPr>
          <a:lstStyle/>
          <a:p>
            <a:pPr algn="l">
              <a:lnSpc>
                <a:spcPct val="120000"/>
              </a:lnSpc>
              <a:spcAft>
                <a:spcPts val="700"/>
              </a:spcAft>
            </a:pPr>
            <a:r>
              <a:rPr sz="1300" b="0" i="0">
                <a:solidFill>
                  <a:srgbClr val="0F1A2E"/>
                </a:solidFill>
                <a:latin typeface="Calibri"/>
              </a:rPr>
              <a:t>The fingerprint earns its place decisively: removing it costs 0.1049.</a:t>
            </a:r>
          </a:p>
          <a:p>
            <a:pPr algn="l">
              <a:lnSpc>
                <a:spcPct val="120000"/>
              </a:lnSpc>
              <a:spcAft>
                <a:spcPts val="700"/>
              </a:spcAft>
            </a:pPr>
            <a:r>
              <a:rPr sz="1300" b="0" i="0">
                <a:solidFill>
                  <a:srgbClr val="D98324"/>
                </a:solidFill>
                <a:latin typeface="Calibri"/>
              </a:rPr>
              <a:t>The twelve descriptors add 0.0014 on average, and help on only 9 of 13 endpoints.</a:t>
            </a:r>
          </a:p>
          <a:p>
            <a:pPr algn="l">
              <a:lnSpc>
                <a:spcPct val="120000"/>
              </a:lnSpc>
              <a:spcAft>
                <a:spcPts val="700"/>
              </a:spcAft>
            </a:pPr>
            <a:r>
              <a:rPr sz="1300" b="1" i="0">
                <a:solidFill>
                  <a:srgbClr val="0F1A2E"/>
                </a:solidFill>
                <a:latin typeface="Calibri"/>
              </a:rPr>
              <a:t>They are retained because they cost nothing and the exposure layer needs them, NOT because they were shown to help.</a:t>
            </a:r>
          </a:p>
        </p:txBody>
      </p:sp>
      <p:sp>
        <p:nvSpPr>
          <p:cNvPr id="18" name="TextBox 17"/>
          <p:cNvSpPr txBox="1"/>
          <p:nvPr/>
        </p:nvSpPr>
        <p:spPr>
          <a:xfrm>
            <a:off x="566928" y="5440680"/>
            <a:ext cx="11057839" cy="502920"/>
          </a:xfrm>
          <a:prstGeom prst="rect">
            <a:avLst/>
          </a:prstGeom>
          <a:noFill/>
        </p:spPr>
        <p:txBody>
          <a:bodyPr wrap="square" lIns="0" rIns="0" tIns="0" bIns="0" anchor="t">
            <a:spAutoFit/>
          </a:bodyPr>
          <a:lstStyle/>
          <a:p>
            <a:pPr algn="ctr">
              <a:spcAft>
                <a:spcPts val="600"/>
              </a:spcAft>
            </a:pPr>
            <a:r>
              <a:rPr sz="1400" b="1" i="1">
                <a:solidFill>
                  <a:srgbClr val="9E2A2B"/>
                </a:solidFill>
                <a:latin typeface="Calibri"/>
              </a:rPr>
              <a:t>Say it first: the descriptors were retained, not validated. That is much stronger than having it extracted under questioning.</a:t>
            </a:r>
          </a:p>
        </p:txBody>
      </p:sp>
      <p:sp>
        <p:nvSpPr>
          <p:cNvPr id="19" name="TextBox 18"/>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results/tables/feature_block_ablation.csv; verified: no selection or search primitives anywhere in the live tree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9</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linear algebra: what the matrix looks like</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Three properties of X drive most of the modelling decisions</a:t>
            </a:r>
          </a:p>
        </p:txBody>
      </p:sp>
      <p:sp>
        <p:nvSpPr>
          <p:cNvPr id="5" name="TextBox 4"/>
          <p:cNvSpPr txBox="1"/>
          <p:nvPr/>
        </p:nvSpPr>
        <p:spPr>
          <a:xfrm>
            <a:off x="566928" y="1645920"/>
            <a:ext cx="11057839" cy="731520"/>
          </a:xfrm>
          <a:prstGeom prst="rect">
            <a:avLst/>
          </a:prstGeom>
          <a:noFill/>
        </p:spPr>
        <p:txBody>
          <a:bodyPr wrap="square" lIns="0" rIns="0" tIns="0" bIns="0">
            <a:spAutoFit/>
          </a:bodyPr>
          <a:lstStyle/>
          <a:p>
            <a:pPr algn="ctr"/>
            <a:r>
              <a:rPr b="1" sz="2300">
                <a:solidFill>
                  <a:srgbClr val="1F3A5F"/>
                </a:solidFill>
                <a:latin typeface="Cambria"/>
              </a:rPr>
              <a:t>X  ∈  ℝ</a:t>
            </a:r>
            <a:r>
              <a:rPr b="1" sz="1655" baseline="-25000">
                <a:solidFill>
                  <a:srgbClr val="1F3A5F"/>
                </a:solidFill>
                <a:latin typeface="Cambria"/>
              </a:rPr>
              <a:t>n × 1036</a:t>
            </a:r>
            <a:r>
              <a:rPr b="1" sz="2300">
                <a:solidFill>
                  <a:srgbClr val="1F3A5F"/>
                </a:solidFill>
                <a:latin typeface="Cambria"/>
              </a:rPr>
              <a:t>        y  ∈  {0,1}</a:t>
            </a:r>
            <a:r>
              <a:rPr b="1" sz="1655" baseline="-25000">
                <a:solidFill>
                  <a:srgbClr val="1F3A5F"/>
                </a:solidFill>
                <a:latin typeface="Cambria"/>
              </a:rPr>
              <a:t>n</a:t>
            </a:r>
            <a:r>
              <a:rPr b="1" sz="2300">
                <a:solidFill>
                  <a:srgbClr val="1F3A5F"/>
                </a:solidFill>
                <a:latin typeface="Cambria"/>
              </a:rPr>
              <a:t>  or  ℝ</a:t>
            </a:r>
            <a:r>
              <a:rPr b="1" sz="1655" baseline="-25000">
                <a:solidFill>
                  <a:srgbClr val="1F3A5F"/>
                </a:solidFill>
                <a:latin typeface="Cambria"/>
              </a:rPr>
              <a:t>n</a:t>
            </a:r>
            <a:r>
              <a:rPr b="1" sz="2300">
                <a:solidFill>
                  <a:srgbClr val="1F3A5F"/>
                </a:solidFill>
                <a:latin typeface="Cambria"/>
              </a:rPr>
              <a:t>        BBB:  3901 × 1036</a:t>
            </a:r>
          </a:p>
        </p:txBody>
      </p:sp>
      <p:sp>
        <p:nvSpPr>
          <p:cNvPr id="6" name="Rounded Rectangle 5"/>
          <p:cNvSpPr/>
          <p:nvPr/>
        </p:nvSpPr>
        <p:spPr>
          <a:xfrm>
            <a:off x="566928" y="2468880"/>
            <a:ext cx="11057839" cy="9601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2615184"/>
            <a:ext cx="1828800" cy="292608"/>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Sparse</a:t>
            </a:r>
          </a:p>
        </p:txBody>
      </p:sp>
      <p:sp>
        <p:nvSpPr>
          <p:cNvPr id="8" name="TextBox 7"/>
          <p:cNvSpPr txBox="1"/>
          <p:nvPr/>
        </p:nvSpPr>
        <p:spPr>
          <a:xfrm>
            <a:off x="2715768" y="2596896"/>
            <a:ext cx="8634679" cy="731520"/>
          </a:xfrm>
          <a:prstGeom prst="rect">
            <a:avLst/>
          </a:prstGeom>
          <a:noFill/>
        </p:spPr>
        <p:txBody>
          <a:bodyPr wrap="square" lIns="0" rIns="0" tIns="0" bIns="0" anchor="t">
            <a:spAutoFit/>
          </a:bodyPr>
          <a:lstStyle/>
          <a:p>
            <a:pPr algn="l">
              <a:lnSpc>
                <a:spcPct val="118000"/>
              </a:lnSpc>
              <a:spcAft>
                <a:spcPts val="600"/>
              </a:spcAft>
            </a:pPr>
            <a:r>
              <a:rPr sz="1250" b="0" i="0">
                <a:solidFill>
                  <a:srgbClr val="0F1A2E"/>
                </a:solidFill>
                <a:latin typeface="Calibri"/>
              </a:rPr>
              <a:t>A drug-like molecule sets only a small fraction of 1,024 bits, so most entries are zero. Trees handle this natively; distance methods need a similarity built for sparse binary data, which is why read-across uses Jaccard and not Euclidean.</a:t>
            </a:r>
          </a:p>
        </p:txBody>
      </p:sp>
      <p:sp>
        <p:nvSpPr>
          <p:cNvPr id="9" name="Rounded Rectangle 8"/>
          <p:cNvSpPr/>
          <p:nvPr/>
        </p:nvSpPr>
        <p:spPr>
          <a:xfrm>
            <a:off x="566928" y="3566160"/>
            <a:ext cx="11057839" cy="9601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60" y="3712464"/>
            <a:ext cx="1828800" cy="292608"/>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Badly scaled</a:t>
            </a:r>
          </a:p>
        </p:txBody>
      </p:sp>
      <p:sp>
        <p:nvSpPr>
          <p:cNvPr id="11" name="TextBox 10"/>
          <p:cNvSpPr txBox="1"/>
          <p:nvPr/>
        </p:nvSpPr>
        <p:spPr>
          <a:xfrm>
            <a:off x="2715768" y="3694176"/>
            <a:ext cx="8634679" cy="731520"/>
          </a:xfrm>
          <a:prstGeom prst="rect">
            <a:avLst/>
          </a:prstGeom>
          <a:noFill/>
        </p:spPr>
        <p:txBody>
          <a:bodyPr wrap="square" lIns="0" rIns="0" tIns="0" bIns="0" anchor="t">
            <a:spAutoFit/>
          </a:bodyPr>
          <a:lstStyle/>
          <a:p>
            <a:pPr algn="l">
              <a:lnSpc>
                <a:spcPct val="118000"/>
              </a:lnSpc>
              <a:spcAft>
                <a:spcPts val="600"/>
              </a:spcAft>
            </a:pPr>
            <a:r>
              <a:rPr sz="1250" b="0" i="0">
                <a:solidFill>
                  <a:srgbClr val="0F1A2E"/>
                </a:solidFill>
                <a:latin typeface="Calibri"/>
              </a:rPr>
              <a:t>Columns 1–1024 are in {0,1}; mw runs to several hundred; qed is in [0,1]. Trees are invariant to monotone rescaling, so this is irrelevant to them. For a gradient or distance method it is fatal, since mw would dominate. THIS is why logistic regression is wrapped in a StandardScaler and the forests are not.</a:t>
            </a:r>
          </a:p>
        </p:txBody>
      </p:sp>
      <p:sp>
        <p:nvSpPr>
          <p:cNvPr id="12" name="Rounded Rectangle 11"/>
          <p:cNvSpPr/>
          <p:nvPr/>
        </p:nvSpPr>
        <p:spPr>
          <a:xfrm>
            <a:off x="566928" y="4663440"/>
            <a:ext cx="11057839" cy="9601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 y="4809744"/>
            <a:ext cx="1828800" cy="292608"/>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Wide</a:t>
            </a:r>
          </a:p>
        </p:txBody>
      </p:sp>
      <p:sp>
        <p:nvSpPr>
          <p:cNvPr id="14" name="TextBox 13"/>
          <p:cNvSpPr txBox="1"/>
          <p:nvPr/>
        </p:nvSpPr>
        <p:spPr>
          <a:xfrm>
            <a:off x="2715768" y="4791456"/>
            <a:ext cx="8634679" cy="731520"/>
          </a:xfrm>
          <a:prstGeom prst="rect">
            <a:avLst/>
          </a:prstGeom>
          <a:noFill/>
        </p:spPr>
        <p:txBody>
          <a:bodyPr wrap="square" lIns="0" rIns="0" tIns="0" bIns="0" anchor="t">
            <a:spAutoFit/>
          </a:bodyPr>
          <a:lstStyle/>
          <a:p>
            <a:pPr algn="l">
              <a:lnSpc>
                <a:spcPct val="118000"/>
              </a:lnSpc>
              <a:spcAft>
                <a:spcPts val="600"/>
              </a:spcAft>
            </a:pPr>
            <a:r>
              <a:rPr sz="1250" b="0" i="0">
                <a:solidFill>
                  <a:srgbClr val="0F1A2E"/>
                </a:solidFill>
                <a:latin typeface="Calibri"/>
              </a:rPr>
              <a:t>p = 1036, while n runs from 566 to 9,933. Some endpoints have fewer samples than features, where an unregularised linear model fits exactly and generalises not at all. Hence the L2 penalty on the linear baseline.</a:t>
            </a:r>
          </a:p>
        </p:txBody>
      </p:sp>
      <p:sp>
        <p:nvSpPr>
          <p:cNvPr id="15" name="TextBox 14"/>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src/brainsafe/features/featurize.py; src/brainsafe/evaluation/model_comparison.py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10</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Similarity is an inner product</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Tanimoto on binary vectors is the Jaccard index, and it does four different jobs here</a:t>
            </a:r>
          </a:p>
        </p:txBody>
      </p:sp>
      <p:sp>
        <p:nvSpPr>
          <p:cNvPr id="5" name="Rounded Rectangle 4"/>
          <p:cNvSpPr/>
          <p:nvPr/>
        </p:nvSpPr>
        <p:spPr>
          <a:xfrm>
            <a:off x="566928" y="1645920"/>
            <a:ext cx="11057839" cy="9601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874519"/>
            <a:ext cx="11057839" cy="731520"/>
          </a:xfrm>
          <a:prstGeom prst="rect">
            <a:avLst/>
          </a:prstGeom>
          <a:noFill/>
        </p:spPr>
        <p:txBody>
          <a:bodyPr wrap="square" lIns="0" rIns="0" tIns="0" bIns="0">
            <a:spAutoFit/>
          </a:bodyPr>
          <a:lstStyle/>
          <a:p>
            <a:pPr algn="ctr"/>
            <a:r>
              <a:rPr b="1" sz="2100">
                <a:solidFill>
                  <a:srgbClr val="1F3A5F"/>
                </a:solidFill>
                <a:latin typeface="Cambria"/>
              </a:rPr>
              <a:t>T(a, b)  =  | a ∩ b | / | a ∪ b |  =  a</a:t>
            </a:r>
            <a:r>
              <a:rPr b="1" sz="1512" baseline="-25000">
                <a:solidFill>
                  <a:srgbClr val="1F3A5F"/>
                </a:solidFill>
                <a:latin typeface="Cambria"/>
              </a:rPr>
              <a:t>ᵀ</a:t>
            </a:r>
            <a:r>
              <a:rPr b="1" sz="2100">
                <a:solidFill>
                  <a:srgbClr val="1F3A5F"/>
                </a:solidFill>
                <a:latin typeface="Cambria"/>
              </a:rPr>
              <a:t>b  /  ( ‖a‖</a:t>
            </a:r>
            <a:r>
              <a:rPr b="1" sz="1512" baseline="-25000">
                <a:solidFill>
                  <a:srgbClr val="1F3A5F"/>
                </a:solidFill>
                <a:latin typeface="Cambria"/>
              </a:rPr>
              <a:t>2</a:t>
            </a:r>
            <a:r>
              <a:rPr b="1" sz="2100">
                <a:solidFill>
                  <a:srgbClr val="1F3A5F"/>
                </a:solidFill>
                <a:latin typeface="Cambria"/>
              </a:rPr>
              <a:t> + ‖b‖</a:t>
            </a:r>
            <a:r>
              <a:rPr b="1" sz="1512" baseline="-25000">
                <a:solidFill>
                  <a:srgbClr val="1F3A5F"/>
                </a:solidFill>
                <a:latin typeface="Cambria"/>
              </a:rPr>
              <a:t>2</a:t>
            </a:r>
            <a:r>
              <a:rPr b="1" sz="2100">
                <a:solidFill>
                  <a:srgbClr val="1F3A5F"/>
                </a:solidFill>
                <a:latin typeface="Cambria"/>
              </a:rPr>
              <a:t> − a</a:t>
            </a:r>
            <a:r>
              <a:rPr b="1" sz="1512" baseline="-25000">
                <a:solidFill>
                  <a:srgbClr val="1F3A5F"/>
                </a:solidFill>
                <a:latin typeface="Cambria"/>
              </a:rPr>
              <a:t>ᵀ</a:t>
            </a:r>
            <a:r>
              <a:rPr b="1" sz="2100">
                <a:solidFill>
                  <a:srgbClr val="1F3A5F"/>
                </a:solidFill>
                <a:latin typeface="Cambria"/>
              </a:rPr>
              <a:t>b )</a:t>
            </a:r>
          </a:p>
        </p:txBody>
      </p:sp>
      <p:sp>
        <p:nvSpPr>
          <p:cNvPr id="7" name="TextBox 6"/>
          <p:cNvSpPr txBox="1"/>
          <p:nvPr/>
        </p:nvSpPr>
        <p:spPr>
          <a:xfrm>
            <a:off x="566928" y="2788920"/>
            <a:ext cx="11057839" cy="310896"/>
          </a:xfrm>
          <a:prstGeom prst="rect">
            <a:avLst/>
          </a:prstGeom>
          <a:noFill/>
        </p:spPr>
        <p:txBody>
          <a:bodyPr wrap="square" lIns="0" rIns="0" tIns="0" bIns="0" anchor="t">
            <a:spAutoFit/>
          </a:bodyPr>
          <a:lstStyle/>
          <a:p>
            <a:pPr algn="ctr">
              <a:spcAft>
                <a:spcPts val="600"/>
              </a:spcAft>
            </a:pPr>
            <a:r>
              <a:rPr sz="1350" b="0" i="1">
                <a:solidFill>
                  <a:srgbClr val="5F6B7A"/>
                </a:solidFill>
                <a:latin typeface="Calibri"/>
              </a:rPr>
              <a:t>For binary vectors aᵀa = ‖a‖² is simply the number of bits set. T ∈ [0,1], and 1 − T is the Jaccard distance.</a:t>
            </a:r>
          </a:p>
        </p:txBody>
      </p:sp>
      <p:sp>
        <p:nvSpPr>
          <p:cNvPr id="8" name="TextBox 7"/>
          <p:cNvSpPr txBox="1"/>
          <p:nvPr/>
        </p:nvSpPr>
        <p:spPr>
          <a:xfrm>
            <a:off x="566928" y="3337560"/>
            <a:ext cx="2599017" cy="237744"/>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role</a:t>
            </a:r>
          </a:p>
        </p:txBody>
      </p:sp>
      <p:sp>
        <p:nvSpPr>
          <p:cNvPr id="9" name="TextBox 8"/>
          <p:cNvSpPr txBox="1"/>
          <p:nvPr/>
        </p:nvSpPr>
        <p:spPr>
          <a:xfrm>
            <a:off x="3220809" y="3337560"/>
            <a:ext cx="6137525" cy="237744"/>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how it is used</a:t>
            </a:r>
          </a:p>
        </p:txBody>
      </p:sp>
      <p:sp>
        <p:nvSpPr>
          <p:cNvPr id="10" name="TextBox 9"/>
          <p:cNvSpPr txBox="1"/>
          <p:nvPr/>
        </p:nvSpPr>
        <p:spPr>
          <a:xfrm>
            <a:off x="9413199" y="3337560"/>
            <a:ext cx="2156703" cy="237744"/>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setting</a:t>
            </a:r>
          </a:p>
        </p:txBody>
      </p:sp>
      <p:sp>
        <p:nvSpPr>
          <p:cNvPr id="11" name="Rounded Rectangle 10"/>
          <p:cNvSpPr/>
          <p:nvPr/>
        </p:nvSpPr>
        <p:spPr>
          <a:xfrm>
            <a:off x="493776" y="3575303"/>
            <a:ext cx="11149279" cy="38404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3611879"/>
            <a:ext cx="2599017" cy="347472"/>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Applicability domain</a:t>
            </a:r>
          </a:p>
        </p:txBody>
      </p:sp>
      <p:sp>
        <p:nvSpPr>
          <p:cNvPr id="13" name="TextBox 12"/>
          <p:cNvSpPr txBox="1"/>
          <p:nvPr/>
        </p:nvSpPr>
        <p:spPr>
          <a:xfrm>
            <a:off x="3220809" y="3611879"/>
            <a:ext cx="6137525" cy="347472"/>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max T to any training compound</a:t>
            </a:r>
          </a:p>
        </p:txBody>
      </p:sp>
      <p:sp>
        <p:nvSpPr>
          <p:cNvPr id="14" name="TextBox 13"/>
          <p:cNvSpPr txBox="1"/>
          <p:nvPr/>
        </p:nvSpPr>
        <p:spPr>
          <a:xfrm>
            <a:off x="9413199" y="3611879"/>
            <a:ext cx="2156703" cy="347472"/>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bands at 0.30 / 0.50</a:t>
            </a:r>
          </a:p>
        </p:txBody>
      </p:sp>
      <p:sp>
        <p:nvSpPr>
          <p:cNvPr id="15" name="TextBox 14"/>
          <p:cNvSpPr txBox="1"/>
          <p:nvPr/>
        </p:nvSpPr>
        <p:spPr>
          <a:xfrm>
            <a:off x="566928" y="3995928"/>
            <a:ext cx="2599017" cy="347472"/>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Decoy selection</a:t>
            </a:r>
          </a:p>
        </p:txBody>
      </p:sp>
      <p:sp>
        <p:nvSpPr>
          <p:cNvPr id="16" name="TextBox 15"/>
          <p:cNvSpPr txBox="1"/>
          <p:nvPr/>
        </p:nvSpPr>
        <p:spPr>
          <a:xfrm>
            <a:off x="3220809" y="3995928"/>
            <a:ext cx="6137525" cy="347472"/>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a decoy must be dissimilar to every active</a:t>
            </a:r>
          </a:p>
        </p:txBody>
      </p:sp>
      <p:sp>
        <p:nvSpPr>
          <p:cNvPr id="17" name="TextBox 16"/>
          <p:cNvSpPr txBox="1"/>
          <p:nvPr/>
        </p:nvSpPr>
        <p:spPr>
          <a:xfrm>
            <a:off x="9413199" y="3995928"/>
            <a:ext cx="2156703" cy="347472"/>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TAN_MAX = 0.35</a:t>
            </a:r>
          </a:p>
        </p:txBody>
      </p:sp>
      <p:sp>
        <p:nvSpPr>
          <p:cNvPr id="18" name="Rounded Rectangle 17"/>
          <p:cNvSpPr/>
          <p:nvPr/>
        </p:nvSpPr>
        <p:spPr>
          <a:xfrm>
            <a:off x="493776" y="4343400"/>
            <a:ext cx="11149279" cy="38404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4379976"/>
            <a:ext cx="2599017" cy="347472"/>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Read-across baseline</a:t>
            </a:r>
          </a:p>
        </p:txBody>
      </p:sp>
      <p:sp>
        <p:nvSpPr>
          <p:cNvPr id="20" name="TextBox 19"/>
          <p:cNvSpPr txBox="1"/>
          <p:nvPr/>
        </p:nvSpPr>
        <p:spPr>
          <a:xfrm>
            <a:off x="3220809" y="4379976"/>
            <a:ext cx="6137525" cy="347472"/>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Jaccard distance to the 5 nearest measured analogues</a:t>
            </a:r>
          </a:p>
        </p:txBody>
      </p:sp>
      <p:sp>
        <p:nvSpPr>
          <p:cNvPr id="21" name="TextBox 20"/>
          <p:cNvSpPr txBox="1"/>
          <p:nvPr/>
        </p:nvSpPr>
        <p:spPr>
          <a:xfrm>
            <a:off x="9413199" y="4379976"/>
            <a:ext cx="2156703" cy="347472"/>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k = 5</a:t>
            </a:r>
          </a:p>
        </p:txBody>
      </p:sp>
      <p:sp>
        <p:nvSpPr>
          <p:cNvPr id="22" name="TextBox 21"/>
          <p:cNvSpPr txBox="1"/>
          <p:nvPr/>
        </p:nvSpPr>
        <p:spPr>
          <a:xfrm>
            <a:off x="566928" y="4764024"/>
            <a:ext cx="2599017" cy="347472"/>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Leakage checks</a:t>
            </a:r>
          </a:p>
        </p:txBody>
      </p:sp>
      <p:sp>
        <p:nvSpPr>
          <p:cNvPr id="23" name="TextBox 22"/>
          <p:cNvSpPr txBox="1"/>
          <p:nvPr/>
        </p:nvSpPr>
        <p:spPr>
          <a:xfrm>
            <a:off x="3220809" y="4764024"/>
            <a:ext cx="6137525" cy="347472"/>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T = 1.0 identifies a compound the model cannot tell from training</a:t>
            </a:r>
          </a:p>
        </p:txBody>
      </p:sp>
      <p:sp>
        <p:nvSpPr>
          <p:cNvPr id="24" name="TextBox 23"/>
          <p:cNvSpPr txBox="1"/>
          <p:nvPr/>
        </p:nvSpPr>
        <p:spPr>
          <a:xfrm>
            <a:off x="9413199" y="4764024"/>
            <a:ext cx="2156703" cy="347472"/>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2,048 bits</a:t>
            </a:r>
          </a:p>
        </p:txBody>
      </p:sp>
      <p:sp>
        <p:nvSpPr>
          <p:cNvPr id="25" name="TextBox 24"/>
          <p:cNvSpPr txBox="1"/>
          <p:nvPr/>
        </p:nvSpPr>
        <p:spPr>
          <a:xfrm>
            <a:off x="566928" y="5257800"/>
            <a:ext cx="11057839" cy="594360"/>
          </a:xfrm>
          <a:prstGeom prst="rect">
            <a:avLst/>
          </a:prstGeom>
          <a:noFill/>
        </p:spPr>
        <p:txBody>
          <a:bodyPr wrap="square" lIns="0" rIns="0" tIns="0" bIns="0" anchor="t">
            <a:spAutoFit/>
          </a:bodyPr>
          <a:lstStyle/>
          <a:p>
            <a:pPr algn="l">
              <a:lnSpc>
                <a:spcPct val="120000"/>
              </a:lnSpc>
              <a:spcAft>
                <a:spcPts val="600"/>
              </a:spcAft>
            </a:pPr>
            <a:r>
              <a:rPr sz="1300" b="0" i="0">
                <a:solidFill>
                  <a:srgbClr val="0F1A2E"/>
                </a:solidFill>
                <a:latin typeface="Calibri"/>
              </a:rPr>
              <a:t>Roles 1 and 4 use a 2,048-bit fingerprint while the models use 1,024. Doubling the width reduces collisions and sharpens the similarity estimate; it need not match the model's width because it is measuring chemistry, not feeding an estimator.</a:t>
            </a:r>
          </a:p>
        </p:txBody>
      </p:sp>
      <p:sp>
        <p:nvSpPr>
          <p:cNvPr id="26" name="TextBox 25"/>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src/brainsafe/evaluation/applicability_domain.py; src/brainsafe/models/train_binders_hybrid.py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11</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random forest: what it actually optimises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An average of 300 trees, each on a bootstrap resample, each splitting on a random feature subset</a:t>
            </a:r>
          </a:p>
        </p:txBody>
      </p:sp>
      <p:sp>
        <p:nvSpPr>
          <p:cNvPr id="5" name="TextBox 4"/>
          <p:cNvSpPr txBox="1"/>
          <p:nvPr/>
        </p:nvSpPr>
        <p:spPr>
          <a:xfrm>
            <a:off x="566928" y="1627632"/>
            <a:ext cx="5528919" cy="292608"/>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Inside one tree: greedy impurity reduction</a:t>
            </a:r>
          </a:p>
        </p:txBody>
      </p:sp>
      <p:sp>
        <p:nvSpPr>
          <p:cNvPr id="6" name="Rounded Rectangle 5"/>
          <p:cNvSpPr/>
          <p:nvPr/>
        </p:nvSpPr>
        <p:spPr>
          <a:xfrm>
            <a:off x="566928" y="1993392"/>
            <a:ext cx="5391759" cy="11887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2176272"/>
            <a:ext cx="5391759" cy="731520"/>
          </a:xfrm>
          <a:prstGeom prst="rect">
            <a:avLst/>
          </a:prstGeom>
          <a:noFill/>
        </p:spPr>
        <p:txBody>
          <a:bodyPr wrap="square" lIns="0" rIns="0" tIns="0" bIns="0">
            <a:spAutoFit/>
          </a:bodyPr>
          <a:lstStyle/>
          <a:p>
            <a:pPr algn="ctr"/>
            <a:r>
              <a:rPr b="1" sz="2100">
                <a:solidFill>
                  <a:srgbClr val="1F3A5F"/>
                </a:solidFill>
                <a:latin typeface="Cambria"/>
              </a:rPr>
              <a:t>G(S)  =  1  −  Σ</a:t>
            </a:r>
            <a:r>
              <a:rPr b="1" sz="1512" baseline="-25000">
                <a:solidFill>
                  <a:srgbClr val="1F3A5F"/>
                </a:solidFill>
                <a:latin typeface="Cambria"/>
              </a:rPr>
              <a:t>c</a:t>
            </a:r>
            <a:r>
              <a:rPr b="1" sz="2100">
                <a:solidFill>
                  <a:srgbClr val="1F3A5F"/>
                </a:solidFill>
                <a:latin typeface="Cambria"/>
              </a:rPr>
              <a:t> p</a:t>
            </a:r>
            <a:r>
              <a:rPr b="1" sz="1512" baseline="-25000">
                <a:solidFill>
                  <a:srgbClr val="1F3A5F"/>
                </a:solidFill>
                <a:latin typeface="Cambria"/>
              </a:rPr>
              <a:t>c</a:t>
            </a:r>
            <a:r>
              <a:rPr b="1" sz="1512" baseline="-25000">
                <a:solidFill>
                  <a:srgbClr val="1F3A5F"/>
                </a:solidFill>
                <a:latin typeface="Cambria"/>
              </a:rPr>
              <a:t>²</a:t>
            </a:r>
          </a:p>
        </p:txBody>
      </p:sp>
      <p:sp>
        <p:nvSpPr>
          <p:cNvPr id="8" name="TextBox 7"/>
          <p:cNvSpPr txBox="1"/>
          <p:nvPr/>
        </p:nvSpPr>
        <p:spPr>
          <a:xfrm>
            <a:off x="795528" y="2670048"/>
            <a:ext cx="4934559" cy="411480"/>
          </a:xfrm>
          <a:prstGeom prst="rect">
            <a:avLst/>
          </a:prstGeom>
          <a:noFill/>
        </p:spPr>
        <p:txBody>
          <a:bodyPr wrap="square" lIns="0" rIns="0" tIns="0" bIns="0" anchor="t">
            <a:spAutoFit/>
          </a:bodyPr>
          <a:lstStyle/>
          <a:p>
            <a:pPr algn="ctr">
              <a:lnSpc>
                <a:spcPct val="115000"/>
              </a:lnSpc>
              <a:spcAft>
                <a:spcPts val="600"/>
              </a:spcAft>
            </a:pPr>
            <a:r>
              <a:rPr sz="1150" b="0" i="0">
                <a:solidFill>
                  <a:srgbClr val="5F6B7A"/>
                </a:solidFill>
                <a:latin typeface="Calibri"/>
              </a:rPr>
              <a:t>The split maximising ΔG = G(S) − (|Sᴸ|/|S|)G(Sᴸ) − (|Sᴿ|/|S|)G(Sᴿ) is chosen. Regression uses variance reduction.</a:t>
            </a:r>
          </a:p>
        </p:txBody>
      </p:sp>
      <p:sp>
        <p:nvSpPr>
          <p:cNvPr id="9" name="TextBox 8"/>
          <p:cNvSpPr txBox="1"/>
          <p:nvPr/>
        </p:nvSpPr>
        <p:spPr>
          <a:xfrm>
            <a:off x="6233007" y="1627632"/>
            <a:ext cx="5391759" cy="292608"/>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Why an ensemble at all</a:t>
            </a:r>
          </a:p>
        </p:txBody>
      </p:sp>
      <p:sp>
        <p:nvSpPr>
          <p:cNvPr id="10" name="TextBox 9"/>
          <p:cNvSpPr txBox="1"/>
          <p:nvPr/>
        </p:nvSpPr>
        <p:spPr>
          <a:xfrm>
            <a:off x="6233007" y="1993392"/>
            <a:ext cx="5391759" cy="4133088"/>
          </a:xfrm>
          <a:prstGeom prst="rect">
            <a:avLst/>
          </a:prstGeom>
          <a:noFill/>
        </p:spPr>
        <p:txBody>
          <a:bodyPr wrap="square" lIns="0" rIns="0" tIns="0" bIns="0" anchor="t">
            <a:spAutoFit/>
          </a:bodyPr>
          <a:lstStyle/>
          <a:p>
            <a:pPr algn="l">
              <a:lnSpc>
                <a:spcPct val="122000"/>
              </a:lnSpc>
              <a:spcAft>
                <a:spcPts val="700"/>
              </a:spcAft>
            </a:pPr>
            <a:r>
              <a:rPr sz="1250" b="0" i="0">
                <a:solidFill>
                  <a:srgbClr val="0F1A2E"/>
                </a:solidFill>
                <a:latin typeface="Calibri"/>
              </a:rPr>
              <a:t>•   A single deep tree has low bias and very high variance.</a:t>
            </a:r>
          </a:p>
          <a:p>
            <a:pPr algn="l">
              <a:lnSpc>
                <a:spcPct val="122000"/>
              </a:lnSpc>
              <a:spcAft>
                <a:spcPts val="700"/>
              </a:spcAft>
            </a:pPr>
            <a:r>
              <a:rPr sz="1250" b="0" i="0">
                <a:solidFill>
                  <a:srgbClr val="0F1A2E"/>
                </a:solidFill>
                <a:latin typeface="Calibri"/>
              </a:rPr>
              <a:t>•   Averaging B bootstrap trees leaves bias roughly unchanged and cuts variance. If the trees were independent the variance would fall as σ²/B; they are correlated, so the real gain is smaller.</a:t>
            </a:r>
          </a:p>
          <a:p>
            <a:pPr algn="l">
              <a:lnSpc>
                <a:spcPct val="122000"/>
              </a:lnSpc>
              <a:spcAft>
                <a:spcPts val="700"/>
              </a:spcAft>
            </a:pPr>
            <a:r>
              <a:rPr sz="1250" b="0" i="0">
                <a:solidFill>
                  <a:srgbClr val="1C7293"/>
                </a:solidFill>
                <a:latin typeface="Calibri"/>
              </a:rPr>
              <a:t>•   That is exactly why each split sees only √1036 ≈ 32 random features: it decorrelates the trees so the averaging works.</a:t>
            </a:r>
          </a:p>
        </p:txBody>
      </p:sp>
      <p:sp>
        <p:nvSpPr>
          <p:cNvPr id="11" name="TextBox 10"/>
          <p:cNvSpPr txBox="1"/>
          <p:nvPr/>
        </p:nvSpPr>
        <p:spPr>
          <a:xfrm>
            <a:off x="566928" y="3429000"/>
            <a:ext cx="11057839" cy="292608"/>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The deployed settings, and the reason for each</a:t>
            </a:r>
          </a:p>
        </p:txBody>
      </p:sp>
      <p:sp>
        <p:nvSpPr>
          <p:cNvPr id="12" name="TextBox 11"/>
          <p:cNvSpPr txBox="1"/>
          <p:nvPr/>
        </p:nvSpPr>
        <p:spPr>
          <a:xfrm>
            <a:off x="566928" y="3794760"/>
            <a:ext cx="2377860" cy="237744"/>
          </a:xfrm>
          <a:prstGeom prst="rect">
            <a:avLst/>
          </a:prstGeom>
          <a:noFill/>
        </p:spPr>
        <p:txBody>
          <a:bodyPr wrap="square" lIns="0" rIns="0" tIns="0" bIns="0" anchor="t">
            <a:spAutoFit/>
          </a:bodyPr>
          <a:lstStyle/>
          <a:p>
            <a:pPr algn="l">
              <a:spcAft>
                <a:spcPts val="600"/>
              </a:spcAft>
            </a:pPr>
            <a:r>
              <a:rPr sz="1250" b="1" i="0">
                <a:solidFill>
                  <a:srgbClr val="1F3A5F"/>
                </a:solidFill>
                <a:latin typeface="Calibri"/>
              </a:rPr>
              <a:t>parameter</a:t>
            </a:r>
          </a:p>
        </p:txBody>
      </p:sp>
      <p:sp>
        <p:nvSpPr>
          <p:cNvPr id="13" name="TextBox 12"/>
          <p:cNvSpPr txBox="1"/>
          <p:nvPr/>
        </p:nvSpPr>
        <p:spPr>
          <a:xfrm>
            <a:off x="2999652" y="3794760"/>
            <a:ext cx="1935547" cy="237744"/>
          </a:xfrm>
          <a:prstGeom prst="rect">
            <a:avLst/>
          </a:prstGeom>
          <a:noFill/>
        </p:spPr>
        <p:txBody>
          <a:bodyPr wrap="square" lIns="0" rIns="0" tIns="0" bIns="0" anchor="t">
            <a:spAutoFit/>
          </a:bodyPr>
          <a:lstStyle/>
          <a:p>
            <a:pPr algn="l">
              <a:spcAft>
                <a:spcPts val="600"/>
              </a:spcAft>
            </a:pPr>
            <a:r>
              <a:rPr sz="1250" b="1" i="0">
                <a:solidFill>
                  <a:srgbClr val="1F3A5F"/>
                </a:solidFill>
                <a:latin typeface="Calibri"/>
              </a:rPr>
              <a:t>value</a:t>
            </a:r>
          </a:p>
        </p:txBody>
      </p:sp>
      <p:sp>
        <p:nvSpPr>
          <p:cNvPr id="14" name="TextBox 13"/>
          <p:cNvSpPr txBox="1"/>
          <p:nvPr/>
        </p:nvSpPr>
        <p:spPr>
          <a:xfrm>
            <a:off x="4990063" y="3794760"/>
            <a:ext cx="6579839" cy="237744"/>
          </a:xfrm>
          <a:prstGeom prst="rect">
            <a:avLst/>
          </a:prstGeom>
          <a:noFill/>
        </p:spPr>
        <p:txBody>
          <a:bodyPr wrap="square" lIns="0" rIns="0" tIns="0" bIns="0" anchor="t">
            <a:spAutoFit/>
          </a:bodyPr>
          <a:lstStyle/>
          <a:p>
            <a:pPr algn="l">
              <a:spcAft>
                <a:spcPts val="600"/>
              </a:spcAft>
            </a:pPr>
            <a:r>
              <a:rPr sz="1250" b="1" i="0">
                <a:solidFill>
                  <a:srgbClr val="1F3A5F"/>
                </a:solidFill>
                <a:latin typeface="Calibri"/>
              </a:rPr>
              <a:t>why</a:t>
            </a:r>
          </a:p>
        </p:txBody>
      </p:sp>
      <p:sp>
        <p:nvSpPr>
          <p:cNvPr id="15" name="Rounded Rectangle 14"/>
          <p:cNvSpPr/>
          <p:nvPr/>
        </p:nvSpPr>
        <p:spPr>
          <a:xfrm>
            <a:off x="493776" y="4032504"/>
            <a:ext cx="11149279" cy="31089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66928" y="4069080"/>
            <a:ext cx="2377860"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n_estimators</a:t>
            </a:r>
          </a:p>
        </p:txBody>
      </p:sp>
      <p:sp>
        <p:nvSpPr>
          <p:cNvPr id="17" name="TextBox 16"/>
          <p:cNvSpPr txBox="1"/>
          <p:nvPr/>
        </p:nvSpPr>
        <p:spPr>
          <a:xfrm>
            <a:off x="2999652" y="4069080"/>
            <a:ext cx="1935547"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300</a:t>
            </a:r>
          </a:p>
        </p:txBody>
      </p:sp>
      <p:sp>
        <p:nvSpPr>
          <p:cNvPr id="18" name="TextBox 17"/>
          <p:cNvSpPr txBox="1"/>
          <p:nvPr/>
        </p:nvSpPr>
        <p:spPr>
          <a:xfrm>
            <a:off x="4990063" y="4069080"/>
            <a:ext cx="6579839"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enough for the variance reduction to have plateaued</a:t>
            </a:r>
          </a:p>
        </p:txBody>
      </p:sp>
      <p:sp>
        <p:nvSpPr>
          <p:cNvPr id="19" name="TextBox 18"/>
          <p:cNvSpPr txBox="1"/>
          <p:nvPr/>
        </p:nvSpPr>
        <p:spPr>
          <a:xfrm>
            <a:off x="566928" y="4379976"/>
            <a:ext cx="2377860"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min_samples_leaf</a:t>
            </a:r>
          </a:p>
        </p:txBody>
      </p:sp>
      <p:sp>
        <p:nvSpPr>
          <p:cNvPr id="20" name="TextBox 19"/>
          <p:cNvSpPr txBox="1"/>
          <p:nvPr/>
        </p:nvSpPr>
        <p:spPr>
          <a:xfrm>
            <a:off x="2999652" y="4379976"/>
            <a:ext cx="1935547"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2 core, 4 binder</a:t>
            </a:r>
          </a:p>
        </p:txBody>
      </p:sp>
      <p:sp>
        <p:nvSpPr>
          <p:cNvPr id="21" name="TextBox 20"/>
          <p:cNvSpPr txBox="1"/>
          <p:nvPr/>
        </p:nvSpPr>
        <p:spPr>
          <a:xfrm>
            <a:off x="4990063" y="4379976"/>
            <a:ext cx="6579839"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prevents single-compound leaves, the main overfitting route</a:t>
            </a:r>
          </a:p>
        </p:txBody>
      </p:sp>
      <p:sp>
        <p:nvSpPr>
          <p:cNvPr id="22" name="Rounded Rectangle 21"/>
          <p:cNvSpPr/>
          <p:nvPr/>
        </p:nvSpPr>
        <p:spPr>
          <a:xfrm>
            <a:off x="493776" y="4654296"/>
            <a:ext cx="11149279" cy="31089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66928" y="4690872"/>
            <a:ext cx="2377860"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class_weight</a:t>
            </a:r>
          </a:p>
        </p:txBody>
      </p:sp>
      <p:sp>
        <p:nvSpPr>
          <p:cNvPr id="24" name="TextBox 23"/>
          <p:cNvSpPr txBox="1"/>
          <p:nvPr/>
        </p:nvSpPr>
        <p:spPr>
          <a:xfrm>
            <a:off x="2999652" y="4690872"/>
            <a:ext cx="1935547"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balanced</a:t>
            </a:r>
          </a:p>
        </p:txBody>
      </p:sp>
      <p:sp>
        <p:nvSpPr>
          <p:cNvPr id="25" name="TextBox 24"/>
          <p:cNvSpPr txBox="1"/>
          <p:nvPr/>
        </p:nvSpPr>
        <p:spPr>
          <a:xfrm>
            <a:off x="4990063" y="4690872"/>
            <a:ext cx="6579839"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w_c = n / (k · n_c); see the next slide</a:t>
            </a:r>
          </a:p>
        </p:txBody>
      </p:sp>
      <p:sp>
        <p:nvSpPr>
          <p:cNvPr id="26" name="TextBox 25"/>
          <p:cNvSpPr txBox="1"/>
          <p:nvPr/>
        </p:nvSpPr>
        <p:spPr>
          <a:xfrm>
            <a:off x="566928" y="5001768"/>
            <a:ext cx="2377860"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max_features</a:t>
            </a:r>
          </a:p>
        </p:txBody>
      </p:sp>
      <p:sp>
        <p:nvSpPr>
          <p:cNvPr id="27" name="TextBox 26"/>
          <p:cNvSpPr txBox="1"/>
          <p:nvPr/>
        </p:nvSpPr>
        <p:spPr>
          <a:xfrm>
            <a:off x="2999652" y="5001768"/>
            <a:ext cx="1935547"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√p ≈ 32</a:t>
            </a:r>
          </a:p>
        </p:txBody>
      </p:sp>
      <p:sp>
        <p:nvSpPr>
          <p:cNvPr id="28" name="TextBox 27"/>
          <p:cNvSpPr txBox="1"/>
          <p:nvPr/>
        </p:nvSpPr>
        <p:spPr>
          <a:xfrm>
            <a:off x="4990063" y="5001768"/>
            <a:ext cx="6579839"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decorrelates the trees</a:t>
            </a:r>
          </a:p>
        </p:txBody>
      </p:sp>
      <p:sp>
        <p:nvSpPr>
          <p:cNvPr id="29" name="Rounded Rectangle 28"/>
          <p:cNvSpPr/>
          <p:nvPr/>
        </p:nvSpPr>
        <p:spPr>
          <a:xfrm>
            <a:off x="493776" y="5276088"/>
            <a:ext cx="11149279" cy="31089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66928" y="5312664"/>
            <a:ext cx="2377860"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random_state</a:t>
            </a:r>
          </a:p>
        </p:txBody>
      </p:sp>
      <p:sp>
        <p:nvSpPr>
          <p:cNvPr id="31" name="TextBox 30"/>
          <p:cNvSpPr txBox="1"/>
          <p:nvPr/>
        </p:nvSpPr>
        <p:spPr>
          <a:xfrm>
            <a:off x="2999652" y="5312664"/>
            <a:ext cx="1935547"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42</a:t>
            </a:r>
          </a:p>
        </p:txBody>
      </p:sp>
      <p:sp>
        <p:nvSpPr>
          <p:cNvPr id="32" name="TextBox 31"/>
          <p:cNvSpPr txBox="1"/>
          <p:nvPr/>
        </p:nvSpPr>
        <p:spPr>
          <a:xfrm>
            <a:off x="4990063" y="5312664"/>
            <a:ext cx="6579839"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reproducibility</a:t>
            </a:r>
          </a:p>
        </p:txBody>
      </p:sp>
      <p:sp>
        <p:nvSpPr>
          <p:cNvPr id="33" name="TextBox 32"/>
          <p:cNvSpPr txBox="1"/>
          <p:nvPr/>
        </p:nvSpPr>
        <p:spPr>
          <a:xfrm>
            <a:off x="566928" y="5669280"/>
            <a:ext cx="11057839" cy="365760"/>
          </a:xfrm>
          <a:prstGeom prst="rect">
            <a:avLst/>
          </a:prstGeom>
          <a:noFill/>
        </p:spPr>
        <p:txBody>
          <a:bodyPr wrap="square" lIns="0" rIns="0" tIns="0" bIns="0" anchor="t">
            <a:spAutoFit/>
          </a:bodyPr>
          <a:lstStyle/>
          <a:p>
            <a:pPr algn="l">
              <a:spcAft>
                <a:spcPts val="600"/>
              </a:spcAft>
            </a:pPr>
            <a:r>
              <a:rPr sz="1350" b="1" i="0">
                <a:solidFill>
                  <a:srgbClr val="D98324"/>
                </a:solidFill>
                <a:latin typeface="Calibri"/>
              </a:rPr>
              <a:t>The output p̂(x) is the mean vote share across trees. That is a VOTE SHARE, not a calibrated probability, which is why slide 18 exists.</a:t>
            </a:r>
          </a:p>
        </p:txBody>
      </p:sp>
      <p:sp>
        <p:nvSpPr>
          <p:cNvPr id="34" name="TextBox 33"/>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src/brainsafe/models/train_rf.py::RF_COMMON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12</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Class weighting, worked through</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Without it, a model on hERG could score 76% accuracy by calling everything inactive</a:t>
            </a:r>
          </a:p>
        </p:txBody>
      </p:sp>
      <p:sp>
        <p:nvSpPr>
          <p:cNvPr id="5" name="Rounded Rectangle 4"/>
          <p:cNvSpPr/>
          <p:nvPr/>
        </p:nvSpPr>
        <p:spPr>
          <a:xfrm>
            <a:off x="566928" y="1691640"/>
            <a:ext cx="11057839" cy="8686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920240"/>
            <a:ext cx="11057839" cy="731520"/>
          </a:xfrm>
          <a:prstGeom prst="rect">
            <a:avLst/>
          </a:prstGeom>
          <a:noFill/>
        </p:spPr>
        <p:txBody>
          <a:bodyPr wrap="square" lIns="0" rIns="0" tIns="0" bIns="0">
            <a:spAutoFit/>
          </a:bodyPr>
          <a:lstStyle/>
          <a:p>
            <a:pPr algn="ctr"/>
            <a:r>
              <a:rPr b="1" sz="2600">
                <a:solidFill>
                  <a:srgbClr val="1F3A5F"/>
                </a:solidFill>
                <a:latin typeface="Cambria"/>
              </a:rPr>
              <a:t>w</a:t>
            </a:r>
            <a:r>
              <a:rPr b="1" sz="1872" baseline="-25000">
                <a:solidFill>
                  <a:srgbClr val="1F3A5F"/>
                </a:solidFill>
                <a:latin typeface="Cambria"/>
              </a:rPr>
              <a:t>c</a:t>
            </a:r>
            <a:r>
              <a:rPr b="1" sz="2600">
                <a:solidFill>
                  <a:srgbClr val="1F3A5F"/>
                </a:solidFill>
                <a:latin typeface="Cambria"/>
              </a:rPr>
              <a:t>  =  n  /  ( k · n</a:t>
            </a:r>
            <a:r>
              <a:rPr b="1" sz="1872" baseline="-25000">
                <a:solidFill>
                  <a:srgbClr val="1F3A5F"/>
                </a:solidFill>
                <a:latin typeface="Cambria"/>
              </a:rPr>
              <a:t>c</a:t>
            </a:r>
            <a:r>
              <a:rPr b="1" sz="2600">
                <a:solidFill>
                  <a:srgbClr val="1F3A5F"/>
                </a:solidFill>
                <a:latin typeface="Cambria"/>
              </a:rPr>
              <a:t> )</a:t>
            </a:r>
          </a:p>
        </p:txBody>
      </p:sp>
      <p:sp>
        <p:nvSpPr>
          <p:cNvPr id="7" name="TextBox 6"/>
          <p:cNvSpPr txBox="1"/>
          <p:nvPr/>
        </p:nvSpPr>
        <p:spPr>
          <a:xfrm>
            <a:off x="566928" y="2788920"/>
            <a:ext cx="11057839" cy="292608"/>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Worked example: MAO-A,  n = 3,585,  positives = 857,  negatives = 2,728,  k = 2</a:t>
            </a:r>
          </a:p>
        </p:txBody>
      </p:sp>
      <p:sp>
        <p:nvSpPr>
          <p:cNvPr id="8" name="TextBox 7"/>
          <p:cNvSpPr txBox="1"/>
          <p:nvPr/>
        </p:nvSpPr>
        <p:spPr>
          <a:xfrm>
            <a:off x="566928" y="3246120"/>
            <a:ext cx="2743200" cy="603504"/>
          </a:xfrm>
          <a:prstGeom prst="rect">
            <a:avLst/>
          </a:prstGeom>
          <a:noFill/>
        </p:spPr>
        <p:txBody>
          <a:bodyPr wrap="square" lIns="0" rIns="0" tIns="0" bIns="0" anchor="t">
            <a:spAutoFit/>
          </a:bodyPr>
          <a:lstStyle/>
          <a:p>
            <a:pPr algn="l">
              <a:spcAft>
                <a:spcPts val="600"/>
              </a:spcAft>
            </a:pPr>
            <a:r>
              <a:rPr sz="3400" b="1" i="0">
                <a:solidFill>
                  <a:srgbClr val="1C7293"/>
                </a:solidFill>
                <a:latin typeface="Cambria"/>
              </a:rPr>
              <a:t>2.092</a:t>
            </a:r>
          </a:p>
        </p:txBody>
      </p:sp>
      <p:sp>
        <p:nvSpPr>
          <p:cNvPr id="9" name="TextBox 8"/>
          <p:cNvSpPr txBox="1"/>
          <p:nvPr/>
        </p:nvSpPr>
        <p:spPr>
          <a:xfrm>
            <a:off x="566928" y="3886200"/>
            <a:ext cx="274320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weight on each POSITIVE
n / (2 × 857)</a:t>
            </a:r>
          </a:p>
        </p:txBody>
      </p:sp>
      <p:sp>
        <p:nvSpPr>
          <p:cNvPr id="10" name="TextBox 9"/>
          <p:cNvSpPr txBox="1"/>
          <p:nvPr/>
        </p:nvSpPr>
        <p:spPr>
          <a:xfrm>
            <a:off x="3493008" y="3246120"/>
            <a:ext cx="2743200" cy="603504"/>
          </a:xfrm>
          <a:prstGeom prst="rect">
            <a:avLst/>
          </a:prstGeom>
          <a:noFill/>
        </p:spPr>
        <p:txBody>
          <a:bodyPr wrap="square" lIns="0" rIns="0" tIns="0" bIns="0" anchor="t">
            <a:spAutoFit/>
          </a:bodyPr>
          <a:lstStyle/>
          <a:p>
            <a:pPr algn="l">
              <a:spcAft>
                <a:spcPts val="600"/>
              </a:spcAft>
            </a:pPr>
            <a:r>
              <a:rPr sz="3400" b="1" i="0">
                <a:solidFill>
                  <a:srgbClr val="1F3A5F"/>
                </a:solidFill>
                <a:latin typeface="Cambria"/>
              </a:rPr>
              <a:t>0.657</a:t>
            </a:r>
          </a:p>
        </p:txBody>
      </p:sp>
      <p:sp>
        <p:nvSpPr>
          <p:cNvPr id="11" name="TextBox 10"/>
          <p:cNvSpPr txBox="1"/>
          <p:nvPr/>
        </p:nvSpPr>
        <p:spPr>
          <a:xfrm>
            <a:off x="3493008" y="3886200"/>
            <a:ext cx="274320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weight on each NEGATIVE
n / (2 × 2728)</a:t>
            </a:r>
          </a:p>
        </p:txBody>
      </p:sp>
      <p:sp>
        <p:nvSpPr>
          <p:cNvPr id="12" name="TextBox 11"/>
          <p:cNvSpPr txBox="1"/>
          <p:nvPr/>
        </p:nvSpPr>
        <p:spPr>
          <a:xfrm>
            <a:off x="6419088" y="3246120"/>
            <a:ext cx="3108960" cy="603504"/>
          </a:xfrm>
          <a:prstGeom prst="rect">
            <a:avLst/>
          </a:prstGeom>
          <a:noFill/>
        </p:spPr>
        <p:txBody>
          <a:bodyPr wrap="square" lIns="0" rIns="0" tIns="0" bIns="0" anchor="t">
            <a:spAutoFit/>
          </a:bodyPr>
          <a:lstStyle/>
          <a:p>
            <a:pPr algn="l">
              <a:spcAft>
                <a:spcPts val="600"/>
              </a:spcAft>
            </a:pPr>
            <a:r>
              <a:rPr sz="3400" b="1" i="0">
                <a:solidFill>
                  <a:srgbClr val="D98324"/>
                </a:solidFill>
                <a:latin typeface="Cambria"/>
              </a:rPr>
              <a:t>3.18×</a:t>
            </a:r>
          </a:p>
        </p:txBody>
      </p:sp>
      <p:sp>
        <p:nvSpPr>
          <p:cNvPr id="13" name="TextBox 12"/>
          <p:cNvSpPr txBox="1"/>
          <p:nvPr/>
        </p:nvSpPr>
        <p:spPr>
          <a:xfrm>
            <a:off x="6419088" y="3886200"/>
            <a:ext cx="310896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each positive counts this
much more than each negative</a:t>
            </a:r>
          </a:p>
        </p:txBody>
      </p:sp>
      <p:sp>
        <p:nvSpPr>
          <p:cNvPr id="14" name="TextBox 13"/>
          <p:cNvSpPr txBox="1"/>
          <p:nvPr/>
        </p:nvSpPr>
        <p:spPr>
          <a:xfrm>
            <a:off x="566928" y="4709160"/>
            <a:ext cx="11057839" cy="1417319"/>
          </a:xfrm>
          <a:prstGeom prst="rect">
            <a:avLst/>
          </a:prstGeom>
          <a:noFill/>
        </p:spPr>
        <p:txBody>
          <a:bodyPr wrap="square" lIns="0" rIns="0" tIns="0" bIns="0" anchor="t">
            <a:spAutoFit/>
          </a:bodyPr>
          <a:lstStyle/>
          <a:p>
            <a:pPr algn="l">
              <a:lnSpc>
                <a:spcPct val="122000"/>
              </a:lnSpc>
              <a:spcAft>
                <a:spcPts val="900"/>
              </a:spcAft>
            </a:pPr>
            <a:r>
              <a:rPr sz="1350" b="0" i="0">
                <a:solidFill>
                  <a:srgbClr val="0F1A2E"/>
                </a:solidFill>
                <a:latin typeface="Calibri"/>
              </a:rPr>
              <a:t>•   The weights enter the impurity calculation, so a split that separates the rare class is rewarded in proportion to how rare that class is.</a:t>
            </a:r>
          </a:p>
          <a:p>
            <a:pPr algn="l">
              <a:lnSpc>
                <a:spcPct val="122000"/>
              </a:lnSpc>
              <a:spcAft>
                <a:spcPts val="900"/>
              </a:spcAft>
            </a:pPr>
            <a:r>
              <a:rPr sz="1350" b="0" i="0">
                <a:solidFill>
                  <a:srgbClr val="1C7293"/>
                </a:solidFill>
                <a:latin typeface="Calibri"/>
              </a:rPr>
              <a:t>•   Every family in the comparison is weighted: the forest by class_weight, XGBoost by scale_pos_weight, logistic regression by class_weight. HistGradientBoosting was the one exception and was corrected during the audit, because a comparison whose conclusion is “the forest is not distinguishable from the boosters” cannot rest on one booster having been handicapped.</a:t>
            </a:r>
          </a:p>
        </p:txBody>
      </p:sp>
      <p:sp>
        <p:nvSpPr>
          <p:cNvPr id="15" name="TextBox 14"/>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sklearn class_weight='balanced'; src/brainsafe/evaluation/model_comparison.py::classifiers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13</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Gradient boosting: the opposite philosophy</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 forest averages independent trees in parallel; boosting adds shallow trees in sequence, each correcting its predecessors</a:t>
            </a:r>
          </a:p>
        </p:txBody>
      </p:sp>
      <p:sp>
        <p:nvSpPr>
          <p:cNvPr id="5" name="TextBox 4"/>
          <p:cNvSpPr txBox="1"/>
          <p:nvPr/>
        </p:nvSpPr>
        <p:spPr>
          <a:xfrm>
            <a:off x="566928" y="1645920"/>
            <a:ext cx="11057839" cy="731520"/>
          </a:xfrm>
          <a:prstGeom prst="rect">
            <a:avLst/>
          </a:prstGeom>
          <a:noFill/>
        </p:spPr>
        <p:txBody>
          <a:bodyPr wrap="square" lIns="0" rIns="0" tIns="0" bIns="0">
            <a:spAutoFit/>
          </a:bodyPr>
          <a:lstStyle/>
          <a:p>
            <a:pPr algn="ctr"/>
            <a:r>
              <a:rPr b="1" sz="2400">
                <a:solidFill>
                  <a:srgbClr val="1F3A5F"/>
                </a:solidFill>
                <a:latin typeface="Cambria"/>
              </a:rPr>
              <a:t>F</a:t>
            </a:r>
            <a:r>
              <a:rPr b="1" sz="1728" baseline="-25000">
                <a:solidFill>
                  <a:srgbClr val="1F3A5F"/>
                </a:solidFill>
                <a:latin typeface="Cambria"/>
              </a:rPr>
              <a:t>m</a:t>
            </a:r>
            <a:r>
              <a:rPr b="1" sz="2400">
                <a:solidFill>
                  <a:srgbClr val="1F3A5F"/>
                </a:solidFill>
                <a:latin typeface="Cambria"/>
              </a:rPr>
              <a:t>(x)  =  F</a:t>
            </a:r>
            <a:r>
              <a:rPr b="1" sz="1728" baseline="-25000">
                <a:solidFill>
                  <a:srgbClr val="1F3A5F"/>
                </a:solidFill>
                <a:latin typeface="Cambria"/>
              </a:rPr>
              <a:t>m−1</a:t>
            </a:r>
            <a:r>
              <a:rPr b="1" sz="2400">
                <a:solidFill>
                  <a:srgbClr val="1F3A5F"/>
                </a:solidFill>
                <a:latin typeface="Cambria"/>
              </a:rPr>
              <a:t>(x)  +  η · h</a:t>
            </a:r>
            <a:r>
              <a:rPr b="1" sz="1728" baseline="-25000">
                <a:solidFill>
                  <a:srgbClr val="1F3A5F"/>
                </a:solidFill>
                <a:latin typeface="Cambria"/>
              </a:rPr>
              <a:t>m</a:t>
            </a:r>
            <a:r>
              <a:rPr b="1" sz="2400">
                <a:solidFill>
                  <a:srgbClr val="1F3A5F"/>
                </a:solidFill>
                <a:latin typeface="Cambria"/>
              </a:rPr>
              <a:t>(x)</a:t>
            </a:r>
          </a:p>
        </p:txBody>
      </p:sp>
      <p:sp>
        <p:nvSpPr>
          <p:cNvPr id="6" name="TextBox 5"/>
          <p:cNvSpPr txBox="1"/>
          <p:nvPr/>
        </p:nvSpPr>
        <p:spPr>
          <a:xfrm>
            <a:off x="566928" y="2331720"/>
            <a:ext cx="11057839" cy="292608"/>
          </a:xfrm>
          <a:prstGeom prst="rect">
            <a:avLst/>
          </a:prstGeom>
          <a:noFill/>
        </p:spPr>
        <p:txBody>
          <a:bodyPr wrap="square" lIns="0" rIns="0" tIns="0" bIns="0" anchor="t">
            <a:spAutoFit/>
          </a:bodyPr>
          <a:lstStyle/>
          <a:p>
            <a:pPr algn="ctr">
              <a:spcAft>
                <a:spcPts val="600"/>
              </a:spcAft>
            </a:pPr>
            <a:r>
              <a:rPr sz="1400" b="1" i="0">
                <a:solidFill>
                  <a:srgbClr val="1F3A5F"/>
                </a:solidFill>
                <a:latin typeface="Calibri"/>
              </a:rPr>
              <a:t>XGBoost expands the loss to second order, which makes the leaf value solvable in closed form</a:t>
            </a:r>
          </a:p>
        </p:txBody>
      </p:sp>
      <p:sp>
        <p:nvSpPr>
          <p:cNvPr id="7" name="Rounded Rectangle 6"/>
          <p:cNvSpPr/>
          <p:nvPr/>
        </p:nvSpPr>
        <p:spPr>
          <a:xfrm>
            <a:off x="1664207" y="2724912"/>
            <a:ext cx="8863279" cy="12344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664207" y="2871216"/>
            <a:ext cx="8863279" cy="731520"/>
          </a:xfrm>
          <a:prstGeom prst="rect">
            <a:avLst/>
          </a:prstGeom>
          <a:noFill/>
        </p:spPr>
        <p:txBody>
          <a:bodyPr wrap="square" lIns="0" rIns="0" tIns="0" bIns="0">
            <a:spAutoFit/>
          </a:bodyPr>
          <a:lstStyle/>
          <a:p>
            <a:pPr algn="ctr"/>
            <a:r>
              <a:rPr b="1" sz="2000">
                <a:solidFill>
                  <a:srgbClr val="1F3A5F"/>
                </a:solidFill>
                <a:latin typeface="Cambria"/>
              </a:rPr>
              <a:t>ℒ  ≈  Σ</a:t>
            </a:r>
            <a:r>
              <a:rPr b="1" sz="1439" baseline="-25000">
                <a:solidFill>
                  <a:srgbClr val="1F3A5F"/>
                </a:solidFill>
                <a:latin typeface="Cambria"/>
              </a:rPr>
              <a:t>j</a:t>
            </a:r>
            <a:r>
              <a:rPr b="1" sz="2000">
                <a:solidFill>
                  <a:srgbClr val="1F3A5F"/>
                </a:solidFill>
                <a:latin typeface="Cambria"/>
              </a:rPr>
              <a:t> [ G</a:t>
            </a:r>
            <a:r>
              <a:rPr b="1" sz="1439" baseline="-25000">
                <a:solidFill>
                  <a:srgbClr val="1F3A5F"/>
                </a:solidFill>
                <a:latin typeface="Cambria"/>
              </a:rPr>
              <a:t>j</a:t>
            </a:r>
            <a:r>
              <a:rPr b="1" sz="2000">
                <a:solidFill>
                  <a:srgbClr val="1F3A5F"/>
                </a:solidFill>
                <a:latin typeface="Cambria"/>
              </a:rPr>
              <a:t>w</a:t>
            </a:r>
            <a:r>
              <a:rPr b="1" sz="1439" baseline="-25000">
                <a:solidFill>
                  <a:srgbClr val="1F3A5F"/>
                </a:solidFill>
                <a:latin typeface="Cambria"/>
              </a:rPr>
              <a:t>j</a:t>
            </a:r>
            <a:r>
              <a:rPr b="1" sz="2000">
                <a:solidFill>
                  <a:srgbClr val="1F3A5F"/>
                </a:solidFill>
                <a:latin typeface="Cambria"/>
              </a:rPr>
              <a:t> + ½(H</a:t>
            </a:r>
            <a:r>
              <a:rPr b="1" sz="1439" baseline="-25000">
                <a:solidFill>
                  <a:srgbClr val="1F3A5F"/>
                </a:solidFill>
                <a:latin typeface="Cambria"/>
              </a:rPr>
              <a:t>j</a:t>
            </a:r>
            <a:r>
              <a:rPr b="1" sz="2000">
                <a:solidFill>
                  <a:srgbClr val="1F3A5F"/>
                </a:solidFill>
                <a:latin typeface="Cambria"/>
              </a:rPr>
              <a:t> + λ)w</a:t>
            </a:r>
            <a:r>
              <a:rPr b="1" sz="1439" baseline="-25000">
                <a:solidFill>
                  <a:srgbClr val="1F3A5F"/>
                </a:solidFill>
                <a:latin typeface="Cambria"/>
              </a:rPr>
              <a:t>j</a:t>
            </a:r>
            <a:r>
              <a:rPr b="1" sz="2000">
                <a:solidFill>
                  <a:srgbClr val="1F3A5F"/>
                </a:solidFill>
                <a:latin typeface="Cambria"/>
              </a:rPr>
              <a:t>² ]  +  γT</a:t>
            </a:r>
          </a:p>
        </p:txBody>
      </p:sp>
      <p:sp>
        <p:nvSpPr>
          <p:cNvPr id="9" name="TextBox 8"/>
          <p:cNvSpPr txBox="1"/>
          <p:nvPr/>
        </p:nvSpPr>
        <p:spPr>
          <a:xfrm>
            <a:off x="1664207" y="3401568"/>
            <a:ext cx="8863279" cy="731520"/>
          </a:xfrm>
          <a:prstGeom prst="rect">
            <a:avLst/>
          </a:prstGeom>
          <a:noFill/>
        </p:spPr>
        <p:txBody>
          <a:bodyPr wrap="square" lIns="0" rIns="0" tIns="0" bIns="0">
            <a:spAutoFit/>
          </a:bodyPr>
          <a:lstStyle/>
          <a:p>
            <a:pPr algn="ctr"/>
            <a:r>
              <a:rPr b="1" sz="2000">
                <a:solidFill>
                  <a:srgbClr val="1F3A5F"/>
                </a:solidFill>
                <a:latin typeface="Cambria"/>
              </a:rPr>
              <a:t>⇒   w</a:t>
            </a:r>
            <a:r>
              <a:rPr b="1" sz="1439" baseline="-25000">
                <a:solidFill>
                  <a:srgbClr val="1F3A5F"/>
                </a:solidFill>
                <a:latin typeface="Cambria"/>
              </a:rPr>
              <a:t>j</a:t>
            </a:r>
            <a:r>
              <a:rPr b="1" sz="2000">
                <a:solidFill>
                  <a:srgbClr val="1F3A5F"/>
                </a:solidFill>
                <a:latin typeface="Cambria"/>
              </a:rPr>
              <a:t>*  =  − G</a:t>
            </a:r>
            <a:r>
              <a:rPr b="1" sz="1439" baseline="-25000">
                <a:solidFill>
                  <a:srgbClr val="1F3A5F"/>
                </a:solidFill>
                <a:latin typeface="Cambria"/>
              </a:rPr>
              <a:t>j</a:t>
            </a:r>
            <a:r>
              <a:rPr b="1" sz="2000">
                <a:solidFill>
                  <a:srgbClr val="1F3A5F"/>
                </a:solidFill>
                <a:latin typeface="Cambria"/>
              </a:rPr>
              <a:t> / ( H</a:t>
            </a:r>
            <a:r>
              <a:rPr b="1" sz="1439" baseline="-25000">
                <a:solidFill>
                  <a:srgbClr val="1F3A5F"/>
                </a:solidFill>
                <a:latin typeface="Cambria"/>
              </a:rPr>
              <a:t>j</a:t>
            </a:r>
            <a:r>
              <a:rPr b="1" sz="2000">
                <a:solidFill>
                  <a:srgbClr val="1F3A5F"/>
                </a:solidFill>
                <a:latin typeface="Cambria"/>
              </a:rPr>
              <a:t> + λ )</a:t>
            </a:r>
          </a:p>
        </p:txBody>
      </p:sp>
      <p:sp>
        <p:nvSpPr>
          <p:cNvPr id="10" name="TextBox 9"/>
          <p:cNvSpPr txBox="1"/>
          <p:nvPr/>
        </p:nvSpPr>
        <p:spPr>
          <a:xfrm>
            <a:off x="566928" y="4096512"/>
            <a:ext cx="11057839" cy="329184"/>
          </a:xfrm>
          <a:prstGeom prst="rect">
            <a:avLst/>
          </a:prstGeom>
          <a:noFill/>
        </p:spPr>
        <p:txBody>
          <a:bodyPr wrap="square" lIns="0" rIns="0" tIns="0" bIns="0" anchor="t">
            <a:spAutoFit/>
          </a:bodyPr>
          <a:lstStyle/>
          <a:p>
            <a:pPr algn="ctr">
              <a:lnSpc>
                <a:spcPct val="120000"/>
              </a:lnSpc>
              <a:spcAft>
                <a:spcPts val="600"/>
              </a:spcAft>
            </a:pPr>
            <a:r>
              <a:rPr sz="1250" b="0" i="0">
                <a:solidFill>
                  <a:srgbClr val="5F6B7A"/>
                </a:solidFill>
                <a:latin typeface="Calibri"/>
              </a:rPr>
              <a:t>gᵢ and hᵢ are the first and second derivatives of the loss at the current prediction; Gⱼ and Hⱼ their sums over leaf j. The closed-form leaf value plus the λ and γ penalties are what distinguish XGBoost from classical boosting.</a:t>
            </a:r>
          </a:p>
        </p:txBody>
      </p:sp>
      <p:sp>
        <p:nvSpPr>
          <p:cNvPr id="11" name="TextBox 10"/>
          <p:cNvSpPr txBox="1"/>
          <p:nvPr/>
        </p:nvSpPr>
        <p:spPr>
          <a:xfrm>
            <a:off x="566928" y="4617720"/>
            <a:ext cx="2599017" cy="237744"/>
          </a:xfrm>
          <a:prstGeom prst="rect">
            <a:avLst/>
          </a:prstGeom>
          <a:noFill/>
        </p:spPr>
        <p:txBody>
          <a:bodyPr wrap="square" lIns="0" rIns="0" tIns="0" bIns="0" anchor="t">
            <a:spAutoFit/>
          </a:bodyPr>
          <a:lstStyle/>
          <a:p>
            <a:pPr algn="l">
              <a:spcAft>
                <a:spcPts val="600"/>
              </a:spcAft>
            </a:pPr>
            <a:r>
              <a:rPr sz="1200" b="1" i="0">
                <a:solidFill>
                  <a:srgbClr val="1F3A5F"/>
                </a:solidFill>
                <a:latin typeface="Calibri"/>
              </a:rPr>
              <a:t>family</a:t>
            </a:r>
          </a:p>
        </p:txBody>
      </p:sp>
      <p:sp>
        <p:nvSpPr>
          <p:cNvPr id="12" name="TextBox 11"/>
          <p:cNvSpPr txBox="1"/>
          <p:nvPr/>
        </p:nvSpPr>
        <p:spPr>
          <a:xfrm>
            <a:off x="3220809" y="4617720"/>
            <a:ext cx="8349093" cy="237744"/>
          </a:xfrm>
          <a:prstGeom prst="rect">
            <a:avLst/>
          </a:prstGeom>
          <a:noFill/>
        </p:spPr>
        <p:txBody>
          <a:bodyPr wrap="square" lIns="0" rIns="0" tIns="0" bIns="0" anchor="t">
            <a:spAutoFit/>
          </a:bodyPr>
          <a:lstStyle/>
          <a:p>
            <a:pPr algn="l">
              <a:spcAft>
                <a:spcPts val="600"/>
              </a:spcAft>
            </a:pPr>
            <a:r>
              <a:rPr sz="1200" b="1" i="0">
                <a:solidFill>
                  <a:srgbClr val="1F3A5F"/>
                </a:solidFill>
                <a:latin typeface="Calibri"/>
              </a:rPr>
              <a:t>settings as run in the comparison</a:t>
            </a:r>
          </a:p>
        </p:txBody>
      </p:sp>
      <p:sp>
        <p:nvSpPr>
          <p:cNvPr id="13" name="Rounded Rectangle 12"/>
          <p:cNvSpPr/>
          <p:nvPr/>
        </p:nvSpPr>
        <p:spPr>
          <a:xfrm>
            <a:off x="493776" y="4855464"/>
            <a:ext cx="11149279" cy="32918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4892040"/>
            <a:ext cx="2599017" cy="292608"/>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XGBoost</a:t>
            </a:r>
          </a:p>
        </p:txBody>
      </p:sp>
      <p:sp>
        <p:nvSpPr>
          <p:cNvPr id="15" name="TextBox 14"/>
          <p:cNvSpPr txBox="1"/>
          <p:nvPr/>
        </p:nvSpPr>
        <p:spPr>
          <a:xfrm>
            <a:off x="3220809" y="4892040"/>
            <a:ext cx="8349093" cy="292608"/>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n_estimators=400, max_depth=6, learning_rate=0.05, subsample=0.8, colsample_bytree=0.8, tree_method=hist, scale_pos_weight per endpoint</a:t>
            </a:r>
          </a:p>
        </p:txBody>
      </p:sp>
      <p:sp>
        <p:nvSpPr>
          <p:cNvPr id="16" name="TextBox 15"/>
          <p:cNvSpPr txBox="1"/>
          <p:nvPr/>
        </p:nvSpPr>
        <p:spPr>
          <a:xfrm>
            <a:off x="566928" y="5221224"/>
            <a:ext cx="2599017" cy="292608"/>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HistGradientBoosting</a:t>
            </a:r>
          </a:p>
        </p:txBody>
      </p:sp>
      <p:sp>
        <p:nvSpPr>
          <p:cNvPr id="17" name="TextBox 16"/>
          <p:cNvSpPr txBox="1"/>
          <p:nvPr/>
        </p:nvSpPr>
        <p:spPr>
          <a:xfrm>
            <a:off x="3220809" y="5221224"/>
            <a:ext cx="8349093" cy="292608"/>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max_iter=400, learning_rate=0.06, class_weight=balanced</a:t>
            </a:r>
          </a:p>
        </p:txBody>
      </p:sp>
      <p:sp>
        <p:nvSpPr>
          <p:cNvPr id="18" name="Rounded Rectangle 17"/>
          <p:cNvSpPr/>
          <p:nvPr/>
        </p:nvSpPr>
        <p:spPr>
          <a:xfrm>
            <a:off x="493776" y="5513832"/>
            <a:ext cx="11149279" cy="32918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5550408"/>
            <a:ext cx="2599017" cy="292608"/>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LogisticRegression</a:t>
            </a:r>
          </a:p>
        </p:txBody>
      </p:sp>
      <p:sp>
        <p:nvSpPr>
          <p:cNvPr id="20" name="TextBox 19"/>
          <p:cNvSpPr txBox="1"/>
          <p:nvPr/>
        </p:nvSpPr>
        <p:spPr>
          <a:xfrm>
            <a:off x="3220809" y="5550408"/>
            <a:ext cx="8349093" cy="292608"/>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StandardScaler + C=1.0, max_iter=2000, class_weight=balanced</a:t>
            </a:r>
          </a:p>
        </p:txBody>
      </p:sp>
      <p:sp>
        <p:nvSpPr>
          <p:cNvPr id="21" name="TextBox 20"/>
          <p:cNvSpPr txBox="1"/>
          <p:nvPr/>
        </p:nvSpPr>
        <p:spPr>
          <a:xfrm>
            <a:off x="566928" y="5879592"/>
            <a:ext cx="2599017" cy="292608"/>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kNN read-across</a:t>
            </a:r>
          </a:p>
        </p:txBody>
      </p:sp>
      <p:sp>
        <p:nvSpPr>
          <p:cNvPr id="22" name="TextBox 21"/>
          <p:cNvSpPr txBox="1"/>
          <p:nvPr/>
        </p:nvSpPr>
        <p:spPr>
          <a:xfrm>
            <a:off x="3220809" y="5879592"/>
            <a:ext cx="8349093" cy="292608"/>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n_neighbors=5, metric=jaccard</a:t>
            </a:r>
          </a:p>
        </p:txBody>
      </p:sp>
      <p:sp>
        <p:nvSpPr>
          <p:cNvPr id="23" name="TextBox 22"/>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src/brainsafe/evaluation/model_comparison.py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14</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two baselines that keep the project honest</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 linear model and a similarity search. If a fitted model cannot beat these, it has learned nothing</a:t>
            </a:r>
          </a:p>
        </p:txBody>
      </p:sp>
      <p:sp>
        <p:nvSpPr>
          <p:cNvPr id="5" name="TextBox 4"/>
          <p:cNvSpPr txBox="1"/>
          <p:nvPr/>
        </p:nvSpPr>
        <p:spPr>
          <a:xfrm>
            <a:off x="566928" y="1645920"/>
            <a:ext cx="5307762" cy="292608"/>
          </a:xfrm>
          <a:prstGeom prst="rect">
            <a:avLst/>
          </a:prstGeom>
          <a:noFill/>
        </p:spPr>
        <p:txBody>
          <a:bodyPr wrap="square" lIns="0" rIns="0" tIns="0" bIns="0" anchor="t">
            <a:spAutoFit/>
          </a:bodyPr>
          <a:lstStyle/>
          <a:p>
            <a:pPr algn="l">
              <a:spcAft>
                <a:spcPts val="600"/>
              </a:spcAft>
            </a:pPr>
            <a:r>
              <a:rPr sz="1600" b="1" i="0">
                <a:solidFill>
                  <a:srgbClr val="1F3A5F"/>
                </a:solidFill>
                <a:latin typeface="Calibri"/>
              </a:rPr>
              <a:t>Logistic regression</a:t>
            </a:r>
          </a:p>
        </p:txBody>
      </p:sp>
      <p:sp>
        <p:nvSpPr>
          <p:cNvPr id="6" name="Rounded Rectangle 5"/>
          <p:cNvSpPr/>
          <p:nvPr/>
        </p:nvSpPr>
        <p:spPr>
          <a:xfrm>
            <a:off x="566928" y="1993392"/>
            <a:ext cx="5170602" cy="7772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2157984"/>
            <a:ext cx="5170602" cy="731520"/>
          </a:xfrm>
          <a:prstGeom prst="rect">
            <a:avLst/>
          </a:prstGeom>
          <a:noFill/>
        </p:spPr>
        <p:txBody>
          <a:bodyPr wrap="square" lIns="0" rIns="0" tIns="0" bIns="0">
            <a:spAutoFit/>
          </a:bodyPr>
          <a:lstStyle/>
          <a:p>
            <a:pPr algn="ctr"/>
            <a:r>
              <a:rPr b="1" sz="1900">
                <a:solidFill>
                  <a:srgbClr val="1F3A5F"/>
                </a:solidFill>
                <a:latin typeface="Cambria"/>
              </a:rPr>
              <a:t>log( p / (1−p) )  =  w</a:t>
            </a:r>
            <a:r>
              <a:rPr b="1" sz="1368" baseline="-25000">
                <a:solidFill>
                  <a:srgbClr val="1F3A5F"/>
                </a:solidFill>
                <a:latin typeface="Cambria"/>
              </a:rPr>
              <a:t>ᵀ</a:t>
            </a:r>
            <a:r>
              <a:rPr b="1" sz="1900">
                <a:solidFill>
                  <a:srgbClr val="1F3A5F"/>
                </a:solidFill>
                <a:latin typeface="Cambria"/>
              </a:rPr>
              <a:t>x + b</a:t>
            </a:r>
          </a:p>
        </p:txBody>
      </p:sp>
      <p:sp>
        <p:nvSpPr>
          <p:cNvPr id="8" name="TextBox 7"/>
          <p:cNvSpPr txBox="1"/>
          <p:nvPr/>
        </p:nvSpPr>
        <p:spPr>
          <a:xfrm>
            <a:off x="566928" y="2880360"/>
            <a:ext cx="5307762" cy="274320"/>
          </a:xfrm>
          <a:prstGeom prst="rect">
            <a:avLst/>
          </a:prstGeom>
          <a:noFill/>
        </p:spPr>
        <p:txBody>
          <a:bodyPr wrap="square" lIns="0" rIns="0" tIns="0" bIns="0" anchor="t">
            <a:spAutoFit/>
          </a:bodyPr>
          <a:lstStyle/>
          <a:p>
            <a:pPr algn="l">
              <a:spcAft>
                <a:spcPts val="600"/>
              </a:spcAft>
            </a:pPr>
            <a:r>
              <a:rPr sz="1300" b="1" i="0">
                <a:solidFill>
                  <a:srgbClr val="5F6B7A"/>
                </a:solidFill>
                <a:latin typeface="Calibri"/>
              </a:rPr>
              <a:t>Scaffold-split R² on regression endpoints</a:t>
            </a:r>
          </a:p>
        </p:txBody>
      </p:sp>
      <p:sp>
        <p:nvSpPr>
          <p:cNvPr id="9" name="TextBox 8"/>
          <p:cNvSpPr txBox="1"/>
          <p:nvPr/>
        </p:nvSpPr>
        <p:spPr>
          <a:xfrm>
            <a:off x="566928" y="3200400"/>
            <a:ext cx="3150909" cy="237744"/>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endpoint</a:t>
            </a:r>
          </a:p>
        </p:txBody>
      </p:sp>
      <p:sp>
        <p:nvSpPr>
          <p:cNvPr id="10" name="TextBox 9"/>
          <p:cNvSpPr txBox="1"/>
          <p:nvPr/>
        </p:nvSpPr>
        <p:spPr>
          <a:xfrm>
            <a:off x="3772701" y="3200400"/>
            <a:ext cx="1909965" cy="237744"/>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R²</a:t>
            </a:r>
          </a:p>
        </p:txBody>
      </p:sp>
      <p:sp>
        <p:nvSpPr>
          <p:cNvPr id="11" name="Rounded Rectangle 10"/>
          <p:cNvSpPr/>
          <p:nvPr/>
        </p:nvSpPr>
        <p:spPr>
          <a:xfrm>
            <a:off x="493776" y="3438144"/>
            <a:ext cx="5262042" cy="31089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3474720"/>
            <a:ext cx="3150909" cy="274320"/>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SERT</a:t>
            </a:r>
          </a:p>
        </p:txBody>
      </p:sp>
      <p:sp>
        <p:nvSpPr>
          <p:cNvPr id="13" name="TextBox 12"/>
          <p:cNvSpPr txBox="1"/>
          <p:nvPr/>
        </p:nvSpPr>
        <p:spPr>
          <a:xfrm>
            <a:off x="3772701" y="3474720"/>
            <a:ext cx="1909965" cy="274320"/>
          </a:xfrm>
          <a:prstGeom prst="rect">
            <a:avLst/>
          </a:prstGeom>
          <a:noFill/>
        </p:spPr>
        <p:txBody>
          <a:bodyPr wrap="square" lIns="0" rIns="0" tIns="0" bIns="0" anchor="t">
            <a:spAutoFit/>
          </a:bodyPr>
          <a:lstStyle/>
          <a:p>
            <a:pPr algn="l">
              <a:spcAft>
                <a:spcPts val="600"/>
              </a:spcAft>
            </a:pPr>
            <a:r>
              <a:rPr sz="1300" b="1" i="0">
                <a:solidFill>
                  <a:srgbClr val="9E2A2B"/>
                </a:solidFill>
                <a:latin typeface="Calibri"/>
              </a:rPr>
              <a:t>+0.2638</a:t>
            </a:r>
          </a:p>
        </p:txBody>
      </p:sp>
      <p:sp>
        <p:nvSpPr>
          <p:cNvPr id="14" name="TextBox 13"/>
          <p:cNvSpPr txBox="1"/>
          <p:nvPr/>
        </p:nvSpPr>
        <p:spPr>
          <a:xfrm>
            <a:off x="566928" y="3785615"/>
            <a:ext cx="3150909" cy="274320"/>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antioxidant DPPH</a:t>
            </a:r>
          </a:p>
        </p:txBody>
      </p:sp>
      <p:sp>
        <p:nvSpPr>
          <p:cNvPr id="15" name="TextBox 14"/>
          <p:cNvSpPr txBox="1"/>
          <p:nvPr/>
        </p:nvSpPr>
        <p:spPr>
          <a:xfrm>
            <a:off x="3772701" y="3785615"/>
            <a:ext cx="1909965" cy="274320"/>
          </a:xfrm>
          <a:prstGeom prst="rect">
            <a:avLst/>
          </a:prstGeom>
          <a:noFill/>
        </p:spPr>
        <p:txBody>
          <a:bodyPr wrap="square" lIns="0" rIns="0" tIns="0" bIns="0" anchor="t">
            <a:spAutoFit/>
          </a:bodyPr>
          <a:lstStyle/>
          <a:p>
            <a:pPr algn="l">
              <a:spcAft>
                <a:spcPts val="600"/>
              </a:spcAft>
            </a:pPr>
            <a:r>
              <a:rPr sz="1300" b="1" i="0">
                <a:solidFill>
                  <a:srgbClr val="9E2A2B"/>
                </a:solidFill>
                <a:latin typeface="Calibri"/>
              </a:rPr>
              <a:t>-0.7424</a:t>
            </a:r>
          </a:p>
        </p:txBody>
      </p:sp>
      <p:sp>
        <p:nvSpPr>
          <p:cNvPr id="16" name="Rounded Rectangle 15"/>
          <p:cNvSpPr/>
          <p:nvPr/>
        </p:nvSpPr>
        <p:spPr>
          <a:xfrm>
            <a:off x="493776" y="4059935"/>
            <a:ext cx="5262042" cy="310896"/>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66928" y="4096511"/>
            <a:ext cx="3150909" cy="274320"/>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D2</a:t>
            </a:r>
          </a:p>
        </p:txBody>
      </p:sp>
      <p:sp>
        <p:nvSpPr>
          <p:cNvPr id="18" name="TextBox 17"/>
          <p:cNvSpPr txBox="1"/>
          <p:nvPr/>
        </p:nvSpPr>
        <p:spPr>
          <a:xfrm>
            <a:off x="3772701" y="4096511"/>
            <a:ext cx="1909965" cy="274320"/>
          </a:xfrm>
          <a:prstGeom prst="rect">
            <a:avLst/>
          </a:prstGeom>
          <a:noFill/>
        </p:spPr>
        <p:txBody>
          <a:bodyPr wrap="square" lIns="0" rIns="0" tIns="0" bIns="0" anchor="t">
            <a:spAutoFit/>
          </a:bodyPr>
          <a:lstStyle/>
          <a:p>
            <a:pPr algn="l">
              <a:spcAft>
                <a:spcPts val="600"/>
              </a:spcAft>
            </a:pPr>
            <a:r>
              <a:rPr sz="1300" b="1" i="0">
                <a:solidFill>
                  <a:srgbClr val="9E2A2B"/>
                </a:solidFill>
                <a:latin typeface="Calibri"/>
              </a:rPr>
              <a:t>+0.3566</a:t>
            </a:r>
          </a:p>
        </p:txBody>
      </p:sp>
      <p:sp>
        <p:nvSpPr>
          <p:cNvPr id="19" name="TextBox 18"/>
          <p:cNvSpPr txBox="1"/>
          <p:nvPr/>
        </p:nvSpPr>
        <p:spPr>
          <a:xfrm>
            <a:off x="566928" y="4407407"/>
            <a:ext cx="3150909" cy="274320"/>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HT2A</a:t>
            </a:r>
          </a:p>
        </p:txBody>
      </p:sp>
      <p:sp>
        <p:nvSpPr>
          <p:cNvPr id="20" name="TextBox 19"/>
          <p:cNvSpPr txBox="1"/>
          <p:nvPr/>
        </p:nvSpPr>
        <p:spPr>
          <a:xfrm>
            <a:off x="3772701" y="4407407"/>
            <a:ext cx="1909965" cy="274320"/>
          </a:xfrm>
          <a:prstGeom prst="rect">
            <a:avLst/>
          </a:prstGeom>
          <a:noFill/>
        </p:spPr>
        <p:txBody>
          <a:bodyPr wrap="square" lIns="0" rIns="0" tIns="0" bIns="0" anchor="t">
            <a:spAutoFit/>
          </a:bodyPr>
          <a:lstStyle/>
          <a:p>
            <a:pPr algn="l">
              <a:spcAft>
                <a:spcPts val="600"/>
              </a:spcAft>
            </a:pPr>
            <a:r>
              <a:rPr sz="1300" b="1" i="0">
                <a:solidFill>
                  <a:srgbClr val="9E2A2B"/>
                </a:solidFill>
                <a:latin typeface="Calibri"/>
              </a:rPr>
              <a:t>+0.3297</a:t>
            </a:r>
          </a:p>
        </p:txBody>
      </p:sp>
      <p:sp>
        <p:nvSpPr>
          <p:cNvPr id="21" name="TextBox 20"/>
          <p:cNvSpPr txBox="1"/>
          <p:nvPr/>
        </p:nvSpPr>
        <p:spPr>
          <a:xfrm>
            <a:off x="566928" y="4617720"/>
            <a:ext cx="5170602" cy="731520"/>
          </a:xfrm>
          <a:prstGeom prst="rect">
            <a:avLst/>
          </a:prstGeom>
          <a:noFill/>
        </p:spPr>
        <p:txBody>
          <a:bodyPr wrap="square" lIns="0" rIns="0" tIns="0" bIns="0" anchor="t">
            <a:spAutoFit/>
          </a:bodyPr>
          <a:lstStyle/>
          <a:p>
            <a:pPr algn="l">
              <a:lnSpc>
                <a:spcPct val="120000"/>
              </a:lnSpc>
              <a:spcAft>
                <a:spcPts val="600"/>
              </a:spcAft>
            </a:pPr>
            <a:r>
              <a:rPr sz="1250" b="0" i="0">
                <a:solidFill>
                  <a:srgbClr val="0F1A2E"/>
                </a:solidFill>
                <a:latin typeface="Calibri"/>
              </a:rPr>
              <a:t>Negative R² means it does worse than predicting the mean. Structure-activity relationships are not linear in fingerprint space.</a:t>
            </a:r>
          </a:p>
        </p:txBody>
      </p:sp>
      <p:sp>
        <p:nvSpPr>
          <p:cNvPr id="22" name="TextBox 21"/>
          <p:cNvSpPr txBox="1"/>
          <p:nvPr/>
        </p:nvSpPr>
        <p:spPr>
          <a:xfrm>
            <a:off x="6317004" y="1645920"/>
            <a:ext cx="5307762" cy="292608"/>
          </a:xfrm>
          <a:prstGeom prst="rect">
            <a:avLst/>
          </a:prstGeom>
          <a:noFill/>
        </p:spPr>
        <p:txBody>
          <a:bodyPr wrap="square" lIns="0" rIns="0" tIns="0" bIns="0" anchor="t">
            <a:spAutoFit/>
          </a:bodyPr>
          <a:lstStyle/>
          <a:p>
            <a:pPr algn="l">
              <a:spcAft>
                <a:spcPts val="600"/>
              </a:spcAft>
            </a:pPr>
            <a:r>
              <a:rPr sz="1600" b="1" i="0">
                <a:solidFill>
                  <a:srgbClr val="1F3A5F"/>
                </a:solidFill>
                <a:latin typeface="Calibri"/>
              </a:rPr>
              <a:t>kNN read-across: the chemist's own method</a:t>
            </a:r>
          </a:p>
        </p:txBody>
      </p:sp>
      <p:sp>
        <p:nvSpPr>
          <p:cNvPr id="23" name="TextBox 22"/>
          <p:cNvSpPr txBox="1"/>
          <p:nvPr/>
        </p:nvSpPr>
        <p:spPr>
          <a:xfrm>
            <a:off x="6317004" y="2011680"/>
            <a:ext cx="5307762" cy="4114800"/>
          </a:xfrm>
          <a:prstGeom prst="rect">
            <a:avLst/>
          </a:prstGeom>
          <a:noFill/>
        </p:spPr>
        <p:txBody>
          <a:bodyPr wrap="square" lIns="0" rIns="0" tIns="0" bIns="0" anchor="t">
            <a:spAutoFit/>
          </a:bodyPr>
          <a:lstStyle/>
          <a:p>
            <a:pPr algn="l">
              <a:lnSpc>
                <a:spcPct val="122000"/>
              </a:lnSpc>
              <a:spcAft>
                <a:spcPts val="800"/>
              </a:spcAft>
            </a:pPr>
            <a:r>
              <a:rPr sz="1300" b="0" i="0">
                <a:solidFill>
                  <a:srgbClr val="0F1A2E"/>
                </a:solidFill>
                <a:latin typeface="Calibri"/>
              </a:rPr>
              <a:t>•   Find the five nearest training compounds by Jaccard distance on the fingerprint, average their labels.</a:t>
            </a:r>
          </a:p>
          <a:p>
            <a:pPr algn="l">
              <a:lnSpc>
                <a:spcPct val="122000"/>
              </a:lnSpc>
              <a:spcAft>
                <a:spcPts val="800"/>
              </a:spcAft>
            </a:pPr>
            <a:r>
              <a:rPr sz="1300" b="0" i="0">
                <a:solidFill>
                  <a:srgbClr val="0F1A2E"/>
                </a:solidFill>
                <a:latin typeface="Calibri"/>
              </a:rPr>
              <a:t>•   Since Jaccard distance is 1 − Tanimoto, this is literally “look at the five most similar measured compounds”, which is what a medicinal chemist does by eye.</a:t>
            </a:r>
          </a:p>
          <a:p>
            <a:pPr algn="l">
              <a:lnSpc>
                <a:spcPct val="122000"/>
              </a:lnSpc>
              <a:spcAft>
                <a:spcPts val="800"/>
              </a:spcAft>
            </a:pPr>
            <a:r>
              <a:rPr sz="1300" b="0" i="0">
                <a:solidFill>
                  <a:srgbClr val="1C7293"/>
                </a:solidFill>
                <a:latin typeface="Calibri"/>
              </a:rPr>
              <a:t>•   It is the honest null for the whole enterprise. The forest beats it on all thirteen endpoints, which is the result that says the models add something a similarity search does not.</a:t>
            </a:r>
          </a:p>
        </p:txBody>
      </p:sp>
      <p:sp>
        <p:nvSpPr>
          <p:cNvPr id="24" name="TextBox 23"/>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results/tables/model_comparison.csv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15</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The graph network: the one model that does not use φ</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Instead of a fixed hashed fingerprint, it learns its own representation from the raw molecular graph</a:t>
            </a:r>
          </a:p>
        </p:txBody>
      </p:sp>
      <p:sp>
        <p:nvSpPr>
          <p:cNvPr id="5" name="TextBox 4"/>
          <p:cNvSpPr txBox="1"/>
          <p:nvPr/>
        </p:nvSpPr>
        <p:spPr>
          <a:xfrm>
            <a:off x="566928" y="1627632"/>
            <a:ext cx="5528919" cy="274320"/>
          </a:xfrm>
          <a:prstGeom prst="rect">
            <a:avLst/>
          </a:prstGeom>
          <a:noFill/>
        </p:spPr>
        <p:txBody>
          <a:bodyPr wrap="square" lIns="0" rIns="0" tIns="0" bIns="0" anchor="t">
            <a:spAutoFit/>
          </a:bodyPr>
          <a:lstStyle/>
          <a:p>
            <a:pPr algn="l">
              <a:spcAft>
                <a:spcPts val="600"/>
              </a:spcAft>
            </a:pPr>
            <a:r>
              <a:rPr sz="1350" b="1" i="0">
                <a:solidFill>
                  <a:srgbClr val="1F3A5F"/>
                </a:solidFill>
                <a:latin typeface="Calibri"/>
              </a:rPr>
              <a:t>Input: atoms are nodes, bonds are edges. Nothing is hashed.</a:t>
            </a:r>
          </a:p>
        </p:txBody>
      </p:sp>
      <p:sp>
        <p:nvSpPr>
          <p:cNvPr id="6" name="TextBox 5"/>
          <p:cNvSpPr txBox="1"/>
          <p:nvPr/>
        </p:nvSpPr>
        <p:spPr>
          <a:xfrm>
            <a:off x="566928" y="1956816"/>
            <a:ext cx="3901205" cy="237744"/>
          </a:xfrm>
          <a:prstGeom prst="rect">
            <a:avLst/>
          </a:prstGeom>
          <a:noFill/>
        </p:spPr>
        <p:txBody>
          <a:bodyPr wrap="square" lIns="0" rIns="0" tIns="0" bIns="0" anchor="t">
            <a:spAutoFit/>
          </a:bodyPr>
          <a:lstStyle/>
          <a:p>
            <a:pPr algn="l">
              <a:spcAft>
                <a:spcPts val="600"/>
              </a:spcAft>
            </a:pPr>
            <a:r>
              <a:rPr sz="1200" b="1" i="0">
                <a:solidFill>
                  <a:srgbClr val="1F3A5F"/>
                </a:solidFill>
                <a:latin typeface="Calibri"/>
              </a:rPr>
              <a:t>atom feature block</a:t>
            </a:r>
          </a:p>
        </p:txBody>
      </p:sp>
      <p:sp>
        <p:nvSpPr>
          <p:cNvPr id="7" name="TextBox 6"/>
          <p:cNvSpPr txBox="1"/>
          <p:nvPr/>
        </p:nvSpPr>
        <p:spPr>
          <a:xfrm>
            <a:off x="4522997" y="1956816"/>
            <a:ext cx="1335106" cy="237744"/>
          </a:xfrm>
          <a:prstGeom prst="rect">
            <a:avLst/>
          </a:prstGeom>
          <a:noFill/>
        </p:spPr>
        <p:txBody>
          <a:bodyPr wrap="square" lIns="0" rIns="0" tIns="0" bIns="0" anchor="t">
            <a:spAutoFit/>
          </a:bodyPr>
          <a:lstStyle/>
          <a:p>
            <a:pPr algn="l">
              <a:spcAft>
                <a:spcPts val="600"/>
              </a:spcAft>
            </a:pPr>
            <a:r>
              <a:rPr sz="1200" b="1" i="0">
                <a:solidFill>
                  <a:srgbClr val="1F3A5F"/>
                </a:solidFill>
                <a:latin typeface="Calibri"/>
              </a:rPr>
              <a:t>dims</a:t>
            </a:r>
          </a:p>
        </p:txBody>
      </p:sp>
      <p:sp>
        <p:nvSpPr>
          <p:cNvPr id="8" name="Rounded Rectangle 7"/>
          <p:cNvSpPr/>
          <p:nvPr/>
        </p:nvSpPr>
        <p:spPr>
          <a:xfrm>
            <a:off x="493776" y="2194560"/>
            <a:ext cx="5437479" cy="2743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66928" y="2231136"/>
            <a:ext cx="3901205" cy="237744"/>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element (14 common + other)</a:t>
            </a:r>
          </a:p>
        </p:txBody>
      </p:sp>
      <p:sp>
        <p:nvSpPr>
          <p:cNvPr id="10" name="TextBox 9"/>
          <p:cNvSpPr txBox="1"/>
          <p:nvPr/>
        </p:nvSpPr>
        <p:spPr>
          <a:xfrm>
            <a:off x="4522997" y="2231136"/>
            <a:ext cx="1335106" cy="237744"/>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15</a:t>
            </a:r>
          </a:p>
        </p:txBody>
      </p:sp>
      <p:sp>
        <p:nvSpPr>
          <p:cNvPr id="11" name="TextBox 10"/>
          <p:cNvSpPr txBox="1"/>
          <p:nvPr/>
        </p:nvSpPr>
        <p:spPr>
          <a:xfrm>
            <a:off x="566928" y="2505456"/>
            <a:ext cx="3901205" cy="237744"/>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degree (0–5 + other)</a:t>
            </a:r>
          </a:p>
        </p:txBody>
      </p:sp>
      <p:sp>
        <p:nvSpPr>
          <p:cNvPr id="12" name="TextBox 11"/>
          <p:cNvSpPr txBox="1"/>
          <p:nvPr/>
        </p:nvSpPr>
        <p:spPr>
          <a:xfrm>
            <a:off x="4522997" y="2505456"/>
            <a:ext cx="1335106" cy="237744"/>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7</a:t>
            </a:r>
          </a:p>
        </p:txBody>
      </p:sp>
      <p:sp>
        <p:nvSpPr>
          <p:cNvPr id="13" name="Rounded Rectangle 12"/>
          <p:cNvSpPr/>
          <p:nvPr/>
        </p:nvSpPr>
        <p:spPr>
          <a:xfrm>
            <a:off x="493776" y="2743199"/>
            <a:ext cx="5437479" cy="2743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2779775"/>
            <a:ext cx="3901205" cy="237744"/>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hybridisation (5 types + other)</a:t>
            </a:r>
          </a:p>
        </p:txBody>
      </p:sp>
      <p:sp>
        <p:nvSpPr>
          <p:cNvPr id="15" name="TextBox 14"/>
          <p:cNvSpPr txBox="1"/>
          <p:nvPr/>
        </p:nvSpPr>
        <p:spPr>
          <a:xfrm>
            <a:off x="4522997" y="2779775"/>
            <a:ext cx="1335106" cy="237744"/>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6</a:t>
            </a:r>
          </a:p>
        </p:txBody>
      </p:sp>
      <p:sp>
        <p:nvSpPr>
          <p:cNvPr id="16" name="TextBox 15"/>
          <p:cNvSpPr txBox="1"/>
          <p:nvPr/>
        </p:nvSpPr>
        <p:spPr>
          <a:xfrm>
            <a:off x="566928" y="3054095"/>
            <a:ext cx="3901205" cy="237744"/>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attached hydrogens (0–4 + other)</a:t>
            </a:r>
          </a:p>
        </p:txBody>
      </p:sp>
      <p:sp>
        <p:nvSpPr>
          <p:cNvPr id="17" name="TextBox 16"/>
          <p:cNvSpPr txBox="1"/>
          <p:nvPr/>
        </p:nvSpPr>
        <p:spPr>
          <a:xfrm>
            <a:off x="4522997" y="3054095"/>
            <a:ext cx="1335106" cy="237744"/>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6</a:t>
            </a:r>
          </a:p>
        </p:txBody>
      </p:sp>
      <p:sp>
        <p:nvSpPr>
          <p:cNvPr id="18" name="Rounded Rectangle 17"/>
          <p:cNvSpPr/>
          <p:nvPr/>
        </p:nvSpPr>
        <p:spPr>
          <a:xfrm>
            <a:off x="493776" y="3291839"/>
            <a:ext cx="5437479" cy="2743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3328415"/>
            <a:ext cx="3901205" cy="237744"/>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charge, aromaticity, ring membership</a:t>
            </a:r>
          </a:p>
        </p:txBody>
      </p:sp>
      <p:sp>
        <p:nvSpPr>
          <p:cNvPr id="20" name="TextBox 19"/>
          <p:cNvSpPr txBox="1"/>
          <p:nvPr/>
        </p:nvSpPr>
        <p:spPr>
          <a:xfrm>
            <a:off x="4522997" y="3328415"/>
            <a:ext cx="1335106" cy="237744"/>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3</a:t>
            </a:r>
          </a:p>
        </p:txBody>
      </p:sp>
      <p:sp>
        <p:nvSpPr>
          <p:cNvPr id="21" name="TextBox 20"/>
          <p:cNvSpPr txBox="1"/>
          <p:nvPr/>
        </p:nvSpPr>
        <p:spPr>
          <a:xfrm>
            <a:off x="566928" y="3602735"/>
            <a:ext cx="3901205" cy="237744"/>
          </a:xfrm>
          <a:prstGeom prst="rect">
            <a:avLst/>
          </a:prstGeom>
          <a:noFill/>
        </p:spPr>
        <p:txBody>
          <a:bodyPr wrap="square" lIns="0" rIns="0" tIns="0" bIns="0" anchor="t">
            <a:spAutoFit/>
          </a:bodyPr>
          <a:lstStyle/>
          <a:p>
            <a:pPr algn="l">
              <a:spcAft>
                <a:spcPts val="600"/>
              </a:spcAft>
            </a:pPr>
            <a:r>
              <a:rPr sz="1200" b="1" i="0">
                <a:solidFill>
                  <a:srgbClr val="0F1A2E"/>
                </a:solidFill>
                <a:latin typeface="Calibri"/>
              </a:rPr>
              <a:t>total node dimension</a:t>
            </a:r>
          </a:p>
        </p:txBody>
      </p:sp>
      <p:sp>
        <p:nvSpPr>
          <p:cNvPr id="22" name="TextBox 21"/>
          <p:cNvSpPr txBox="1"/>
          <p:nvPr/>
        </p:nvSpPr>
        <p:spPr>
          <a:xfrm>
            <a:off x="4522997" y="3602735"/>
            <a:ext cx="1335106" cy="237744"/>
          </a:xfrm>
          <a:prstGeom prst="rect">
            <a:avLst/>
          </a:prstGeom>
          <a:noFill/>
        </p:spPr>
        <p:txBody>
          <a:bodyPr wrap="square" lIns="0" rIns="0" tIns="0" bIns="0" anchor="t">
            <a:spAutoFit/>
          </a:bodyPr>
          <a:lstStyle/>
          <a:p>
            <a:pPr algn="l">
              <a:spcAft>
                <a:spcPts val="600"/>
              </a:spcAft>
            </a:pPr>
            <a:r>
              <a:rPr sz="1200" b="1" i="0">
                <a:solidFill>
                  <a:srgbClr val="1C7293"/>
                </a:solidFill>
                <a:latin typeface="Calibri"/>
              </a:rPr>
              <a:t>37</a:t>
            </a:r>
          </a:p>
        </p:txBody>
      </p:sp>
      <p:sp>
        <p:nvSpPr>
          <p:cNvPr id="23" name="TextBox 22"/>
          <p:cNvSpPr txBox="1"/>
          <p:nvPr/>
        </p:nvSpPr>
        <p:spPr>
          <a:xfrm>
            <a:off x="6317004" y="1627632"/>
            <a:ext cx="5307762" cy="274320"/>
          </a:xfrm>
          <a:prstGeom prst="rect">
            <a:avLst/>
          </a:prstGeom>
          <a:noFill/>
        </p:spPr>
        <p:txBody>
          <a:bodyPr wrap="square" lIns="0" rIns="0" tIns="0" bIns="0" anchor="t">
            <a:spAutoFit/>
          </a:bodyPr>
          <a:lstStyle/>
          <a:p>
            <a:pPr algn="l">
              <a:spcAft>
                <a:spcPts val="600"/>
              </a:spcAft>
            </a:pPr>
            <a:r>
              <a:rPr sz="1350" b="1" i="0">
                <a:solidFill>
                  <a:srgbClr val="1F3A5F"/>
                </a:solidFill>
                <a:latin typeface="Calibri"/>
              </a:rPr>
              <a:t>The GIN layer update</a:t>
            </a:r>
          </a:p>
        </p:txBody>
      </p:sp>
      <p:sp>
        <p:nvSpPr>
          <p:cNvPr id="24" name="Rounded Rectangle 23"/>
          <p:cNvSpPr/>
          <p:nvPr/>
        </p:nvSpPr>
        <p:spPr>
          <a:xfrm>
            <a:off x="6317004" y="1956816"/>
            <a:ext cx="5307762" cy="9601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17004" y="2139696"/>
            <a:ext cx="5307762" cy="731520"/>
          </a:xfrm>
          <a:prstGeom prst="rect">
            <a:avLst/>
          </a:prstGeom>
          <a:noFill/>
        </p:spPr>
        <p:txBody>
          <a:bodyPr wrap="square" lIns="0" rIns="0" tIns="0" bIns="0">
            <a:spAutoFit/>
          </a:bodyPr>
          <a:lstStyle/>
          <a:p>
            <a:pPr algn="ctr"/>
            <a:r>
              <a:rPr b="1" sz="1700">
                <a:solidFill>
                  <a:srgbClr val="1F3A5F"/>
                </a:solidFill>
                <a:latin typeface="Cambria"/>
              </a:rPr>
              <a:t>h</a:t>
            </a:r>
            <a:r>
              <a:rPr b="1" sz="1224" baseline="-25000">
                <a:solidFill>
                  <a:srgbClr val="1F3A5F"/>
                </a:solidFill>
                <a:latin typeface="Cambria"/>
              </a:rPr>
              <a:t>v</a:t>
            </a:r>
            <a:r>
              <a:rPr b="1" sz="1224" baseline="-25000">
                <a:solidFill>
                  <a:srgbClr val="1F3A5F"/>
                </a:solidFill>
                <a:latin typeface="Cambria"/>
              </a:rPr>
              <a:t>(k)</a:t>
            </a:r>
            <a:r>
              <a:rPr b="1" sz="1700">
                <a:solidFill>
                  <a:srgbClr val="1F3A5F"/>
                </a:solidFill>
                <a:latin typeface="Cambria"/>
              </a:rPr>
              <a:t> = MLP( (1+ε)h</a:t>
            </a:r>
            <a:r>
              <a:rPr b="1" sz="1224" baseline="-25000">
                <a:solidFill>
                  <a:srgbClr val="1F3A5F"/>
                </a:solidFill>
                <a:latin typeface="Cambria"/>
              </a:rPr>
              <a:t>v</a:t>
            </a:r>
            <a:r>
              <a:rPr b="1" sz="1224" baseline="-25000">
                <a:solidFill>
                  <a:srgbClr val="1F3A5F"/>
                </a:solidFill>
                <a:latin typeface="Cambria"/>
              </a:rPr>
              <a:t>(k−1)</a:t>
            </a:r>
            <a:r>
              <a:rPr b="1" sz="1700">
                <a:solidFill>
                  <a:srgbClr val="1F3A5F"/>
                </a:solidFill>
                <a:latin typeface="Cambria"/>
              </a:rPr>
              <a:t> + Σ</a:t>
            </a:r>
            <a:r>
              <a:rPr b="1" sz="1224" baseline="-25000">
                <a:solidFill>
                  <a:srgbClr val="1F3A5F"/>
                </a:solidFill>
                <a:latin typeface="Cambria"/>
              </a:rPr>
              <a:t>u∈N(v)</a:t>
            </a:r>
            <a:r>
              <a:rPr b="1" sz="1700">
                <a:solidFill>
                  <a:srgbClr val="1F3A5F"/>
                </a:solidFill>
                <a:latin typeface="Cambria"/>
              </a:rPr>
              <a:t> h</a:t>
            </a:r>
            <a:r>
              <a:rPr b="1" sz="1224" baseline="-25000">
                <a:solidFill>
                  <a:srgbClr val="1F3A5F"/>
                </a:solidFill>
                <a:latin typeface="Cambria"/>
              </a:rPr>
              <a:t>u</a:t>
            </a:r>
            <a:r>
              <a:rPr b="1" sz="1224" baseline="-25000">
                <a:solidFill>
                  <a:srgbClr val="1F3A5F"/>
                </a:solidFill>
                <a:latin typeface="Cambria"/>
              </a:rPr>
              <a:t>(k−1)</a:t>
            </a:r>
            <a:r>
              <a:rPr b="1" sz="1700">
                <a:solidFill>
                  <a:srgbClr val="1F3A5F"/>
                </a:solidFill>
                <a:latin typeface="Cambria"/>
              </a:rPr>
              <a:t> )</a:t>
            </a:r>
          </a:p>
        </p:txBody>
      </p:sp>
      <p:sp>
        <p:nvSpPr>
          <p:cNvPr id="26" name="TextBox 25"/>
          <p:cNvSpPr txBox="1"/>
          <p:nvPr/>
        </p:nvSpPr>
        <p:spPr>
          <a:xfrm>
            <a:off x="6317004" y="3017520"/>
            <a:ext cx="5307762" cy="868680"/>
          </a:xfrm>
          <a:prstGeom prst="rect">
            <a:avLst/>
          </a:prstGeom>
          <a:noFill/>
        </p:spPr>
        <p:txBody>
          <a:bodyPr wrap="square" lIns="0" rIns="0" tIns="0" bIns="0" anchor="t">
            <a:spAutoFit/>
          </a:bodyPr>
          <a:lstStyle/>
          <a:p>
            <a:pPr algn="l">
              <a:lnSpc>
                <a:spcPct val="118000"/>
              </a:lnSpc>
              <a:spcAft>
                <a:spcPts val="600"/>
              </a:spcAft>
            </a:pPr>
            <a:r>
              <a:rPr sz="1200" b="0" i="0">
                <a:solidFill>
                  <a:srgbClr val="0F1A2E"/>
                </a:solidFill>
                <a:latin typeface="Calibri"/>
              </a:rPr>
              <a:t>SUM aggregation, not mean or max, is what gives GIN its power: it is provably as discriminative as the Weisfeiler-Lehman isomorphism test, which mean and max are not. ε is learned and weights an atom's own state against its neighbourhood. After 3 layers, atom vectors are mean-pooled to one molecule vector.</a:t>
            </a:r>
          </a:p>
        </p:txBody>
      </p:sp>
      <p:sp>
        <p:nvSpPr>
          <p:cNvPr id="27" name="TextBox 26"/>
          <p:cNvSpPr txBox="1"/>
          <p:nvPr/>
        </p:nvSpPr>
        <p:spPr>
          <a:xfrm>
            <a:off x="566928" y="3931920"/>
            <a:ext cx="11057839" cy="274320"/>
          </a:xfrm>
          <a:prstGeom prst="rect">
            <a:avLst/>
          </a:prstGeom>
          <a:noFill/>
        </p:spPr>
        <p:txBody>
          <a:bodyPr wrap="square" lIns="0" rIns="0" tIns="0" bIns="0" anchor="t">
            <a:spAutoFit/>
          </a:bodyPr>
          <a:lstStyle/>
          <a:p>
            <a:pPr algn="l">
              <a:spcAft>
                <a:spcPts val="600"/>
              </a:spcAft>
            </a:pPr>
            <a:r>
              <a:rPr sz="1350" b="1" i="0">
                <a:solidFill>
                  <a:srgbClr val="1F3A5F"/>
                </a:solidFill>
                <a:latin typeface="Calibri"/>
              </a:rPr>
              <a:t>Architecture and optimisation</a:t>
            </a:r>
          </a:p>
        </p:txBody>
      </p:sp>
      <p:sp>
        <p:nvSpPr>
          <p:cNvPr id="28" name="TextBox 27"/>
          <p:cNvSpPr txBox="1"/>
          <p:nvPr/>
        </p:nvSpPr>
        <p:spPr>
          <a:xfrm>
            <a:off x="566928" y="4261104"/>
            <a:ext cx="11057839" cy="685800"/>
          </a:xfrm>
          <a:prstGeom prst="rect">
            <a:avLst/>
          </a:prstGeom>
          <a:noFill/>
        </p:spPr>
        <p:txBody>
          <a:bodyPr wrap="square" lIns="0" rIns="0" tIns="0" bIns="0" anchor="t">
            <a:spAutoFit/>
          </a:bodyPr>
          <a:lstStyle/>
          <a:p>
            <a:pPr algn="l">
              <a:lnSpc>
                <a:spcPct val="125000"/>
              </a:lnSpc>
              <a:spcAft>
                <a:spcPts val="600"/>
              </a:spcAft>
            </a:pPr>
            <a:r>
              <a:rPr sz="1250" b="0" i="0">
                <a:solidFill>
                  <a:srgbClr val="0F1A2E"/>
                </a:solidFill>
                <a:latin typeface="Calibri"/>
              </a:rPr>
              <a:t>hidden 64  |  3 layers  |  dropout 0.2  |  batch norm after every layer  |  Adam, lr 1e-3, weight decay 1e-5  |  batch 128  |  max 120 epochs, early stopping patience 18  |  BCEWithLogits with pos_weight = neg/pos  |  MSE on standardised targets for regression</a:t>
            </a:r>
          </a:p>
        </p:txBody>
      </p:sp>
      <p:sp>
        <p:nvSpPr>
          <p:cNvPr id="29" name="TextBox 28"/>
          <p:cNvSpPr txBox="1"/>
          <p:nvPr/>
        </p:nvSpPr>
        <p:spPr>
          <a:xfrm>
            <a:off x="566928" y="5074920"/>
            <a:ext cx="11057839" cy="640080"/>
          </a:xfrm>
          <a:prstGeom prst="rect">
            <a:avLst/>
          </a:prstGeom>
          <a:noFill/>
        </p:spPr>
        <p:txBody>
          <a:bodyPr wrap="square" lIns="0" rIns="0" tIns="0" bIns="0" anchor="t">
            <a:spAutoFit/>
          </a:bodyPr>
          <a:lstStyle/>
          <a:p>
            <a:pPr algn="l">
              <a:lnSpc>
                <a:spcPct val="120000"/>
              </a:lnSpc>
              <a:spcAft>
                <a:spcPts val="600"/>
              </a:spcAft>
            </a:pPr>
            <a:r>
              <a:rPr sz="1250" b="0" i="0">
                <a:solidFill>
                  <a:srgbClr val="5F6B7A"/>
                </a:solidFill>
                <a:latin typeface="Calibri"/>
              </a:rPr>
              <a:t>Adam keeps per-parameter running estimates of the first and second moments of the gradient and scales each step accordingly, which is what makes it robust to the very different gradient scales across a deep network's layers. Early stopping is itself regularisation.</a:t>
            </a:r>
          </a:p>
        </p:txBody>
      </p:sp>
      <p:sp>
        <p:nvSpPr>
          <p:cNvPr id="30" name="TextBox 2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src/brainsafe/gnn/gin_model.py; graph_features.py; train_gnn.py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16</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graph network lost, on every endpoint tested</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Expected at this data scale, and it should be presented as a result rather than apologised for</a:t>
            </a:r>
          </a:p>
        </p:txBody>
      </p:sp>
      <p:sp>
        <p:nvSpPr>
          <p:cNvPr id="5" name="TextBox 4"/>
          <p:cNvSpPr txBox="1"/>
          <p:nvPr/>
        </p:nvSpPr>
        <p:spPr>
          <a:xfrm>
            <a:off x="566928" y="1691640"/>
            <a:ext cx="1272076" cy="237744"/>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endpoint</a:t>
            </a:r>
          </a:p>
        </p:txBody>
      </p:sp>
      <p:sp>
        <p:nvSpPr>
          <p:cNvPr id="6" name="TextBox 5"/>
          <p:cNvSpPr txBox="1"/>
          <p:nvPr/>
        </p:nvSpPr>
        <p:spPr>
          <a:xfrm>
            <a:off x="1893868" y="1691640"/>
            <a:ext cx="1006688" cy="237744"/>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metric</a:t>
            </a:r>
          </a:p>
        </p:txBody>
      </p:sp>
      <p:sp>
        <p:nvSpPr>
          <p:cNvPr id="7" name="TextBox 6"/>
          <p:cNvSpPr txBox="1"/>
          <p:nvPr/>
        </p:nvSpPr>
        <p:spPr>
          <a:xfrm>
            <a:off x="2955421" y="1691640"/>
            <a:ext cx="873994" cy="237744"/>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n test</a:t>
            </a:r>
          </a:p>
        </p:txBody>
      </p:sp>
      <p:sp>
        <p:nvSpPr>
          <p:cNvPr id="8" name="TextBox 7"/>
          <p:cNvSpPr txBox="1"/>
          <p:nvPr/>
        </p:nvSpPr>
        <p:spPr>
          <a:xfrm>
            <a:off x="3884279" y="1691640"/>
            <a:ext cx="1006688" cy="237744"/>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GIN</a:t>
            </a:r>
          </a:p>
        </p:txBody>
      </p:sp>
      <p:sp>
        <p:nvSpPr>
          <p:cNvPr id="9" name="TextBox 8"/>
          <p:cNvSpPr txBox="1"/>
          <p:nvPr/>
        </p:nvSpPr>
        <p:spPr>
          <a:xfrm>
            <a:off x="4945832" y="1691640"/>
            <a:ext cx="1272076" cy="237744"/>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Random forest</a:t>
            </a:r>
          </a:p>
        </p:txBody>
      </p:sp>
      <p:sp>
        <p:nvSpPr>
          <p:cNvPr id="10" name="TextBox 9"/>
          <p:cNvSpPr txBox="1"/>
          <p:nvPr/>
        </p:nvSpPr>
        <p:spPr>
          <a:xfrm>
            <a:off x="6272773" y="1691640"/>
            <a:ext cx="873994" cy="237744"/>
          </a:xfrm>
          <a:prstGeom prst="rect">
            <a:avLst/>
          </a:prstGeom>
          <a:noFill/>
        </p:spPr>
        <p:txBody>
          <a:bodyPr wrap="square" lIns="0" rIns="0" tIns="0" bIns="0" anchor="t">
            <a:spAutoFit/>
          </a:bodyPr>
          <a:lstStyle/>
          <a:p>
            <a:pPr algn="l">
              <a:spcAft>
                <a:spcPts val="600"/>
              </a:spcAft>
            </a:pPr>
            <a:r>
              <a:rPr sz="1300" b="1" i="0">
                <a:solidFill>
                  <a:srgbClr val="1F3A5F"/>
                </a:solidFill>
                <a:latin typeface="Calibri"/>
              </a:rPr>
              <a:t>winner</a:t>
            </a:r>
          </a:p>
        </p:txBody>
      </p:sp>
      <p:sp>
        <p:nvSpPr>
          <p:cNvPr id="11" name="Rounded Rectangle 10"/>
          <p:cNvSpPr/>
          <p:nvPr/>
        </p:nvSpPr>
        <p:spPr>
          <a:xfrm>
            <a:off x="493776" y="1929384"/>
            <a:ext cx="6726143" cy="3657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1965960"/>
            <a:ext cx="1272076"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BBB</a:t>
            </a:r>
          </a:p>
        </p:txBody>
      </p:sp>
      <p:sp>
        <p:nvSpPr>
          <p:cNvPr id="13" name="TextBox 12"/>
          <p:cNvSpPr txBox="1"/>
          <p:nvPr/>
        </p:nvSpPr>
        <p:spPr>
          <a:xfrm>
            <a:off x="1893868" y="1965960"/>
            <a:ext cx="1006688"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roc_auc</a:t>
            </a:r>
          </a:p>
        </p:txBody>
      </p:sp>
      <p:sp>
        <p:nvSpPr>
          <p:cNvPr id="14" name="TextBox 13"/>
          <p:cNvSpPr txBox="1"/>
          <p:nvPr/>
        </p:nvSpPr>
        <p:spPr>
          <a:xfrm>
            <a:off x="2955421" y="1965960"/>
            <a:ext cx="873994"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1,269</a:t>
            </a:r>
          </a:p>
        </p:txBody>
      </p:sp>
      <p:sp>
        <p:nvSpPr>
          <p:cNvPr id="15" name="TextBox 14"/>
          <p:cNvSpPr txBox="1"/>
          <p:nvPr/>
        </p:nvSpPr>
        <p:spPr>
          <a:xfrm>
            <a:off x="3884279" y="1965960"/>
            <a:ext cx="1006688"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0.8868</a:t>
            </a:r>
          </a:p>
        </p:txBody>
      </p:sp>
      <p:sp>
        <p:nvSpPr>
          <p:cNvPr id="16" name="TextBox 15"/>
          <p:cNvSpPr txBox="1"/>
          <p:nvPr/>
        </p:nvSpPr>
        <p:spPr>
          <a:xfrm>
            <a:off x="4945832" y="1965960"/>
            <a:ext cx="1272076" cy="329184"/>
          </a:xfrm>
          <a:prstGeom prst="rect">
            <a:avLst/>
          </a:prstGeom>
          <a:noFill/>
        </p:spPr>
        <p:txBody>
          <a:bodyPr wrap="square" lIns="0" rIns="0" tIns="0" bIns="0" anchor="t">
            <a:spAutoFit/>
          </a:bodyPr>
          <a:lstStyle/>
          <a:p>
            <a:pPr algn="l">
              <a:spcAft>
                <a:spcPts val="600"/>
              </a:spcAft>
            </a:pPr>
            <a:r>
              <a:rPr sz="1300" b="1" i="0">
                <a:solidFill>
                  <a:srgbClr val="1C7293"/>
                </a:solidFill>
                <a:latin typeface="Calibri"/>
              </a:rPr>
              <a:t>0.9235</a:t>
            </a:r>
          </a:p>
        </p:txBody>
      </p:sp>
      <p:sp>
        <p:nvSpPr>
          <p:cNvPr id="17" name="TextBox 16"/>
          <p:cNvSpPr txBox="1"/>
          <p:nvPr/>
        </p:nvSpPr>
        <p:spPr>
          <a:xfrm>
            <a:off x="6272773" y="1965960"/>
            <a:ext cx="873994" cy="329184"/>
          </a:xfrm>
          <a:prstGeom prst="rect">
            <a:avLst/>
          </a:prstGeom>
          <a:noFill/>
        </p:spPr>
        <p:txBody>
          <a:bodyPr wrap="square" lIns="0" rIns="0" tIns="0" bIns="0" anchor="t">
            <a:spAutoFit/>
          </a:bodyPr>
          <a:lstStyle/>
          <a:p>
            <a:pPr algn="l">
              <a:spcAft>
                <a:spcPts val="600"/>
              </a:spcAft>
            </a:pPr>
            <a:r>
              <a:rPr sz="1300" b="1" i="0">
                <a:solidFill>
                  <a:srgbClr val="1C7293"/>
                </a:solidFill>
                <a:latin typeface="Calibri"/>
              </a:rPr>
              <a:t>RandomForest</a:t>
            </a:r>
          </a:p>
        </p:txBody>
      </p:sp>
      <p:sp>
        <p:nvSpPr>
          <p:cNvPr id="18" name="TextBox 17"/>
          <p:cNvSpPr txBox="1"/>
          <p:nvPr/>
        </p:nvSpPr>
        <p:spPr>
          <a:xfrm>
            <a:off x="566928" y="2331720"/>
            <a:ext cx="1272076"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BACE1</a:t>
            </a:r>
          </a:p>
        </p:txBody>
      </p:sp>
      <p:sp>
        <p:nvSpPr>
          <p:cNvPr id="19" name="TextBox 18"/>
          <p:cNvSpPr txBox="1"/>
          <p:nvPr/>
        </p:nvSpPr>
        <p:spPr>
          <a:xfrm>
            <a:off x="1893868" y="2331720"/>
            <a:ext cx="1006688"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roc_auc</a:t>
            </a:r>
          </a:p>
        </p:txBody>
      </p:sp>
      <p:sp>
        <p:nvSpPr>
          <p:cNvPr id="20" name="TextBox 19"/>
          <p:cNvSpPr txBox="1"/>
          <p:nvPr/>
        </p:nvSpPr>
        <p:spPr>
          <a:xfrm>
            <a:off x="2955421" y="2331720"/>
            <a:ext cx="873994"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1,825</a:t>
            </a:r>
          </a:p>
        </p:txBody>
      </p:sp>
      <p:sp>
        <p:nvSpPr>
          <p:cNvPr id="21" name="TextBox 20"/>
          <p:cNvSpPr txBox="1"/>
          <p:nvPr/>
        </p:nvSpPr>
        <p:spPr>
          <a:xfrm>
            <a:off x="3884279" y="2331720"/>
            <a:ext cx="1006688"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0.9243</a:t>
            </a:r>
          </a:p>
        </p:txBody>
      </p:sp>
      <p:sp>
        <p:nvSpPr>
          <p:cNvPr id="22" name="TextBox 21"/>
          <p:cNvSpPr txBox="1"/>
          <p:nvPr/>
        </p:nvSpPr>
        <p:spPr>
          <a:xfrm>
            <a:off x="4945832" y="2331720"/>
            <a:ext cx="1272076" cy="329184"/>
          </a:xfrm>
          <a:prstGeom prst="rect">
            <a:avLst/>
          </a:prstGeom>
          <a:noFill/>
        </p:spPr>
        <p:txBody>
          <a:bodyPr wrap="square" lIns="0" rIns="0" tIns="0" bIns="0" anchor="t">
            <a:spAutoFit/>
          </a:bodyPr>
          <a:lstStyle/>
          <a:p>
            <a:pPr algn="l">
              <a:spcAft>
                <a:spcPts val="600"/>
              </a:spcAft>
            </a:pPr>
            <a:r>
              <a:rPr sz="1300" b="1" i="0">
                <a:solidFill>
                  <a:srgbClr val="1C7293"/>
                </a:solidFill>
                <a:latin typeface="Calibri"/>
              </a:rPr>
              <a:t>0.9571</a:t>
            </a:r>
          </a:p>
        </p:txBody>
      </p:sp>
      <p:sp>
        <p:nvSpPr>
          <p:cNvPr id="23" name="TextBox 22"/>
          <p:cNvSpPr txBox="1"/>
          <p:nvPr/>
        </p:nvSpPr>
        <p:spPr>
          <a:xfrm>
            <a:off x="6272773" y="2331720"/>
            <a:ext cx="873994" cy="329184"/>
          </a:xfrm>
          <a:prstGeom prst="rect">
            <a:avLst/>
          </a:prstGeom>
          <a:noFill/>
        </p:spPr>
        <p:txBody>
          <a:bodyPr wrap="square" lIns="0" rIns="0" tIns="0" bIns="0" anchor="t">
            <a:spAutoFit/>
          </a:bodyPr>
          <a:lstStyle/>
          <a:p>
            <a:pPr algn="l">
              <a:spcAft>
                <a:spcPts val="600"/>
              </a:spcAft>
            </a:pPr>
            <a:r>
              <a:rPr sz="1300" b="1" i="0">
                <a:solidFill>
                  <a:srgbClr val="1C7293"/>
                </a:solidFill>
                <a:latin typeface="Calibri"/>
              </a:rPr>
              <a:t>RandomForest</a:t>
            </a:r>
          </a:p>
        </p:txBody>
      </p:sp>
      <p:sp>
        <p:nvSpPr>
          <p:cNvPr id="24" name="Rounded Rectangle 23"/>
          <p:cNvSpPr/>
          <p:nvPr/>
        </p:nvSpPr>
        <p:spPr>
          <a:xfrm>
            <a:off x="493776" y="2660903"/>
            <a:ext cx="6726143" cy="3657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66928" y="2697479"/>
            <a:ext cx="1272076"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MAO_A</a:t>
            </a:r>
          </a:p>
        </p:txBody>
      </p:sp>
      <p:sp>
        <p:nvSpPr>
          <p:cNvPr id="26" name="TextBox 25"/>
          <p:cNvSpPr txBox="1"/>
          <p:nvPr/>
        </p:nvSpPr>
        <p:spPr>
          <a:xfrm>
            <a:off x="1893868" y="2697479"/>
            <a:ext cx="1006688"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roc_auc</a:t>
            </a:r>
          </a:p>
        </p:txBody>
      </p:sp>
      <p:sp>
        <p:nvSpPr>
          <p:cNvPr id="27" name="TextBox 26"/>
          <p:cNvSpPr txBox="1"/>
          <p:nvPr/>
        </p:nvSpPr>
        <p:spPr>
          <a:xfrm>
            <a:off x="2955421" y="2697479"/>
            <a:ext cx="873994"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443</a:t>
            </a:r>
          </a:p>
        </p:txBody>
      </p:sp>
      <p:sp>
        <p:nvSpPr>
          <p:cNvPr id="28" name="TextBox 27"/>
          <p:cNvSpPr txBox="1"/>
          <p:nvPr/>
        </p:nvSpPr>
        <p:spPr>
          <a:xfrm>
            <a:off x="3884279" y="2697479"/>
            <a:ext cx="1006688"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0.7363</a:t>
            </a:r>
          </a:p>
        </p:txBody>
      </p:sp>
      <p:sp>
        <p:nvSpPr>
          <p:cNvPr id="29" name="TextBox 28"/>
          <p:cNvSpPr txBox="1"/>
          <p:nvPr/>
        </p:nvSpPr>
        <p:spPr>
          <a:xfrm>
            <a:off x="4945832" y="2697479"/>
            <a:ext cx="1272076" cy="329184"/>
          </a:xfrm>
          <a:prstGeom prst="rect">
            <a:avLst/>
          </a:prstGeom>
          <a:noFill/>
        </p:spPr>
        <p:txBody>
          <a:bodyPr wrap="square" lIns="0" rIns="0" tIns="0" bIns="0" anchor="t">
            <a:spAutoFit/>
          </a:bodyPr>
          <a:lstStyle/>
          <a:p>
            <a:pPr algn="l">
              <a:spcAft>
                <a:spcPts val="600"/>
              </a:spcAft>
            </a:pPr>
            <a:r>
              <a:rPr sz="1300" b="1" i="0">
                <a:solidFill>
                  <a:srgbClr val="1C7293"/>
                </a:solidFill>
                <a:latin typeface="Calibri"/>
              </a:rPr>
              <a:t>0.8100</a:t>
            </a:r>
          </a:p>
        </p:txBody>
      </p:sp>
      <p:sp>
        <p:nvSpPr>
          <p:cNvPr id="30" name="TextBox 29"/>
          <p:cNvSpPr txBox="1"/>
          <p:nvPr/>
        </p:nvSpPr>
        <p:spPr>
          <a:xfrm>
            <a:off x="6272773" y="2697479"/>
            <a:ext cx="873994" cy="329184"/>
          </a:xfrm>
          <a:prstGeom prst="rect">
            <a:avLst/>
          </a:prstGeom>
          <a:noFill/>
        </p:spPr>
        <p:txBody>
          <a:bodyPr wrap="square" lIns="0" rIns="0" tIns="0" bIns="0" anchor="t">
            <a:spAutoFit/>
          </a:bodyPr>
          <a:lstStyle/>
          <a:p>
            <a:pPr algn="l">
              <a:spcAft>
                <a:spcPts val="600"/>
              </a:spcAft>
            </a:pPr>
            <a:r>
              <a:rPr sz="1300" b="1" i="0">
                <a:solidFill>
                  <a:srgbClr val="1C7293"/>
                </a:solidFill>
                <a:latin typeface="Calibri"/>
              </a:rPr>
              <a:t>RandomForest</a:t>
            </a:r>
          </a:p>
        </p:txBody>
      </p:sp>
      <p:sp>
        <p:nvSpPr>
          <p:cNvPr id="31" name="TextBox 30"/>
          <p:cNvSpPr txBox="1"/>
          <p:nvPr/>
        </p:nvSpPr>
        <p:spPr>
          <a:xfrm>
            <a:off x="566928" y="3063239"/>
            <a:ext cx="1272076"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A2A</a:t>
            </a:r>
          </a:p>
        </p:txBody>
      </p:sp>
      <p:sp>
        <p:nvSpPr>
          <p:cNvPr id="32" name="TextBox 31"/>
          <p:cNvSpPr txBox="1"/>
          <p:nvPr/>
        </p:nvSpPr>
        <p:spPr>
          <a:xfrm>
            <a:off x="1893868" y="3063239"/>
            <a:ext cx="1006688"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r2</a:t>
            </a:r>
          </a:p>
        </p:txBody>
      </p:sp>
      <p:sp>
        <p:nvSpPr>
          <p:cNvPr id="33" name="TextBox 32"/>
          <p:cNvSpPr txBox="1"/>
          <p:nvPr/>
        </p:nvSpPr>
        <p:spPr>
          <a:xfrm>
            <a:off x="2955421" y="3063239"/>
            <a:ext cx="873994"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1,259</a:t>
            </a:r>
          </a:p>
        </p:txBody>
      </p:sp>
      <p:sp>
        <p:nvSpPr>
          <p:cNvPr id="34" name="TextBox 33"/>
          <p:cNvSpPr txBox="1"/>
          <p:nvPr/>
        </p:nvSpPr>
        <p:spPr>
          <a:xfrm>
            <a:off x="3884279" y="3063239"/>
            <a:ext cx="1006688" cy="329184"/>
          </a:xfrm>
          <a:prstGeom prst="rect">
            <a:avLst/>
          </a:prstGeom>
          <a:noFill/>
        </p:spPr>
        <p:txBody>
          <a:bodyPr wrap="square" lIns="0" rIns="0" tIns="0" bIns="0" anchor="t">
            <a:spAutoFit/>
          </a:bodyPr>
          <a:lstStyle/>
          <a:p>
            <a:pPr algn="l">
              <a:spcAft>
                <a:spcPts val="600"/>
              </a:spcAft>
            </a:pPr>
            <a:r>
              <a:rPr sz="1300" b="0" i="0">
                <a:solidFill>
                  <a:srgbClr val="0F1A2E"/>
                </a:solidFill>
                <a:latin typeface="Calibri"/>
              </a:rPr>
              <a:t>0.4673</a:t>
            </a:r>
          </a:p>
        </p:txBody>
      </p:sp>
      <p:sp>
        <p:nvSpPr>
          <p:cNvPr id="35" name="TextBox 34"/>
          <p:cNvSpPr txBox="1"/>
          <p:nvPr/>
        </p:nvSpPr>
        <p:spPr>
          <a:xfrm>
            <a:off x="4945832" y="3063239"/>
            <a:ext cx="1272076" cy="329184"/>
          </a:xfrm>
          <a:prstGeom prst="rect">
            <a:avLst/>
          </a:prstGeom>
          <a:noFill/>
        </p:spPr>
        <p:txBody>
          <a:bodyPr wrap="square" lIns="0" rIns="0" tIns="0" bIns="0" anchor="t">
            <a:spAutoFit/>
          </a:bodyPr>
          <a:lstStyle/>
          <a:p>
            <a:pPr algn="l">
              <a:spcAft>
                <a:spcPts val="600"/>
              </a:spcAft>
            </a:pPr>
            <a:r>
              <a:rPr sz="1300" b="1" i="0">
                <a:solidFill>
                  <a:srgbClr val="1C7293"/>
                </a:solidFill>
                <a:latin typeface="Calibri"/>
              </a:rPr>
              <a:t>0.5485</a:t>
            </a:r>
          </a:p>
        </p:txBody>
      </p:sp>
      <p:sp>
        <p:nvSpPr>
          <p:cNvPr id="36" name="TextBox 35"/>
          <p:cNvSpPr txBox="1"/>
          <p:nvPr/>
        </p:nvSpPr>
        <p:spPr>
          <a:xfrm>
            <a:off x="6272773" y="3063239"/>
            <a:ext cx="873994" cy="329184"/>
          </a:xfrm>
          <a:prstGeom prst="rect">
            <a:avLst/>
          </a:prstGeom>
          <a:noFill/>
        </p:spPr>
        <p:txBody>
          <a:bodyPr wrap="square" lIns="0" rIns="0" tIns="0" bIns="0" anchor="t">
            <a:spAutoFit/>
          </a:bodyPr>
          <a:lstStyle/>
          <a:p>
            <a:pPr algn="l">
              <a:spcAft>
                <a:spcPts val="600"/>
              </a:spcAft>
            </a:pPr>
            <a:r>
              <a:rPr sz="1300" b="1" i="0">
                <a:solidFill>
                  <a:srgbClr val="1C7293"/>
                </a:solidFill>
                <a:latin typeface="Calibri"/>
              </a:rPr>
              <a:t>RandomForest</a:t>
            </a:r>
          </a:p>
        </p:txBody>
      </p:sp>
      <p:sp>
        <p:nvSpPr>
          <p:cNvPr id="37" name="TextBox 36"/>
          <p:cNvSpPr txBox="1"/>
          <p:nvPr/>
        </p:nvSpPr>
        <p:spPr>
          <a:xfrm>
            <a:off x="7533366" y="1691640"/>
            <a:ext cx="4091400" cy="274320"/>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Why this is the expected result</a:t>
            </a:r>
          </a:p>
        </p:txBody>
      </p:sp>
      <p:sp>
        <p:nvSpPr>
          <p:cNvPr id="38" name="TextBox 37"/>
          <p:cNvSpPr txBox="1"/>
          <p:nvPr/>
        </p:nvSpPr>
        <p:spPr>
          <a:xfrm>
            <a:off x="7533366" y="2057400"/>
            <a:ext cx="4091400" cy="4069080"/>
          </a:xfrm>
          <a:prstGeom prst="rect">
            <a:avLst/>
          </a:prstGeom>
          <a:noFill/>
        </p:spPr>
        <p:txBody>
          <a:bodyPr wrap="square" lIns="0" rIns="0" tIns="0" bIns="0" anchor="t">
            <a:spAutoFit/>
          </a:bodyPr>
          <a:lstStyle/>
          <a:p>
            <a:pPr algn="l">
              <a:lnSpc>
                <a:spcPct val="122000"/>
              </a:lnSpc>
              <a:spcAft>
                <a:spcPts val="800"/>
              </a:spcAft>
            </a:pPr>
            <a:r>
              <a:rPr sz="1300" b="0" i="0">
                <a:solidFill>
                  <a:srgbClr val="0F1A2E"/>
                </a:solidFill>
                <a:latin typeface="Calibri"/>
              </a:rPr>
              <a:t>•   A graph network has far more parameters than a forest has effective degrees of freedom.</a:t>
            </a:r>
          </a:p>
          <a:p>
            <a:pPr algn="l">
              <a:lnSpc>
                <a:spcPct val="122000"/>
              </a:lnSpc>
              <a:spcAft>
                <a:spcPts val="800"/>
              </a:spcAft>
            </a:pPr>
            <a:r>
              <a:rPr sz="1300" b="0" i="0">
                <a:solidFill>
                  <a:srgbClr val="0F1A2E"/>
                </a:solidFill>
                <a:latin typeface="Calibri"/>
              </a:rPr>
              <a:t>•   Graph networks typically need tens of thousands of examples per endpoint before a learned representation beats a well-made fixed fingerprint.</a:t>
            </a:r>
          </a:p>
          <a:p>
            <a:pPr algn="l">
              <a:lnSpc>
                <a:spcPct val="122000"/>
              </a:lnSpc>
              <a:spcAft>
                <a:spcPts val="800"/>
              </a:spcAft>
            </a:pPr>
            <a:r>
              <a:rPr sz="1300" b="0" i="0">
                <a:solidFill>
                  <a:srgbClr val="1C7293"/>
                </a:solidFill>
                <a:latin typeface="Calibri"/>
              </a:rPr>
              <a:t>•   With 3,000 to 10,000 compounds, the fingerprint wins. That is the honest reading.</a:t>
            </a:r>
          </a:p>
        </p:txBody>
      </p:sp>
      <p:sp>
        <p:nvSpPr>
          <p:cNvPr id="39" name="Rounded Rectangle 38"/>
          <p:cNvSpPr/>
          <p:nvPr/>
        </p:nvSpPr>
        <p:spPr>
          <a:xfrm>
            <a:off x="566928" y="3794760"/>
            <a:ext cx="11057839" cy="14173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41247" y="3977639"/>
            <a:ext cx="10509199" cy="1097280"/>
          </a:xfrm>
          <a:prstGeom prst="rect">
            <a:avLst/>
          </a:prstGeom>
          <a:noFill/>
        </p:spPr>
        <p:txBody>
          <a:bodyPr wrap="square" lIns="0" rIns="0" tIns="0" bIns="0" anchor="t">
            <a:spAutoFit/>
          </a:bodyPr>
          <a:lstStyle/>
          <a:p>
            <a:pPr algn="l">
              <a:lnSpc>
                <a:spcPct val="120000"/>
              </a:lnSpc>
              <a:spcAft>
                <a:spcPts val="500"/>
              </a:spcAft>
            </a:pPr>
            <a:r>
              <a:rPr sz="1250" b="1" i="0">
                <a:solidFill>
                  <a:srgbClr val="9E2A2B"/>
                </a:solidFill>
                <a:latin typeface="Calibri"/>
              </a:rPr>
              <a:t>Important qualification, and it must be volunteered.</a:t>
            </a:r>
          </a:p>
          <a:p>
            <a:pPr algn="l">
              <a:lnSpc>
                <a:spcPct val="120000"/>
              </a:lnSpc>
              <a:spcAft>
                <a:spcPts val="500"/>
              </a:spcAft>
            </a:pPr>
            <a:r>
              <a:rPr sz="1250" b="0" i="0">
                <a:solidFill>
                  <a:srgbClr val="0F1A2E"/>
                </a:solidFill>
                <a:latin typeface="Calibri"/>
              </a:rPr>
              <a:t>The GIN was run on 4 endpoints with a SINGLE 70/10/20 scaffold hold-out, not 10-fold cross-validation, and it does not go through the deduplication step. It is therefore an exploratory demonstration, not a fair benchmark.</a:t>
            </a:r>
          </a:p>
          <a:p>
            <a:pPr algn="l">
              <a:lnSpc>
                <a:spcPct val="120000"/>
              </a:lnSpc>
              <a:spcAft>
                <a:spcPts val="500"/>
              </a:spcAft>
            </a:pPr>
            <a:r>
              <a:rPr sz="1250" b="0" i="0">
                <a:solidFill>
                  <a:srgbClr val="0F1A2E"/>
                </a:solidFill>
                <a:latin typeface="Calibri"/>
              </a:rPr>
              <a:t>Its numbers carry no fold-level error bars, and its test set may hold stereoisomers of training compounds. Since it loses anyway, neither changes the conclusion, but the conclusion must be stated as “a graph network did not beat the fingerprint in the one exploratory comparison we ran”.</a:t>
            </a:r>
          </a:p>
        </p:txBody>
      </p:sp>
      <p:sp>
        <p:nvSpPr>
          <p:cNvPr id="41" name="TextBox 40"/>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results/gnn/gnn_vs_rf.csv; src/brainsafe/gnn/train_gnn.py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17</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Was the protocol the same for every algorithm?</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Yes for the four comparison families. No for the graph network, and the difference must be declared</a:t>
            </a:r>
          </a:p>
        </p:txBody>
      </p:sp>
      <p:sp>
        <p:nvSpPr>
          <p:cNvPr id="5" name="TextBox 4"/>
          <p:cNvSpPr txBox="1"/>
          <p:nvPr/>
        </p:nvSpPr>
        <p:spPr>
          <a:xfrm>
            <a:off x="566928" y="1691640"/>
            <a:ext cx="2156703" cy="237744"/>
          </a:xfrm>
          <a:prstGeom prst="rect">
            <a:avLst/>
          </a:prstGeom>
          <a:noFill/>
        </p:spPr>
        <p:txBody>
          <a:bodyPr wrap="square" lIns="0" rIns="0" tIns="0" bIns="0" anchor="t">
            <a:spAutoFit/>
          </a:bodyPr>
          <a:lstStyle/>
          <a:p>
            <a:pPr algn="l">
              <a:spcAft>
                <a:spcPts val="600"/>
              </a:spcAft>
            </a:pPr>
            <a:r>
              <a:rPr sz="1200" b="1" i="0">
                <a:solidFill>
                  <a:srgbClr val="1F3A5F"/>
                </a:solidFill>
                <a:latin typeface="Calibri"/>
              </a:rPr>
              <a:t/>
            </a:r>
          </a:p>
        </p:txBody>
      </p:sp>
      <p:sp>
        <p:nvSpPr>
          <p:cNvPr id="6" name="TextBox 5"/>
          <p:cNvSpPr txBox="1"/>
          <p:nvPr/>
        </p:nvSpPr>
        <p:spPr>
          <a:xfrm>
            <a:off x="2778495" y="1691640"/>
            <a:ext cx="1161498" cy="237744"/>
          </a:xfrm>
          <a:prstGeom prst="rect">
            <a:avLst/>
          </a:prstGeom>
          <a:noFill/>
        </p:spPr>
        <p:txBody>
          <a:bodyPr wrap="square" lIns="0" rIns="0" tIns="0" bIns="0" anchor="t">
            <a:spAutoFit/>
          </a:bodyPr>
          <a:lstStyle/>
          <a:p>
            <a:pPr algn="l">
              <a:spcAft>
                <a:spcPts val="600"/>
              </a:spcAft>
            </a:pPr>
            <a:r>
              <a:rPr sz="1200" b="1" i="0">
                <a:solidFill>
                  <a:srgbClr val="1F3A5F"/>
                </a:solidFill>
                <a:latin typeface="Calibri"/>
              </a:rPr>
              <a:t>endpoints</a:t>
            </a:r>
          </a:p>
        </p:txBody>
      </p:sp>
      <p:sp>
        <p:nvSpPr>
          <p:cNvPr id="7" name="TextBox 6"/>
          <p:cNvSpPr txBox="1"/>
          <p:nvPr/>
        </p:nvSpPr>
        <p:spPr>
          <a:xfrm>
            <a:off x="3994858" y="1691640"/>
            <a:ext cx="2156703" cy="237744"/>
          </a:xfrm>
          <a:prstGeom prst="rect">
            <a:avLst/>
          </a:prstGeom>
          <a:noFill/>
        </p:spPr>
        <p:txBody>
          <a:bodyPr wrap="square" lIns="0" rIns="0" tIns="0" bIns="0" anchor="t">
            <a:spAutoFit/>
          </a:bodyPr>
          <a:lstStyle/>
          <a:p>
            <a:pPr algn="l">
              <a:spcAft>
                <a:spcPts val="600"/>
              </a:spcAft>
            </a:pPr>
            <a:r>
              <a:rPr sz="1200" b="1" i="0">
                <a:solidFill>
                  <a:srgbClr val="1F3A5F"/>
                </a:solidFill>
                <a:latin typeface="Calibri"/>
              </a:rPr>
              <a:t>splits</a:t>
            </a:r>
          </a:p>
        </p:txBody>
      </p:sp>
      <p:sp>
        <p:nvSpPr>
          <p:cNvPr id="8" name="TextBox 7"/>
          <p:cNvSpPr txBox="1"/>
          <p:nvPr/>
        </p:nvSpPr>
        <p:spPr>
          <a:xfrm>
            <a:off x="6206425" y="1691640"/>
            <a:ext cx="1161498" cy="237744"/>
          </a:xfrm>
          <a:prstGeom prst="rect">
            <a:avLst/>
          </a:prstGeom>
          <a:noFill/>
        </p:spPr>
        <p:txBody>
          <a:bodyPr wrap="square" lIns="0" rIns="0" tIns="0" bIns="0" anchor="t">
            <a:spAutoFit/>
          </a:bodyPr>
          <a:lstStyle/>
          <a:p>
            <a:pPr algn="l">
              <a:spcAft>
                <a:spcPts val="600"/>
              </a:spcAft>
            </a:pPr>
            <a:r>
              <a:rPr sz="1200" b="1" i="0">
                <a:solidFill>
                  <a:srgbClr val="1F3A5F"/>
                </a:solidFill>
                <a:latin typeface="Calibri"/>
              </a:rPr>
              <a:t>folds</a:t>
            </a:r>
          </a:p>
        </p:txBody>
      </p:sp>
      <p:sp>
        <p:nvSpPr>
          <p:cNvPr id="9" name="TextBox 8"/>
          <p:cNvSpPr txBox="1"/>
          <p:nvPr/>
        </p:nvSpPr>
        <p:spPr>
          <a:xfrm>
            <a:off x="7422788" y="1691640"/>
            <a:ext cx="940341" cy="237744"/>
          </a:xfrm>
          <a:prstGeom prst="rect">
            <a:avLst/>
          </a:prstGeom>
          <a:noFill/>
        </p:spPr>
        <p:txBody>
          <a:bodyPr wrap="square" lIns="0" rIns="0" tIns="0" bIns="0" anchor="t">
            <a:spAutoFit/>
          </a:bodyPr>
          <a:lstStyle/>
          <a:p>
            <a:pPr algn="l">
              <a:spcAft>
                <a:spcPts val="600"/>
              </a:spcAft>
            </a:pPr>
            <a:r>
              <a:rPr sz="1200" b="1" i="0">
                <a:solidFill>
                  <a:srgbClr val="1F3A5F"/>
                </a:solidFill>
                <a:latin typeface="Calibri"/>
              </a:rPr>
              <a:t>dedup</a:t>
            </a:r>
          </a:p>
        </p:txBody>
      </p:sp>
      <p:sp>
        <p:nvSpPr>
          <p:cNvPr id="10" name="TextBox 9"/>
          <p:cNvSpPr txBox="1"/>
          <p:nvPr/>
        </p:nvSpPr>
        <p:spPr>
          <a:xfrm>
            <a:off x="8417993" y="1691640"/>
            <a:ext cx="1824968" cy="237744"/>
          </a:xfrm>
          <a:prstGeom prst="rect">
            <a:avLst/>
          </a:prstGeom>
          <a:noFill/>
        </p:spPr>
        <p:txBody>
          <a:bodyPr wrap="square" lIns="0" rIns="0" tIns="0" bIns="0" anchor="t">
            <a:spAutoFit/>
          </a:bodyPr>
          <a:lstStyle/>
          <a:p>
            <a:pPr algn="l">
              <a:spcAft>
                <a:spcPts val="600"/>
              </a:spcAft>
            </a:pPr>
            <a:r>
              <a:rPr sz="1200" b="1" i="0">
                <a:solidFill>
                  <a:srgbClr val="1F3A5F"/>
                </a:solidFill>
                <a:latin typeface="Calibri"/>
              </a:rPr>
              <a:t>class-weighted</a:t>
            </a:r>
          </a:p>
        </p:txBody>
      </p:sp>
      <p:sp>
        <p:nvSpPr>
          <p:cNvPr id="11" name="TextBox 10"/>
          <p:cNvSpPr txBox="1"/>
          <p:nvPr/>
        </p:nvSpPr>
        <p:spPr>
          <a:xfrm>
            <a:off x="10297826" y="1691640"/>
            <a:ext cx="1272076" cy="237744"/>
          </a:xfrm>
          <a:prstGeom prst="rect">
            <a:avLst/>
          </a:prstGeom>
          <a:noFill/>
        </p:spPr>
        <p:txBody>
          <a:bodyPr wrap="square" lIns="0" rIns="0" tIns="0" bIns="0" anchor="t">
            <a:spAutoFit/>
          </a:bodyPr>
          <a:lstStyle/>
          <a:p>
            <a:pPr algn="l">
              <a:spcAft>
                <a:spcPts val="600"/>
              </a:spcAft>
            </a:pPr>
            <a:r>
              <a:rPr sz="1200" b="1" i="0">
                <a:solidFill>
                  <a:srgbClr val="1F3A5F"/>
                </a:solidFill>
                <a:latin typeface="Calibri"/>
              </a:rPr>
              <a:t>role</a:t>
            </a:r>
          </a:p>
        </p:txBody>
      </p:sp>
      <p:sp>
        <p:nvSpPr>
          <p:cNvPr id="12" name="Rounded Rectangle 11"/>
          <p:cNvSpPr/>
          <p:nvPr/>
        </p:nvSpPr>
        <p:spPr>
          <a:xfrm>
            <a:off x="493776" y="1929384"/>
            <a:ext cx="11149279" cy="34747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6928" y="1965960"/>
            <a:ext cx="2156703" cy="310896"/>
          </a:xfrm>
          <a:prstGeom prst="rect">
            <a:avLst/>
          </a:prstGeom>
          <a:noFill/>
        </p:spPr>
        <p:txBody>
          <a:bodyPr wrap="square" lIns="0" rIns="0" tIns="0" bIns="0" anchor="t">
            <a:spAutoFit/>
          </a:bodyPr>
          <a:lstStyle/>
          <a:p>
            <a:pPr algn="l">
              <a:spcAft>
                <a:spcPts val="600"/>
              </a:spcAft>
            </a:pPr>
            <a:r>
              <a:rPr sz="1200" b="1" i="0">
                <a:solidFill>
                  <a:srgbClr val="0F1A2E"/>
                </a:solidFill>
                <a:latin typeface="Calibri"/>
              </a:rPr>
              <a:t>Random forest</a:t>
            </a:r>
          </a:p>
        </p:txBody>
      </p:sp>
      <p:sp>
        <p:nvSpPr>
          <p:cNvPr id="14" name="TextBox 13"/>
          <p:cNvSpPr txBox="1"/>
          <p:nvPr/>
        </p:nvSpPr>
        <p:spPr>
          <a:xfrm>
            <a:off x="2778495" y="1965960"/>
            <a:ext cx="116149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13</a:t>
            </a:r>
          </a:p>
        </p:txBody>
      </p:sp>
      <p:sp>
        <p:nvSpPr>
          <p:cNvPr id="15" name="TextBox 14"/>
          <p:cNvSpPr txBox="1"/>
          <p:nvPr/>
        </p:nvSpPr>
        <p:spPr>
          <a:xfrm>
            <a:off x="3994858" y="1965960"/>
            <a:ext cx="2156703"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random and scaffold</a:t>
            </a:r>
          </a:p>
        </p:txBody>
      </p:sp>
      <p:sp>
        <p:nvSpPr>
          <p:cNvPr id="16" name="TextBox 15"/>
          <p:cNvSpPr txBox="1"/>
          <p:nvPr/>
        </p:nvSpPr>
        <p:spPr>
          <a:xfrm>
            <a:off x="6206425" y="1965960"/>
            <a:ext cx="116149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10</a:t>
            </a:r>
          </a:p>
        </p:txBody>
      </p:sp>
      <p:sp>
        <p:nvSpPr>
          <p:cNvPr id="17" name="TextBox 16"/>
          <p:cNvSpPr txBox="1"/>
          <p:nvPr/>
        </p:nvSpPr>
        <p:spPr>
          <a:xfrm>
            <a:off x="7422788" y="1965960"/>
            <a:ext cx="940341"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yes</a:t>
            </a:r>
          </a:p>
        </p:txBody>
      </p:sp>
      <p:sp>
        <p:nvSpPr>
          <p:cNvPr id="18" name="TextBox 17"/>
          <p:cNvSpPr txBox="1"/>
          <p:nvPr/>
        </p:nvSpPr>
        <p:spPr>
          <a:xfrm>
            <a:off x="8417993" y="1965960"/>
            <a:ext cx="182496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yes</a:t>
            </a:r>
          </a:p>
        </p:txBody>
      </p:sp>
      <p:sp>
        <p:nvSpPr>
          <p:cNvPr id="19" name="TextBox 18"/>
          <p:cNvSpPr txBox="1"/>
          <p:nvPr/>
        </p:nvSpPr>
        <p:spPr>
          <a:xfrm>
            <a:off x="10297826" y="1965960"/>
            <a:ext cx="1272076" cy="310896"/>
          </a:xfrm>
          <a:prstGeom prst="rect">
            <a:avLst/>
          </a:prstGeom>
          <a:noFill/>
        </p:spPr>
        <p:txBody>
          <a:bodyPr wrap="square" lIns="0" rIns="0" tIns="0" bIns="0" anchor="t">
            <a:spAutoFit/>
          </a:bodyPr>
          <a:lstStyle/>
          <a:p>
            <a:pPr algn="l">
              <a:spcAft>
                <a:spcPts val="600"/>
              </a:spcAft>
            </a:pPr>
            <a:r>
              <a:rPr sz="1200" b="1" i="0">
                <a:solidFill>
                  <a:srgbClr val="1C7293"/>
                </a:solidFill>
                <a:latin typeface="Calibri"/>
              </a:rPr>
              <a:t>DEPLOYED</a:t>
            </a:r>
          </a:p>
        </p:txBody>
      </p:sp>
      <p:sp>
        <p:nvSpPr>
          <p:cNvPr id="20" name="TextBox 19"/>
          <p:cNvSpPr txBox="1"/>
          <p:nvPr/>
        </p:nvSpPr>
        <p:spPr>
          <a:xfrm>
            <a:off x="566928" y="2313432"/>
            <a:ext cx="2156703"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XGBoost</a:t>
            </a:r>
          </a:p>
        </p:txBody>
      </p:sp>
      <p:sp>
        <p:nvSpPr>
          <p:cNvPr id="21" name="TextBox 20"/>
          <p:cNvSpPr txBox="1"/>
          <p:nvPr/>
        </p:nvSpPr>
        <p:spPr>
          <a:xfrm>
            <a:off x="2778495" y="2313432"/>
            <a:ext cx="116149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13</a:t>
            </a:r>
          </a:p>
        </p:txBody>
      </p:sp>
      <p:sp>
        <p:nvSpPr>
          <p:cNvPr id="22" name="TextBox 21"/>
          <p:cNvSpPr txBox="1"/>
          <p:nvPr/>
        </p:nvSpPr>
        <p:spPr>
          <a:xfrm>
            <a:off x="3994858" y="2313432"/>
            <a:ext cx="2156703"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random and scaffold</a:t>
            </a:r>
          </a:p>
        </p:txBody>
      </p:sp>
      <p:sp>
        <p:nvSpPr>
          <p:cNvPr id="23" name="TextBox 22"/>
          <p:cNvSpPr txBox="1"/>
          <p:nvPr/>
        </p:nvSpPr>
        <p:spPr>
          <a:xfrm>
            <a:off x="6206425" y="2313432"/>
            <a:ext cx="116149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10</a:t>
            </a:r>
          </a:p>
        </p:txBody>
      </p:sp>
      <p:sp>
        <p:nvSpPr>
          <p:cNvPr id="24" name="TextBox 23"/>
          <p:cNvSpPr txBox="1"/>
          <p:nvPr/>
        </p:nvSpPr>
        <p:spPr>
          <a:xfrm>
            <a:off x="7422788" y="2313432"/>
            <a:ext cx="940341"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yes</a:t>
            </a:r>
          </a:p>
        </p:txBody>
      </p:sp>
      <p:sp>
        <p:nvSpPr>
          <p:cNvPr id="25" name="TextBox 24"/>
          <p:cNvSpPr txBox="1"/>
          <p:nvPr/>
        </p:nvSpPr>
        <p:spPr>
          <a:xfrm>
            <a:off x="8417993" y="2313432"/>
            <a:ext cx="182496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scale_pos_weight</a:t>
            </a:r>
          </a:p>
        </p:txBody>
      </p:sp>
      <p:sp>
        <p:nvSpPr>
          <p:cNvPr id="26" name="TextBox 25"/>
          <p:cNvSpPr txBox="1"/>
          <p:nvPr/>
        </p:nvSpPr>
        <p:spPr>
          <a:xfrm>
            <a:off x="10297826" y="2313432"/>
            <a:ext cx="1272076"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comparison</a:t>
            </a:r>
          </a:p>
        </p:txBody>
      </p:sp>
      <p:sp>
        <p:nvSpPr>
          <p:cNvPr id="27" name="Rounded Rectangle 26"/>
          <p:cNvSpPr/>
          <p:nvPr/>
        </p:nvSpPr>
        <p:spPr>
          <a:xfrm>
            <a:off x="493776" y="2624327"/>
            <a:ext cx="11149279" cy="34747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66928" y="2660903"/>
            <a:ext cx="2156703"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HistGradientBoosting</a:t>
            </a:r>
          </a:p>
        </p:txBody>
      </p:sp>
      <p:sp>
        <p:nvSpPr>
          <p:cNvPr id="29" name="TextBox 28"/>
          <p:cNvSpPr txBox="1"/>
          <p:nvPr/>
        </p:nvSpPr>
        <p:spPr>
          <a:xfrm>
            <a:off x="2778495" y="2660903"/>
            <a:ext cx="116149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13</a:t>
            </a:r>
          </a:p>
        </p:txBody>
      </p:sp>
      <p:sp>
        <p:nvSpPr>
          <p:cNvPr id="30" name="TextBox 29"/>
          <p:cNvSpPr txBox="1"/>
          <p:nvPr/>
        </p:nvSpPr>
        <p:spPr>
          <a:xfrm>
            <a:off x="3994858" y="2660903"/>
            <a:ext cx="2156703"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random and scaffold</a:t>
            </a:r>
          </a:p>
        </p:txBody>
      </p:sp>
      <p:sp>
        <p:nvSpPr>
          <p:cNvPr id="31" name="TextBox 30"/>
          <p:cNvSpPr txBox="1"/>
          <p:nvPr/>
        </p:nvSpPr>
        <p:spPr>
          <a:xfrm>
            <a:off x="6206425" y="2660903"/>
            <a:ext cx="116149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10</a:t>
            </a:r>
          </a:p>
        </p:txBody>
      </p:sp>
      <p:sp>
        <p:nvSpPr>
          <p:cNvPr id="32" name="TextBox 31"/>
          <p:cNvSpPr txBox="1"/>
          <p:nvPr/>
        </p:nvSpPr>
        <p:spPr>
          <a:xfrm>
            <a:off x="7422788" y="2660903"/>
            <a:ext cx="940341"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yes</a:t>
            </a:r>
          </a:p>
        </p:txBody>
      </p:sp>
      <p:sp>
        <p:nvSpPr>
          <p:cNvPr id="33" name="TextBox 32"/>
          <p:cNvSpPr txBox="1"/>
          <p:nvPr/>
        </p:nvSpPr>
        <p:spPr>
          <a:xfrm>
            <a:off x="8417993" y="2660903"/>
            <a:ext cx="182496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class_weight (added)</a:t>
            </a:r>
          </a:p>
        </p:txBody>
      </p:sp>
      <p:sp>
        <p:nvSpPr>
          <p:cNvPr id="34" name="TextBox 33"/>
          <p:cNvSpPr txBox="1"/>
          <p:nvPr/>
        </p:nvSpPr>
        <p:spPr>
          <a:xfrm>
            <a:off x="10297826" y="2660903"/>
            <a:ext cx="1272076"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comparison</a:t>
            </a:r>
          </a:p>
        </p:txBody>
      </p:sp>
      <p:sp>
        <p:nvSpPr>
          <p:cNvPr id="35" name="TextBox 34"/>
          <p:cNvSpPr txBox="1"/>
          <p:nvPr/>
        </p:nvSpPr>
        <p:spPr>
          <a:xfrm>
            <a:off x="566928" y="3008375"/>
            <a:ext cx="2156703"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LogisticRegression</a:t>
            </a:r>
          </a:p>
        </p:txBody>
      </p:sp>
      <p:sp>
        <p:nvSpPr>
          <p:cNvPr id="36" name="TextBox 35"/>
          <p:cNvSpPr txBox="1"/>
          <p:nvPr/>
        </p:nvSpPr>
        <p:spPr>
          <a:xfrm>
            <a:off x="2778495" y="3008375"/>
            <a:ext cx="116149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13</a:t>
            </a:r>
          </a:p>
        </p:txBody>
      </p:sp>
      <p:sp>
        <p:nvSpPr>
          <p:cNvPr id="37" name="TextBox 36"/>
          <p:cNvSpPr txBox="1"/>
          <p:nvPr/>
        </p:nvSpPr>
        <p:spPr>
          <a:xfrm>
            <a:off x="3994858" y="3008375"/>
            <a:ext cx="2156703"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random and scaffold</a:t>
            </a:r>
          </a:p>
        </p:txBody>
      </p:sp>
      <p:sp>
        <p:nvSpPr>
          <p:cNvPr id="38" name="TextBox 37"/>
          <p:cNvSpPr txBox="1"/>
          <p:nvPr/>
        </p:nvSpPr>
        <p:spPr>
          <a:xfrm>
            <a:off x="6206425" y="3008375"/>
            <a:ext cx="116149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10</a:t>
            </a:r>
          </a:p>
        </p:txBody>
      </p:sp>
      <p:sp>
        <p:nvSpPr>
          <p:cNvPr id="39" name="TextBox 38"/>
          <p:cNvSpPr txBox="1"/>
          <p:nvPr/>
        </p:nvSpPr>
        <p:spPr>
          <a:xfrm>
            <a:off x="7422788" y="3008375"/>
            <a:ext cx="940341"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yes</a:t>
            </a:r>
          </a:p>
        </p:txBody>
      </p:sp>
      <p:sp>
        <p:nvSpPr>
          <p:cNvPr id="40" name="TextBox 39"/>
          <p:cNvSpPr txBox="1"/>
          <p:nvPr/>
        </p:nvSpPr>
        <p:spPr>
          <a:xfrm>
            <a:off x="8417993" y="3008375"/>
            <a:ext cx="182496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yes + scaled</a:t>
            </a:r>
          </a:p>
        </p:txBody>
      </p:sp>
      <p:sp>
        <p:nvSpPr>
          <p:cNvPr id="41" name="TextBox 40"/>
          <p:cNvSpPr txBox="1"/>
          <p:nvPr/>
        </p:nvSpPr>
        <p:spPr>
          <a:xfrm>
            <a:off x="10297826" y="3008375"/>
            <a:ext cx="1272076"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baseline</a:t>
            </a:r>
          </a:p>
        </p:txBody>
      </p:sp>
      <p:sp>
        <p:nvSpPr>
          <p:cNvPr id="42" name="Rounded Rectangle 41"/>
          <p:cNvSpPr/>
          <p:nvPr/>
        </p:nvSpPr>
        <p:spPr>
          <a:xfrm>
            <a:off x="493776" y="3319271"/>
            <a:ext cx="11149279" cy="34747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566928" y="3355847"/>
            <a:ext cx="2156703"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kNN read-across</a:t>
            </a:r>
          </a:p>
        </p:txBody>
      </p:sp>
      <p:sp>
        <p:nvSpPr>
          <p:cNvPr id="44" name="TextBox 43"/>
          <p:cNvSpPr txBox="1"/>
          <p:nvPr/>
        </p:nvSpPr>
        <p:spPr>
          <a:xfrm>
            <a:off x="2778495" y="3355847"/>
            <a:ext cx="116149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13</a:t>
            </a:r>
          </a:p>
        </p:txBody>
      </p:sp>
      <p:sp>
        <p:nvSpPr>
          <p:cNvPr id="45" name="TextBox 44"/>
          <p:cNvSpPr txBox="1"/>
          <p:nvPr/>
        </p:nvSpPr>
        <p:spPr>
          <a:xfrm>
            <a:off x="3994858" y="3355847"/>
            <a:ext cx="2156703"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random and scaffold</a:t>
            </a:r>
          </a:p>
        </p:txBody>
      </p:sp>
      <p:sp>
        <p:nvSpPr>
          <p:cNvPr id="46" name="TextBox 45"/>
          <p:cNvSpPr txBox="1"/>
          <p:nvPr/>
        </p:nvSpPr>
        <p:spPr>
          <a:xfrm>
            <a:off x="6206425" y="3355847"/>
            <a:ext cx="116149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10</a:t>
            </a:r>
          </a:p>
        </p:txBody>
      </p:sp>
      <p:sp>
        <p:nvSpPr>
          <p:cNvPr id="47" name="TextBox 46"/>
          <p:cNvSpPr txBox="1"/>
          <p:nvPr/>
        </p:nvSpPr>
        <p:spPr>
          <a:xfrm>
            <a:off x="7422788" y="3355847"/>
            <a:ext cx="940341"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yes</a:t>
            </a:r>
          </a:p>
        </p:txBody>
      </p:sp>
      <p:sp>
        <p:nvSpPr>
          <p:cNvPr id="48" name="TextBox 47"/>
          <p:cNvSpPr txBox="1"/>
          <p:nvPr/>
        </p:nvSpPr>
        <p:spPr>
          <a:xfrm>
            <a:off x="8417993" y="3355847"/>
            <a:ext cx="182496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n/a</a:t>
            </a:r>
          </a:p>
        </p:txBody>
      </p:sp>
      <p:sp>
        <p:nvSpPr>
          <p:cNvPr id="49" name="TextBox 48"/>
          <p:cNvSpPr txBox="1"/>
          <p:nvPr/>
        </p:nvSpPr>
        <p:spPr>
          <a:xfrm>
            <a:off x="10297826" y="3355847"/>
            <a:ext cx="1272076"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null</a:t>
            </a:r>
          </a:p>
        </p:txBody>
      </p:sp>
      <p:sp>
        <p:nvSpPr>
          <p:cNvPr id="50" name="TextBox 49"/>
          <p:cNvSpPr txBox="1"/>
          <p:nvPr/>
        </p:nvSpPr>
        <p:spPr>
          <a:xfrm>
            <a:off x="566928" y="3703320"/>
            <a:ext cx="2156703" cy="310896"/>
          </a:xfrm>
          <a:prstGeom prst="rect">
            <a:avLst/>
          </a:prstGeom>
          <a:noFill/>
        </p:spPr>
        <p:txBody>
          <a:bodyPr wrap="square" lIns="0" rIns="0" tIns="0" bIns="0" anchor="t">
            <a:spAutoFit/>
          </a:bodyPr>
          <a:lstStyle/>
          <a:p>
            <a:pPr algn="l">
              <a:spcAft>
                <a:spcPts val="600"/>
              </a:spcAft>
            </a:pPr>
            <a:r>
              <a:rPr sz="1200" b="1" i="0">
                <a:solidFill>
                  <a:srgbClr val="D98324"/>
                </a:solidFill>
                <a:latin typeface="Calibri"/>
              </a:rPr>
              <a:t>GIN graph network</a:t>
            </a:r>
          </a:p>
        </p:txBody>
      </p:sp>
      <p:sp>
        <p:nvSpPr>
          <p:cNvPr id="51" name="TextBox 50"/>
          <p:cNvSpPr txBox="1"/>
          <p:nvPr/>
        </p:nvSpPr>
        <p:spPr>
          <a:xfrm>
            <a:off x="2778495" y="3703320"/>
            <a:ext cx="1161498" cy="310896"/>
          </a:xfrm>
          <a:prstGeom prst="rect">
            <a:avLst/>
          </a:prstGeom>
          <a:noFill/>
        </p:spPr>
        <p:txBody>
          <a:bodyPr wrap="square" lIns="0" rIns="0" tIns="0" bIns="0" anchor="t">
            <a:spAutoFit/>
          </a:bodyPr>
          <a:lstStyle/>
          <a:p>
            <a:pPr algn="l">
              <a:spcAft>
                <a:spcPts val="600"/>
              </a:spcAft>
            </a:pPr>
            <a:r>
              <a:rPr sz="1200" b="0" i="0">
                <a:solidFill>
                  <a:srgbClr val="D98324"/>
                </a:solidFill>
                <a:latin typeface="Calibri"/>
              </a:rPr>
              <a:t>4</a:t>
            </a:r>
          </a:p>
        </p:txBody>
      </p:sp>
      <p:sp>
        <p:nvSpPr>
          <p:cNvPr id="52" name="TextBox 51"/>
          <p:cNvSpPr txBox="1"/>
          <p:nvPr/>
        </p:nvSpPr>
        <p:spPr>
          <a:xfrm>
            <a:off x="3994858" y="3703320"/>
            <a:ext cx="2156703" cy="310896"/>
          </a:xfrm>
          <a:prstGeom prst="rect">
            <a:avLst/>
          </a:prstGeom>
          <a:noFill/>
        </p:spPr>
        <p:txBody>
          <a:bodyPr wrap="square" lIns="0" rIns="0" tIns="0" bIns="0" anchor="t">
            <a:spAutoFit/>
          </a:bodyPr>
          <a:lstStyle/>
          <a:p>
            <a:pPr algn="l">
              <a:spcAft>
                <a:spcPts val="600"/>
              </a:spcAft>
            </a:pPr>
            <a:r>
              <a:rPr sz="1200" b="0" i="0">
                <a:solidFill>
                  <a:srgbClr val="D98324"/>
                </a:solidFill>
                <a:latin typeface="Calibri"/>
              </a:rPr>
              <a:t>scaffold only</a:t>
            </a:r>
          </a:p>
        </p:txBody>
      </p:sp>
      <p:sp>
        <p:nvSpPr>
          <p:cNvPr id="53" name="TextBox 52"/>
          <p:cNvSpPr txBox="1"/>
          <p:nvPr/>
        </p:nvSpPr>
        <p:spPr>
          <a:xfrm>
            <a:off x="6206425" y="3703320"/>
            <a:ext cx="1161498" cy="310896"/>
          </a:xfrm>
          <a:prstGeom prst="rect">
            <a:avLst/>
          </a:prstGeom>
          <a:noFill/>
        </p:spPr>
        <p:txBody>
          <a:bodyPr wrap="square" lIns="0" rIns="0" tIns="0" bIns="0" anchor="t">
            <a:spAutoFit/>
          </a:bodyPr>
          <a:lstStyle/>
          <a:p>
            <a:pPr algn="l">
              <a:spcAft>
                <a:spcPts val="600"/>
              </a:spcAft>
            </a:pPr>
            <a:r>
              <a:rPr sz="1200" b="0" i="0">
                <a:solidFill>
                  <a:srgbClr val="D98324"/>
                </a:solidFill>
                <a:latin typeface="Calibri"/>
              </a:rPr>
              <a:t>1 hold-out</a:t>
            </a:r>
          </a:p>
        </p:txBody>
      </p:sp>
      <p:sp>
        <p:nvSpPr>
          <p:cNvPr id="54" name="TextBox 53"/>
          <p:cNvSpPr txBox="1"/>
          <p:nvPr/>
        </p:nvSpPr>
        <p:spPr>
          <a:xfrm>
            <a:off x="7422788" y="3703320"/>
            <a:ext cx="940341" cy="310896"/>
          </a:xfrm>
          <a:prstGeom prst="rect">
            <a:avLst/>
          </a:prstGeom>
          <a:noFill/>
        </p:spPr>
        <p:txBody>
          <a:bodyPr wrap="square" lIns="0" rIns="0" tIns="0" bIns="0" anchor="t">
            <a:spAutoFit/>
          </a:bodyPr>
          <a:lstStyle/>
          <a:p>
            <a:pPr algn="l">
              <a:spcAft>
                <a:spcPts val="600"/>
              </a:spcAft>
            </a:pPr>
            <a:r>
              <a:rPr sz="1200" b="0" i="0">
                <a:solidFill>
                  <a:srgbClr val="9E2A2B"/>
                </a:solidFill>
                <a:latin typeface="Calibri"/>
              </a:rPr>
              <a:t>no</a:t>
            </a:r>
          </a:p>
        </p:txBody>
      </p:sp>
      <p:sp>
        <p:nvSpPr>
          <p:cNvPr id="55" name="TextBox 54"/>
          <p:cNvSpPr txBox="1"/>
          <p:nvPr/>
        </p:nvSpPr>
        <p:spPr>
          <a:xfrm>
            <a:off x="8417993" y="3703320"/>
            <a:ext cx="1824968" cy="310896"/>
          </a:xfrm>
          <a:prstGeom prst="rect">
            <a:avLst/>
          </a:prstGeom>
          <a:noFill/>
        </p:spPr>
        <p:txBody>
          <a:bodyPr wrap="square" lIns="0" rIns="0" tIns="0" bIns="0" anchor="t">
            <a:spAutoFit/>
          </a:bodyPr>
          <a:lstStyle/>
          <a:p>
            <a:pPr algn="l">
              <a:spcAft>
                <a:spcPts val="600"/>
              </a:spcAft>
            </a:pPr>
            <a:r>
              <a:rPr sz="1200" b="0" i="0">
                <a:solidFill>
                  <a:srgbClr val="0F1A2E"/>
                </a:solidFill>
                <a:latin typeface="Calibri"/>
              </a:rPr>
              <a:t>pos_weight</a:t>
            </a:r>
          </a:p>
        </p:txBody>
      </p:sp>
      <p:sp>
        <p:nvSpPr>
          <p:cNvPr id="56" name="TextBox 55"/>
          <p:cNvSpPr txBox="1"/>
          <p:nvPr/>
        </p:nvSpPr>
        <p:spPr>
          <a:xfrm>
            <a:off x="10297826" y="3703320"/>
            <a:ext cx="1272076" cy="310896"/>
          </a:xfrm>
          <a:prstGeom prst="rect">
            <a:avLst/>
          </a:prstGeom>
          <a:noFill/>
        </p:spPr>
        <p:txBody>
          <a:bodyPr wrap="square" lIns="0" rIns="0" tIns="0" bIns="0" anchor="t">
            <a:spAutoFit/>
          </a:bodyPr>
          <a:lstStyle/>
          <a:p>
            <a:pPr algn="l">
              <a:spcAft>
                <a:spcPts val="600"/>
              </a:spcAft>
            </a:pPr>
            <a:r>
              <a:rPr sz="1200" b="1" i="0">
                <a:solidFill>
                  <a:srgbClr val="D98324"/>
                </a:solidFill>
                <a:latin typeface="Calibri"/>
              </a:rPr>
              <a:t>exploratory</a:t>
            </a:r>
          </a:p>
        </p:txBody>
      </p:sp>
      <p:sp>
        <p:nvSpPr>
          <p:cNvPr id="57" name="TextBox 56"/>
          <p:cNvSpPr txBox="1"/>
          <p:nvPr/>
        </p:nvSpPr>
        <p:spPr>
          <a:xfrm>
            <a:off x="566928" y="4251960"/>
            <a:ext cx="11057839" cy="685800"/>
          </a:xfrm>
          <a:prstGeom prst="rect">
            <a:avLst/>
          </a:prstGeom>
          <a:noFill/>
        </p:spPr>
        <p:txBody>
          <a:bodyPr wrap="square" lIns="0" rIns="0" tIns="0" bIns="0" anchor="t">
            <a:spAutoFit/>
          </a:bodyPr>
          <a:lstStyle/>
          <a:p>
            <a:pPr algn="l">
              <a:lnSpc>
                <a:spcPct val="122000"/>
              </a:lnSpc>
              <a:spcAft>
                <a:spcPts val="600"/>
              </a:spcAft>
            </a:pPr>
            <a:r>
              <a:rPr sz="1400" b="0" i="0">
                <a:solidFill>
                  <a:srgbClr val="0F1A2E"/>
                </a:solidFill>
                <a:latin typeface="Calibri"/>
              </a:rPr>
              <a:t>The four comparison families are exactly like-for-like with the forest: same 13 endpoints, same features, same folds, same deduplicated rows. Any difference between them is attributable to the estimator alone, and that is what makes the comparison mean anything.</a:t>
            </a:r>
          </a:p>
        </p:txBody>
      </p:sp>
      <p:sp>
        <p:nvSpPr>
          <p:cNvPr id="58" name="Rounded Rectangle 57"/>
          <p:cNvSpPr/>
          <p:nvPr/>
        </p:nvSpPr>
        <p:spPr>
          <a:xfrm>
            <a:off x="566928" y="5074920"/>
            <a:ext cx="11057839" cy="8686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841247" y="5248656"/>
            <a:ext cx="10509199" cy="548640"/>
          </a:xfrm>
          <a:prstGeom prst="rect">
            <a:avLst/>
          </a:prstGeom>
          <a:noFill/>
        </p:spPr>
        <p:txBody>
          <a:bodyPr wrap="square" lIns="0" rIns="0" tIns="0" bIns="0" anchor="t">
            <a:spAutoFit/>
          </a:bodyPr>
          <a:lstStyle/>
          <a:p>
            <a:pPr algn="ctr">
              <a:lnSpc>
                <a:spcPct val="125000"/>
              </a:lnSpc>
              <a:spcAft>
                <a:spcPts val="600"/>
              </a:spcAft>
            </a:pPr>
            <a:r>
              <a:rPr sz="1400" b="1" i="0">
                <a:solidFill>
                  <a:srgbClr val="1F3A5F"/>
                </a:solidFill>
                <a:latin typeface="Calibri"/>
              </a:rPr>
              <a:t>Over all 13 endpoints the forest is NOT distinguishable from either booster (Wilcoxon p = 0.89258 vs HGB, p = 0.73535 vs XGBoost).
It is deployed for its calibration behaviour, not for its accuracy.</a:t>
            </a:r>
          </a:p>
        </p:txBody>
      </p:sp>
      <p:sp>
        <p:nvSpPr>
          <p:cNvPr id="60" name="TextBox 5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results/tables/model_family_significance.csv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18</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The two cross-validation schemes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Every core model is validated twice, and the gap between them is reported rather than averaged away</a:t>
            </a:r>
          </a:p>
        </p:txBody>
      </p:sp>
      <p:sp>
        <p:nvSpPr>
          <p:cNvPr id="5" name="Rounded Rectangle 4"/>
          <p:cNvSpPr/>
          <p:nvPr/>
        </p:nvSpPr>
        <p:spPr>
          <a:xfrm>
            <a:off x="566928" y="1691640"/>
            <a:ext cx="5307762" cy="1874519"/>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1874519"/>
            <a:ext cx="4795698" cy="292608"/>
          </a:xfrm>
          <a:prstGeom prst="rect">
            <a:avLst/>
          </a:prstGeom>
          <a:noFill/>
        </p:spPr>
        <p:txBody>
          <a:bodyPr wrap="square" lIns="0" rIns="0" tIns="0" bIns="0" anchor="t">
            <a:spAutoFit/>
          </a:bodyPr>
          <a:lstStyle/>
          <a:p>
            <a:pPr algn="l">
              <a:spcAft>
                <a:spcPts val="600"/>
              </a:spcAft>
            </a:pPr>
            <a:r>
              <a:rPr sz="1600" b="1" i="0">
                <a:solidFill>
                  <a:srgbClr val="1F3A5F"/>
                </a:solidFill>
                <a:latin typeface="Calibri"/>
              </a:rPr>
              <a:t>Random 10-fold</a:t>
            </a:r>
          </a:p>
        </p:txBody>
      </p:sp>
      <p:sp>
        <p:nvSpPr>
          <p:cNvPr id="7" name="TextBox 6"/>
          <p:cNvSpPr txBox="1"/>
          <p:nvPr/>
        </p:nvSpPr>
        <p:spPr>
          <a:xfrm>
            <a:off x="822960" y="2240280"/>
            <a:ext cx="4795698" cy="1234440"/>
          </a:xfrm>
          <a:prstGeom prst="rect">
            <a:avLst/>
          </a:prstGeom>
          <a:noFill/>
        </p:spPr>
        <p:txBody>
          <a:bodyPr wrap="square" lIns="0" rIns="0" tIns="0" bIns="0" anchor="t">
            <a:spAutoFit/>
          </a:bodyPr>
          <a:lstStyle/>
          <a:p>
            <a:pPr algn="l">
              <a:lnSpc>
                <a:spcPct val="120000"/>
              </a:lnSpc>
              <a:spcAft>
                <a:spcPts val="600"/>
              </a:spcAft>
            </a:pPr>
            <a:r>
              <a:rPr sz="1250" b="0" i="0">
                <a:solidFill>
                  <a:srgbClr val="0F1A2E"/>
                </a:solidFill>
                <a:latin typeface="Calibri"/>
              </a:rPr>
              <a:t>StratifiedKFold for classification, KFold for regression, shuffled with seed 42. Compounds are assigned at random, with the class ratio preserved in every fold.
This is the conventional estimate, and it is optimistic: congeneric analogues land on both sides.</a:t>
            </a:r>
          </a:p>
        </p:txBody>
      </p:sp>
      <p:sp>
        <p:nvSpPr>
          <p:cNvPr id="8" name="Rounded Rectangle 7"/>
          <p:cNvSpPr/>
          <p:nvPr/>
        </p:nvSpPr>
        <p:spPr>
          <a:xfrm>
            <a:off x="6317004" y="1691640"/>
            <a:ext cx="5307762" cy="1874519"/>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73036" y="1874519"/>
            <a:ext cx="4795698" cy="292608"/>
          </a:xfrm>
          <a:prstGeom prst="rect">
            <a:avLst/>
          </a:prstGeom>
          <a:noFill/>
        </p:spPr>
        <p:txBody>
          <a:bodyPr wrap="square" lIns="0" rIns="0" tIns="0" bIns="0" anchor="t">
            <a:spAutoFit/>
          </a:bodyPr>
          <a:lstStyle/>
          <a:p>
            <a:pPr algn="l">
              <a:spcAft>
                <a:spcPts val="600"/>
              </a:spcAft>
            </a:pPr>
            <a:r>
              <a:rPr sz="1600" b="1" i="0">
                <a:solidFill>
                  <a:srgbClr val="1C7293"/>
                </a:solidFill>
                <a:latin typeface="Calibri"/>
              </a:rPr>
              <a:t>Scaffold-grouped 10-fold</a:t>
            </a:r>
          </a:p>
        </p:txBody>
      </p:sp>
      <p:sp>
        <p:nvSpPr>
          <p:cNvPr id="10" name="TextBox 9"/>
          <p:cNvSpPr txBox="1"/>
          <p:nvPr/>
        </p:nvSpPr>
        <p:spPr>
          <a:xfrm>
            <a:off x="6573036" y="2240280"/>
            <a:ext cx="4795698" cy="1234440"/>
          </a:xfrm>
          <a:prstGeom prst="rect">
            <a:avLst/>
          </a:prstGeom>
          <a:noFill/>
        </p:spPr>
        <p:txBody>
          <a:bodyPr wrap="square" lIns="0" rIns="0" tIns="0" bIns="0" anchor="t">
            <a:spAutoFit/>
          </a:bodyPr>
          <a:lstStyle/>
          <a:p>
            <a:pPr algn="l">
              <a:lnSpc>
                <a:spcPct val="120000"/>
              </a:lnSpc>
              <a:spcAft>
                <a:spcPts val="600"/>
              </a:spcAft>
            </a:pPr>
            <a:r>
              <a:rPr sz="1250" b="0" i="0">
                <a:solidFill>
                  <a:srgbClr val="0F1A2E"/>
                </a:solidFill>
                <a:latin typeface="Calibri"/>
              </a:rPr>
              <a:t>GroupKFold on the Bemis-Murcko scaffold: ring systems and linkers, side chains stripped. Whole groups move together, so no scaffold appears in both train and test.
This measures generalisation to structurally new chemistry, which is the regime a user is actually in.</a:t>
            </a:r>
          </a:p>
        </p:txBody>
      </p:sp>
      <p:sp>
        <p:nvSpPr>
          <p:cNvPr id="11" name="TextBox 10"/>
          <p:cNvSpPr txBox="1"/>
          <p:nvPr/>
        </p:nvSpPr>
        <p:spPr>
          <a:xfrm>
            <a:off x="566928" y="3794760"/>
            <a:ext cx="11057839" cy="274320"/>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Two implementation subtleties that a careless version gets wrong</a:t>
            </a:r>
          </a:p>
        </p:txBody>
      </p:sp>
      <p:sp>
        <p:nvSpPr>
          <p:cNvPr id="12" name="TextBox 11"/>
          <p:cNvSpPr txBox="1"/>
          <p:nvPr/>
        </p:nvSpPr>
        <p:spPr>
          <a:xfrm>
            <a:off x="566928" y="4160520"/>
            <a:ext cx="11057839" cy="1965960"/>
          </a:xfrm>
          <a:prstGeom prst="rect">
            <a:avLst/>
          </a:prstGeom>
          <a:noFill/>
        </p:spPr>
        <p:txBody>
          <a:bodyPr wrap="square" lIns="0" rIns="0" tIns="0" bIns="0" anchor="t">
            <a:spAutoFit/>
          </a:bodyPr>
          <a:lstStyle/>
          <a:p>
            <a:pPr algn="l">
              <a:lnSpc>
                <a:spcPct val="122000"/>
              </a:lnSpc>
              <a:spcAft>
                <a:spcPts val="800"/>
              </a:spcAft>
            </a:pPr>
            <a:r>
              <a:rPr sz="1300" b="0" i="0">
                <a:solidFill>
                  <a:srgbClr val="0F1A2E"/>
                </a:solidFill>
                <a:latin typeface="Calibri"/>
              </a:rPr>
              <a:t>•   The scaffold is computed on the SAME desalted parent the featuriser uses, so a salt and its free base cannot land in different folds while being identical to the model.</a:t>
            </a:r>
          </a:p>
          <a:p>
            <a:pPr algn="l">
              <a:lnSpc>
                <a:spcPct val="122000"/>
              </a:lnSpc>
              <a:spcAft>
                <a:spcPts val="800"/>
              </a:spcAft>
            </a:pPr>
            <a:r>
              <a:rPr sz="1300" b="0" i="0">
                <a:solidFill>
                  <a:srgbClr val="D98324"/>
                </a:solidFill>
                <a:latin typeface="Calibri"/>
              </a:rPr>
              <a:t>•   Acyclic compounds share ONE group rather than each getting their own. Giving each its own, as an earlier version did, quietly turned the scaffold split back into a random split for that part of the set.</a:t>
            </a:r>
          </a:p>
          <a:p>
            <a:pPr algn="l">
              <a:lnSpc>
                <a:spcPct val="122000"/>
              </a:lnSpc>
              <a:spcAft>
                <a:spcPts val="800"/>
              </a:spcAft>
            </a:pPr>
            <a:r>
              <a:rPr sz="1300" b="0" i="0">
                <a:solidFill>
                  <a:srgbClr val="1C7293"/>
                </a:solidFill>
                <a:latin typeface="Calibri"/>
              </a:rPr>
              <a:t>•   Checked during the audit: re-running under ten different shuffled partitions moves BBB's pooled scaffold AUROC by 0.0029 in total. The headline does not depend on the partition.</a:t>
            </a:r>
          </a:p>
        </p:txBody>
      </p:sp>
      <p:sp>
        <p:nvSpPr>
          <p:cNvPr id="13" name="TextBox 12"/>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src/brainsafe/models/train_rf.py::_cv, _scaffold_groups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19</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was optimised, and what was not</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question most likely to be asked. Both halves of the answer must be given together</a:t>
            </a:r>
          </a:p>
        </p:txBody>
      </p:sp>
      <p:sp>
        <p:nvSpPr>
          <p:cNvPr id="5" name="Rounded Rectangle 4"/>
          <p:cNvSpPr/>
          <p:nvPr/>
        </p:nvSpPr>
        <p:spPr>
          <a:xfrm>
            <a:off x="566928" y="1645920"/>
            <a:ext cx="11057839" cy="8686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41247" y="1828800"/>
            <a:ext cx="10509199" cy="530352"/>
          </a:xfrm>
          <a:prstGeom prst="rect">
            <a:avLst/>
          </a:prstGeom>
          <a:noFill/>
        </p:spPr>
        <p:txBody>
          <a:bodyPr wrap="square" lIns="0" rIns="0" tIns="0" bIns="0" anchor="t">
            <a:spAutoFit/>
          </a:bodyPr>
          <a:lstStyle/>
          <a:p>
            <a:pPr algn="ctr">
              <a:lnSpc>
                <a:spcPct val="130000"/>
              </a:lnSpc>
              <a:spcAft>
                <a:spcPts val="600"/>
              </a:spcAft>
            </a:pPr>
            <a:r>
              <a:rPr sz="1500" b="1" i="0">
                <a:solidFill>
                  <a:srgbClr val="9E2A2B"/>
                </a:solidFill>
                <a:latin typeface="Calibri"/>
              </a:rPr>
              <a:t>No grid search, no randomised search, no Bayesian optimisation, no manual sweep.
No GridSearchCV, RandomizedSearchCV, optuna, hyperopt or param_grid anywhere in this repository.</a:t>
            </a:r>
          </a:p>
        </p:txBody>
      </p:sp>
      <p:sp>
        <p:nvSpPr>
          <p:cNvPr id="7" name="TextBox 6"/>
          <p:cNvSpPr txBox="1"/>
          <p:nvPr/>
        </p:nvSpPr>
        <p:spPr>
          <a:xfrm>
            <a:off x="566928" y="2697480"/>
            <a:ext cx="5307762" cy="274320"/>
          </a:xfrm>
          <a:prstGeom prst="rect">
            <a:avLst/>
          </a:prstGeom>
          <a:noFill/>
        </p:spPr>
        <p:txBody>
          <a:bodyPr wrap="square" lIns="0" rIns="0" tIns="0" bIns="0" anchor="t">
            <a:spAutoFit/>
          </a:bodyPr>
          <a:lstStyle/>
          <a:p>
            <a:pPr algn="l">
              <a:spcAft>
                <a:spcPts val="600"/>
              </a:spcAft>
            </a:pPr>
            <a:r>
              <a:rPr sz="1500" b="1" i="0">
                <a:solidFill>
                  <a:srgbClr val="D98324"/>
                </a:solidFill>
                <a:latin typeface="Calibri"/>
              </a:rPr>
              <a:t>What it costs</a:t>
            </a:r>
          </a:p>
        </p:txBody>
      </p:sp>
      <p:sp>
        <p:nvSpPr>
          <p:cNvPr id="8" name="TextBox 7"/>
          <p:cNvSpPr txBox="1"/>
          <p:nvPr/>
        </p:nvSpPr>
        <p:spPr>
          <a:xfrm>
            <a:off x="566928" y="3035808"/>
            <a:ext cx="5307762" cy="3090672"/>
          </a:xfrm>
          <a:prstGeom prst="rect">
            <a:avLst/>
          </a:prstGeom>
          <a:noFill/>
        </p:spPr>
        <p:txBody>
          <a:bodyPr wrap="square" lIns="0" rIns="0" tIns="0" bIns="0" anchor="t">
            <a:spAutoFit/>
          </a:bodyPr>
          <a:lstStyle/>
          <a:p>
            <a:pPr algn="l">
              <a:lnSpc>
                <a:spcPct val="122000"/>
              </a:lnSpc>
              <a:spcAft>
                <a:spcPts val="800"/>
              </a:spcAft>
            </a:pPr>
            <a:r>
              <a:rPr sz="1300" b="0" i="0">
                <a:solidFill>
                  <a:srgbClr val="0F1A2E"/>
                </a:solidFill>
                <a:latin typeface="Calibri"/>
              </a:rPr>
              <a:t>•   No claim of optimality is available.</a:t>
            </a:r>
          </a:p>
          <a:p>
            <a:pPr algn="l">
              <a:lnSpc>
                <a:spcPct val="122000"/>
              </a:lnSpc>
              <a:spcAft>
                <a:spcPts val="800"/>
              </a:spcAft>
            </a:pPr>
            <a:r>
              <a:rPr sz="1300" b="0" i="0">
                <a:solidFill>
                  <a:srgbClr val="0F1A2E"/>
                </a:solidFill>
                <a:latin typeface="Calibri"/>
              </a:rPr>
              <a:t>•   There is direct evidence performance was left on the table: an untuned XGBoost scores higher than the deployed forest on ALL FIVE regression endpoints.</a:t>
            </a:r>
          </a:p>
        </p:txBody>
      </p:sp>
      <p:sp>
        <p:nvSpPr>
          <p:cNvPr id="9" name="TextBox 8"/>
          <p:cNvSpPr txBox="1"/>
          <p:nvPr/>
        </p:nvSpPr>
        <p:spPr>
          <a:xfrm>
            <a:off x="6317004" y="2697480"/>
            <a:ext cx="5307762" cy="274320"/>
          </a:xfrm>
          <a:prstGeom prst="rect">
            <a:avLst/>
          </a:prstGeom>
          <a:noFill/>
        </p:spPr>
        <p:txBody>
          <a:bodyPr wrap="square" lIns="0" rIns="0" tIns="0" bIns="0" anchor="t">
            <a:spAutoFit/>
          </a:bodyPr>
          <a:lstStyle/>
          <a:p>
            <a:pPr algn="l">
              <a:spcAft>
                <a:spcPts val="600"/>
              </a:spcAft>
            </a:pPr>
            <a:r>
              <a:rPr sz="1500" b="1" i="0">
                <a:solidFill>
                  <a:srgbClr val="1C7293"/>
                </a:solidFill>
                <a:latin typeface="Calibri"/>
              </a:rPr>
              <a:t>What it buys</a:t>
            </a:r>
          </a:p>
        </p:txBody>
      </p:sp>
      <p:sp>
        <p:nvSpPr>
          <p:cNvPr id="10" name="TextBox 9"/>
          <p:cNvSpPr txBox="1"/>
          <p:nvPr/>
        </p:nvSpPr>
        <p:spPr>
          <a:xfrm>
            <a:off x="6317004" y="3035808"/>
            <a:ext cx="5307762" cy="3090672"/>
          </a:xfrm>
          <a:prstGeom prst="rect">
            <a:avLst/>
          </a:prstGeom>
          <a:noFill/>
        </p:spPr>
        <p:txBody>
          <a:bodyPr wrap="square" lIns="0" rIns="0" tIns="0" bIns="0" anchor="t">
            <a:spAutoFit/>
          </a:bodyPr>
          <a:lstStyle/>
          <a:p>
            <a:pPr algn="l">
              <a:lnSpc>
                <a:spcPct val="122000"/>
              </a:lnSpc>
              <a:spcAft>
                <a:spcPts val="800"/>
              </a:spcAft>
            </a:pPr>
            <a:r>
              <a:rPr sz="1300" b="0" i="0">
                <a:solidFill>
                  <a:srgbClr val="0F1A2E"/>
                </a:solidFill>
                <a:latin typeface="Calibri"/>
              </a:rPr>
              <a:t>•   There was no tuning set, therefore there can be no tuning-set leakage.</a:t>
            </a:r>
          </a:p>
          <a:p>
            <a:pPr algn="l">
              <a:lnSpc>
                <a:spcPct val="122000"/>
              </a:lnSpc>
              <a:spcAft>
                <a:spcPts val="800"/>
              </a:spcAft>
            </a:pPr>
            <a:r>
              <a:rPr sz="1300" b="0" i="0">
                <a:solidFill>
                  <a:srgbClr val="0F1A2E"/>
                </a:solidFill>
                <a:latin typeface="Calibri"/>
              </a:rPr>
              <a:t>•   Selecting hyperparameters on the same folds the final number is reported from is the commonest way a figure in this field is quietly inflated. This project is structurally immune to it.</a:t>
            </a:r>
          </a:p>
        </p:txBody>
      </p:sp>
      <p:sp>
        <p:nvSpPr>
          <p:cNvPr id="11" name="TextBox 10"/>
          <p:cNvSpPr txBox="1"/>
          <p:nvPr/>
        </p:nvSpPr>
        <p:spPr>
          <a:xfrm>
            <a:off x="566928" y="4434840"/>
            <a:ext cx="11057839" cy="274320"/>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Three different things the word “optimisation” refers to</a:t>
            </a:r>
          </a:p>
        </p:txBody>
      </p:sp>
      <p:sp>
        <p:nvSpPr>
          <p:cNvPr id="12" name="TextBox 11"/>
          <p:cNvSpPr txBox="1"/>
          <p:nvPr/>
        </p:nvSpPr>
        <p:spPr>
          <a:xfrm>
            <a:off x="566928" y="4773168"/>
            <a:ext cx="2599017" cy="237744"/>
          </a:xfrm>
          <a:prstGeom prst="rect">
            <a:avLst/>
          </a:prstGeom>
          <a:noFill/>
        </p:spPr>
        <p:txBody>
          <a:bodyPr wrap="square" lIns="0" rIns="0" tIns="0" bIns="0" anchor="t">
            <a:spAutoFit/>
          </a:bodyPr>
          <a:lstStyle/>
          <a:p>
            <a:pPr algn="l">
              <a:spcAft>
                <a:spcPts val="600"/>
              </a:spcAft>
            </a:pPr>
            <a:r>
              <a:rPr sz="1250" b="1" i="0">
                <a:solidFill>
                  <a:srgbClr val="1F3A5F"/>
                </a:solidFill>
                <a:latin typeface="Calibri"/>
              </a:rPr>
              <a:t>level</a:t>
            </a:r>
          </a:p>
        </p:txBody>
      </p:sp>
      <p:sp>
        <p:nvSpPr>
          <p:cNvPr id="13" name="TextBox 12"/>
          <p:cNvSpPr txBox="1"/>
          <p:nvPr/>
        </p:nvSpPr>
        <p:spPr>
          <a:xfrm>
            <a:off x="3220809" y="4773168"/>
            <a:ext cx="6137525" cy="237744"/>
          </a:xfrm>
          <a:prstGeom prst="rect">
            <a:avLst/>
          </a:prstGeom>
          <a:noFill/>
        </p:spPr>
        <p:txBody>
          <a:bodyPr wrap="square" lIns="0" rIns="0" tIns="0" bIns="0" anchor="t">
            <a:spAutoFit/>
          </a:bodyPr>
          <a:lstStyle/>
          <a:p>
            <a:pPr algn="l">
              <a:spcAft>
                <a:spcPts val="600"/>
              </a:spcAft>
            </a:pPr>
            <a:r>
              <a:rPr sz="1250" b="1" i="0">
                <a:solidFill>
                  <a:srgbClr val="1F3A5F"/>
                </a:solidFill>
                <a:latin typeface="Calibri"/>
              </a:rPr>
              <a:t>what happens</a:t>
            </a:r>
          </a:p>
        </p:txBody>
      </p:sp>
      <p:sp>
        <p:nvSpPr>
          <p:cNvPr id="14" name="TextBox 13"/>
          <p:cNvSpPr txBox="1"/>
          <p:nvPr/>
        </p:nvSpPr>
        <p:spPr>
          <a:xfrm>
            <a:off x="9413199" y="4773168"/>
            <a:ext cx="2156703" cy="237744"/>
          </a:xfrm>
          <a:prstGeom prst="rect">
            <a:avLst/>
          </a:prstGeom>
          <a:noFill/>
        </p:spPr>
        <p:txBody>
          <a:bodyPr wrap="square" lIns="0" rIns="0" tIns="0" bIns="0" anchor="t">
            <a:spAutoFit/>
          </a:bodyPr>
          <a:lstStyle/>
          <a:p>
            <a:pPr algn="l">
              <a:spcAft>
                <a:spcPts val="600"/>
              </a:spcAft>
            </a:pPr>
            <a:r>
              <a:rPr sz="1250" b="1" i="0">
                <a:solidFill>
                  <a:srgbClr val="1F3A5F"/>
                </a:solidFill>
                <a:latin typeface="Calibri"/>
              </a:rPr>
              <a:t>did it happen here?</a:t>
            </a:r>
          </a:p>
        </p:txBody>
      </p:sp>
      <p:sp>
        <p:nvSpPr>
          <p:cNvPr id="15" name="Rounded Rectangle 14"/>
          <p:cNvSpPr/>
          <p:nvPr/>
        </p:nvSpPr>
        <p:spPr>
          <a:xfrm>
            <a:off x="493776" y="5010912"/>
            <a:ext cx="11149279" cy="34747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66928" y="5047488"/>
            <a:ext cx="2599017"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1. Inside one tree</a:t>
            </a:r>
          </a:p>
        </p:txBody>
      </p:sp>
      <p:sp>
        <p:nvSpPr>
          <p:cNvPr id="17" name="TextBox 16"/>
          <p:cNvSpPr txBox="1"/>
          <p:nvPr/>
        </p:nvSpPr>
        <p:spPr>
          <a:xfrm>
            <a:off x="3220809" y="5047488"/>
            <a:ext cx="6137525"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greedy search over (feature, threshold) maximising impurity decrease</a:t>
            </a:r>
          </a:p>
        </p:txBody>
      </p:sp>
      <p:sp>
        <p:nvSpPr>
          <p:cNvPr id="18" name="TextBox 17"/>
          <p:cNvSpPr txBox="1"/>
          <p:nvPr/>
        </p:nvSpPr>
        <p:spPr>
          <a:xfrm>
            <a:off x="9413199" y="5047488"/>
            <a:ext cx="2156703" cy="310896"/>
          </a:xfrm>
          <a:prstGeom prst="rect">
            <a:avLst/>
          </a:prstGeom>
          <a:noFill/>
        </p:spPr>
        <p:txBody>
          <a:bodyPr wrap="square" lIns="0" rIns="0" tIns="0" bIns="0" anchor="t">
            <a:spAutoFit/>
          </a:bodyPr>
          <a:lstStyle/>
          <a:p>
            <a:pPr algn="l">
              <a:spcAft>
                <a:spcPts val="600"/>
              </a:spcAft>
            </a:pPr>
            <a:r>
              <a:rPr sz="1250" b="0" i="0">
                <a:solidFill>
                  <a:srgbClr val="1C7293"/>
                </a:solidFill>
                <a:latin typeface="Calibri"/>
              </a:rPr>
              <a:t>yes</a:t>
            </a:r>
          </a:p>
        </p:txBody>
      </p:sp>
      <p:sp>
        <p:nvSpPr>
          <p:cNvPr id="19" name="TextBox 18"/>
          <p:cNvSpPr txBox="1"/>
          <p:nvPr/>
        </p:nvSpPr>
        <p:spPr>
          <a:xfrm>
            <a:off x="566928" y="5394959"/>
            <a:ext cx="2599017"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2. Fitting the ensemble</a:t>
            </a:r>
          </a:p>
        </p:txBody>
      </p:sp>
      <p:sp>
        <p:nvSpPr>
          <p:cNvPr id="20" name="TextBox 19"/>
          <p:cNvSpPr txBox="1"/>
          <p:nvPr/>
        </p:nvSpPr>
        <p:spPr>
          <a:xfrm>
            <a:off x="3220809" y="5394959"/>
            <a:ext cx="6137525"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boosting descends an objective; the GIN runs Adam; the forest has no global objective</a:t>
            </a:r>
          </a:p>
        </p:txBody>
      </p:sp>
      <p:sp>
        <p:nvSpPr>
          <p:cNvPr id="21" name="TextBox 20"/>
          <p:cNvSpPr txBox="1"/>
          <p:nvPr/>
        </p:nvSpPr>
        <p:spPr>
          <a:xfrm>
            <a:off x="9413199" y="5394959"/>
            <a:ext cx="2156703" cy="310896"/>
          </a:xfrm>
          <a:prstGeom prst="rect">
            <a:avLst/>
          </a:prstGeom>
          <a:noFill/>
        </p:spPr>
        <p:txBody>
          <a:bodyPr wrap="square" lIns="0" rIns="0" tIns="0" bIns="0" anchor="t">
            <a:spAutoFit/>
          </a:bodyPr>
          <a:lstStyle/>
          <a:p>
            <a:pPr algn="l">
              <a:spcAft>
                <a:spcPts val="600"/>
              </a:spcAft>
            </a:pPr>
            <a:r>
              <a:rPr sz="1250" b="0" i="0">
                <a:solidFill>
                  <a:srgbClr val="1C7293"/>
                </a:solidFill>
                <a:latin typeface="Calibri"/>
              </a:rPr>
              <a:t>yes</a:t>
            </a:r>
          </a:p>
        </p:txBody>
      </p:sp>
      <p:sp>
        <p:nvSpPr>
          <p:cNvPr id="22" name="Rounded Rectangle 21"/>
          <p:cNvSpPr/>
          <p:nvPr/>
        </p:nvSpPr>
        <p:spPr>
          <a:xfrm>
            <a:off x="493776" y="5705855"/>
            <a:ext cx="11149279" cy="34747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66928" y="5742431"/>
            <a:ext cx="2599017"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3. Choosing hyperparameters</a:t>
            </a:r>
          </a:p>
        </p:txBody>
      </p:sp>
      <p:sp>
        <p:nvSpPr>
          <p:cNvPr id="24" name="TextBox 23"/>
          <p:cNvSpPr txBox="1"/>
          <p:nvPr/>
        </p:nvSpPr>
        <p:spPr>
          <a:xfrm>
            <a:off x="3220809" y="5742431"/>
            <a:ext cx="6137525"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searching over settings and keeping the best</a:t>
            </a:r>
          </a:p>
        </p:txBody>
      </p:sp>
      <p:sp>
        <p:nvSpPr>
          <p:cNvPr id="25" name="TextBox 24"/>
          <p:cNvSpPr txBox="1"/>
          <p:nvPr/>
        </p:nvSpPr>
        <p:spPr>
          <a:xfrm>
            <a:off x="9413199" y="5742431"/>
            <a:ext cx="2156703" cy="310896"/>
          </a:xfrm>
          <a:prstGeom prst="rect">
            <a:avLst/>
          </a:prstGeom>
          <a:noFill/>
        </p:spPr>
        <p:txBody>
          <a:bodyPr wrap="square" lIns="0" rIns="0" tIns="0" bIns="0" anchor="t">
            <a:spAutoFit/>
          </a:bodyPr>
          <a:lstStyle/>
          <a:p>
            <a:pPr algn="l">
              <a:spcAft>
                <a:spcPts val="600"/>
              </a:spcAft>
            </a:pPr>
            <a:r>
              <a:rPr sz="1250" b="1" i="0">
                <a:solidFill>
                  <a:srgbClr val="9E2A2B"/>
                </a:solidFill>
                <a:latin typeface="Calibri"/>
              </a:rPr>
              <a:t>NO</a:t>
            </a:r>
          </a:p>
        </p:txBody>
      </p:sp>
      <p:sp>
        <p:nvSpPr>
          <p:cNvPr id="26" name="TextBox 25"/>
          <p:cNvSpPr txBox="1"/>
          <p:nvPr/>
        </p:nvSpPr>
        <p:spPr>
          <a:xfrm>
            <a:off x="566928" y="5989320"/>
            <a:ext cx="11057839" cy="320040"/>
          </a:xfrm>
          <a:prstGeom prst="rect">
            <a:avLst/>
          </a:prstGeom>
          <a:noFill/>
        </p:spPr>
        <p:txBody>
          <a:bodyPr wrap="square" lIns="0" rIns="0" tIns="0" bIns="0" anchor="t">
            <a:spAutoFit/>
          </a:bodyPr>
          <a:lstStyle/>
          <a:p>
            <a:pPr algn="ctr">
              <a:spcAft>
                <a:spcPts val="600"/>
              </a:spcAft>
            </a:pPr>
            <a:r>
              <a:rPr sz="1300" b="0" i="1">
                <a:solidFill>
                  <a:srgbClr val="5F6B7A"/>
                </a:solidFill>
                <a:latin typeface="Calibri"/>
              </a:rPr>
              <a:t>Most published “we optimised our model” claims refer to level 3. Here only levels 1 and 2 occurred.</a:t>
            </a:r>
          </a:p>
        </p:txBody>
      </p:sp>
      <p:sp>
        <p:nvSpPr>
          <p:cNvPr id="27" name="TextBox 26"/>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verified by search across the whole live tree, 7 September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20</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Making the probability mean what it says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 forest's output is a vote share across 300 trees, and vote shares are systematically miscalibrated</a:t>
            </a:r>
          </a:p>
        </p:txBody>
      </p:sp>
      <p:sp>
        <p:nvSpPr>
          <p:cNvPr id="5" name="Rounded Rectangle 4"/>
          <p:cNvSpPr/>
          <p:nvPr/>
        </p:nvSpPr>
        <p:spPr>
          <a:xfrm>
            <a:off x="566928" y="1664208"/>
            <a:ext cx="11057839" cy="84124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847088"/>
            <a:ext cx="11057839" cy="731520"/>
          </a:xfrm>
          <a:prstGeom prst="rect">
            <a:avLst/>
          </a:prstGeom>
          <a:noFill/>
        </p:spPr>
        <p:txBody>
          <a:bodyPr wrap="square" lIns="0" rIns="0" tIns="0" bIns="0">
            <a:spAutoFit/>
          </a:bodyPr>
          <a:lstStyle/>
          <a:p>
            <a:pPr algn="ctr"/>
            <a:r>
              <a:rPr b="1" sz="2000">
                <a:solidFill>
                  <a:srgbClr val="1F3A5F"/>
                </a:solidFill>
                <a:latin typeface="Cambria"/>
              </a:rPr>
              <a:t>ECE  =  Σ</a:t>
            </a:r>
            <a:r>
              <a:rPr b="1" sz="1439" baseline="-25000">
                <a:solidFill>
                  <a:srgbClr val="1F3A5F"/>
                </a:solidFill>
                <a:latin typeface="Cambria"/>
              </a:rPr>
              <a:t>m</a:t>
            </a:r>
            <a:r>
              <a:rPr b="1" sz="2000">
                <a:solidFill>
                  <a:srgbClr val="1F3A5F"/>
                </a:solidFill>
                <a:latin typeface="Cambria"/>
              </a:rPr>
              <a:t> ( |B</a:t>
            </a:r>
            <a:r>
              <a:rPr b="1" sz="1439" baseline="-25000">
                <a:solidFill>
                  <a:srgbClr val="1F3A5F"/>
                </a:solidFill>
                <a:latin typeface="Cambria"/>
              </a:rPr>
              <a:t>m</a:t>
            </a:r>
            <a:r>
              <a:rPr b="1" sz="2000">
                <a:solidFill>
                  <a:srgbClr val="1F3A5F"/>
                </a:solidFill>
                <a:latin typeface="Cambria"/>
              </a:rPr>
              <a:t>| / n ) · | confidence(B</a:t>
            </a:r>
            <a:r>
              <a:rPr b="1" sz="1439" baseline="-25000">
                <a:solidFill>
                  <a:srgbClr val="1F3A5F"/>
                </a:solidFill>
                <a:latin typeface="Cambria"/>
              </a:rPr>
              <a:t>m</a:t>
            </a:r>
            <a:r>
              <a:rPr b="1" sz="2000">
                <a:solidFill>
                  <a:srgbClr val="1F3A5F"/>
                </a:solidFill>
                <a:latin typeface="Cambria"/>
              </a:rPr>
              <a:t>) − accuracy(B</a:t>
            </a:r>
            <a:r>
              <a:rPr b="1" sz="1439" baseline="-25000">
                <a:solidFill>
                  <a:srgbClr val="1F3A5F"/>
                </a:solidFill>
                <a:latin typeface="Cambria"/>
              </a:rPr>
              <a:t>m</a:t>
            </a:r>
            <a:r>
              <a:rPr b="1" sz="2000">
                <a:solidFill>
                  <a:srgbClr val="1F3A5F"/>
                </a:solidFill>
                <a:latin typeface="Cambria"/>
              </a:rPr>
              <a:t>) |</a:t>
            </a:r>
          </a:p>
        </p:txBody>
      </p:sp>
      <p:sp>
        <p:nvSpPr>
          <p:cNvPr id="7" name="TextBox 6"/>
          <p:cNvSpPr txBox="1"/>
          <p:nvPr/>
        </p:nvSpPr>
        <p:spPr>
          <a:xfrm>
            <a:off x="566928" y="2743200"/>
            <a:ext cx="2377440" cy="603504"/>
          </a:xfrm>
          <a:prstGeom prst="rect">
            <a:avLst/>
          </a:prstGeom>
          <a:noFill/>
        </p:spPr>
        <p:txBody>
          <a:bodyPr wrap="square" lIns="0" rIns="0" tIns="0" bIns="0" anchor="t">
            <a:spAutoFit/>
          </a:bodyPr>
          <a:lstStyle/>
          <a:p>
            <a:pPr algn="l">
              <a:spcAft>
                <a:spcPts val="600"/>
              </a:spcAft>
            </a:pPr>
            <a:r>
              <a:rPr sz="3256" b="1" i="0">
                <a:solidFill>
                  <a:srgbClr val="D98324"/>
                </a:solidFill>
                <a:latin typeface="Cambria"/>
              </a:rPr>
              <a:t>0.0801</a:t>
            </a:r>
          </a:p>
        </p:txBody>
      </p:sp>
      <p:sp>
        <p:nvSpPr>
          <p:cNvPr id="8" name="TextBox 7"/>
          <p:cNvSpPr txBox="1"/>
          <p:nvPr/>
        </p:nvSpPr>
        <p:spPr>
          <a:xfrm>
            <a:off x="566928" y="3383280"/>
            <a:ext cx="237744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mean ECE before calibration
(8 core classifiers)</a:t>
            </a:r>
          </a:p>
        </p:txBody>
      </p:sp>
      <p:sp>
        <p:nvSpPr>
          <p:cNvPr id="9" name="TextBox 8"/>
          <p:cNvSpPr txBox="1"/>
          <p:nvPr/>
        </p:nvSpPr>
        <p:spPr>
          <a:xfrm>
            <a:off x="3081528" y="2880360"/>
            <a:ext cx="640080" cy="457200"/>
          </a:xfrm>
          <a:prstGeom prst="rect">
            <a:avLst/>
          </a:prstGeom>
          <a:noFill/>
        </p:spPr>
        <p:txBody>
          <a:bodyPr wrap="square" lIns="0" rIns="0" tIns="0" bIns="0" anchor="t">
            <a:spAutoFit/>
          </a:bodyPr>
          <a:lstStyle/>
          <a:p>
            <a:pPr algn="l">
              <a:spcAft>
                <a:spcPts val="600"/>
              </a:spcAft>
            </a:pPr>
            <a:r>
              <a:rPr sz="3400" b="1" i="0">
                <a:solidFill>
                  <a:srgbClr val="1C7293"/>
                </a:solidFill>
                <a:latin typeface="Calibri"/>
              </a:rPr>
              <a:t>→</a:t>
            </a:r>
          </a:p>
        </p:txBody>
      </p:sp>
      <p:sp>
        <p:nvSpPr>
          <p:cNvPr id="10" name="TextBox 9"/>
          <p:cNvSpPr txBox="1"/>
          <p:nvPr/>
        </p:nvSpPr>
        <p:spPr>
          <a:xfrm>
            <a:off x="3813048" y="2743200"/>
            <a:ext cx="2377440" cy="603504"/>
          </a:xfrm>
          <a:prstGeom prst="rect">
            <a:avLst/>
          </a:prstGeom>
          <a:noFill/>
        </p:spPr>
        <p:txBody>
          <a:bodyPr wrap="square" lIns="0" rIns="0" tIns="0" bIns="0" anchor="t">
            <a:spAutoFit/>
          </a:bodyPr>
          <a:lstStyle/>
          <a:p>
            <a:pPr algn="l">
              <a:spcAft>
                <a:spcPts val="600"/>
              </a:spcAft>
            </a:pPr>
            <a:r>
              <a:rPr sz="3256" b="1" i="0">
                <a:solidFill>
                  <a:srgbClr val="1C7293"/>
                </a:solidFill>
                <a:latin typeface="Cambria"/>
              </a:rPr>
              <a:t>0.0147</a:t>
            </a:r>
          </a:p>
        </p:txBody>
      </p:sp>
      <p:sp>
        <p:nvSpPr>
          <p:cNvPr id="11" name="TextBox 10"/>
          <p:cNvSpPr txBox="1"/>
          <p:nvPr/>
        </p:nvSpPr>
        <p:spPr>
          <a:xfrm>
            <a:off x="3813048" y="3383280"/>
            <a:ext cx="237744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after isotonic calibration</a:t>
            </a:r>
          </a:p>
        </p:txBody>
      </p:sp>
      <p:sp>
        <p:nvSpPr>
          <p:cNvPr id="12" name="TextBox 11"/>
          <p:cNvSpPr txBox="1"/>
          <p:nvPr/>
        </p:nvSpPr>
        <p:spPr>
          <a:xfrm>
            <a:off x="6601968" y="2743200"/>
            <a:ext cx="5022799" cy="274320"/>
          </a:xfrm>
          <a:prstGeom prst="rect">
            <a:avLst/>
          </a:prstGeom>
          <a:noFill/>
        </p:spPr>
        <p:txBody>
          <a:bodyPr wrap="square" lIns="0" rIns="0" tIns="0" bIns="0" anchor="t">
            <a:spAutoFit/>
          </a:bodyPr>
          <a:lstStyle/>
          <a:p>
            <a:pPr algn="l">
              <a:spcAft>
                <a:spcPts val="600"/>
              </a:spcAft>
            </a:pPr>
            <a:r>
              <a:rPr sz="1400" b="1" i="0">
                <a:solidFill>
                  <a:srgbClr val="1F3A5F"/>
                </a:solidFill>
                <a:latin typeface="Calibri"/>
              </a:rPr>
              <a:t>Isotonic regression, solved by PAVA</a:t>
            </a:r>
          </a:p>
        </p:txBody>
      </p:sp>
      <p:sp>
        <p:nvSpPr>
          <p:cNvPr id="13" name="TextBox 12"/>
          <p:cNvSpPr txBox="1"/>
          <p:nvPr/>
        </p:nvSpPr>
        <p:spPr>
          <a:xfrm>
            <a:off x="6601968" y="3072384"/>
            <a:ext cx="5022799" cy="3054096"/>
          </a:xfrm>
          <a:prstGeom prst="rect">
            <a:avLst/>
          </a:prstGeom>
          <a:noFill/>
        </p:spPr>
        <p:txBody>
          <a:bodyPr wrap="square" lIns="0" rIns="0" tIns="0" bIns="0" anchor="t">
            <a:spAutoFit/>
          </a:bodyPr>
          <a:lstStyle/>
          <a:p>
            <a:pPr algn="l">
              <a:lnSpc>
                <a:spcPct val="122000"/>
              </a:lnSpc>
              <a:spcAft>
                <a:spcPts val="700"/>
              </a:spcAft>
            </a:pPr>
            <a:r>
              <a:rPr sz="1250" b="0" i="0">
                <a:solidFill>
                  <a:srgbClr val="0F1A2E"/>
                </a:solidFill>
                <a:latin typeface="Calibri"/>
              </a:rPr>
              <a:t>•   Fit a non-decreasing step function g minimising Σ(yᵢ − g(p̂ᵢ))², solved exactly by pool-adjacent-violators in O(n).</a:t>
            </a:r>
          </a:p>
          <a:p>
            <a:pPr algn="l">
              <a:lnSpc>
                <a:spcPct val="122000"/>
              </a:lnSpc>
              <a:spcAft>
                <a:spcPts val="700"/>
              </a:spcAft>
            </a:pPr>
            <a:r>
              <a:rPr sz="1250" b="0" i="0">
                <a:solidFill>
                  <a:srgbClr val="1C7293"/>
                </a:solidFill>
                <a:latin typeface="Calibri"/>
              </a:rPr>
              <a:t>•   Because g is monotone, calibration CANNOT change the ranking. AUROC is unchanged; only what the number means changes.</a:t>
            </a:r>
          </a:p>
          <a:p>
            <a:pPr algn="l">
              <a:lnSpc>
                <a:spcPct val="122000"/>
              </a:lnSpc>
              <a:spcAft>
                <a:spcPts val="700"/>
              </a:spcAft>
            </a:pPr>
            <a:r>
              <a:rPr sz="1250" b="0" i="0">
                <a:solidFill>
                  <a:srgbClr val="0F1A2E"/>
                </a:solidFill>
                <a:latin typeface="Calibri"/>
              </a:rPr>
              <a:t>•   Non-parametric, so it corrects an arbitrary distortion, unlike Platt scaling which assumes a sigmoid.</a:t>
            </a:r>
          </a:p>
        </p:txBody>
      </p:sp>
      <p:sp>
        <p:nvSpPr>
          <p:cNvPr id="14" name="TextBox 13"/>
          <p:cNvSpPr txBox="1"/>
          <p:nvPr/>
        </p:nvSpPr>
        <p:spPr>
          <a:xfrm>
            <a:off x="566928" y="4526280"/>
            <a:ext cx="11057839" cy="1600199"/>
          </a:xfrm>
          <a:prstGeom prst="rect">
            <a:avLst/>
          </a:prstGeom>
          <a:noFill/>
        </p:spPr>
        <p:txBody>
          <a:bodyPr wrap="square" lIns="0" rIns="0" tIns="0" bIns="0" anchor="t">
            <a:spAutoFit/>
          </a:bodyPr>
          <a:lstStyle/>
          <a:p>
            <a:pPr algn="l">
              <a:lnSpc>
                <a:spcPct val="122000"/>
              </a:lnSpc>
              <a:spcAft>
                <a:spcPts val="800"/>
              </a:spcAft>
            </a:pPr>
            <a:r>
              <a:rPr sz="1300" b="0" i="0">
                <a:solidFill>
                  <a:srgbClr val="0F1A2E"/>
                </a:solidFill>
                <a:latin typeface="Calibri"/>
              </a:rPr>
              <a:t>•   Fitted on OUT-OF-FOLD predictions under an inner 5-fold, so nothing is calibrated and scored on the same rows.</a:t>
            </a:r>
          </a:p>
          <a:p>
            <a:pPr algn="l">
              <a:lnSpc>
                <a:spcPct val="122000"/>
              </a:lnSpc>
              <a:spcAft>
                <a:spcPts val="800"/>
              </a:spcAft>
            </a:pPr>
            <a:r>
              <a:rPr sz="1300" b="0" i="0">
                <a:solidFill>
                  <a:srgbClr val="1C7293"/>
                </a:solidFill>
                <a:latin typeface="Calibri"/>
              </a:rPr>
              <a:t>•   Checked during the audit: under a scaffold split the calibrated ECE is 0.0169 rather than 0.0151, so the choice of split costs about 0.0018 and the claim survives.</a:t>
            </a:r>
          </a:p>
          <a:p>
            <a:pPr algn="l">
              <a:lnSpc>
                <a:spcPct val="122000"/>
              </a:lnSpc>
              <a:spcAft>
                <a:spcPts val="800"/>
              </a:spcAft>
            </a:pPr>
            <a:r>
              <a:rPr sz="1300" b="0" i="0">
                <a:solidFill>
                  <a:srgbClr val="0F1A2E"/>
                </a:solidFill>
                <a:latin typeface="Calibri"/>
              </a:rPr>
              <a:t>•   The binder panel uses Platt scaling instead, because its calibration sets are smaller and isotonic overfits on small samples.</a:t>
            </a:r>
          </a:p>
        </p:txBody>
      </p:sp>
      <p:sp>
        <p:nvSpPr>
          <p:cNvPr id="15" name="TextBox 14"/>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results/tables/calibration.csv; src/brainsafe/models/calibrate.py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21</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400" b="1" i="0">
                <a:solidFill>
                  <a:srgbClr val="0F1A2E"/>
                </a:solidFill>
                <a:latin typeface="Cambria"/>
              </a:rPr>
              <a:t>Base rates: why a calibrated probability still cannot be read alone</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0.5 is strong evidence of activity in a rare endpoint and evidence of INACTIVITY in a common one</a:t>
            </a:r>
          </a:p>
        </p:txBody>
      </p:sp>
      <p:sp>
        <p:nvSpPr>
          <p:cNvPr id="5" name="TextBox 4"/>
          <p:cNvSpPr txBox="1"/>
          <p:nvPr/>
        </p:nvSpPr>
        <p:spPr>
          <a:xfrm>
            <a:off x="566928" y="1645920"/>
            <a:ext cx="11057839" cy="320040"/>
          </a:xfrm>
          <a:prstGeom prst="rect">
            <a:avLst/>
          </a:prstGeom>
          <a:noFill/>
        </p:spPr>
        <p:txBody>
          <a:bodyPr wrap="square" lIns="0" rIns="0" tIns="0" bIns="0" anchor="t">
            <a:spAutoFit/>
          </a:bodyPr>
          <a:lstStyle/>
          <a:p>
            <a:pPr algn="ctr">
              <a:spcAft>
                <a:spcPts val="600"/>
              </a:spcAft>
            </a:pPr>
            <a:r>
              <a:rPr sz="1500" b="1" i="0">
                <a:solidFill>
                  <a:srgbClr val="D98324"/>
                </a:solidFill>
                <a:latin typeface="Calibri"/>
              </a:rPr>
              <a:t>hERG is 23.9% positive. BACE1 is 86.5% positive. The same 0.5 means opposite things.</a:t>
            </a:r>
          </a:p>
        </p:txBody>
      </p:sp>
      <p:sp>
        <p:nvSpPr>
          <p:cNvPr id="6" name="Rounded Rectangle 5"/>
          <p:cNvSpPr/>
          <p:nvPr/>
        </p:nvSpPr>
        <p:spPr>
          <a:xfrm>
            <a:off x="2029968" y="2103120"/>
            <a:ext cx="8131759" cy="13258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029968" y="2304288"/>
            <a:ext cx="8131759" cy="731520"/>
          </a:xfrm>
          <a:prstGeom prst="rect">
            <a:avLst/>
          </a:prstGeom>
          <a:noFill/>
        </p:spPr>
        <p:txBody>
          <a:bodyPr wrap="square" lIns="0" rIns="0" tIns="0" bIns="0">
            <a:spAutoFit/>
          </a:bodyPr>
          <a:lstStyle/>
          <a:p>
            <a:pPr algn="ctr"/>
            <a:r>
              <a:rPr b="1" sz="1900">
                <a:solidFill>
                  <a:srgbClr val="1F3A5F"/>
                </a:solidFill>
                <a:latin typeface="Cambria"/>
              </a:rPr>
              <a:t>E</a:t>
            </a:r>
            <a:r>
              <a:rPr b="1" sz="1368" baseline="-25000">
                <a:solidFill>
                  <a:srgbClr val="1F3A5F"/>
                </a:solidFill>
                <a:latin typeface="Cambria"/>
              </a:rPr>
              <a:t>b</a:t>
            </a:r>
            <a:r>
              <a:rPr b="1" sz="1900">
                <a:solidFill>
                  <a:srgbClr val="1F3A5F"/>
                </a:solidFill>
                <a:latin typeface="Cambria"/>
              </a:rPr>
              <a:t>(p)  =  (p − b) / (1 − b)      if  p ≥ b</a:t>
            </a:r>
          </a:p>
        </p:txBody>
      </p:sp>
      <p:sp>
        <p:nvSpPr>
          <p:cNvPr id="8" name="TextBox 7"/>
          <p:cNvSpPr txBox="1"/>
          <p:nvPr/>
        </p:nvSpPr>
        <p:spPr>
          <a:xfrm>
            <a:off x="2029968" y="2834640"/>
            <a:ext cx="8131759" cy="731520"/>
          </a:xfrm>
          <a:prstGeom prst="rect">
            <a:avLst/>
          </a:prstGeom>
          <a:noFill/>
        </p:spPr>
        <p:txBody>
          <a:bodyPr wrap="square" lIns="0" rIns="0" tIns="0" bIns="0">
            <a:spAutoFit/>
          </a:bodyPr>
          <a:lstStyle/>
          <a:p>
            <a:pPr algn="ctr"/>
            <a:r>
              <a:rPr b="1" sz="1900">
                <a:solidFill>
                  <a:srgbClr val="1F3A5F"/>
                </a:solidFill>
                <a:latin typeface="Cambria"/>
              </a:rPr>
              <a:t>E</a:t>
            </a:r>
            <a:r>
              <a:rPr b="1" sz="1368" baseline="-25000">
                <a:solidFill>
                  <a:srgbClr val="1F3A5F"/>
                </a:solidFill>
                <a:latin typeface="Cambria"/>
              </a:rPr>
              <a:t>b</a:t>
            </a:r>
            <a:r>
              <a:rPr b="1" sz="1900">
                <a:solidFill>
                  <a:srgbClr val="1F3A5F"/>
                </a:solidFill>
                <a:latin typeface="Cambria"/>
              </a:rPr>
              <a:t>(p)  =  (p − b) / b               if  p &lt; b</a:t>
            </a:r>
          </a:p>
        </p:txBody>
      </p:sp>
      <p:sp>
        <p:nvSpPr>
          <p:cNvPr id="9" name="TextBox 8"/>
          <p:cNvSpPr txBox="1"/>
          <p:nvPr/>
        </p:nvSpPr>
        <p:spPr>
          <a:xfrm>
            <a:off x="566928" y="3657600"/>
            <a:ext cx="11057839" cy="2468880"/>
          </a:xfrm>
          <a:prstGeom prst="rect">
            <a:avLst/>
          </a:prstGeom>
          <a:noFill/>
        </p:spPr>
        <p:txBody>
          <a:bodyPr wrap="square" lIns="0" rIns="0" tIns="0" bIns="0" anchor="t">
            <a:spAutoFit/>
          </a:bodyPr>
          <a:lstStyle/>
          <a:p>
            <a:pPr algn="l">
              <a:lnSpc>
                <a:spcPct val="122000"/>
              </a:lnSpc>
              <a:spcAft>
                <a:spcPts val="900"/>
              </a:spcAft>
            </a:pPr>
            <a:r>
              <a:rPr sz="1350" b="0" i="0">
                <a:solidFill>
                  <a:srgbClr val="0F1A2E"/>
                </a:solidFill>
                <a:latin typeface="Calibri"/>
              </a:rPr>
              <a:t>•   Piecewise linear with a kink at p = b, continuous there since both branches give 0.</a:t>
            </a:r>
          </a:p>
          <a:p>
            <a:pPr algn="l">
              <a:lnSpc>
                <a:spcPct val="122000"/>
              </a:lnSpc>
              <a:spcAft>
                <a:spcPts val="900"/>
              </a:spcAft>
            </a:pPr>
            <a:r>
              <a:rPr sz="1350" b="0" i="0">
                <a:solidFill>
                  <a:srgbClr val="0F1A2E"/>
                </a:solidFill>
                <a:latin typeface="Calibri"/>
              </a:rPr>
              <a:t>•   Maps E(1) = +1, E(0) = −1, so it is a signed measure of evidence in [−1, +1].</a:t>
            </a:r>
          </a:p>
          <a:p>
            <a:pPr algn="l">
              <a:lnSpc>
                <a:spcPct val="122000"/>
              </a:lnSpc>
              <a:spcAft>
                <a:spcPts val="900"/>
              </a:spcAft>
            </a:pPr>
            <a:r>
              <a:rPr sz="1350" b="0" i="0">
                <a:solidFill>
                  <a:srgbClr val="1C7293"/>
                </a:solidFill>
                <a:latin typeface="Calibri"/>
              </a:rPr>
              <a:t>•   STRICTLY INCREASING in p. This is the key property: it cannot reorder compounds within an endpoint, so it changes interpretation without changing ranking. The rank-invariance is proved in the thesis and verified in the falsification suite.</a:t>
            </a:r>
          </a:p>
          <a:p>
            <a:pPr algn="l">
              <a:lnSpc>
                <a:spcPct val="122000"/>
              </a:lnSpc>
              <a:spcAft>
                <a:spcPts val="900"/>
              </a:spcAft>
            </a:pPr>
            <a:r>
              <a:rPr sz="1350" b="0" i="0">
                <a:solidFill>
                  <a:srgbClr val="0F1A2E"/>
                </a:solidFill>
                <a:latin typeface="Calibri"/>
              </a:rPr>
              <a:t>•   The same reasoning drives the disease layer: score = max over targets of (weight × signal), multiplied by predicted barrier penetration. Because the barrier term multiplies every gated disease identically, it cannot change their relative order; it decides whether anything is reported at all.</a:t>
            </a:r>
          </a:p>
        </p:txBody>
      </p:sp>
      <p:sp>
        <p:nvSpPr>
          <p:cNvPr id="10" name="TextBox 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app.py::enrichment, disease_scores; inversion/results/H3_gating.csv</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22</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400" b="1" i="0">
                <a:solidFill>
                  <a:srgbClr val="0F1A2E"/>
                </a:solidFill>
                <a:latin typeface="Cambria"/>
              </a:rPr>
              <a:t>Conformal prediction: from a probability to a guaranteed set</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Inductive Mondrian conformal at ε = 0.10, class-conditional so the guarantee is not met on the majority class alone</a:t>
            </a:r>
          </a:p>
        </p:txBody>
      </p:sp>
      <p:sp>
        <p:nvSpPr>
          <p:cNvPr id="5" name="TextBox 4"/>
          <p:cNvSpPr txBox="1"/>
          <p:nvPr/>
        </p:nvSpPr>
        <p:spPr>
          <a:xfrm>
            <a:off x="566928" y="1627632"/>
            <a:ext cx="5750076" cy="274320"/>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The construction</a:t>
            </a:r>
          </a:p>
        </p:txBody>
      </p:sp>
      <p:sp>
        <p:nvSpPr>
          <p:cNvPr id="6" name="Oval 5"/>
          <p:cNvSpPr/>
          <p:nvPr/>
        </p:nvSpPr>
        <p:spPr>
          <a:xfrm>
            <a:off x="566928" y="1956816"/>
            <a:ext cx="274320" cy="2743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7" name="TextBox 6"/>
          <p:cNvSpPr txBox="1"/>
          <p:nvPr/>
        </p:nvSpPr>
        <p:spPr>
          <a:xfrm>
            <a:off x="969264" y="1938528"/>
            <a:ext cx="5292876" cy="502920"/>
          </a:xfrm>
          <a:prstGeom prst="rect">
            <a:avLst/>
          </a:prstGeom>
          <a:noFill/>
        </p:spPr>
        <p:txBody>
          <a:bodyPr wrap="square" lIns="0" rIns="0" tIns="0" bIns="0" anchor="t">
            <a:spAutoFit/>
          </a:bodyPr>
          <a:lstStyle/>
          <a:p>
            <a:pPr algn="l">
              <a:lnSpc>
                <a:spcPct val="118000"/>
              </a:lnSpc>
              <a:spcAft>
                <a:spcPts val="600"/>
              </a:spcAft>
            </a:pPr>
            <a:r>
              <a:rPr sz="1250" b="0" i="0">
                <a:solidFill>
                  <a:srgbClr val="0F1A2E"/>
                </a:solidFill>
                <a:latin typeface="Calibri"/>
              </a:rPr>
              <a:t>Split into training, calibration and test.</a:t>
            </a:r>
          </a:p>
        </p:txBody>
      </p:sp>
      <p:sp>
        <p:nvSpPr>
          <p:cNvPr id="8" name="Oval 7"/>
          <p:cNvSpPr/>
          <p:nvPr/>
        </p:nvSpPr>
        <p:spPr>
          <a:xfrm>
            <a:off x="566928" y="2523744"/>
            <a:ext cx="274320" cy="2743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9" name="TextBox 8"/>
          <p:cNvSpPr txBox="1"/>
          <p:nvPr/>
        </p:nvSpPr>
        <p:spPr>
          <a:xfrm>
            <a:off x="969264" y="2505456"/>
            <a:ext cx="5292876" cy="502920"/>
          </a:xfrm>
          <a:prstGeom prst="rect">
            <a:avLst/>
          </a:prstGeom>
          <a:noFill/>
        </p:spPr>
        <p:txBody>
          <a:bodyPr wrap="square" lIns="0" rIns="0" tIns="0" bIns="0" anchor="t">
            <a:spAutoFit/>
          </a:bodyPr>
          <a:lstStyle/>
          <a:p>
            <a:pPr algn="l">
              <a:lnSpc>
                <a:spcPct val="118000"/>
              </a:lnSpc>
              <a:spcAft>
                <a:spcPts val="600"/>
              </a:spcAft>
            </a:pPr>
            <a:r>
              <a:rPr sz="1250" b="0" i="0">
                <a:solidFill>
                  <a:srgbClr val="0F1A2E"/>
                </a:solidFill>
                <a:latin typeface="Calibri"/>
              </a:rPr>
              <a:t>Nonconformity of a calibration compound: αᵢ = 1 − p̂(true class).</a:t>
            </a:r>
          </a:p>
        </p:txBody>
      </p:sp>
      <p:sp>
        <p:nvSpPr>
          <p:cNvPr id="10" name="Oval 9"/>
          <p:cNvSpPr/>
          <p:nvPr/>
        </p:nvSpPr>
        <p:spPr>
          <a:xfrm>
            <a:off x="566928" y="3090672"/>
            <a:ext cx="274320" cy="2743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1" name="TextBox 10"/>
          <p:cNvSpPr txBox="1"/>
          <p:nvPr/>
        </p:nvSpPr>
        <p:spPr>
          <a:xfrm>
            <a:off x="969264" y="3072384"/>
            <a:ext cx="5292876" cy="502920"/>
          </a:xfrm>
          <a:prstGeom prst="rect">
            <a:avLst/>
          </a:prstGeom>
          <a:noFill/>
        </p:spPr>
        <p:txBody>
          <a:bodyPr wrap="square" lIns="0" rIns="0" tIns="0" bIns="0" anchor="t">
            <a:spAutoFit/>
          </a:bodyPr>
          <a:lstStyle/>
          <a:p>
            <a:pPr algn="l">
              <a:lnSpc>
                <a:spcPct val="118000"/>
              </a:lnSpc>
              <a:spcAft>
                <a:spcPts val="600"/>
              </a:spcAft>
            </a:pPr>
            <a:r>
              <a:rPr sz="1250" b="0" i="0">
                <a:solidFill>
                  <a:srgbClr val="0F1A2E"/>
                </a:solidFill>
                <a:latin typeface="Calibri"/>
              </a:rPr>
              <a:t>Per class c, take the threshold at rank k = ⌈(n_c + 1)(1 − ε)⌉ of the sorted α.</a:t>
            </a:r>
          </a:p>
        </p:txBody>
      </p:sp>
      <p:sp>
        <p:nvSpPr>
          <p:cNvPr id="12" name="Oval 11"/>
          <p:cNvSpPr/>
          <p:nvPr/>
        </p:nvSpPr>
        <p:spPr>
          <a:xfrm>
            <a:off x="566928" y="3657600"/>
            <a:ext cx="274320" cy="27432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3" name="TextBox 12"/>
          <p:cNvSpPr txBox="1"/>
          <p:nvPr/>
        </p:nvSpPr>
        <p:spPr>
          <a:xfrm>
            <a:off x="969264" y="3639312"/>
            <a:ext cx="5292876" cy="502920"/>
          </a:xfrm>
          <a:prstGeom prst="rect">
            <a:avLst/>
          </a:prstGeom>
          <a:noFill/>
        </p:spPr>
        <p:txBody>
          <a:bodyPr wrap="square" lIns="0" rIns="0" tIns="0" bIns="0" anchor="t">
            <a:spAutoFit/>
          </a:bodyPr>
          <a:lstStyle/>
          <a:p>
            <a:pPr algn="l">
              <a:lnSpc>
                <a:spcPct val="118000"/>
              </a:lnSpc>
              <a:spcAft>
                <a:spcPts val="600"/>
              </a:spcAft>
            </a:pPr>
            <a:r>
              <a:rPr sz="1250" b="0" i="0">
                <a:solidFill>
                  <a:srgbClr val="0F1A2E"/>
                </a:solidFill>
                <a:latin typeface="Calibri"/>
              </a:rPr>
              <a:t>The prediction set holds every class whose nonconformity is below its threshold.</a:t>
            </a:r>
          </a:p>
        </p:txBody>
      </p:sp>
      <p:sp>
        <p:nvSpPr>
          <p:cNvPr id="14" name="Rounded Rectangle 13"/>
          <p:cNvSpPr/>
          <p:nvPr/>
        </p:nvSpPr>
        <p:spPr>
          <a:xfrm>
            <a:off x="566928" y="4315968"/>
            <a:ext cx="5612916" cy="71323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49808" y="4462272"/>
            <a:ext cx="5247156" cy="457200"/>
          </a:xfrm>
          <a:prstGeom prst="rect">
            <a:avLst/>
          </a:prstGeom>
          <a:noFill/>
        </p:spPr>
        <p:txBody>
          <a:bodyPr wrap="square" lIns="0" rIns="0" tIns="0" bIns="0" anchor="t">
            <a:spAutoFit/>
          </a:bodyPr>
          <a:lstStyle/>
          <a:p>
            <a:pPr algn="ctr">
              <a:lnSpc>
                <a:spcPct val="125000"/>
              </a:lnSpc>
              <a:spcAft>
                <a:spcPts val="600"/>
              </a:spcAft>
            </a:pPr>
            <a:r>
              <a:rPr sz="1350" b="1" i="0">
                <a:solidFill>
                  <a:srgbClr val="1F3A5F"/>
                </a:solidFill>
                <a:latin typeface="Calibri"/>
              </a:rPr>
              <a:t>P( y ∈ Γ(x) )  ≥  1 − ε
holds under EXCHANGEABILITY of calibration and test</a:t>
            </a:r>
          </a:p>
        </p:txBody>
      </p:sp>
      <p:sp>
        <p:nvSpPr>
          <p:cNvPr id="16" name="TextBox 15"/>
          <p:cNvSpPr txBox="1"/>
          <p:nvPr/>
        </p:nvSpPr>
        <p:spPr>
          <a:xfrm>
            <a:off x="6648739" y="1627632"/>
            <a:ext cx="4976027" cy="274320"/>
          </a:xfrm>
          <a:prstGeom prst="rect">
            <a:avLst/>
          </a:prstGeom>
          <a:noFill/>
        </p:spPr>
        <p:txBody>
          <a:bodyPr wrap="square" lIns="0" rIns="0" tIns="0" bIns="0" anchor="t">
            <a:spAutoFit/>
          </a:bodyPr>
          <a:lstStyle/>
          <a:p>
            <a:pPr algn="l">
              <a:spcAft>
                <a:spcPts val="600"/>
              </a:spcAft>
            </a:pPr>
            <a:r>
              <a:rPr sz="1500" b="1" i="0">
                <a:solidFill>
                  <a:srgbClr val="1F3A5F"/>
                </a:solidFill>
                <a:latin typeface="Calibri"/>
              </a:rPr>
              <a:t>Reading the set size</a:t>
            </a:r>
          </a:p>
        </p:txBody>
      </p:sp>
      <p:sp>
        <p:nvSpPr>
          <p:cNvPr id="17" name="Rounded Rectangle 16"/>
          <p:cNvSpPr/>
          <p:nvPr/>
        </p:nvSpPr>
        <p:spPr>
          <a:xfrm>
            <a:off x="6648739" y="1938528"/>
            <a:ext cx="4976027"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785899" y="2066543"/>
            <a:ext cx="4701707" cy="329184"/>
          </a:xfrm>
          <a:prstGeom prst="rect">
            <a:avLst/>
          </a:prstGeom>
          <a:noFill/>
        </p:spPr>
        <p:txBody>
          <a:bodyPr wrap="square" lIns="0" rIns="0" tIns="0" bIns="0" anchor="t">
            <a:spAutoFit/>
          </a:bodyPr>
          <a:lstStyle/>
          <a:p>
            <a:pPr algn="ctr">
              <a:spcAft>
                <a:spcPts val="600"/>
              </a:spcAft>
            </a:pPr>
            <a:r>
              <a:rPr sz="1500" b="1" i="0">
                <a:solidFill>
                  <a:srgbClr val="1F3A5F"/>
                </a:solidFill>
                <a:latin typeface="Calibri"/>
              </a:rPr>
              <a:t>E[ |Γ| ]  =  1  +  P(ambiguous)  −  P(empty)</a:t>
            </a:r>
          </a:p>
        </p:txBody>
      </p:sp>
      <p:sp>
        <p:nvSpPr>
          <p:cNvPr id="19" name="TextBox 18"/>
          <p:cNvSpPr txBox="1"/>
          <p:nvPr/>
        </p:nvSpPr>
        <p:spPr>
          <a:xfrm>
            <a:off x="6648739" y="2670048"/>
            <a:ext cx="1039862" cy="237744"/>
          </a:xfrm>
          <a:prstGeom prst="rect">
            <a:avLst/>
          </a:prstGeom>
          <a:noFill/>
        </p:spPr>
        <p:txBody>
          <a:bodyPr wrap="square" lIns="0" rIns="0" tIns="0" bIns="0" anchor="t">
            <a:spAutoFit/>
          </a:bodyPr>
          <a:lstStyle/>
          <a:p>
            <a:pPr algn="l">
              <a:spcAft>
                <a:spcPts val="600"/>
              </a:spcAft>
            </a:pPr>
            <a:r>
              <a:rPr sz="1100" b="1" i="0">
                <a:solidFill>
                  <a:srgbClr val="1F3A5F"/>
                </a:solidFill>
                <a:latin typeface="Calibri"/>
              </a:rPr>
              <a:t>endpoint</a:t>
            </a:r>
          </a:p>
        </p:txBody>
      </p:sp>
      <p:sp>
        <p:nvSpPr>
          <p:cNvPr id="20" name="TextBox 19"/>
          <p:cNvSpPr txBox="1"/>
          <p:nvPr/>
        </p:nvSpPr>
        <p:spPr>
          <a:xfrm>
            <a:off x="7743465" y="2670048"/>
            <a:ext cx="940341" cy="237744"/>
          </a:xfrm>
          <a:prstGeom prst="rect">
            <a:avLst/>
          </a:prstGeom>
          <a:noFill/>
        </p:spPr>
        <p:txBody>
          <a:bodyPr wrap="square" lIns="0" rIns="0" tIns="0" bIns="0" anchor="t">
            <a:spAutoFit/>
          </a:bodyPr>
          <a:lstStyle/>
          <a:p>
            <a:pPr algn="l">
              <a:spcAft>
                <a:spcPts val="600"/>
              </a:spcAft>
            </a:pPr>
            <a:r>
              <a:rPr sz="1100" b="1" i="0">
                <a:solidFill>
                  <a:srgbClr val="1F3A5F"/>
                </a:solidFill>
                <a:latin typeface="Calibri"/>
              </a:rPr>
              <a:t>coverage</a:t>
            </a:r>
          </a:p>
        </p:txBody>
      </p:sp>
      <p:sp>
        <p:nvSpPr>
          <p:cNvPr id="21" name="TextBox 20"/>
          <p:cNvSpPr txBox="1"/>
          <p:nvPr/>
        </p:nvSpPr>
        <p:spPr>
          <a:xfrm>
            <a:off x="8738671" y="2670048"/>
            <a:ext cx="890581" cy="237744"/>
          </a:xfrm>
          <a:prstGeom prst="rect">
            <a:avLst/>
          </a:prstGeom>
          <a:noFill/>
        </p:spPr>
        <p:txBody>
          <a:bodyPr wrap="square" lIns="0" rIns="0" tIns="0" bIns="0" anchor="t">
            <a:spAutoFit/>
          </a:bodyPr>
          <a:lstStyle/>
          <a:p>
            <a:pPr algn="l">
              <a:spcAft>
                <a:spcPts val="600"/>
              </a:spcAft>
            </a:pPr>
            <a:r>
              <a:rPr sz="1100" b="1" i="0">
                <a:solidFill>
                  <a:srgbClr val="1F3A5F"/>
                </a:solidFill>
                <a:latin typeface="Calibri"/>
              </a:rPr>
              <a:t>set size</a:t>
            </a:r>
          </a:p>
        </p:txBody>
      </p:sp>
      <p:sp>
        <p:nvSpPr>
          <p:cNvPr id="22" name="TextBox 21"/>
          <p:cNvSpPr txBox="1"/>
          <p:nvPr/>
        </p:nvSpPr>
        <p:spPr>
          <a:xfrm>
            <a:off x="9684116" y="2670048"/>
            <a:ext cx="890581" cy="237744"/>
          </a:xfrm>
          <a:prstGeom prst="rect">
            <a:avLst/>
          </a:prstGeom>
          <a:noFill/>
        </p:spPr>
        <p:txBody>
          <a:bodyPr wrap="square" lIns="0" rIns="0" tIns="0" bIns="0" anchor="t">
            <a:spAutoFit/>
          </a:bodyPr>
          <a:lstStyle/>
          <a:p>
            <a:pPr algn="l">
              <a:spcAft>
                <a:spcPts val="600"/>
              </a:spcAft>
            </a:pPr>
            <a:r>
              <a:rPr sz="1100" b="1" i="0">
                <a:solidFill>
                  <a:srgbClr val="1F3A5F"/>
                </a:solidFill>
                <a:latin typeface="Calibri"/>
              </a:rPr>
              <a:t>ambig.</a:t>
            </a:r>
          </a:p>
        </p:txBody>
      </p:sp>
      <p:sp>
        <p:nvSpPr>
          <p:cNvPr id="23" name="TextBox 22"/>
          <p:cNvSpPr txBox="1"/>
          <p:nvPr/>
        </p:nvSpPr>
        <p:spPr>
          <a:xfrm>
            <a:off x="10629561" y="2670048"/>
            <a:ext cx="940341" cy="237744"/>
          </a:xfrm>
          <a:prstGeom prst="rect">
            <a:avLst/>
          </a:prstGeom>
          <a:noFill/>
        </p:spPr>
        <p:txBody>
          <a:bodyPr wrap="square" lIns="0" rIns="0" tIns="0" bIns="0" anchor="t">
            <a:spAutoFit/>
          </a:bodyPr>
          <a:lstStyle/>
          <a:p>
            <a:pPr algn="l">
              <a:spcAft>
                <a:spcPts val="600"/>
              </a:spcAft>
            </a:pPr>
            <a:r>
              <a:rPr sz="1100" b="1" i="0">
                <a:solidFill>
                  <a:srgbClr val="1F3A5F"/>
                </a:solidFill>
                <a:latin typeface="Calibri"/>
              </a:rPr>
              <a:t>ambig. scaffold</a:t>
            </a:r>
          </a:p>
        </p:txBody>
      </p:sp>
      <p:sp>
        <p:nvSpPr>
          <p:cNvPr id="24" name="Rounded Rectangle 23"/>
          <p:cNvSpPr/>
          <p:nvPr/>
        </p:nvSpPr>
        <p:spPr>
          <a:xfrm>
            <a:off x="6575587" y="2907791"/>
            <a:ext cx="5067467" cy="24688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648739" y="2944368"/>
            <a:ext cx="1039862"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BBB</a:t>
            </a:r>
          </a:p>
        </p:txBody>
      </p:sp>
      <p:sp>
        <p:nvSpPr>
          <p:cNvPr id="26" name="TextBox 25"/>
          <p:cNvSpPr txBox="1"/>
          <p:nvPr/>
        </p:nvSpPr>
        <p:spPr>
          <a:xfrm>
            <a:off x="7743465" y="2944368"/>
            <a:ext cx="94034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0.896</a:t>
            </a:r>
          </a:p>
        </p:txBody>
      </p:sp>
      <p:sp>
        <p:nvSpPr>
          <p:cNvPr id="27" name="TextBox 26"/>
          <p:cNvSpPr txBox="1"/>
          <p:nvPr/>
        </p:nvSpPr>
        <p:spPr>
          <a:xfrm>
            <a:off x="8738671" y="2944368"/>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1.215</a:t>
            </a:r>
          </a:p>
        </p:txBody>
      </p:sp>
      <p:sp>
        <p:nvSpPr>
          <p:cNvPr id="28" name="TextBox 27"/>
          <p:cNvSpPr txBox="1"/>
          <p:nvPr/>
        </p:nvSpPr>
        <p:spPr>
          <a:xfrm>
            <a:off x="9684116" y="2944368"/>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21.5%</a:t>
            </a:r>
          </a:p>
        </p:txBody>
      </p:sp>
      <p:sp>
        <p:nvSpPr>
          <p:cNvPr id="29" name="TextBox 28"/>
          <p:cNvSpPr txBox="1"/>
          <p:nvPr/>
        </p:nvSpPr>
        <p:spPr>
          <a:xfrm>
            <a:off x="10629561" y="2944368"/>
            <a:ext cx="940341" cy="210312"/>
          </a:xfrm>
          <a:prstGeom prst="rect">
            <a:avLst/>
          </a:prstGeom>
          <a:noFill/>
        </p:spPr>
        <p:txBody>
          <a:bodyPr wrap="square" lIns="0" rIns="0" tIns="0" bIns="0" anchor="t">
            <a:spAutoFit/>
          </a:bodyPr>
          <a:lstStyle/>
          <a:p>
            <a:pPr algn="l">
              <a:spcAft>
                <a:spcPts val="600"/>
              </a:spcAft>
            </a:pPr>
            <a:r>
              <a:rPr sz="1100" b="0" i="0">
                <a:solidFill>
                  <a:srgbClr val="D98324"/>
                </a:solidFill>
                <a:latin typeface="Calibri"/>
              </a:rPr>
              <a:t>27.0%</a:t>
            </a:r>
          </a:p>
        </p:txBody>
      </p:sp>
      <p:sp>
        <p:nvSpPr>
          <p:cNvPr id="30" name="TextBox 29"/>
          <p:cNvSpPr txBox="1"/>
          <p:nvPr/>
        </p:nvSpPr>
        <p:spPr>
          <a:xfrm>
            <a:off x="6648739" y="3191256"/>
            <a:ext cx="1039862"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AChE</a:t>
            </a:r>
          </a:p>
        </p:txBody>
      </p:sp>
      <p:sp>
        <p:nvSpPr>
          <p:cNvPr id="31" name="TextBox 30"/>
          <p:cNvSpPr txBox="1"/>
          <p:nvPr/>
        </p:nvSpPr>
        <p:spPr>
          <a:xfrm>
            <a:off x="7743465" y="3191256"/>
            <a:ext cx="94034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0.933</a:t>
            </a:r>
          </a:p>
        </p:txBody>
      </p:sp>
      <p:sp>
        <p:nvSpPr>
          <p:cNvPr id="32" name="TextBox 31"/>
          <p:cNvSpPr txBox="1"/>
          <p:nvPr/>
        </p:nvSpPr>
        <p:spPr>
          <a:xfrm>
            <a:off x="8738671" y="3191256"/>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1.045</a:t>
            </a:r>
          </a:p>
        </p:txBody>
      </p:sp>
      <p:sp>
        <p:nvSpPr>
          <p:cNvPr id="33" name="TextBox 32"/>
          <p:cNvSpPr txBox="1"/>
          <p:nvPr/>
        </p:nvSpPr>
        <p:spPr>
          <a:xfrm>
            <a:off x="9684116" y="3191256"/>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4.5%</a:t>
            </a:r>
          </a:p>
        </p:txBody>
      </p:sp>
      <p:sp>
        <p:nvSpPr>
          <p:cNvPr id="34" name="TextBox 33"/>
          <p:cNvSpPr txBox="1"/>
          <p:nvPr/>
        </p:nvSpPr>
        <p:spPr>
          <a:xfrm>
            <a:off x="10629561" y="3191256"/>
            <a:ext cx="940341" cy="210312"/>
          </a:xfrm>
          <a:prstGeom prst="rect">
            <a:avLst/>
          </a:prstGeom>
          <a:noFill/>
        </p:spPr>
        <p:txBody>
          <a:bodyPr wrap="square" lIns="0" rIns="0" tIns="0" bIns="0" anchor="t">
            <a:spAutoFit/>
          </a:bodyPr>
          <a:lstStyle/>
          <a:p>
            <a:pPr algn="l">
              <a:spcAft>
                <a:spcPts val="600"/>
              </a:spcAft>
            </a:pPr>
            <a:r>
              <a:rPr sz="1100" b="0" i="0">
                <a:solidFill>
                  <a:srgbClr val="D98324"/>
                </a:solidFill>
                <a:latin typeface="Calibri"/>
              </a:rPr>
              <a:t>19.0%</a:t>
            </a:r>
          </a:p>
        </p:txBody>
      </p:sp>
      <p:sp>
        <p:nvSpPr>
          <p:cNvPr id="35" name="Rounded Rectangle 34"/>
          <p:cNvSpPr/>
          <p:nvPr/>
        </p:nvSpPr>
        <p:spPr>
          <a:xfrm>
            <a:off x="6575587" y="3401568"/>
            <a:ext cx="5067467" cy="24688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648739" y="3438144"/>
            <a:ext cx="1039862"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BChE</a:t>
            </a:r>
          </a:p>
        </p:txBody>
      </p:sp>
      <p:sp>
        <p:nvSpPr>
          <p:cNvPr id="37" name="TextBox 36"/>
          <p:cNvSpPr txBox="1"/>
          <p:nvPr/>
        </p:nvSpPr>
        <p:spPr>
          <a:xfrm>
            <a:off x="7743465" y="3438144"/>
            <a:ext cx="94034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0.905</a:t>
            </a:r>
          </a:p>
        </p:txBody>
      </p:sp>
      <p:sp>
        <p:nvSpPr>
          <p:cNvPr id="38" name="TextBox 37"/>
          <p:cNvSpPr txBox="1"/>
          <p:nvPr/>
        </p:nvSpPr>
        <p:spPr>
          <a:xfrm>
            <a:off x="8738671" y="3438144"/>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1.017</a:t>
            </a:r>
          </a:p>
        </p:txBody>
      </p:sp>
      <p:sp>
        <p:nvSpPr>
          <p:cNvPr id="39" name="TextBox 38"/>
          <p:cNvSpPr txBox="1"/>
          <p:nvPr/>
        </p:nvSpPr>
        <p:spPr>
          <a:xfrm>
            <a:off x="9684116" y="3438144"/>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1.7%</a:t>
            </a:r>
          </a:p>
        </p:txBody>
      </p:sp>
      <p:sp>
        <p:nvSpPr>
          <p:cNvPr id="40" name="TextBox 39"/>
          <p:cNvSpPr txBox="1"/>
          <p:nvPr/>
        </p:nvSpPr>
        <p:spPr>
          <a:xfrm>
            <a:off x="10629561" y="3438144"/>
            <a:ext cx="940341" cy="210312"/>
          </a:xfrm>
          <a:prstGeom prst="rect">
            <a:avLst/>
          </a:prstGeom>
          <a:noFill/>
        </p:spPr>
        <p:txBody>
          <a:bodyPr wrap="square" lIns="0" rIns="0" tIns="0" bIns="0" anchor="t">
            <a:spAutoFit/>
          </a:bodyPr>
          <a:lstStyle/>
          <a:p>
            <a:pPr algn="l">
              <a:spcAft>
                <a:spcPts val="600"/>
              </a:spcAft>
            </a:pPr>
            <a:r>
              <a:rPr sz="1100" b="0" i="0">
                <a:solidFill>
                  <a:srgbClr val="D98324"/>
                </a:solidFill>
                <a:latin typeface="Calibri"/>
              </a:rPr>
              <a:t>4.3%</a:t>
            </a:r>
          </a:p>
        </p:txBody>
      </p:sp>
      <p:sp>
        <p:nvSpPr>
          <p:cNvPr id="41" name="TextBox 40"/>
          <p:cNvSpPr txBox="1"/>
          <p:nvPr/>
        </p:nvSpPr>
        <p:spPr>
          <a:xfrm>
            <a:off x="6648739" y="3685031"/>
            <a:ext cx="1039862"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BACE1</a:t>
            </a:r>
          </a:p>
        </p:txBody>
      </p:sp>
      <p:sp>
        <p:nvSpPr>
          <p:cNvPr id="42" name="TextBox 41"/>
          <p:cNvSpPr txBox="1"/>
          <p:nvPr/>
        </p:nvSpPr>
        <p:spPr>
          <a:xfrm>
            <a:off x="7743465" y="3685031"/>
            <a:ext cx="94034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0.887</a:t>
            </a:r>
          </a:p>
        </p:txBody>
      </p:sp>
      <p:sp>
        <p:nvSpPr>
          <p:cNvPr id="43" name="TextBox 42"/>
          <p:cNvSpPr txBox="1"/>
          <p:nvPr/>
        </p:nvSpPr>
        <p:spPr>
          <a:xfrm>
            <a:off x="8738671" y="3685031"/>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0.956</a:t>
            </a:r>
          </a:p>
        </p:txBody>
      </p:sp>
      <p:sp>
        <p:nvSpPr>
          <p:cNvPr id="44" name="TextBox 43"/>
          <p:cNvSpPr txBox="1"/>
          <p:nvPr/>
        </p:nvSpPr>
        <p:spPr>
          <a:xfrm>
            <a:off x="9684116" y="3685031"/>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0.0%</a:t>
            </a:r>
          </a:p>
        </p:txBody>
      </p:sp>
      <p:sp>
        <p:nvSpPr>
          <p:cNvPr id="45" name="TextBox 44"/>
          <p:cNvSpPr txBox="1"/>
          <p:nvPr/>
        </p:nvSpPr>
        <p:spPr>
          <a:xfrm>
            <a:off x="10629561" y="3685031"/>
            <a:ext cx="940341" cy="210312"/>
          </a:xfrm>
          <a:prstGeom prst="rect">
            <a:avLst/>
          </a:prstGeom>
          <a:noFill/>
        </p:spPr>
        <p:txBody>
          <a:bodyPr wrap="square" lIns="0" rIns="0" tIns="0" bIns="0" anchor="t">
            <a:spAutoFit/>
          </a:bodyPr>
          <a:lstStyle/>
          <a:p>
            <a:pPr algn="l">
              <a:spcAft>
                <a:spcPts val="600"/>
              </a:spcAft>
            </a:pPr>
            <a:r>
              <a:rPr sz="1100" b="0" i="0">
                <a:solidFill>
                  <a:srgbClr val="D98324"/>
                </a:solidFill>
                <a:latin typeface="Calibri"/>
              </a:rPr>
              <a:t>0.0%</a:t>
            </a:r>
          </a:p>
        </p:txBody>
      </p:sp>
      <p:sp>
        <p:nvSpPr>
          <p:cNvPr id="46" name="Rounded Rectangle 45"/>
          <p:cNvSpPr/>
          <p:nvPr/>
        </p:nvSpPr>
        <p:spPr>
          <a:xfrm>
            <a:off x="6575587" y="3895343"/>
            <a:ext cx="5067467" cy="24688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648739" y="3931919"/>
            <a:ext cx="1039862"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GSK3B</a:t>
            </a:r>
          </a:p>
        </p:txBody>
      </p:sp>
      <p:sp>
        <p:nvSpPr>
          <p:cNvPr id="48" name="TextBox 47"/>
          <p:cNvSpPr txBox="1"/>
          <p:nvPr/>
        </p:nvSpPr>
        <p:spPr>
          <a:xfrm>
            <a:off x="7743465" y="3931919"/>
            <a:ext cx="94034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0.876</a:t>
            </a:r>
          </a:p>
        </p:txBody>
      </p:sp>
      <p:sp>
        <p:nvSpPr>
          <p:cNvPr id="49" name="TextBox 48"/>
          <p:cNvSpPr txBox="1"/>
          <p:nvPr/>
        </p:nvSpPr>
        <p:spPr>
          <a:xfrm>
            <a:off x="8738671" y="3931919"/>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0.991</a:t>
            </a:r>
          </a:p>
        </p:txBody>
      </p:sp>
      <p:sp>
        <p:nvSpPr>
          <p:cNvPr id="50" name="TextBox 49"/>
          <p:cNvSpPr txBox="1"/>
          <p:nvPr/>
        </p:nvSpPr>
        <p:spPr>
          <a:xfrm>
            <a:off x="9684116" y="3931919"/>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0.0%</a:t>
            </a:r>
          </a:p>
        </p:txBody>
      </p:sp>
      <p:sp>
        <p:nvSpPr>
          <p:cNvPr id="51" name="TextBox 50"/>
          <p:cNvSpPr txBox="1"/>
          <p:nvPr/>
        </p:nvSpPr>
        <p:spPr>
          <a:xfrm>
            <a:off x="10629561" y="3931919"/>
            <a:ext cx="940341" cy="210312"/>
          </a:xfrm>
          <a:prstGeom prst="rect">
            <a:avLst/>
          </a:prstGeom>
          <a:noFill/>
        </p:spPr>
        <p:txBody>
          <a:bodyPr wrap="square" lIns="0" rIns="0" tIns="0" bIns="0" anchor="t">
            <a:spAutoFit/>
          </a:bodyPr>
          <a:lstStyle/>
          <a:p>
            <a:pPr algn="l">
              <a:spcAft>
                <a:spcPts val="600"/>
              </a:spcAft>
            </a:pPr>
            <a:r>
              <a:rPr sz="1100" b="0" i="0">
                <a:solidFill>
                  <a:srgbClr val="D98324"/>
                </a:solidFill>
                <a:latin typeface="Calibri"/>
              </a:rPr>
              <a:t>9.5%</a:t>
            </a:r>
          </a:p>
        </p:txBody>
      </p:sp>
      <p:sp>
        <p:nvSpPr>
          <p:cNvPr id="52" name="TextBox 51"/>
          <p:cNvSpPr txBox="1"/>
          <p:nvPr/>
        </p:nvSpPr>
        <p:spPr>
          <a:xfrm>
            <a:off x="6648739" y="4178807"/>
            <a:ext cx="1039862"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MAO_A</a:t>
            </a:r>
          </a:p>
        </p:txBody>
      </p:sp>
      <p:sp>
        <p:nvSpPr>
          <p:cNvPr id="53" name="TextBox 52"/>
          <p:cNvSpPr txBox="1"/>
          <p:nvPr/>
        </p:nvSpPr>
        <p:spPr>
          <a:xfrm>
            <a:off x="7743465" y="4178807"/>
            <a:ext cx="94034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0.888</a:t>
            </a:r>
          </a:p>
        </p:txBody>
      </p:sp>
      <p:sp>
        <p:nvSpPr>
          <p:cNvPr id="54" name="TextBox 53"/>
          <p:cNvSpPr txBox="1"/>
          <p:nvPr/>
        </p:nvSpPr>
        <p:spPr>
          <a:xfrm>
            <a:off x="8738671" y="4178807"/>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1.006</a:t>
            </a:r>
          </a:p>
        </p:txBody>
      </p:sp>
      <p:sp>
        <p:nvSpPr>
          <p:cNvPr id="55" name="TextBox 54"/>
          <p:cNvSpPr txBox="1"/>
          <p:nvPr/>
        </p:nvSpPr>
        <p:spPr>
          <a:xfrm>
            <a:off x="9684116" y="4178807"/>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0.6%</a:t>
            </a:r>
          </a:p>
        </p:txBody>
      </p:sp>
      <p:sp>
        <p:nvSpPr>
          <p:cNvPr id="56" name="TextBox 55"/>
          <p:cNvSpPr txBox="1"/>
          <p:nvPr/>
        </p:nvSpPr>
        <p:spPr>
          <a:xfrm>
            <a:off x="10629561" y="4178807"/>
            <a:ext cx="940341" cy="210312"/>
          </a:xfrm>
          <a:prstGeom prst="rect">
            <a:avLst/>
          </a:prstGeom>
          <a:noFill/>
        </p:spPr>
        <p:txBody>
          <a:bodyPr wrap="square" lIns="0" rIns="0" tIns="0" bIns="0" anchor="t">
            <a:spAutoFit/>
          </a:bodyPr>
          <a:lstStyle/>
          <a:p>
            <a:pPr algn="l">
              <a:spcAft>
                <a:spcPts val="600"/>
              </a:spcAft>
            </a:pPr>
            <a:r>
              <a:rPr sz="1100" b="0" i="0">
                <a:solidFill>
                  <a:srgbClr val="D98324"/>
                </a:solidFill>
                <a:latin typeface="Calibri"/>
              </a:rPr>
              <a:t>26.6%</a:t>
            </a:r>
          </a:p>
        </p:txBody>
      </p:sp>
      <p:sp>
        <p:nvSpPr>
          <p:cNvPr id="57" name="Rounded Rectangle 56"/>
          <p:cNvSpPr/>
          <p:nvPr/>
        </p:nvSpPr>
        <p:spPr>
          <a:xfrm>
            <a:off x="6575587" y="4389119"/>
            <a:ext cx="5067467" cy="24688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6648739" y="4425695"/>
            <a:ext cx="1039862"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MAO_B</a:t>
            </a:r>
          </a:p>
        </p:txBody>
      </p:sp>
      <p:sp>
        <p:nvSpPr>
          <p:cNvPr id="59" name="TextBox 58"/>
          <p:cNvSpPr txBox="1"/>
          <p:nvPr/>
        </p:nvSpPr>
        <p:spPr>
          <a:xfrm>
            <a:off x="7743465" y="4425695"/>
            <a:ext cx="94034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0.914</a:t>
            </a:r>
          </a:p>
        </p:txBody>
      </p:sp>
      <p:sp>
        <p:nvSpPr>
          <p:cNvPr id="60" name="TextBox 59"/>
          <p:cNvSpPr txBox="1"/>
          <p:nvPr/>
        </p:nvSpPr>
        <p:spPr>
          <a:xfrm>
            <a:off x="8738671" y="4425695"/>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1.052</a:t>
            </a:r>
          </a:p>
        </p:txBody>
      </p:sp>
      <p:sp>
        <p:nvSpPr>
          <p:cNvPr id="61" name="TextBox 60"/>
          <p:cNvSpPr txBox="1"/>
          <p:nvPr/>
        </p:nvSpPr>
        <p:spPr>
          <a:xfrm>
            <a:off x="9684116" y="4425695"/>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5.2%</a:t>
            </a:r>
          </a:p>
        </p:txBody>
      </p:sp>
      <p:sp>
        <p:nvSpPr>
          <p:cNvPr id="62" name="TextBox 61"/>
          <p:cNvSpPr txBox="1"/>
          <p:nvPr/>
        </p:nvSpPr>
        <p:spPr>
          <a:xfrm>
            <a:off x="10629561" y="4425695"/>
            <a:ext cx="940341" cy="210312"/>
          </a:xfrm>
          <a:prstGeom prst="rect">
            <a:avLst/>
          </a:prstGeom>
          <a:noFill/>
        </p:spPr>
        <p:txBody>
          <a:bodyPr wrap="square" lIns="0" rIns="0" tIns="0" bIns="0" anchor="t">
            <a:spAutoFit/>
          </a:bodyPr>
          <a:lstStyle/>
          <a:p>
            <a:pPr algn="l">
              <a:spcAft>
                <a:spcPts val="600"/>
              </a:spcAft>
            </a:pPr>
            <a:r>
              <a:rPr sz="1100" b="0" i="0">
                <a:solidFill>
                  <a:srgbClr val="D98324"/>
                </a:solidFill>
                <a:latin typeface="Calibri"/>
              </a:rPr>
              <a:t>15.2%</a:t>
            </a:r>
          </a:p>
        </p:txBody>
      </p:sp>
      <p:sp>
        <p:nvSpPr>
          <p:cNvPr id="63" name="TextBox 62"/>
          <p:cNvSpPr txBox="1"/>
          <p:nvPr/>
        </p:nvSpPr>
        <p:spPr>
          <a:xfrm>
            <a:off x="6648739" y="4672583"/>
            <a:ext cx="1039862"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hERG</a:t>
            </a:r>
          </a:p>
        </p:txBody>
      </p:sp>
      <p:sp>
        <p:nvSpPr>
          <p:cNvPr id="64" name="TextBox 63"/>
          <p:cNvSpPr txBox="1"/>
          <p:nvPr/>
        </p:nvSpPr>
        <p:spPr>
          <a:xfrm>
            <a:off x="7743465" y="4672583"/>
            <a:ext cx="94034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0.903</a:t>
            </a:r>
          </a:p>
        </p:txBody>
      </p:sp>
      <p:sp>
        <p:nvSpPr>
          <p:cNvPr id="65" name="TextBox 64"/>
          <p:cNvSpPr txBox="1"/>
          <p:nvPr/>
        </p:nvSpPr>
        <p:spPr>
          <a:xfrm>
            <a:off x="8738671" y="4672583"/>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1.094</a:t>
            </a:r>
          </a:p>
        </p:txBody>
      </p:sp>
      <p:sp>
        <p:nvSpPr>
          <p:cNvPr id="66" name="TextBox 65"/>
          <p:cNvSpPr txBox="1"/>
          <p:nvPr/>
        </p:nvSpPr>
        <p:spPr>
          <a:xfrm>
            <a:off x="9684116" y="4672583"/>
            <a:ext cx="890581" cy="210312"/>
          </a:xfrm>
          <a:prstGeom prst="rect">
            <a:avLst/>
          </a:prstGeom>
          <a:noFill/>
        </p:spPr>
        <p:txBody>
          <a:bodyPr wrap="square" lIns="0" rIns="0" tIns="0" bIns="0" anchor="t">
            <a:spAutoFit/>
          </a:bodyPr>
          <a:lstStyle/>
          <a:p>
            <a:pPr algn="l">
              <a:spcAft>
                <a:spcPts val="600"/>
              </a:spcAft>
            </a:pPr>
            <a:r>
              <a:rPr sz="1100" b="0" i="0">
                <a:solidFill>
                  <a:srgbClr val="0F1A2E"/>
                </a:solidFill>
                <a:latin typeface="Calibri"/>
              </a:rPr>
              <a:t>9.4%</a:t>
            </a:r>
          </a:p>
        </p:txBody>
      </p:sp>
      <p:sp>
        <p:nvSpPr>
          <p:cNvPr id="67" name="TextBox 66"/>
          <p:cNvSpPr txBox="1"/>
          <p:nvPr/>
        </p:nvSpPr>
        <p:spPr>
          <a:xfrm>
            <a:off x="10629561" y="4672583"/>
            <a:ext cx="940341" cy="210312"/>
          </a:xfrm>
          <a:prstGeom prst="rect">
            <a:avLst/>
          </a:prstGeom>
          <a:noFill/>
        </p:spPr>
        <p:txBody>
          <a:bodyPr wrap="square" lIns="0" rIns="0" tIns="0" bIns="0" anchor="t">
            <a:spAutoFit/>
          </a:bodyPr>
          <a:lstStyle/>
          <a:p>
            <a:pPr algn="l">
              <a:spcAft>
                <a:spcPts val="600"/>
              </a:spcAft>
            </a:pPr>
            <a:r>
              <a:rPr sz="1100" b="0" i="0">
                <a:solidFill>
                  <a:srgbClr val="D98324"/>
                </a:solidFill>
                <a:latin typeface="Calibri"/>
              </a:rPr>
              <a:t>15.4%</a:t>
            </a:r>
          </a:p>
        </p:txBody>
      </p:sp>
      <p:sp>
        <p:nvSpPr>
          <p:cNvPr id="68" name="TextBox 67"/>
          <p:cNvSpPr txBox="1"/>
          <p:nvPr/>
        </p:nvSpPr>
        <p:spPr>
          <a:xfrm>
            <a:off x="566928" y="5193792"/>
            <a:ext cx="11057839" cy="658368"/>
          </a:xfrm>
          <a:prstGeom prst="rect">
            <a:avLst/>
          </a:prstGeom>
          <a:noFill/>
        </p:spPr>
        <p:txBody>
          <a:bodyPr wrap="square" lIns="0" rIns="0" tIns="0" bIns="0" anchor="t">
            <a:spAutoFit/>
          </a:bodyPr>
          <a:lstStyle/>
          <a:p>
            <a:pPr algn="l">
              <a:lnSpc>
                <a:spcPct val="120000"/>
              </a:lnSpc>
              <a:spcAft>
                <a:spcPts val="600"/>
              </a:spcAft>
            </a:pPr>
            <a:r>
              <a:rPr sz="1250" b="0" i="0">
                <a:solidFill>
                  <a:srgbClr val="0F1A2E"/>
                </a:solidFill>
                <a:latin typeface="Calibri"/>
              </a:rPr>
              <a:t>A size-2 set says “either class is plausible”; a size-0 set says “neither is”, which is a legitimate signal that the compound is anomalous. BACE1's mean set size of 0.956 is BELOW one, which is only possible because 4.4% of its sets are empty. Reading the excess over 1.0 as the ambiguous fraction is valid only when no set is empty.</a:t>
            </a:r>
          </a:p>
        </p:txBody>
      </p:sp>
      <p:sp>
        <p:nvSpPr>
          <p:cNvPr id="69" name="TextBox 68"/>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results/tables/rf_conformal.csv, rf_conformal_scaffold.csv</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23</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What kind of classification this is</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Three things commonly misunderstood about the architecture</a:t>
            </a:r>
          </a:p>
        </p:txBody>
      </p:sp>
      <p:sp>
        <p:nvSpPr>
          <p:cNvPr id="5" name="Rounded Rectangle 4"/>
          <p:cNvSpPr/>
          <p:nvPr/>
        </p:nvSpPr>
        <p:spPr>
          <a:xfrm>
            <a:off x="566928" y="1691640"/>
            <a:ext cx="11057839" cy="129844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1837944"/>
            <a:ext cx="10545775" cy="292608"/>
          </a:xfrm>
          <a:prstGeom prst="rect">
            <a:avLst/>
          </a:prstGeom>
          <a:noFill/>
        </p:spPr>
        <p:txBody>
          <a:bodyPr wrap="square" lIns="0" rIns="0" tIns="0" bIns="0" anchor="t">
            <a:spAutoFit/>
          </a:bodyPr>
          <a:lstStyle/>
          <a:p>
            <a:pPr algn="l">
              <a:spcAft>
                <a:spcPts val="600"/>
              </a:spcAft>
            </a:pPr>
            <a:r>
              <a:rPr sz="1600" b="1" i="0">
                <a:solidFill>
                  <a:srgbClr val="1F3A5F"/>
                </a:solidFill>
                <a:latin typeface="Calibri"/>
              </a:rPr>
              <a:t>Independent binary classifiers</a:t>
            </a:r>
          </a:p>
        </p:txBody>
      </p:sp>
      <p:sp>
        <p:nvSpPr>
          <p:cNvPr id="7" name="TextBox 6"/>
          <p:cNvSpPr txBox="1"/>
          <p:nvPr/>
        </p:nvSpPr>
        <p:spPr>
          <a:xfrm>
            <a:off x="822960" y="2203704"/>
            <a:ext cx="10545775" cy="731520"/>
          </a:xfrm>
          <a:prstGeom prst="rect">
            <a:avLst/>
          </a:prstGeom>
          <a:noFill/>
        </p:spPr>
        <p:txBody>
          <a:bodyPr wrap="square" lIns="0" rIns="0" tIns="0" bIns="0" anchor="t">
            <a:spAutoFit/>
          </a:bodyPr>
          <a:lstStyle/>
          <a:p>
            <a:pPr algn="l">
              <a:lnSpc>
                <a:spcPct val="120000"/>
              </a:lnSpc>
              <a:spcAft>
                <a:spcPts val="600"/>
              </a:spcAft>
            </a:pPr>
            <a:r>
              <a:rPr sz="1250" b="0" i="0">
                <a:solidFill>
                  <a:srgbClr val="0F1A2E"/>
                </a:solidFill>
                <a:latin typeface="Calibri"/>
              </a:rPr>
              <a:t>Not multi-class, not multi-label. Each endpoint has its own model, training table, threshold and calibrator. There is no shared representation, no softmax over targets and no joint loss. A compound called active at AChE and BChE is the output of two entirely separate forests.</a:t>
            </a:r>
          </a:p>
        </p:txBody>
      </p:sp>
      <p:sp>
        <p:nvSpPr>
          <p:cNvPr id="8" name="Rounded Rectangle 7"/>
          <p:cNvSpPr/>
          <p:nvPr/>
        </p:nvSpPr>
        <p:spPr>
          <a:xfrm>
            <a:off x="566928" y="3136392"/>
            <a:ext cx="11057839" cy="129844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3282696"/>
            <a:ext cx="10545775" cy="292608"/>
          </a:xfrm>
          <a:prstGeom prst="rect">
            <a:avLst/>
          </a:prstGeom>
          <a:noFill/>
        </p:spPr>
        <p:txBody>
          <a:bodyPr wrap="square" lIns="0" rIns="0" tIns="0" bIns="0" anchor="t">
            <a:spAutoFit/>
          </a:bodyPr>
          <a:lstStyle/>
          <a:p>
            <a:pPr algn="l">
              <a:spcAft>
                <a:spcPts val="600"/>
              </a:spcAft>
            </a:pPr>
            <a:r>
              <a:rPr sz="1600" b="1" i="0">
                <a:solidFill>
                  <a:srgbClr val="D98324"/>
                </a:solidFill>
                <a:latin typeface="Calibri"/>
              </a:rPr>
              <a:t>The panel does not enforce consistency</a:t>
            </a:r>
          </a:p>
        </p:txBody>
      </p:sp>
      <p:sp>
        <p:nvSpPr>
          <p:cNvPr id="10" name="TextBox 9"/>
          <p:cNvSpPr txBox="1"/>
          <p:nvPr/>
        </p:nvSpPr>
        <p:spPr>
          <a:xfrm>
            <a:off x="822960" y="3648456"/>
            <a:ext cx="10545775" cy="731520"/>
          </a:xfrm>
          <a:prstGeom prst="rect">
            <a:avLst/>
          </a:prstGeom>
          <a:noFill/>
        </p:spPr>
        <p:txBody>
          <a:bodyPr wrap="square" lIns="0" rIns="0" tIns="0" bIns="0" anchor="t">
            <a:spAutoFit/>
          </a:bodyPr>
          <a:lstStyle/>
          <a:p>
            <a:pPr algn="l">
              <a:lnSpc>
                <a:spcPct val="120000"/>
              </a:lnSpc>
              <a:spcAft>
                <a:spcPts val="600"/>
              </a:spcAft>
            </a:pPr>
            <a:r>
              <a:rPr sz="1250" b="0" i="0">
                <a:solidFill>
                  <a:srgbClr val="0F1A2E"/>
                </a:solidFill>
                <a:latin typeface="Calibri"/>
              </a:rPr>
              <a:t>Nothing prevents a chemically implausible combination, because no component sees more than one endpoint. This is a real limitation and it is the price of the modularity that lets an endpoint be withdrawn without retraining anything else.</a:t>
            </a:r>
          </a:p>
        </p:txBody>
      </p:sp>
      <p:sp>
        <p:nvSpPr>
          <p:cNvPr id="11" name="Rounded Rectangle 10"/>
          <p:cNvSpPr/>
          <p:nvPr/>
        </p:nvSpPr>
        <p:spPr>
          <a:xfrm>
            <a:off x="566928" y="4581144"/>
            <a:ext cx="11057839" cy="129844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60" y="4727448"/>
            <a:ext cx="10545775" cy="292608"/>
          </a:xfrm>
          <a:prstGeom prst="rect">
            <a:avLst/>
          </a:prstGeom>
          <a:noFill/>
        </p:spPr>
        <p:txBody>
          <a:bodyPr wrap="square" lIns="0" rIns="0" tIns="0" bIns="0" anchor="t">
            <a:spAutoFit/>
          </a:bodyPr>
          <a:lstStyle/>
          <a:p>
            <a:pPr algn="l">
              <a:spcAft>
                <a:spcPts val="600"/>
              </a:spcAft>
            </a:pPr>
            <a:r>
              <a:rPr sz="1600" b="1" i="0">
                <a:solidFill>
                  <a:srgbClr val="1C7293"/>
                </a:solidFill>
                <a:latin typeface="Calibri"/>
              </a:rPr>
              <a:t>The disease layer is not learned at all</a:t>
            </a:r>
          </a:p>
        </p:txBody>
      </p:sp>
      <p:sp>
        <p:nvSpPr>
          <p:cNvPr id="13" name="TextBox 12"/>
          <p:cNvSpPr txBox="1"/>
          <p:nvPr/>
        </p:nvSpPr>
        <p:spPr>
          <a:xfrm>
            <a:off x="822960" y="5093208"/>
            <a:ext cx="10545775" cy="731520"/>
          </a:xfrm>
          <a:prstGeom prst="rect">
            <a:avLst/>
          </a:prstGeom>
          <a:noFill/>
        </p:spPr>
        <p:txBody>
          <a:bodyPr wrap="square" lIns="0" rIns="0" tIns="0" bIns="0" anchor="t">
            <a:spAutoFit/>
          </a:bodyPr>
          <a:lstStyle/>
          <a:p>
            <a:pPr algn="l">
              <a:lnSpc>
                <a:spcPct val="120000"/>
              </a:lnSpc>
              <a:spcAft>
                <a:spcPts val="600"/>
              </a:spcAft>
            </a:pPr>
            <a:r>
              <a:rPr sz="1250" b="0" i="0">
                <a:solidFill>
                  <a:srgbClr val="0F1A2E"/>
                </a:solidFill>
                <a:latin typeface="Calibri"/>
              </a:rPr>
              <a:t>It is a fixed curated knowledge graph mapping targets to conditions, verified against KEGG and Reactome. An earlier prototype that LEARNED this layer was shown by ablation to be reading the answer back out of its own features, with structure-only performance collapsing to near zero. Making it non-learned is what stops the disease results being circular.</a:t>
            </a:r>
          </a:p>
        </p:txBody>
      </p:sp>
      <p:sp>
        <p:nvSpPr>
          <p:cNvPr id="14" name="TextBox 13"/>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app.py; src/brainsafe/panel.py; src/brainsafe/data/verify_pathways.py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502920"/>
            <a:ext cx="11057839" cy="548640"/>
          </a:xfrm>
          <a:prstGeom prst="rect">
            <a:avLst/>
          </a:prstGeom>
          <a:noFill/>
        </p:spPr>
        <p:txBody>
          <a:bodyPr wrap="square" lIns="0" rIns="0" tIns="0" bIns="0" anchor="t">
            <a:spAutoFit/>
          </a:bodyPr>
          <a:lstStyle/>
          <a:p>
            <a:pPr algn="l">
              <a:spcAft>
                <a:spcPts val="600"/>
              </a:spcAft>
            </a:pPr>
            <a:r>
              <a:rPr sz="3400" b="1" i="0">
                <a:solidFill>
                  <a:srgbClr val="FFFFFF"/>
                </a:solidFill>
                <a:latin typeface="Cambria"/>
              </a:rPr>
              <a:t>The one-page answer</a:t>
            </a:r>
          </a:p>
        </p:txBody>
      </p:sp>
      <p:sp>
        <p:nvSpPr>
          <p:cNvPr id="3" name="Rounded Rectangle 2"/>
          <p:cNvSpPr/>
          <p:nvPr/>
        </p:nvSpPr>
        <p:spPr>
          <a:xfrm>
            <a:off x="493776" y="1161288"/>
            <a:ext cx="11204143" cy="365760"/>
          </a:xfrm>
          <a:prstGeom prst="roundRect">
            <a:avLst>
              <a:gd name="adj" fmla="val 5000"/>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493776" y="1161288"/>
            <a:ext cx="11204143" cy="365760"/>
          </a:xfrm>
          <a:prstGeom prst="roundRect">
            <a:avLst>
              <a:gd name="adj" fmla="val 5000"/>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93776" y="1161288"/>
            <a:ext cx="11204143" cy="365760"/>
          </a:xfrm>
          <a:prstGeom prst="roundRect">
            <a:avLst>
              <a:gd name="adj" fmla="val 5000"/>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493776" y="1161288"/>
            <a:ext cx="11204143" cy="365760"/>
          </a:xfrm>
          <a:prstGeom prst="roundRect">
            <a:avLst>
              <a:gd name="adj" fmla="val 5000"/>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493776" y="1161288"/>
            <a:ext cx="11204143" cy="365760"/>
          </a:xfrm>
          <a:prstGeom prst="roundRect">
            <a:avLst>
              <a:gd name="adj" fmla="val 5000"/>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493776" y="1161288"/>
            <a:ext cx="11204143" cy="365760"/>
          </a:xfrm>
          <a:prstGeom prst="roundRect">
            <a:avLst>
              <a:gd name="adj" fmla="val 5000"/>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493776" y="1161288"/>
            <a:ext cx="11204143" cy="365760"/>
          </a:xfrm>
          <a:prstGeom prst="roundRect">
            <a:avLst>
              <a:gd name="adj" fmla="val 5000"/>
            </a:avLst>
          </a:prstGeom>
          <a:solidFill>
            <a:srgbClr val="D7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1188720"/>
            <a:ext cx="3246120" cy="310896"/>
          </a:xfrm>
          <a:prstGeom prst="rect">
            <a:avLst/>
          </a:prstGeom>
          <a:noFill/>
        </p:spPr>
        <p:txBody>
          <a:bodyPr wrap="square" lIns="0" rIns="0" tIns="0" bIns="0" anchor="t">
            <a:spAutoFit/>
          </a:bodyPr>
          <a:lstStyle/>
          <a:p>
            <a:pPr algn="l">
              <a:spcAft>
                <a:spcPts val="600"/>
              </a:spcAft>
            </a:pPr>
            <a:r>
              <a:rPr sz="1250" b="1" i="0">
                <a:solidFill>
                  <a:srgbClr val="1C7293"/>
                </a:solidFill>
                <a:latin typeface="Calibri"/>
              </a:rPr>
              <a:t>What is a sample?</a:t>
            </a:r>
          </a:p>
        </p:txBody>
      </p:sp>
      <p:sp>
        <p:nvSpPr>
          <p:cNvPr id="11" name="TextBox 10"/>
          <p:cNvSpPr txBox="1"/>
          <p:nvPr/>
        </p:nvSpPr>
        <p:spPr>
          <a:xfrm>
            <a:off x="3950208" y="1188720"/>
            <a:ext cx="7674559" cy="310896"/>
          </a:xfrm>
          <a:prstGeom prst="rect">
            <a:avLst/>
          </a:prstGeom>
          <a:noFill/>
        </p:spPr>
        <p:txBody>
          <a:bodyPr wrap="square" lIns="0" rIns="0" tIns="0" bIns="0" anchor="t">
            <a:spAutoFit/>
          </a:bodyPr>
          <a:lstStyle/>
          <a:p>
            <a:pPr algn="l">
              <a:spcAft>
                <a:spcPts val="600"/>
              </a:spcAft>
            </a:pPr>
            <a:r>
              <a:rPr sz="1250" b="0" i="0">
                <a:solidFill>
                  <a:srgbClr val="FFFFFF"/>
                </a:solidFill>
                <a:latin typeface="Calibri"/>
              </a:rPr>
              <a:t>A (molecule, endpoint) pair with a measured assay outcome</a:t>
            </a:r>
          </a:p>
        </p:txBody>
      </p:sp>
      <p:sp>
        <p:nvSpPr>
          <p:cNvPr id="12" name="TextBox 11"/>
          <p:cNvSpPr txBox="1"/>
          <p:nvPr/>
        </p:nvSpPr>
        <p:spPr>
          <a:xfrm>
            <a:off x="566928" y="1554480"/>
            <a:ext cx="3246120" cy="310896"/>
          </a:xfrm>
          <a:prstGeom prst="rect">
            <a:avLst/>
          </a:prstGeom>
          <a:noFill/>
        </p:spPr>
        <p:txBody>
          <a:bodyPr wrap="square" lIns="0" rIns="0" tIns="0" bIns="0" anchor="t">
            <a:spAutoFit/>
          </a:bodyPr>
          <a:lstStyle/>
          <a:p>
            <a:pPr algn="l">
              <a:spcAft>
                <a:spcPts val="600"/>
              </a:spcAft>
            </a:pPr>
            <a:r>
              <a:rPr sz="1250" b="1" i="0">
                <a:solidFill>
                  <a:srgbClr val="1C7293"/>
                </a:solidFill>
                <a:latin typeface="Calibri"/>
              </a:rPr>
              <a:t>How many?</a:t>
            </a:r>
          </a:p>
        </p:txBody>
      </p:sp>
      <p:sp>
        <p:nvSpPr>
          <p:cNvPr id="13" name="TextBox 12"/>
          <p:cNvSpPr txBox="1"/>
          <p:nvPr/>
        </p:nvSpPr>
        <p:spPr>
          <a:xfrm>
            <a:off x="3950208" y="1554480"/>
            <a:ext cx="7674559" cy="310896"/>
          </a:xfrm>
          <a:prstGeom prst="rect">
            <a:avLst/>
          </a:prstGeom>
          <a:noFill/>
        </p:spPr>
        <p:txBody>
          <a:bodyPr wrap="square" lIns="0" rIns="0" tIns="0" bIns="0" anchor="t">
            <a:spAutoFit/>
          </a:bodyPr>
          <a:lstStyle/>
          <a:p>
            <a:pPr algn="l">
              <a:spcAft>
                <a:spcPts val="600"/>
              </a:spcAft>
            </a:pPr>
            <a:r>
              <a:rPr sz="1250" b="0" i="0">
                <a:solidFill>
                  <a:srgbClr val="FFFFFF"/>
                </a:solidFill>
                <a:latin typeface="Calibri"/>
              </a:rPr>
              <a:t>170,619 distinct structures; 566 to 9,933 per endpoint</a:t>
            </a:r>
          </a:p>
        </p:txBody>
      </p:sp>
      <p:sp>
        <p:nvSpPr>
          <p:cNvPr id="14" name="TextBox 13"/>
          <p:cNvSpPr txBox="1"/>
          <p:nvPr/>
        </p:nvSpPr>
        <p:spPr>
          <a:xfrm>
            <a:off x="566928" y="1920240"/>
            <a:ext cx="3246120" cy="310896"/>
          </a:xfrm>
          <a:prstGeom prst="rect">
            <a:avLst/>
          </a:prstGeom>
          <a:noFill/>
        </p:spPr>
        <p:txBody>
          <a:bodyPr wrap="square" lIns="0" rIns="0" tIns="0" bIns="0" anchor="t">
            <a:spAutoFit/>
          </a:bodyPr>
          <a:lstStyle/>
          <a:p>
            <a:pPr algn="l">
              <a:spcAft>
                <a:spcPts val="600"/>
              </a:spcAft>
            </a:pPr>
            <a:r>
              <a:rPr sz="1250" b="1" i="0">
                <a:solidFill>
                  <a:srgbClr val="1C7293"/>
                </a:solidFill>
                <a:latin typeface="Calibri"/>
              </a:rPr>
              <a:t>What are the features?</a:t>
            </a:r>
          </a:p>
        </p:txBody>
      </p:sp>
      <p:sp>
        <p:nvSpPr>
          <p:cNvPr id="15" name="TextBox 14"/>
          <p:cNvSpPr txBox="1"/>
          <p:nvPr/>
        </p:nvSpPr>
        <p:spPr>
          <a:xfrm>
            <a:off x="3950208" y="1920240"/>
            <a:ext cx="7674559" cy="310896"/>
          </a:xfrm>
          <a:prstGeom prst="rect">
            <a:avLst/>
          </a:prstGeom>
          <a:noFill/>
        </p:spPr>
        <p:txBody>
          <a:bodyPr wrap="square" lIns="0" rIns="0" tIns="0" bIns="0" anchor="t">
            <a:spAutoFit/>
          </a:bodyPr>
          <a:lstStyle/>
          <a:p>
            <a:pPr algn="l">
              <a:spcAft>
                <a:spcPts val="600"/>
              </a:spcAft>
            </a:pPr>
            <a:r>
              <a:rPr sz="1250" b="0" i="0">
                <a:solidFill>
                  <a:srgbClr val="FFFFFF"/>
                </a:solidFill>
                <a:latin typeface="Calibri"/>
              </a:rPr>
              <a:t>1,024-bit ECFP-4 + 12 descriptors = 1,036, identical for every model</a:t>
            </a:r>
          </a:p>
        </p:txBody>
      </p:sp>
      <p:sp>
        <p:nvSpPr>
          <p:cNvPr id="16" name="TextBox 15"/>
          <p:cNvSpPr txBox="1"/>
          <p:nvPr/>
        </p:nvSpPr>
        <p:spPr>
          <a:xfrm>
            <a:off x="566928" y="2286000"/>
            <a:ext cx="3246120" cy="310896"/>
          </a:xfrm>
          <a:prstGeom prst="rect">
            <a:avLst/>
          </a:prstGeom>
          <a:noFill/>
        </p:spPr>
        <p:txBody>
          <a:bodyPr wrap="square" lIns="0" rIns="0" tIns="0" bIns="0" anchor="t">
            <a:spAutoFit/>
          </a:bodyPr>
          <a:lstStyle/>
          <a:p>
            <a:pPr algn="l">
              <a:spcAft>
                <a:spcPts val="600"/>
              </a:spcAft>
            </a:pPr>
            <a:r>
              <a:rPr sz="1250" b="1" i="0">
                <a:solidFill>
                  <a:srgbClr val="1C7293"/>
                </a:solidFill>
                <a:latin typeface="Calibri"/>
              </a:rPr>
              <a:t>Are they interpretable?</a:t>
            </a:r>
          </a:p>
        </p:txBody>
      </p:sp>
      <p:sp>
        <p:nvSpPr>
          <p:cNvPr id="17" name="TextBox 16"/>
          <p:cNvSpPr txBox="1"/>
          <p:nvPr/>
        </p:nvSpPr>
        <p:spPr>
          <a:xfrm>
            <a:off x="3950208" y="2286000"/>
            <a:ext cx="7674559" cy="310896"/>
          </a:xfrm>
          <a:prstGeom prst="rect">
            <a:avLst/>
          </a:prstGeom>
          <a:noFill/>
        </p:spPr>
        <p:txBody>
          <a:bodyPr wrap="square" lIns="0" rIns="0" tIns="0" bIns="0" anchor="t">
            <a:spAutoFit/>
          </a:bodyPr>
          <a:lstStyle/>
          <a:p>
            <a:pPr algn="l">
              <a:spcAft>
                <a:spcPts val="600"/>
              </a:spcAft>
            </a:pPr>
            <a:r>
              <a:rPr sz="1250" b="0" i="0">
                <a:solidFill>
                  <a:srgbClr val="FFFFFF"/>
                </a:solidFill>
                <a:latin typeface="Calibri"/>
              </a:rPr>
              <a:t>The 12 descriptors yes. The 1,024 bits NO: a median of 52 environments share each bit</a:t>
            </a:r>
          </a:p>
        </p:txBody>
      </p:sp>
      <p:sp>
        <p:nvSpPr>
          <p:cNvPr id="18" name="TextBox 17"/>
          <p:cNvSpPr txBox="1"/>
          <p:nvPr/>
        </p:nvSpPr>
        <p:spPr>
          <a:xfrm>
            <a:off x="566928" y="2651760"/>
            <a:ext cx="3246120" cy="310896"/>
          </a:xfrm>
          <a:prstGeom prst="rect">
            <a:avLst/>
          </a:prstGeom>
          <a:noFill/>
        </p:spPr>
        <p:txBody>
          <a:bodyPr wrap="square" lIns="0" rIns="0" tIns="0" bIns="0" anchor="t">
            <a:spAutoFit/>
          </a:bodyPr>
          <a:lstStyle/>
          <a:p>
            <a:pPr algn="l">
              <a:spcAft>
                <a:spcPts val="600"/>
              </a:spcAft>
            </a:pPr>
            <a:r>
              <a:rPr sz="1250" b="1" i="0">
                <a:solidFill>
                  <a:srgbClr val="1C7293"/>
                </a:solidFill>
                <a:latin typeface="Calibri"/>
              </a:rPr>
              <a:t>How were labels made?</a:t>
            </a:r>
          </a:p>
        </p:txBody>
      </p:sp>
      <p:sp>
        <p:nvSpPr>
          <p:cNvPr id="19" name="TextBox 18"/>
          <p:cNvSpPr txBox="1"/>
          <p:nvPr/>
        </p:nvSpPr>
        <p:spPr>
          <a:xfrm>
            <a:off x="3950208" y="2651760"/>
            <a:ext cx="7674559" cy="310896"/>
          </a:xfrm>
          <a:prstGeom prst="rect">
            <a:avLst/>
          </a:prstGeom>
          <a:noFill/>
        </p:spPr>
        <p:txBody>
          <a:bodyPr wrap="square" lIns="0" rIns="0" tIns="0" bIns="0" anchor="t">
            <a:spAutoFit/>
          </a:bodyPr>
          <a:lstStyle/>
          <a:p>
            <a:pPr algn="l">
              <a:spcAft>
                <a:spcPts val="600"/>
              </a:spcAft>
            </a:pPr>
            <a:r>
              <a:rPr sz="1250" b="0" i="0">
                <a:solidFill>
                  <a:srgbClr val="FFFFFF"/>
                </a:solidFill>
                <a:latin typeface="Calibri"/>
              </a:rPr>
              <a:t>pChEMBL ≥ 6.0 active, &lt; 5.0 inactive, 5.0–6.0 DISCARDED; binder panel uses 7.0</a:t>
            </a:r>
          </a:p>
        </p:txBody>
      </p:sp>
      <p:sp>
        <p:nvSpPr>
          <p:cNvPr id="20" name="TextBox 19"/>
          <p:cNvSpPr txBox="1"/>
          <p:nvPr/>
        </p:nvSpPr>
        <p:spPr>
          <a:xfrm>
            <a:off x="566928" y="3017520"/>
            <a:ext cx="3246120" cy="310896"/>
          </a:xfrm>
          <a:prstGeom prst="rect">
            <a:avLst/>
          </a:prstGeom>
          <a:noFill/>
        </p:spPr>
        <p:txBody>
          <a:bodyPr wrap="square" lIns="0" rIns="0" tIns="0" bIns="0" anchor="t">
            <a:spAutoFit/>
          </a:bodyPr>
          <a:lstStyle/>
          <a:p>
            <a:pPr algn="l">
              <a:spcAft>
                <a:spcPts val="600"/>
              </a:spcAft>
            </a:pPr>
            <a:r>
              <a:rPr sz="1250" b="1" i="0">
                <a:solidFill>
                  <a:srgbClr val="1C7293"/>
                </a:solidFill>
                <a:latin typeface="Calibri"/>
              </a:rPr>
              <a:t>How were features selected?</a:t>
            </a:r>
          </a:p>
        </p:txBody>
      </p:sp>
      <p:sp>
        <p:nvSpPr>
          <p:cNvPr id="21" name="TextBox 20"/>
          <p:cNvSpPr txBox="1"/>
          <p:nvPr/>
        </p:nvSpPr>
        <p:spPr>
          <a:xfrm>
            <a:off x="3950208" y="3017520"/>
            <a:ext cx="7674559" cy="310896"/>
          </a:xfrm>
          <a:prstGeom prst="rect">
            <a:avLst/>
          </a:prstGeom>
          <a:noFill/>
        </p:spPr>
        <p:txBody>
          <a:bodyPr wrap="square" lIns="0" rIns="0" tIns="0" bIns="0" anchor="t">
            <a:spAutoFit/>
          </a:bodyPr>
          <a:lstStyle/>
          <a:p>
            <a:pPr algn="l">
              <a:spcAft>
                <a:spcPts val="600"/>
              </a:spcAft>
            </a:pPr>
            <a:r>
              <a:rPr sz="1250" b="0" i="0">
                <a:solidFill>
                  <a:srgbClr val="FFFFFF"/>
                </a:solidFill>
                <a:latin typeface="Calibri"/>
              </a:rPr>
              <a:t>They were NOT. All 1,036 always used, justified by ablation rather than selection</a:t>
            </a:r>
          </a:p>
        </p:txBody>
      </p:sp>
      <p:sp>
        <p:nvSpPr>
          <p:cNvPr id="22" name="TextBox 21"/>
          <p:cNvSpPr txBox="1"/>
          <p:nvPr/>
        </p:nvSpPr>
        <p:spPr>
          <a:xfrm>
            <a:off x="566928" y="3383279"/>
            <a:ext cx="3246120" cy="310896"/>
          </a:xfrm>
          <a:prstGeom prst="rect">
            <a:avLst/>
          </a:prstGeom>
          <a:noFill/>
        </p:spPr>
        <p:txBody>
          <a:bodyPr wrap="square" lIns="0" rIns="0" tIns="0" bIns="0" anchor="t">
            <a:spAutoFit/>
          </a:bodyPr>
          <a:lstStyle/>
          <a:p>
            <a:pPr algn="l">
              <a:spcAft>
                <a:spcPts val="600"/>
              </a:spcAft>
            </a:pPr>
            <a:r>
              <a:rPr sz="1250" b="1" i="0">
                <a:solidFill>
                  <a:srgbClr val="1C7293"/>
                </a:solidFill>
                <a:latin typeface="Calibri"/>
              </a:rPr>
              <a:t>Do the descriptors help?</a:t>
            </a:r>
          </a:p>
        </p:txBody>
      </p:sp>
      <p:sp>
        <p:nvSpPr>
          <p:cNvPr id="23" name="TextBox 22"/>
          <p:cNvSpPr txBox="1"/>
          <p:nvPr/>
        </p:nvSpPr>
        <p:spPr>
          <a:xfrm>
            <a:off x="3950208" y="3383279"/>
            <a:ext cx="7674559" cy="310896"/>
          </a:xfrm>
          <a:prstGeom prst="rect">
            <a:avLst/>
          </a:prstGeom>
          <a:noFill/>
        </p:spPr>
        <p:txBody>
          <a:bodyPr wrap="square" lIns="0" rIns="0" tIns="0" bIns="0" anchor="t">
            <a:spAutoFit/>
          </a:bodyPr>
          <a:lstStyle/>
          <a:p>
            <a:pPr algn="l">
              <a:spcAft>
                <a:spcPts val="600"/>
              </a:spcAft>
            </a:pPr>
            <a:r>
              <a:rPr sz="1250" b="0" i="0">
                <a:solidFill>
                  <a:srgbClr val="FFFFFF"/>
                </a:solidFill>
                <a:latin typeface="Calibri"/>
              </a:rPr>
              <a:t>+0.0014 on average, better on 9 of 13. Retained, not validated</a:t>
            </a:r>
          </a:p>
        </p:txBody>
      </p:sp>
      <p:sp>
        <p:nvSpPr>
          <p:cNvPr id="24" name="TextBox 23"/>
          <p:cNvSpPr txBox="1"/>
          <p:nvPr/>
        </p:nvSpPr>
        <p:spPr>
          <a:xfrm>
            <a:off x="566928" y="3749039"/>
            <a:ext cx="3246120" cy="310896"/>
          </a:xfrm>
          <a:prstGeom prst="rect">
            <a:avLst/>
          </a:prstGeom>
          <a:noFill/>
        </p:spPr>
        <p:txBody>
          <a:bodyPr wrap="square" lIns="0" rIns="0" tIns="0" bIns="0" anchor="t">
            <a:spAutoFit/>
          </a:bodyPr>
          <a:lstStyle/>
          <a:p>
            <a:pPr algn="l">
              <a:spcAft>
                <a:spcPts val="600"/>
              </a:spcAft>
            </a:pPr>
            <a:r>
              <a:rPr sz="1250" b="1" i="0">
                <a:solidFill>
                  <a:srgbClr val="1C7293"/>
                </a:solidFill>
                <a:latin typeface="Calibri"/>
              </a:rPr>
              <a:t>Does the fingerprint help?</a:t>
            </a:r>
          </a:p>
        </p:txBody>
      </p:sp>
      <p:sp>
        <p:nvSpPr>
          <p:cNvPr id="25" name="TextBox 24"/>
          <p:cNvSpPr txBox="1"/>
          <p:nvPr/>
        </p:nvSpPr>
        <p:spPr>
          <a:xfrm>
            <a:off x="3950208" y="3749039"/>
            <a:ext cx="7674559" cy="310896"/>
          </a:xfrm>
          <a:prstGeom prst="rect">
            <a:avLst/>
          </a:prstGeom>
          <a:noFill/>
        </p:spPr>
        <p:txBody>
          <a:bodyPr wrap="square" lIns="0" rIns="0" tIns="0" bIns="0" anchor="t">
            <a:spAutoFit/>
          </a:bodyPr>
          <a:lstStyle/>
          <a:p>
            <a:pPr algn="l">
              <a:spcAft>
                <a:spcPts val="600"/>
              </a:spcAft>
            </a:pPr>
            <a:r>
              <a:rPr sz="1250" b="0" i="0">
                <a:solidFill>
                  <a:srgbClr val="FFFFFF"/>
                </a:solidFill>
                <a:latin typeface="Calibri"/>
              </a:rPr>
              <a:t>+0.1049. Decisively yes</a:t>
            </a:r>
          </a:p>
        </p:txBody>
      </p:sp>
      <p:sp>
        <p:nvSpPr>
          <p:cNvPr id="26" name="TextBox 25"/>
          <p:cNvSpPr txBox="1"/>
          <p:nvPr/>
        </p:nvSpPr>
        <p:spPr>
          <a:xfrm>
            <a:off x="566928" y="4114800"/>
            <a:ext cx="3246120" cy="310896"/>
          </a:xfrm>
          <a:prstGeom prst="rect">
            <a:avLst/>
          </a:prstGeom>
          <a:noFill/>
        </p:spPr>
        <p:txBody>
          <a:bodyPr wrap="square" lIns="0" rIns="0" tIns="0" bIns="0" anchor="t">
            <a:spAutoFit/>
          </a:bodyPr>
          <a:lstStyle/>
          <a:p>
            <a:pPr algn="l">
              <a:spcAft>
                <a:spcPts val="600"/>
              </a:spcAft>
            </a:pPr>
            <a:r>
              <a:rPr sz="1250" b="1" i="0">
                <a:solidFill>
                  <a:srgbClr val="1C7293"/>
                </a:solidFill>
                <a:latin typeface="Calibri"/>
              </a:rPr>
              <a:t>Which model is deployed?</a:t>
            </a:r>
          </a:p>
        </p:txBody>
      </p:sp>
      <p:sp>
        <p:nvSpPr>
          <p:cNvPr id="27" name="TextBox 26"/>
          <p:cNvSpPr txBox="1"/>
          <p:nvPr/>
        </p:nvSpPr>
        <p:spPr>
          <a:xfrm>
            <a:off x="3950208" y="4114800"/>
            <a:ext cx="7674559" cy="310896"/>
          </a:xfrm>
          <a:prstGeom prst="rect">
            <a:avLst/>
          </a:prstGeom>
          <a:noFill/>
        </p:spPr>
        <p:txBody>
          <a:bodyPr wrap="square" lIns="0" rIns="0" tIns="0" bIns="0" anchor="t">
            <a:spAutoFit/>
          </a:bodyPr>
          <a:lstStyle/>
          <a:p>
            <a:pPr algn="l">
              <a:spcAft>
                <a:spcPts val="600"/>
              </a:spcAft>
            </a:pPr>
            <a:r>
              <a:rPr sz="1250" b="0" i="0">
                <a:solidFill>
                  <a:srgbClr val="FFFFFF"/>
                </a:solidFill>
                <a:latin typeface="Calibri"/>
              </a:rPr>
              <a:t>Random forest: 300 trees, min_samples_leaf 2, class_weight balanced, seed 42</a:t>
            </a:r>
          </a:p>
        </p:txBody>
      </p:sp>
      <p:sp>
        <p:nvSpPr>
          <p:cNvPr id="28" name="TextBox 27"/>
          <p:cNvSpPr txBox="1"/>
          <p:nvPr/>
        </p:nvSpPr>
        <p:spPr>
          <a:xfrm>
            <a:off x="566928" y="4480560"/>
            <a:ext cx="3246120" cy="310896"/>
          </a:xfrm>
          <a:prstGeom prst="rect">
            <a:avLst/>
          </a:prstGeom>
          <a:noFill/>
        </p:spPr>
        <p:txBody>
          <a:bodyPr wrap="square" lIns="0" rIns="0" tIns="0" bIns="0" anchor="t">
            <a:spAutoFit/>
          </a:bodyPr>
          <a:lstStyle/>
          <a:p>
            <a:pPr algn="l">
              <a:spcAft>
                <a:spcPts val="600"/>
              </a:spcAft>
            </a:pPr>
            <a:r>
              <a:rPr sz="1250" b="1" i="0">
                <a:solidFill>
                  <a:srgbClr val="1C7293"/>
                </a:solidFill>
                <a:latin typeface="Calibri"/>
              </a:rPr>
              <a:t>Same protocol for all?</a:t>
            </a:r>
          </a:p>
        </p:txBody>
      </p:sp>
      <p:sp>
        <p:nvSpPr>
          <p:cNvPr id="29" name="TextBox 28"/>
          <p:cNvSpPr txBox="1"/>
          <p:nvPr/>
        </p:nvSpPr>
        <p:spPr>
          <a:xfrm>
            <a:off x="3950208" y="4480560"/>
            <a:ext cx="7674559" cy="310896"/>
          </a:xfrm>
          <a:prstGeom prst="rect">
            <a:avLst/>
          </a:prstGeom>
          <a:noFill/>
        </p:spPr>
        <p:txBody>
          <a:bodyPr wrap="square" lIns="0" rIns="0" tIns="0" bIns="0" anchor="t">
            <a:spAutoFit/>
          </a:bodyPr>
          <a:lstStyle/>
          <a:p>
            <a:pPr algn="l">
              <a:spcAft>
                <a:spcPts val="600"/>
              </a:spcAft>
            </a:pPr>
            <a:r>
              <a:rPr sz="1250" b="0" i="0">
                <a:solidFill>
                  <a:srgbClr val="FFFFFF"/>
                </a:solidFill>
                <a:latin typeface="Calibri"/>
              </a:rPr>
              <a:t>Yes for XGBoost, HGB, logistic regression, kNN. NO for the GIN (4 endpoints, 1 hold-out)</a:t>
            </a:r>
          </a:p>
        </p:txBody>
      </p:sp>
      <p:sp>
        <p:nvSpPr>
          <p:cNvPr id="30" name="TextBox 29"/>
          <p:cNvSpPr txBox="1"/>
          <p:nvPr/>
        </p:nvSpPr>
        <p:spPr>
          <a:xfrm>
            <a:off x="566928" y="4846320"/>
            <a:ext cx="3246120" cy="310896"/>
          </a:xfrm>
          <a:prstGeom prst="rect">
            <a:avLst/>
          </a:prstGeom>
          <a:noFill/>
        </p:spPr>
        <p:txBody>
          <a:bodyPr wrap="square" lIns="0" rIns="0" tIns="0" bIns="0" anchor="t">
            <a:spAutoFit/>
          </a:bodyPr>
          <a:lstStyle/>
          <a:p>
            <a:pPr algn="l">
              <a:spcAft>
                <a:spcPts val="600"/>
              </a:spcAft>
            </a:pPr>
            <a:r>
              <a:rPr sz="1250" b="1" i="0">
                <a:solidFill>
                  <a:srgbClr val="1C7293"/>
                </a:solidFill>
                <a:latin typeface="Calibri"/>
              </a:rPr>
              <a:t>Did the graph network win?</a:t>
            </a:r>
          </a:p>
        </p:txBody>
      </p:sp>
      <p:sp>
        <p:nvSpPr>
          <p:cNvPr id="31" name="TextBox 30"/>
          <p:cNvSpPr txBox="1"/>
          <p:nvPr/>
        </p:nvSpPr>
        <p:spPr>
          <a:xfrm>
            <a:off x="3950208" y="4846320"/>
            <a:ext cx="7674559" cy="310896"/>
          </a:xfrm>
          <a:prstGeom prst="rect">
            <a:avLst/>
          </a:prstGeom>
          <a:noFill/>
        </p:spPr>
        <p:txBody>
          <a:bodyPr wrap="square" lIns="0" rIns="0" tIns="0" bIns="0" anchor="t">
            <a:spAutoFit/>
          </a:bodyPr>
          <a:lstStyle/>
          <a:p>
            <a:pPr algn="l">
              <a:spcAft>
                <a:spcPts val="600"/>
              </a:spcAft>
            </a:pPr>
            <a:r>
              <a:rPr sz="1250" b="0" i="0">
                <a:solidFill>
                  <a:srgbClr val="FFFFFF"/>
                </a:solidFill>
                <a:latin typeface="Calibri"/>
              </a:rPr>
              <a:t>No. It lost on all four endpoints tested</a:t>
            </a:r>
          </a:p>
        </p:txBody>
      </p:sp>
      <p:sp>
        <p:nvSpPr>
          <p:cNvPr id="32" name="TextBox 31"/>
          <p:cNvSpPr txBox="1"/>
          <p:nvPr/>
        </p:nvSpPr>
        <p:spPr>
          <a:xfrm>
            <a:off x="566928" y="5212080"/>
            <a:ext cx="3246120" cy="310896"/>
          </a:xfrm>
          <a:prstGeom prst="rect">
            <a:avLst/>
          </a:prstGeom>
          <a:noFill/>
        </p:spPr>
        <p:txBody>
          <a:bodyPr wrap="square" lIns="0" rIns="0" tIns="0" bIns="0" anchor="t">
            <a:spAutoFit/>
          </a:bodyPr>
          <a:lstStyle/>
          <a:p>
            <a:pPr algn="l">
              <a:spcAft>
                <a:spcPts val="600"/>
              </a:spcAft>
            </a:pPr>
            <a:r>
              <a:rPr sz="1250" b="1" i="0">
                <a:solidFill>
                  <a:srgbClr val="1C7293"/>
                </a:solidFill>
                <a:latin typeface="Calibri"/>
              </a:rPr>
              <a:t>What was tuned?</a:t>
            </a:r>
          </a:p>
        </p:txBody>
      </p:sp>
      <p:sp>
        <p:nvSpPr>
          <p:cNvPr id="33" name="TextBox 32"/>
          <p:cNvSpPr txBox="1"/>
          <p:nvPr/>
        </p:nvSpPr>
        <p:spPr>
          <a:xfrm>
            <a:off x="3950208" y="5212080"/>
            <a:ext cx="7674559" cy="310896"/>
          </a:xfrm>
          <a:prstGeom prst="rect">
            <a:avLst/>
          </a:prstGeom>
          <a:noFill/>
        </p:spPr>
        <p:txBody>
          <a:bodyPr wrap="square" lIns="0" rIns="0" tIns="0" bIns="0" anchor="t">
            <a:spAutoFit/>
          </a:bodyPr>
          <a:lstStyle/>
          <a:p>
            <a:pPr algn="l">
              <a:spcAft>
                <a:spcPts val="600"/>
              </a:spcAft>
            </a:pPr>
            <a:r>
              <a:rPr sz="1250" b="0" i="0">
                <a:solidFill>
                  <a:srgbClr val="FFFFFF"/>
                </a:solidFill>
                <a:latin typeface="Calibri"/>
              </a:rPr>
              <a:t>NOTHING. No hyperparameter search of any kind exists in this repository</a:t>
            </a:r>
          </a:p>
        </p:txBody>
      </p:sp>
      <p:sp>
        <p:nvSpPr>
          <p:cNvPr id="34" name="TextBox 33"/>
          <p:cNvSpPr txBox="1"/>
          <p:nvPr/>
        </p:nvSpPr>
        <p:spPr>
          <a:xfrm>
            <a:off x="566928" y="5577840"/>
            <a:ext cx="3246120" cy="310896"/>
          </a:xfrm>
          <a:prstGeom prst="rect">
            <a:avLst/>
          </a:prstGeom>
          <a:noFill/>
        </p:spPr>
        <p:txBody>
          <a:bodyPr wrap="square" lIns="0" rIns="0" tIns="0" bIns="0" anchor="t">
            <a:spAutoFit/>
          </a:bodyPr>
          <a:lstStyle/>
          <a:p>
            <a:pPr algn="l">
              <a:spcAft>
                <a:spcPts val="600"/>
              </a:spcAft>
            </a:pPr>
            <a:r>
              <a:rPr sz="1250" b="1" i="0">
                <a:solidFill>
                  <a:srgbClr val="1C7293"/>
                </a:solidFill>
                <a:latin typeface="Calibri"/>
              </a:rPr>
              <a:t>What kind of classification?</a:t>
            </a:r>
          </a:p>
        </p:txBody>
      </p:sp>
      <p:sp>
        <p:nvSpPr>
          <p:cNvPr id="35" name="TextBox 34"/>
          <p:cNvSpPr txBox="1"/>
          <p:nvPr/>
        </p:nvSpPr>
        <p:spPr>
          <a:xfrm>
            <a:off x="3950208" y="5577840"/>
            <a:ext cx="7674559" cy="310896"/>
          </a:xfrm>
          <a:prstGeom prst="rect">
            <a:avLst/>
          </a:prstGeom>
          <a:noFill/>
        </p:spPr>
        <p:txBody>
          <a:bodyPr wrap="square" lIns="0" rIns="0" tIns="0" bIns="0" anchor="t">
            <a:spAutoFit/>
          </a:bodyPr>
          <a:lstStyle/>
          <a:p>
            <a:pPr algn="l">
              <a:spcAft>
                <a:spcPts val="600"/>
              </a:spcAft>
            </a:pPr>
            <a:r>
              <a:rPr sz="1250" b="0" i="0">
                <a:solidFill>
                  <a:srgbClr val="FFFFFF"/>
                </a:solidFill>
                <a:latin typeface="Calibri"/>
              </a:rPr>
              <a:t>Independent binary classifiers per endpoint, plus 5 regressors and 8 ADME models</a:t>
            </a:r>
          </a:p>
        </p:txBody>
      </p:sp>
      <p:sp>
        <p:nvSpPr>
          <p:cNvPr id="36" name="TextBox 35"/>
          <p:cNvSpPr txBox="1"/>
          <p:nvPr/>
        </p:nvSpPr>
        <p:spPr>
          <a:xfrm>
            <a:off x="566928" y="5943600"/>
            <a:ext cx="3246120" cy="310896"/>
          </a:xfrm>
          <a:prstGeom prst="rect">
            <a:avLst/>
          </a:prstGeom>
          <a:noFill/>
        </p:spPr>
        <p:txBody>
          <a:bodyPr wrap="square" lIns="0" rIns="0" tIns="0" bIns="0" anchor="t">
            <a:spAutoFit/>
          </a:bodyPr>
          <a:lstStyle/>
          <a:p>
            <a:pPr algn="l">
              <a:spcAft>
                <a:spcPts val="600"/>
              </a:spcAft>
            </a:pPr>
            <a:r>
              <a:rPr sz="1250" b="1" i="0">
                <a:solidFill>
                  <a:srgbClr val="1C7293"/>
                </a:solidFill>
                <a:latin typeface="Calibri"/>
              </a:rPr>
              <a:t>How are probabilities honest?</a:t>
            </a:r>
          </a:p>
        </p:txBody>
      </p:sp>
      <p:sp>
        <p:nvSpPr>
          <p:cNvPr id="37" name="TextBox 36"/>
          <p:cNvSpPr txBox="1"/>
          <p:nvPr/>
        </p:nvSpPr>
        <p:spPr>
          <a:xfrm>
            <a:off x="3950208" y="5943600"/>
            <a:ext cx="7674559" cy="310896"/>
          </a:xfrm>
          <a:prstGeom prst="rect">
            <a:avLst/>
          </a:prstGeom>
          <a:noFill/>
        </p:spPr>
        <p:txBody>
          <a:bodyPr wrap="square" lIns="0" rIns="0" tIns="0" bIns="0" anchor="t">
            <a:spAutoFit/>
          </a:bodyPr>
          <a:lstStyle/>
          <a:p>
            <a:pPr algn="l">
              <a:spcAft>
                <a:spcPts val="600"/>
              </a:spcAft>
            </a:pPr>
            <a:r>
              <a:rPr sz="1250" b="0" i="0">
                <a:solidFill>
                  <a:srgbClr val="FFFFFF"/>
                </a:solidFill>
                <a:latin typeface="Calibri"/>
              </a:rPr>
              <a:t>Isotonic calibration, ECE 0.0801 → 0.0147, plus conformal sets at 90%</a:t>
            </a:r>
          </a:p>
        </p:txBody>
      </p:sp>
      <p:sp>
        <p:nvSpPr>
          <p:cNvPr id="38" name="TextBox 37"/>
          <p:cNvSpPr txBox="1"/>
          <p:nvPr/>
        </p:nvSpPr>
        <p:spPr>
          <a:xfrm>
            <a:off x="566928" y="6291072"/>
            <a:ext cx="11057839" cy="310896"/>
          </a:xfrm>
          <a:prstGeom prst="rect">
            <a:avLst/>
          </a:prstGeom>
          <a:noFill/>
        </p:spPr>
        <p:txBody>
          <a:bodyPr wrap="square" lIns="0" rIns="0" tIns="0" bIns="0" anchor="t">
            <a:spAutoFit/>
          </a:bodyPr>
          <a:lstStyle/>
          <a:p>
            <a:pPr algn="l">
              <a:spcAft>
                <a:spcPts val="600"/>
              </a:spcAft>
            </a:pPr>
            <a:r>
              <a:rPr sz="1100" b="0" i="1">
                <a:solidFill>
                  <a:srgbClr val="5F6B7A"/>
                </a:solidFill>
                <a:latin typeface="Calibri"/>
              </a:rPr>
              <a:t>Every figure on this slide is read from an artefact at build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