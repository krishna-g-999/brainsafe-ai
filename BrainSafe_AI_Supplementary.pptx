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56B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56B4E9"/>
                </a:solidFill>
                <a:latin typeface="Consolas"/>
              </a:rPr>
              <a:t>BRAINSAFE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106070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Georgia"/>
              </a:rPr>
              <a:t>Supplementary Material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566160"/>
            <a:ext cx="10424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E6EEF5"/>
                </a:solidFill>
                <a:latin typeface="Calibri"/>
              </a:rPr>
              <a:t>Figures and supplementary tables. Every value is read directly from the released validation artifacts (supplementary/*.csv); figures are regenerated from out-of-fold predictions. Nothing is hand-entered.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9436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56B4E9"/>
                </a:solidFill>
                <a:latin typeface="Consolas"/>
              </a:rPr>
              <a:t>8 figures    ·    14 supplementary tables (S0–S13)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56B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4688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Georgia"/>
              </a:rPr>
              <a:t>Part A — Figures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6576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6B4E9"/>
                </a:solidFill>
                <a:latin typeface="Consolas"/>
              </a:rPr>
              <a:t>fig1–fig7 + graphical abstract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072B2"/>
                </a:solidFill>
                <a:latin typeface="Consolas"/>
              </a:rPr>
              <a:t>SUPPLEMENTARY · GRAPHICAL ABSTRACT</a:t>
            </a:r>
          </a:p>
        </p:txBody>
      </p:sp>
      <p:pic>
        <p:nvPicPr>
          <p:cNvPr id="3" name="Picture 2" descr="graphical_abstr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567" y="868680"/>
            <a:ext cx="11338560" cy="464877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594360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i="1">
                <a:solidFill>
                  <a:srgbClr val="5A6B7B"/>
                </a:solidFill>
                <a:latin typeface="Calibri"/>
              </a:rPr>
              <a:t>Graphical abstract. Structure-to-brain-effect prediction from measured data; validation and coverage summarised. The per-compound profile shown is illustrative.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072B2"/>
                </a:solidFill>
                <a:latin typeface="Consolas"/>
              </a:rPr>
              <a:t>SUPPLEMENTARY · FIGURE 1</a:t>
            </a:r>
          </a:p>
        </p:txBody>
      </p:sp>
      <p:pic>
        <p:nvPicPr>
          <p:cNvPr id="3" name="Picture 2" descr="fig1_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567" y="868680"/>
            <a:ext cx="11338560" cy="472807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594360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i="1">
                <a:solidFill>
                  <a:srgbClr val="5A6B7B"/>
                </a:solidFill>
                <a:latin typeface="Calibri"/>
              </a:rPr>
              <a:t>Figure 1. BrainSafe AI pipeline: measured data sources -&gt; curation -&gt; ECFP+descriptor featurisation -&gt; ensemble training -&gt; calibration/conformal -&gt; integrated outputs, with the four validation regimes.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072B2"/>
                </a:solidFill>
                <a:latin typeface="Consolas"/>
              </a:rPr>
              <a:t>SUPPLEMENTARY · FIGURE 2</a:t>
            </a:r>
          </a:p>
        </p:txBody>
      </p:sp>
      <p:pic>
        <p:nvPicPr>
          <p:cNvPr id="3" name="Picture 2" descr="fig2_datas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1863" y="868680"/>
            <a:ext cx="8887968" cy="4937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594360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i="1">
                <a:solidFill>
                  <a:srgbClr val="5A6B7B"/>
                </a:solidFill>
                <a:latin typeface="Calibri"/>
              </a:rPr>
              <a:t>Figure 2. Training-set size and class balance for each endpoint (measured records).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072B2"/>
                </a:solidFill>
                <a:latin typeface="Consolas"/>
              </a:rPr>
              <a:t>SUPPLEMENTARY · FIGURE 3</a:t>
            </a:r>
          </a:p>
        </p:txBody>
      </p:sp>
      <p:pic>
        <p:nvPicPr>
          <p:cNvPr id="3" name="Picture 2" descr="fig3_vali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5880" y="868680"/>
            <a:ext cx="10019934" cy="4937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594360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i="1">
                <a:solidFill>
                  <a:srgbClr val="5A6B7B"/>
                </a:solidFill>
                <a:latin typeface="Calibri"/>
              </a:rPr>
              <a:t>Figure 3. AUROC across the four validation regimes (random, scaffold, leave-cluster-out, temporal). Error bars on scaffold bars are 95% bootstrap CIs. BBB has no temporal split (no document year).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072B2"/>
                </a:solidFill>
                <a:latin typeface="Consolas"/>
              </a:rPr>
              <a:t>SUPPLEMENTARY · FIGURE 4</a:t>
            </a:r>
          </a:p>
        </p:txBody>
      </p:sp>
      <p:pic>
        <p:nvPicPr>
          <p:cNvPr id="3" name="Picture 2" descr="fig4_roc_calib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223" y="868680"/>
            <a:ext cx="10907249" cy="4937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594360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i="1">
                <a:solidFill>
                  <a:srgbClr val="5A6B7B"/>
                </a:solidFill>
                <a:latin typeface="Calibri"/>
              </a:rPr>
              <a:t>Figure 4. (A) Scaffold cross-validation ROC curves (out-of-fold). (B) Reliability diagrams after isotonic calibration.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072B2"/>
                </a:solidFill>
                <a:latin typeface="Consolas"/>
              </a:rPr>
              <a:t>SUPPLEMENTARY · FIGURE 5</a:t>
            </a:r>
          </a:p>
        </p:txBody>
      </p:sp>
      <p:pic>
        <p:nvPicPr>
          <p:cNvPr id="3" name="Picture 2" descr="fig5_conformal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567" y="868680"/>
            <a:ext cx="11338560" cy="474275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594360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i="1">
                <a:solidFill>
                  <a:srgbClr val="5A6B7B"/>
                </a:solidFill>
                <a:latin typeface="Calibri"/>
              </a:rPr>
              <a:t>Figure 5. (A) Empirical coverage of 90%-level conformal prediction sets (target 0.90). (B) Scaffold-CV AUROC of the deployed ensemble versus kNN-Tanimoto and logistic-regression baselines.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072B2"/>
                </a:solidFill>
                <a:latin typeface="Consolas"/>
              </a:rPr>
              <a:t>SUPPLEMENTARY · FIGURE 6</a:t>
            </a:r>
          </a:p>
        </p:txBody>
      </p:sp>
      <p:pic>
        <p:nvPicPr>
          <p:cNvPr id="3" name="Picture 2" descr="fig6_bench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1863" y="868680"/>
            <a:ext cx="8887968" cy="4937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594360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i="1">
                <a:solidFill>
                  <a:srgbClr val="5A6B7B"/>
                </a:solidFill>
                <a:latin typeface="Calibri"/>
              </a:rPr>
              <a:t>Figure 6. Per-endpoint random-split AUROC (this work) relative to published random-split ranges.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072B2"/>
                </a:solidFill>
                <a:latin typeface="Consolas"/>
              </a:rPr>
              <a:t>SUPPLEMENTARY · FIGURE 7</a:t>
            </a:r>
          </a:p>
        </p:txBody>
      </p:sp>
      <p:pic>
        <p:nvPicPr>
          <p:cNvPr id="3" name="Picture 2" descr="fig7_regres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9837" y="868680"/>
            <a:ext cx="8312019" cy="4937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594360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i="1">
                <a:solidFill>
                  <a:srgbClr val="5A6B7B"/>
                </a:solidFill>
                <a:latin typeface="Calibri"/>
              </a:rPr>
              <a:t>Figure 7. Predicted versus measured potency (scaffold CV): measured antioxidant (DPPH) model and four receptor potency-regression endpoints (A2A, 5-HT2A, D2, SERT).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56B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4688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Georgia"/>
              </a:rPr>
              <a:t>Part B — Supplementary Tables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6576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6B4E9"/>
                </a:solidFill>
                <a:latin typeface="Consolas"/>
              </a:rPr>
              <a:t>S0–S13, read from the released CSVs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072B2"/>
                </a:solidFill>
                <a:latin typeface="Consolas"/>
              </a:rPr>
              <a:t>SUPPLEMENTARY TABLE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530352"/>
            <a:ext cx="457200" cy="41148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22960"/>
            <a:ext cx="10607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6222F"/>
                </a:solidFill>
                <a:latin typeface="Georgia"/>
              </a:rPr>
              <a:t>STable S0 — Data provenance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600200"/>
          <a:ext cx="11274552" cy="41605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09319"/>
                <a:gridCol w="1409319"/>
                <a:gridCol w="1409319"/>
                <a:gridCol w="1409319"/>
                <a:gridCol w="1409319"/>
                <a:gridCol w="1409319"/>
                <a:gridCol w="1409319"/>
                <a:gridCol w="1409319"/>
              </a:tblGrid>
              <a:tr h="277368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5A6B7B"/>
                          </a:solidFill>
                          <a:latin typeface="Consolas"/>
                        </a:rPr>
                        <a:t>Endpoint</a:t>
                      </a:r>
                    </a:p>
                  </a:txBody>
                  <a:tcPr marL="45720" marR="45720" marT="9144" marB="9144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5A6B7B"/>
                          </a:solidFill>
                          <a:latin typeface="Consolas"/>
                        </a:rPr>
                        <a:t>Role</a:t>
                      </a:r>
                    </a:p>
                  </a:txBody>
                  <a:tcPr marL="45720" marR="45720" marT="9144" marB="9144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5A6B7B"/>
                          </a:solidFill>
                          <a:latin typeface="Consolas"/>
                        </a:rPr>
                        <a:t>Modality</a:t>
                      </a:r>
                    </a:p>
                  </a:txBody>
                  <a:tcPr marL="45720" marR="45720" marT="9144" marB="9144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5A6B7B"/>
                          </a:solidFill>
                          <a:latin typeface="Consolas"/>
                        </a:rPr>
                        <a:t>Source</a:t>
                      </a:r>
                    </a:p>
                  </a:txBody>
                  <a:tcPr marL="45720" marR="45720" marT="9144" marB="9144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5A6B7B"/>
                          </a:solidFill>
                          <a:latin typeface="Consolas"/>
                        </a:rPr>
                        <a:t>Identifier</a:t>
                      </a:r>
                    </a:p>
                  </a:txBody>
                  <a:tcPr marL="45720" marR="45720" marT="9144" marB="9144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5A6B7B"/>
                          </a:solidFill>
                          <a:latin typeface="Consolas"/>
                        </a:rPr>
                        <a:t>Measurement</a:t>
                      </a:r>
                    </a:p>
                  </a:txBody>
                  <a:tcPr marL="45720" marR="45720" marT="9144" marB="9144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5A6B7B"/>
                          </a:solidFill>
                          <a:latin typeface="Consolas"/>
                        </a:rPr>
                        <a:t>n</a:t>
                      </a:r>
                    </a:p>
                  </a:txBody>
                  <a:tcPr marL="45720" marR="45720" marT="9144" marB="9144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5A6B7B"/>
                          </a:solidFill>
                          <a:latin typeface="Consolas"/>
                        </a:rPr>
                        <a:t>Year range</a:t>
                      </a:r>
                    </a:p>
                  </a:txBody>
                  <a:tcPr marL="45720" marR="45720" marT="9144" marB="9144" anchor="ctr">
                    <a:solidFill>
                      <a:srgbClr val="EEF2F6"/>
                    </a:solidFill>
                  </a:tcPr>
                </a:tc>
              </a:tr>
              <a:tr h="27736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6222F"/>
                          </a:solidFill>
                          <a:latin typeface="Calibri"/>
                        </a:rPr>
                        <a:t>BBB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BBB gate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Classification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B3DB (measured)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B3DB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BBB+/- permeability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7807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curated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27736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6222F"/>
                          </a:solidFill>
                          <a:latin typeface="Calibri"/>
                        </a:rPr>
                        <a:t>AChE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Alzheimer's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Classification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ChEMBL (measured)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CHEMBL220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pChEMBL (IC50/Ki/Kd/EC50)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4324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1986-2025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</a:tr>
              <a:tr h="27736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6222F"/>
                          </a:solidFill>
                          <a:latin typeface="Calibri"/>
                        </a:rPr>
                        <a:t>BChE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Alzheimer's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Classification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ChEMBL (measured)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CHEMBL1914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pChEMBL (IC50/Ki/Kd/EC50)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2580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1976-2025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27736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6222F"/>
                          </a:solidFill>
                          <a:latin typeface="Calibri"/>
                        </a:rPr>
                        <a:t>BACE1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Alzheimer's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Classification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ChEMBL (measured)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CHEMBL4822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pChEMBL (IC50/Ki/Kd/EC50)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8067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2001-2025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</a:tr>
              <a:tr h="27736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6222F"/>
                          </a:solidFill>
                          <a:latin typeface="Calibri"/>
                        </a:rPr>
                        <a:t>GSK3B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Neuroprotection (tau)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Classification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ChEMBL (measured)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CHEMBL262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pChEMBL (IC50/Ki/Kd/EC50)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4044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2000-2025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27736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6222F"/>
                          </a:solidFill>
                          <a:latin typeface="Calibri"/>
                        </a:rPr>
                        <a:t>MAO-B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Parkinson's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Classification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ChEMBL (measured)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CHEMBL2039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pChEMBL (IC50/Ki/Kd/EC50)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3455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1990-2025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</a:tr>
              <a:tr h="27736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6222F"/>
                          </a:solidFill>
                          <a:latin typeface="Calibri"/>
                        </a:rPr>
                        <a:t>MAO-A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Depression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Classification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ChEMBL (measured)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CHEMBL1951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pChEMBL (IC50/Ki/Kd/EC50)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2141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1990-2025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27736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6222F"/>
                          </a:solidFill>
                          <a:latin typeface="Calibri"/>
                        </a:rPr>
                        <a:t>D2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Parkinson's/psychosis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Regression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ChEMBL (measured)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CHEMBL217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pChEMBL (IC50/Ki/Kd/EC50)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7511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1987-2025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</a:tr>
              <a:tr h="27736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6222F"/>
                          </a:solidFill>
                          <a:latin typeface="Calibri"/>
                        </a:rPr>
                        <a:t>A2A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Parkinson's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Regression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ChEMBL (measured)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CHEMBL251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pChEMBL (IC50/Ki/Kd/EC50)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5547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1992-2025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27736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6222F"/>
                          </a:solidFill>
                          <a:latin typeface="Calibri"/>
                        </a:rPr>
                        <a:t>HT2A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Mood/psychosis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Regression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ChEMBL (measured)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CHEMBL224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pChEMBL (IC50/Ki/Kd/EC50)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5256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1994-2025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</a:tr>
              <a:tr h="27736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6222F"/>
                          </a:solidFill>
                          <a:latin typeface="Calibri"/>
                        </a:rPr>
                        <a:t>SERT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Depression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Regression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ChEMBL (measured)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CHEMBL228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pChEMBL (IC50/Ki/Kd/EC50)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4471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1980-2025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27736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6222F"/>
                          </a:solidFill>
                          <a:latin typeface="Calibri"/>
                        </a:rPr>
                        <a:t>hERG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Safety (cardiotox)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Classification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ChEMBL (measured)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CHEMBL240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pChEMBL (IC50/Ki/Kd/EC50)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5905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1995-2025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</a:tr>
              <a:tr h="27736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6222F"/>
                          </a:solidFill>
                          <a:latin typeface="Calibri"/>
                        </a:rPr>
                        <a:t>Antioxidant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Oxidative stress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Regression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ChEMBL DPPH (measured)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DPPH assays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pIC50 (radical scavenging)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2862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curated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27736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6222F"/>
                          </a:solidFill>
                          <a:latin typeface="Calibri"/>
                        </a:rPr>
                        <a:t>Clinical precedent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Translational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Reference (k-NN)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ChEMBL ATC-N (measured)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ATC level-1 N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max clinical phase 1-4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504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curated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594360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i="1">
                <a:solidFill>
                  <a:srgbClr val="5A6B7B"/>
                </a:solidFill>
                <a:latin typeface="Calibri"/>
              </a:rPr>
              <a:t>STable S0. Provenance of every endpoint: role, modality, source database, identifier, measurement type, n, and year range. All measured experimental data.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072B2"/>
                </a:solidFill>
                <a:latin typeface="Consolas"/>
              </a:rPr>
              <a:t>SUPPLEMENTARY TABLE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530352"/>
            <a:ext cx="457200" cy="41148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22960"/>
            <a:ext cx="10607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6222F"/>
                </a:solidFill>
                <a:latin typeface="Georgia"/>
              </a:rPr>
              <a:t>STable S1 — Classification metrics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600200"/>
          <a:ext cx="11274549" cy="345643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24959"/>
                <a:gridCol w="1024959"/>
                <a:gridCol w="1024959"/>
                <a:gridCol w="1024959"/>
                <a:gridCol w="1024959"/>
                <a:gridCol w="1024959"/>
                <a:gridCol w="1024959"/>
                <a:gridCol w="1024959"/>
                <a:gridCol w="1024959"/>
                <a:gridCol w="1024959"/>
                <a:gridCol w="1024959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5A6B7B"/>
                          </a:solidFill>
                          <a:latin typeface="Consolas"/>
                        </a:rPr>
                        <a:t>endpoint</a:t>
                      </a:r>
                    </a:p>
                  </a:txBody>
                  <a:tcPr marL="45720" marR="45720" marT="9144" marB="9144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A6B7B"/>
                          </a:solidFill>
                          <a:latin typeface="Consolas"/>
                        </a:rPr>
                        <a:t>n</a:t>
                      </a:r>
                    </a:p>
                  </a:txBody>
                  <a:tcPr marL="45720" marR="45720" marT="9144" marB="9144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A6B7B"/>
                          </a:solidFill>
                          <a:latin typeface="Consolas"/>
                        </a:rPr>
                        <a:t>pos_rate</a:t>
                      </a:r>
                    </a:p>
                  </a:txBody>
                  <a:tcPr marL="45720" marR="45720" marT="9144" marB="9144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A6B7B"/>
                          </a:solidFill>
                          <a:latin typeface="Consolas"/>
                        </a:rPr>
                        <a:t>AUROC_random</a:t>
                      </a:r>
                    </a:p>
                  </a:txBody>
                  <a:tcPr marL="45720" marR="45720" marT="9144" marB="9144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A6B7B"/>
                          </a:solidFill>
                          <a:latin typeface="Consolas"/>
                        </a:rPr>
                        <a:t>AUROC_scaffold</a:t>
                      </a:r>
                    </a:p>
                  </a:txBody>
                  <a:tcPr marL="45720" marR="45720" marT="9144" marB="9144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A6B7B"/>
                          </a:solidFill>
                          <a:latin typeface="Consolas"/>
                        </a:rPr>
                        <a:t>AUROC_cluster</a:t>
                      </a:r>
                    </a:p>
                  </a:txBody>
                  <a:tcPr marL="45720" marR="45720" marT="9144" marB="9144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A6B7B"/>
                          </a:solidFill>
                          <a:latin typeface="Consolas"/>
                        </a:rPr>
                        <a:t>AUROC_temporal</a:t>
                      </a:r>
                    </a:p>
                  </a:txBody>
                  <a:tcPr marL="45720" marR="45720" marT="9144" marB="9144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A6B7B"/>
                          </a:solidFill>
                          <a:latin typeface="Consolas"/>
                        </a:rPr>
                        <a:t>PR_AUC</a:t>
                      </a:r>
                    </a:p>
                  </a:txBody>
                  <a:tcPr marL="45720" marR="45720" marT="9144" marB="9144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A6B7B"/>
                          </a:solidFill>
                          <a:latin typeface="Consolas"/>
                        </a:rPr>
                        <a:t>MCC</a:t>
                      </a:r>
                    </a:p>
                  </a:txBody>
                  <a:tcPr marL="45720" marR="45720" marT="9144" marB="9144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A6B7B"/>
                          </a:solidFill>
                          <a:latin typeface="Consolas"/>
                        </a:rPr>
                        <a:t>Brier</a:t>
                      </a:r>
                    </a:p>
                  </a:txBody>
                  <a:tcPr marL="45720" marR="45720" marT="9144" marB="9144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A6B7B"/>
                          </a:solidFill>
                          <a:latin typeface="Consolas"/>
                        </a:rPr>
                        <a:t>conformal_coverage</a:t>
                      </a:r>
                    </a:p>
                  </a:txBody>
                  <a:tcPr marL="45720" marR="45720" marT="9144" marB="9144" anchor="ctr">
                    <a:solidFill>
                      <a:srgbClr val="EEF2F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6222F"/>
                          </a:solidFill>
                          <a:latin typeface="Calibri"/>
                        </a:rPr>
                        <a:t>AChE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4324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0.716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0.975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0.915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0.912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0.784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0.963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0.633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0.099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0.899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6222F"/>
                          </a:solidFill>
                          <a:latin typeface="Calibri"/>
                        </a:rPr>
                        <a:t>BACE1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8067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0.905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0.956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0.95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0.94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0.915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0.994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0.614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0.039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0.902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6222F"/>
                          </a:solidFill>
                          <a:latin typeface="Calibri"/>
                        </a:rPr>
                        <a:t>BBB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7805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0.635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0.963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0.921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0.906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nan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0.952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0.659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0.105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0.897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6222F"/>
                          </a:solidFill>
                          <a:latin typeface="Calibri"/>
                        </a:rPr>
                        <a:t>BChE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2580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0.695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0.976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0.937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0.921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0.794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0.974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0.701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0.09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0.899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6222F"/>
                          </a:solidFill>
                          <a:latin typeface="Calibri"/>
                        </a:rPr>
                        <a:t>GSK3B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4044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0.914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0.943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0.92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0.915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0.658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0.991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0.468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0.044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0.885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6222F"/>
                          </a:solidFill>
                          <a:latin typeface="Calibri"/>
                        </a:rPr>
                        <a:t>MAO_A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2141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0.376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0.95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0.867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0.89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0.614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0.815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0.586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0.136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0.905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6222F"/>
                          </a:solidFill>
                          <a:latin typeface="Calibri"/>
                        </a:rPr>
                        <a:t>MAO_B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3455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0.652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0.96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0.885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0.873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0.758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0.925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0.606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0.122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0.895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6222F"/>
                          </a:solidFill>
                          <a:latin typeface="Calibri"/>
                        </a:rPr>
                        <a:t>hERG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5905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0.415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0.95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0.901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0.87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0.757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0.874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0.626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0.123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0.896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594360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i="1">
                <a:solidFill>
                  <a:srgbClr val="5A6B7B"/>
                </a:solidFill>
                <a:latin typeface="Calibri"/>
              </a:rPr>
              <a:t>STable S1. Full classification metrics across regimes (key columns shown; complete 16-column table in the CSV).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072B2"/>
                </a:solidFill>
                <a:latin typeface="Consolas"/>
              </a:rPr>
              <a:t>SUPPLEMENTARY TABLE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530352"/>
            <a:ext cx="457200" cy="41148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22960"/>
            <a:ext cx="10607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6222F"/>
                </a:solidFill>
                <a:latin typeface="Georgia"/>
              </a:rPr>
              <a:t>STable S2 — Receptor regression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600200"/>
          <a:ext cx="11274552" cy="19202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09319"/>
                <a:gridCol w="1409319"/>
                <a:gridCol w="1409319"/>
                <a:gridCol w="1409319"/>
                <a:gridCol w="1409319"/>
                <a:gridCol w="1409319"/>
                <a:gridCol w="1409319"/>
                <a:gridCol w="1409319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5A6B7B"/>
                          </a:solidFill>
                          <a:latin typeface="Consolas"/>
                        </a:rPr>
                        <a:t>receptor</a:t>
                      </a:r>
                    </a:p>
                  </a:txBody>
                  <a:tcPr marL="45720" marR="45720" marT="9144" marB="9144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5A6B7B"/>
                          </a:solidFill>
                          <a:latin typeface="Consolas"/>
                        </a:rPr>
                        <a:t>n</a:t>
                      </a:r>
                    </a:p>
                  </a:txBody>
                  <a:tcPr marL="45720" marR="45720" marT="9144" marB="9144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5A6B7B"/>
                          </a:solidFill>
                          <a:latin typeface="Consolas"/>
                        </a:rPr>
                        <a:t>scaffold_cv_R2</a:t>
                      </a:r>
                    </a:p>
                  </a:txBody>
                  <a:tcPr marL="45720" marR="45720" marT="9144" marB="9144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5A6B7B"/>
                          </a:solidFill>
                          <a:latin typeface="Consolas"/>
                        </a:rPr>
                        <a:t>RMSE</a:t>
                      </a:r>
                    </a:p>
                  </a:txBody>
                  <a:tcPr marL="45720" marR="45720" marT="9144" marB="9144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5A6B7B"/>
                          </a:solidFill>
                          <a:latin typeface="Consolas"/>
                        </a:rPr>
                        <a:t>Spearman</a:t>
                      </a:r>
                    </a:p>
                  </a:txBody>
                  <a:tcPr marL="45720" marR="45720" marT="9144" marB="9144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5A6B7B"/>
                          </a:solidFill>
                          <a:latin typeface="Consolas"/>
                        </a:rPr>
                        <a:t>temporal_R2</a:t>
                      </a:r>
                    </a:p>
                  </a:txBody>
                  <a:tcPr marL="45720" marR="45720" marT="9144" marB="9144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5A6B7B"/>
                          </a:solidFill>
                          <a:latin typeface="Consolas"/>
                        </a:rPr>
                        <a:t>y_range</a:t>
                      </a:r>
                    </a:p>
                  </a:txBody>
                  <a:tcPr marL="45720" marR="45720" marT="9144" marB="9144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5A6B7B"/>
                          </a:solidFill>
                          <a:latin typeface="Consolas"/>
                        </a:rPr>
                        <a:t>task</a:t>
                      </a:r>
                    </a:p>
                  </a:txBody>
                  <a:tcPr marL="45720" marR="45720" marT="9144" marB="9144" anchor="ctr">
                    <a:solidFill>
                      <a:srgbClr val="EEF2F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6222F"/>
                          </a:solidFill>
                          <a:latin typeface="Calibri"/>
                        </a:rPr>
                        <a:t>D2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7511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0.425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0.713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0.652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-0.007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3.74-10.83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regression (pChEMBL)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6222F"/>
                          </a:solidFill>
                          <a:latin typeface="Calibri"/>
                        </a:rPr>
                        <a:t>A2A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5547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0.526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0.738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0.706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0.326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3.39-11.0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regression (pChEMBL)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6222F"/>
                          </a:solidFill>
                          <a:latin typeface="Calibri"/>
                        </a:rPr>
                        <a:t>HT2A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5256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0.46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0.757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0.684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0.085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4.0-11.0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regression (pChEMBL)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6222F"/>
                          </a:solidFill>
                          <a:latin typeface="Calibri"/>
                        </a:rPr>
                        <a:t>SERT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4471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0.338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0.841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0.573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0.171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4.0-11.0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regression (pChEMBL)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594360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i="1">
                <a:solidFill>
                  <a:srgbClr val="5A6B7B"/>
                </a:solidFill>
                <a:latin typeface="Calibri"/>
              </a:rPr>
              <a:t>STable S2. Receptor potency-regression performance (scaffold CV and temporal split).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072B2"/>
                </a:solidFill>
                <a:latin typeface="Consolas"/>
              </a:rPr>
              <a:t>SUPPLEMENTARY TABLE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530352"/>
            <a:ext cx="457200" cy="41148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22960"/>
            <a:ext cx="10607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6222F"/>
                </a:solidFill>
                <a:latin typeface="Georgia"/>
              </a:rPr>
              <a:t>STable S3 — Antioxidant (measured DPPH)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600200"/>
          <a:ext cx="11274552" cy="7680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52728"/>
                <a:gridCol w="1252728"/>
                <a:gridCol w="1252728"/>
                <a:gridCol w="1252728"/>
                <a:gridCol w="1252728"/>
                <a:gridCol w="1252728"/>
                <a:gridCol w="1252728"/>
                <a:gridCol w="1252728"/>
                <a:gridCol w="1252728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5A6B7B"/>
                          </a:solidFill>
                          <a:latin typeface="Consolas"/>
                        </a:rPr>
                        <a:t>endpoint</a:t>
                      </a:r>
                    </a:p>
                  </a:txBody>
                  <a:tcPr marL="45720" marR="45720" marT="9144" marB="9144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5A6B7B"/>
                          </a:solidFill>
                          <a:latin typeface="Consolas"/>
                        </a:rPr>
                        <a:t>n</a:t>
                      </a:r>
                    </a:p>
                  </a:txBody>
                  <a:tcPr marL="45720" marR="45720" marT="9144" marB="9144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5A6B7B"/>
                          </a:solidFill>
                          <a:latin typeface="Consolas"/>
                        </a:rPr>
                        <a:t>scaffold_cv_R2</a:t>
                      </a:r>
                    </a:p>
                  </a:txBody>
                  <a:tcPr marL="45720" marR="45720" marT="9144" marB="9144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5A6B7B"/>
                          </a:solidFill>
                          <a:latin typeface="Consolas"/>
                        </a:rPr>
                        <a:t>RMSE</a:t>
                      </a:r>
                    </a:p>
                  </a:txBody>
                  <a:tcPr marL="45720" marR="45720" marT="9144" marB="9144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5A6B7B"/>
                          </a:solidFill>
                          <a:latin typeface="Consolas"/>
                        </a:rPr>
                        <a:t>Spearman</a:t>
                      </a:r>
                    </a:p>
                  </a:txBody>
                  <a:tcPr marL="45720" marR="45720" marT="9144" marB="9144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5A6B7B"/>
                          </a:solidFill>
                          <a:latin typeface="Consolas"/>
                        </a:rPr>
                        <a:t>temporal_R2</a:t>
                      </a:r>
                    </a:p>
                  </a:txBody>
                  <a:tcPr marL="45720" marR="45720" marT="9144" marB="9144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5A6B7B"/>
                          </a:solidFill>
                          <a:latin typeface="Consolas"/>
                        </a:rPr>
                        <a:t>crosscheck_curated_vs_measured_Spearman</a:t>
                      </a:r>
                    </a:p>
                  </a:txBody>
                  <a:tcPr marL="45720" marR="45720" marT="9144" marB="9144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5A6B7B"/>
                          </a:solidFill>
                          <a:latin typeface="Consolas"/>
                        </a:rPr>
                        <a:t>prior_curated_R2</a:t>
                      </a:r>
                    </a:p>
                  </a:txBody>
                  <a:tcPr marL="45720" marR="45720" marT="9144" marB="9144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5A6B7B"/>
                          </a:solidFill>
                          <a:latin typeface="Consolas"/>
                        </a:rPr>
                        <a:t>source</a:t>
                      </a:r>
                    </a:p>
                  </a:txBody>
                  <a:tcPr marL="45720" marR="45720" marT="9144" marB="9144" anchor="ctr">
                    <a:solidFill>
                      <a:srgbClr val="EEF2F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6222F"/>
                          </a:solidFill>
                          <a:latin typeface="Calibri"/>
                        </a:rPr>
                        <a:t>antioxidant_DPPH_measured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2862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0.43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0.597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0.636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-0.021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0.387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0.25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ChEMBL DPPH radical-scavenging assays (measured IC50/EC50 -&gt; pIC50)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594360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i="1">
                <a:solidFill>
                  <a:srgbClr val="5A6B7B"/>
                </a:solidFill>
                <a:latin typeface="Calibri"/>
              </a:rPr>
              <a:t>STable S3. Measured-DPPH antioxidant regression, including cross-check against the prior curated proxy.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072B2"/>
                </a:solidFill>
                <a:latin typeface="Consolas"/>
              </a:rPr>
              <a:t>SUPPLEMENTARY TABLE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530352"/>
            <a:ext cx="457200" cy="41148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22960"/>
            <a:ext cx="10607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6222F"/>
                </a:solidFill>
                <a:latin typeface="Georgia"/>
              </a:rPr>
              <a:t>STable S4 — Threshold sensitivity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600200"/>
          <a:ext cx="11274550" cy="41605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27455"/>
                <a:gridCol w="1127455"/>
                <a:gridCol w="1127455"/>
                <a:gridCol w="1127455"/>
                <a:gridCol w="1127455"/>
                <a:gridCol w="1127455"/>
                <a:gridCol w="1127455"/>
                <a:gridCol w="1127455"/>
                <a:gridCol w="1127455"/>
                <a:gridCol w="1127455"/>
              </a:tblGrid>
              <a:tr h="180892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5A6B7B"/>
                          </a:solidFill>
                          <a:latin typeface="Consolas"/>
                        </a:rPr>
                        <a:t>endpoint</a:t>
                      </a:r>
                    </a:p>
                  </a:txBody>
                  <a:tcPr marL="45720" marR="45720" marT="9144" marB="9144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A6B7B"/>
                          </a:solidFill>
                          <a:latin typeface="Consolas"/>
                        </a:rPr>
                        <a:t>split</a:t>
                      </a:r>
                    </a:p>
                  </a:txBody>
                  <a:tcPr marL="45720" marR="45720" marT="9144" marB="9144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A6B7B"/>
                          </a:solidFill>
                          <a:latin typeface="Consolas"/>
                        </a:rPr>
                        <a:t>threshold</a:t>
                      </a:r>
                    </a:p>
                  </a:txBody>
                  <a:tcPr marL="45720" marR="45720" marT="9144" marB="9144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A6B7B"/>
                          </a:solidFill>
                          <a:latin typeface="Consolas"/>
                        </a:rPr>
                        <a:t>precision</a:t>
                      </a:r>
                    </a:p>
                  </a:txBody>
                  <a:tcPr marL="45720" marR="45720" marT="9144" marB="9144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A6B7B"/>
                          </a:solidFill>
                          <a:latin typeface="Consolas"/>
                        </a:rPr>
                        <a:t>recall</a:t>
                      </a:r>
                    </a:p>
                  </a:txBody>
                  <a:tcPr marL="45720" marR="45720" marT="9144" marB="9144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A6B7B"/>
                          </a:solidFill>
                          <a:latin typeface="Consolas"/>
                        </a:rPr>
                        <a:t>f1</a:t>
                      </a:r>
                    </a:p>
                  </a:txBody>
                  <a:tcPr marL="45720" marR="45720" marT="9144" marB="9144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A6B7B"/>
                          </a:solidFill>
                          <a:latin typeface="Consolas"/>
                        </a:rPr>
                        <a:t>AUROC</a:t>
                      </a:r>
                    </a:p>
                  </a:txBody>
                  <a:tcPr marL="45720" marR="45720" marT="9144" marB="9144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A6B7B"/>
                          </a:solidFill>
                          <a:latin typeface="Consolas"/>
                        </a:rPr>
                        <a:t>PR_AUC</a:t>
                      </a:r>
                    </a:p>
                  </a:txBody>
                  <a:tcPr marL="45720" marR="45720" marT="9144" marB="9144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A6B7B"/>
                          </a:solidFill>
                          <a:latin typeface="Consolas"/>
                        </a:rPr>
                        <a:t>n_test</a:t>
                      </a:r>
                    </a:p>
                  </a:txBody>
                  <a:tcPr marL="45720" marR="45720" marT="9144" marB="9144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A6B7B"/>
                          </a:solidFill>
                          <a:latin typeface="Consolas"/>
                        </a:rPr>
                        <a:t>pos_rate_test</a:t>
                      </a:r>
                    </a:p>
                  </a:txBody>
                  <a:tcPr marL="45720" marR="45720" marT="9144" marB="9144" anchor="ctr">
                    <a:solidFill>
                      <a:srgbClr val="EEF2F6"/>
                    </a:solidFill>
                  </a:tcPr>
                </a:tc>
              </a:tr>
              <a:tr h="18089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6222F"/>
                          </a:solidFill>
                          <a:latin typeface="Calibri"/>
                        </a:rPr>
                        <a:t>A2A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temporal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@0.3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0.981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1.0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0.99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0.92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0.996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1057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0.977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18089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6222F"/>
                          </a:solidFill>
                          <a:latin typeface="Calibri"/>
                        </a:rPr>
                        <a:t>A2A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temporal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@0.5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0.986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0.999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0.992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0.92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0.996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1057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0.977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</a:tr>
              <a:tr h="18089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6222F"/>
                          </a:solidFill>
                          <a:latin typeface="Calibri"/>
                        </a:rPr>
                        <a:t>A2A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temporal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@0.7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0.987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0.997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0.992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0.92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0.996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1057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0.977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18089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6222F"/>
                          </a:solidFill>
                          <a:latin typeface="Calibri"/>
                        </a:rPr>
                        <a:t>A2A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temporal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@youden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0.997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0.973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0.985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0.92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0.996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1057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0.977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</a:tr>
              <a:tr h="18089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6222F"/>
                          </a:solidFill>
                          <a:latin typeface="Calibri"/>
                        </a:rPr>
                        <a:t>A2A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scaffold_holdout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@0.3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0.98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0.999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0.989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0.931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0.998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1696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0.973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18089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6222F"/>
                          </a:solidFill>
                          <a:latin typeface="Calibri"/>
                        </a:rPr>
                        <a:t>A2A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scaffold_holdout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@0.5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0.981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0.996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0.989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0.931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0.998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1696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0.973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</a:tr>
              <a:tr h="18089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6222F"/>
                          </a:solidFill>
                          <a:latin typeface="Calibri"/>
                        </a:rPr>
                        <a:t>A2A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scaffold_holdout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@0.7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0.984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0.99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0.987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0.931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0.998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1696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0.973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18089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6222F"/>
                          </a:solidFill>
                          <a:latin typeface="Calibri"/>
                        </a:rPr>
                        <a:t>A2A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scaffold_holdout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@youden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0.994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0.925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0.959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0.931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0.998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1696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0.973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</a:tr>
              <a:tr h="18089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6222F"/>
                          </a:solidFill>
                          <a:latin typeface="Calibri"/>
                        </a:rPr>
                        <a:t>AChE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temporal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@0.3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0.742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0.963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0.838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0.784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0.897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848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0.699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18089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6222F"/>
                          </a:solidFill>
                          <a:latin typeface="Calibri"/>
                        </a:rPr>
                        <a:t>AChE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temporal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@0.5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0.806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0.86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0.832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0.784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0.897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848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0.699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</a:tr>
              <a:tr h="18089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6222F"/>
                          </a:solidFill>
                          <a:latin typeface="Calibri"/>
                        </a:rPr>
                        <a:t>AChE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temporal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@0.7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0.862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0.568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0.685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0.784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0.897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848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0.699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18089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6222F"/>
                          </a:solidFill>
                          <a:latin typeface="Calibri"/>
                        </a:rPr>
                        <a:t>AChE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temporal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@youden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0.835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0.74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0.785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0.784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0.897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848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0.699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</a:tr>
              <a:tr h="18089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6222F"/>
                          </a:solidFill>
                          <a:latin typeface="Calibri"/>
                        </a:rPr>
                        <a:t>AChE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scaffold_holdout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@0.3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0.8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0.981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0.881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0.884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0.944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1183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0.71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18089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6222F"/>
                          </a:solidFill>
                          <a:latin typeface="Calibri"/>
                        </a:rPr>
                        <a:t>AChE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scaffold_holdout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@0.5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0.878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0.887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0.882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0.884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0.944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1183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0.71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</a:tr>
              <a:tr h="18089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6222F"/>
                          </a:solidFill>
                          <a:latin typeface="Calibri"/>
                        </a:rPr>
                        <a:t>AChE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scaffold_holdout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@0.7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0.934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0.676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0.785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0.884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0.944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1183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0.71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18089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6222F"/>
                          </a:solidFill>
                          <a:latin typeface="Calibri"/>
                        </a:rPr>
                        <a:t>AChE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scaffold_holdout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@youden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0.909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0.833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0.87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0.884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0.944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1183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0.71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</a:tr>
              <a:tr h="18089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6222F"/>
                          </a:solidFill>
                          <a:latin typeface="Calibri"/>
                        </a:rPr>
                        <a:t>BACE1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temporal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@0.3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0.949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0.967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0.958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0.915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0.991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1604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0.933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18089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6222F"/>
                          </a:solidFill>
                          <a:latin typeface="Calibri"/>
                        </a:rPr>
                        <a:t>BACE1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temporal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@0.5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0.966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0.945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0.955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0.915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0.991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1604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0.933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</a:tr>
              <a:tr h="18089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6222F"/>
                          </a:solidFill>
                          <a:latin typeface="Calibri"/>
                        </a:rPr>
                        <a:t>BACE1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temporal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@0.7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0.982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0.926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0.954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0.915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0.991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1604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0.933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18089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6222F"/>
                          </a:solidFill>
                          <a:latin typeface="Calibri"/>
                        </a:rPr>
                        <a:t>BACE1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temporal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@youden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0.993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0.886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0.936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0.915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0.991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1604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0.933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</a:tr>
              <a:tr h="18089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6222F"/>
                          </a:solidFill>
                          <a:latin typeface="Calibri"/>
                        </a:rPr>
                        <a:t>BACE1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scaffold_holdout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@0.3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0.947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0.992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0.969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0.924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0.991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2334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0.907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18089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6222F"/>
                          </a:solidFill>
                          <a:latin typeface="Calibri"/>
                        </a:rPr>
                        <a:t>BACE1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scaffold_holdout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@0.5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0.958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0.981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0.969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0.924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0.991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2334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0.907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594360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i="1">
                <a:solidFill>
                  <a:srgbClr val="5A6B7B"/>
                </a:solidFill>
                <a:latin typeface="Calibri"/>
              </a:rPr>
              <a:t>STable S4. Per-operating-threshold precision/recall/F1 by endpoint and split (temporal, scaffold-holdout).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072B2"/>
                </a:solidFill>
                <a:latin typeface="Consolas"/>
              </a:rPr>
              <a:t>SUPPLEMENTARY TABLE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530352"/>
            <a:ext cx="457200" cy="41148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22960"/>
            <a:ext cx="10607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6222F"/>
                </a:solidFill>
                <a:latin typeface="Georgia"/>
              </a:rPr>
              <a:t>STable S4 — Threshold sensitivity (continued)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600200"/>
          <a:ext cx="11274550" cy="41605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27455"/>
                <a:gridCol w="1127455"/>
                <a:gridCol w="1127455"/>
                <a:gridCol w="1127455"/>
                <a:gridCol w="1127455"/>
                <a:gridCol w="1127455"/>
                <a:gridCol w="1127455"/>
                <a:gridCol w="1127455"/>
                <a:gridCol w="1127455"/>
                <a:gridCol w="1127455"/>
              </a:tblGrid>
              <a:tr h="180892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5A6B7B"/>
                          </a:solidFill>
                          <a:latin typeface="Consolas"/>
                        </a:rPr>
                        <a:t>endpoint</a:t>
                      </a:r>
                    </a:p>
                  </a:txBody>
                  <a:tcPr marL="45720" marR="45720" marT="9144" marB="9144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A6B7B"/>
                          </a:solidFill>
                          <a:latin typeface="Consolas"/>
                        </a:rPr>
                        <a:t>split</a:t>
                      </a:r>
                    </a:p>
                  </a:txBody>
                  <a:tcPr marL="45720" marR="45720" marT="9144" marB="9144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A6B7B"/>
                          </a:solidFill>
                          <a:latin typeface="Consolas"/>
                        </a:rPr>
                        <a:t>threshold</a:t>
                      </a:r>
                    </a:p>
                  </a:txBody>
                  <a:tcPr marL="45720" marR="45720" marT="9144" marB="9144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A6B7B"/>
                          </a:solidFill>
                          <a:latin typeface="Consolas"/>
                        </a:rPr>
                        <a:t>precision</a:t>
                      </a:r>
                    </a:p>
                  </a:txBody>
                  <a:tcPr marL="45720" marR="45720" marT="9144" marB="9144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A6B7B"/>
                          </a:solidFill>
                          <a:latin typeface="Consolas"/>
                        </a:rPr>
                        <a:t>recall</a:t>
                      </a:r>
                    </a:p>
                  </a:txBody>
                  <a:tcPr marL="45720" marR="45720" marT="9144" marB="9144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A6B7B"/>
                          </a:solidFill>
                          <a:latin typeface="Consolas"/>
                        </a:rPr>
                        <a:t>f1</a:t>
                      </a:r>
                    </a:p>
                  </a:txBody>
                  <a:tcPr marL="45720" marR="45720" marT="9144" marB="9144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A6B7B"/>
                          </a:solidFill>
                          <a:latin typeface="Consolas"/>
                        </a:rPr>
                        <a:t>AUROC</a:t>
                      </a:r>
                    </a:p>
                  </a:txBody>
                  <a:tcPr marL="45720" marR="45720" marT="9144" marB="9144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A6B7B"/>
                          </a:solidFill>
                          <a:latin typeface="Consolas"/>
                        </a:rPr>
                        <a:t>PR_AUC</a:t>
                      </a:r>
                    </a:p>
                  </a:txBody>
                  <a:tcPr marL="45720" marR="45720" marT="9144" marB="9144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A6B7B"/>
                          </a:solidFill>
                          <a:latin typeface="Consolas"/>
                        </a:rPr>
                        <a:t>n_test</a:t>
                      </a:r>
                    </a:p>
                  </a:txBody>
                  <a:tcPr marL="45720" marR="45720" marT="9144" marB="9144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A6B7B"/>
                          </a:solidFill>
                          <a:latin typeface="Consolas"/>
                        </a:rPr>
                        <a:t>pos_rate_test</a:t>
                      </a:r>
                    </a:p>
                  </a:txBody>
                  <a:tcPr marL="45720" marR="45720" marT="9144" marB="9144" anchor="ctr">
                    <a:solidFill>
                      <a:srgbClr val="EEF2F6"/>
                    </a:solidFill>
                  </a:tcPr>
                </a:tc>
              </a:tr>
              <a:tr h="18089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6222F"/>
                          </a:solidFill>
                          <a:latin typeface="Calibri"/>
                        </a:rPr>
                        <a:t>BACE1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scaffold_holdout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@0.7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0.97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0.94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0.955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0.924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0.991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2334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0.907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18089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6222F"/>
                          </a:solidFill>
                          <a:latin typeface="Calibri"/>
                        </a:rPr>
                        <a:t>BACE1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scaffold_holdout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@youden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0.98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0.894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0.935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0.924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0.991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2334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0.907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</a:tr>
              <a:tr h="18089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6222F"/>
                          </a:solidFill>
                          <a:latin typeface="Calibri"/>
                        </a:rPr>
                        <a:t>BBB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scaffold_holdout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@0.3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0.799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0.941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0.865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0.944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0.955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1529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0.545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18089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6222F"/>
                          </a:solidFill>
                          <a:latin typeface="Calibri"/>
                        </a:rPr>
                        <a:t>BBB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scaffold_holdout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@0.5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0.87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0.898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0.884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0.944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0.955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1529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0.545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</a:tr>
              <a:tr h="18089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6222F"/>
                          </a:solidFill>
                          <a:latin typeface="Calibri"/>
                        </a:rPr>
                        <a:t>BBB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scaffold_holdout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@0.7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0.937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0.788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0.856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0.944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0.955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1529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0.545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18089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6222F"/>
                          </a:solidFill>
                          <a:latin typeface="Calibri"/>
                        </a:rPr>
                        <a:t>BBB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scaffold_holdout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@youden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0.87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0.902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0.886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0.944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0.955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1529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0.545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</a:tr>
              <a:tr h="18089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6222F"/>
                          </a:solidFill>
                          <a:latin typeface="Calibri"/>
                        </a:rPr>
                        <a:t>BChE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temporal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@0.3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0.888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0.892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0.89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0.794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0.946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527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0.827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18089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6222F"/>
                          </a:solidFill>
                          <a:latin typeface="Calibri"/>
                        </a:rPr>
                        <a:t>BChE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temporal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@0.5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0.912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0.739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0.816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0.794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0.946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527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0.827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</a:tr>
              <a:tr h="18089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6222F"/>
                          </a:solidFill>
                          <a:latin typeface="Calibri"/>
                        </a:rPr>
                        <a:t>BChE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temporal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@0.7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0.955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0.482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0.64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0.794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0.946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527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0.827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18089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6222F"/>
                          </a:solidFill>
                          <a:latin typeface="Calibri"/>
                        </a:rPr>
                        <a:t>BChE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temporal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@youden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0.917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0.789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0.848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0.794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0.946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527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0.827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</a:tr>
              <a:tr h="18089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6222F"/>
                          </a:solidFill>
                          <a:latin typeface="Calibri"/>
                        </a:rPr>
                        <a:t>BChE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scaffold_holdout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@0.3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0.914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0.969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0.941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0.965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0.988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602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0.746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18089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6222F"/>
                          </a:solidFill>
                          <a:latin typeface="Calibri"/>
                        </a:rPr>
                        <a:t>BChE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scaffold_holdout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@0.5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0.946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0.904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0.925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0.965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0.988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602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0.746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</a:tr>
              <a:tr h="18089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6222F"/>
                          </a:solidFill>
                          <a:latin typeface="Calibri"/>
                        </a:rPr>
                        <a:t>BChE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scaffold_holdout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@0.7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0.986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0.804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0.886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0.965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0.988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602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0.746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18089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6222F"/>
                          </a:solidFill>
                          <a:latin typeface="Calibri"/>
                        </a:rPr>
                        <a:t>BChE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scaffold_holdout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@youden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0.964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0.891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0.926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0.965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0.988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602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0.746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</a:tr>
              <a:tr h="18089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6222F"/>
                          </a:solidFill>
                          <a:latin typeface="Calibri"/>
                        </a:rPr>
                        <a:t>D2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temporal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@0.3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0.962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1.0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0.981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0.727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0.983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1397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0.96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18089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6222F"/>
                          </a:solidFill>
                          <a:latin typeface="Calibri"/>
                        </a:rPr>
                        <a:t>D2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temporal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@0.5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0.962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1.0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0.981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0.727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0.983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1397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0.96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</a:tr>
              <a:tr h="18089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6222F"/>
                          </a:solidFill>
                          <a:latin typeface="Calibri"/>
                        </a:rPr>
                        <a:t>D2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temporal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@0.7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0.962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0.993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0.977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0.727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0.983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1397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0.96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18089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6222F"/>
                          </a:solidFill>
                          <a:latin typeface="Calibri"/>
                        </a:rPr>
                        <a:t>D2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temporal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@youden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0.98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0.704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0.819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0.727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0.983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1397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0.96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</a:tr>
              <a:tr h="18089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6222F"/>
                          </a:solidFill>
                          <a:latin typeface="Calibri"/>
                        </a:rPr>
                        <a:t>D2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scaffold_holdout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@0.3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0.964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0.998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0.981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0.883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0.994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2015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0.962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18089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6222F"/>
                          </a:solidFill>
                          <a:latin typeface="Calibri"/>
                        </a:rPr>
                        <a:t>D2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scaffold_holdout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@0.5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0.966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0.995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0.98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0.883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0.994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2015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0.962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</a:tr>
              <a:tr h="18089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6222F"/>
                          </a:solidFill>
                          <a:latin typeface="Calibri"/>
                        </a:rPr>
                        <a:t>D2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scaffold_holdout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@0.7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0.968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0.987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0.977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0.883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0.994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2015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0.962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18089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6222F"/>
                          </a:solidFill>
                          <a:latin typeface="Calibri"/>
                        </a:rPr>
                        <a:t>D2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scaffold_holdout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@youden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0.989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0.847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0.912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0.883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0.994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2015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0.962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594360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i="1">
                <a:solidFill>
                  <a:srgbClr val="5A6B7B"/>
                </a:solidFill>
                <a:latin typeface="Calibri"/>
              </a:rPr>
              <a:t>STable S4. Per-operating-threshold precision/recall/F1 by endpoint and split (temporal, scaffold-holdout).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072B2"/>
                </a:solidFill>
                <a:latin typeface="Consolas"/>
              </a:rPr>
              <a:t>SUPPLEMENTARY TABLE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530352"/>
            <a:ext cx="457200" cy="41148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22960"/>
            <a:ext cx="10607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6222F"/>
                </a:solidFill>
                <a:latin typeface="Georgia"/>
              </a:rPr>
              <a:t>STable S4 — Threshold sensitivity (continued)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600200"/>
          <a:ext cx="11274550" cy="41605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27455"/>
                <a:gridCol w="1127455"/>
                <a:gridCol w="1127455"/>
                <a:gridCol w="1127455"/>
                <a:gridCol w="1127455"/>
                <a:gridCol w="1127455"/>
                <a:gridCol w="1127455"/>
                <a:gridCol w="1127455"/>
                <a:gridCol w="1127455"/>
                <a:gridCol w="1127455"/>
              </a:tblGrid>
              <a:tr h="180892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5A6B7B"/>
                          </a:solidFill>
                          <a:latin typeface="Consolas"/>
                        </a:rPr>
                        <a:t>endpoint</a:t>
                      </a:r>
                    </a:p>
                  </a:txBody>
                  <a:tcPr marL="45720" marR="45720" marT="9144" marB="9144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A6B7B"/>
                          </a:solidFill>
                          <a:latin typeface="Consolas"/>
                        </a:rPr>
                        <a:t>split</a:t>
                      </a:r>
                    </a:p>
                  </a:txBody>
                  <a:tcPr marL="45720" marR="45720" marT="9144" marB="9144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A6B7B"/>
                          </a:solidFill>
                          <a:latin typeface="Consolas"/>
                        </a:rPr>
                        <a:t>threshold</a:t>
                      </a:r>
                    </a:p>
                  </a:txBody>
                  <a:tcPr marL="45720" marR="45720" marT="9144" marB="9144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A6B7B"/>
                          </a:solidFill>
                          <a:latin typeface="Consolas"/>
                        </a:rPr>
                        <a:t>precision</a:t>
                      </a:r>
                    </a:p>
                  </a:txBody>
                  <a:tcPr marL="45720" marR="45720" marT="9144" marB="9144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A6B7B"/>
                          </a:solidFill>
                          <a:latin typeface="Consolas"/>
                        </a:rPr>
                        <a:t>recall</a:t>
                      </a:r>
                    </a:p>
                  </a:txBody>
                  <a:tcPr marL="45720" marR="45720" marT="9144" marB="9144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A6B7B"/>
                          </a:solidFill>
                          <a:latin typeface="Consolas"/>
                        </a:rPr>
                        <a:t>f1</a:t>
                      </a:r>
                    </a:p>
                  </a:txBody>
                  <a:tcPr marL="45720" marR="45720" marT="9144" marB="9144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A6B7B"/>
                          </a:solidFill>
                          <a:latin typeface="Consolas"/>
                        </a:rPr>
                        <a:t>AUROC</a:t>
                      </a:r>
                    </a:p>
                  </a:txBody>
                  <a:tcPr marL="45720" marR="45720" marT="9144" marB="9144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A6B7B"/>
                          </a:solidFill>
                          <a:latin typeface="Consolas"/>
                        </a:rPr>
                        <a:t>PR_AUC</a:t>
                      </a:r>
                    </a:p>
                  </a:txBody>
                  <a:tcPr marL="45720" marR="45720" marT="9144" marB="9144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A6B7B"/>
                          </a:solidFill>
                          <a:latin typeface="Consolas"/>
                        </a:rPr>
                        <a:t>n_test</a:t>
                      </a:r>
                    </a:p>
                  </a:txBody>
                  <a:tcPr marL="45720" marR="45720" marT="9144" marB="9144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A6B7B"/>
                          </a:solidFill>
                          <a:latin typeface="Consolas"/>
                        </a:rPr>
                        <a:t>pos_rate_test</a:t>
                      </a:r>
                    </a:p>
                  </a:txBody>
                  <a:tcPr marL="45720" marR="45720" marT="9144" marB="9144" anchor="ctr">
                    <a:solidFill>
                      <a:srgbClr val="EEF2F6"/>
                    </a:solidFill>
                  </a:tcPr>
                </a:tc>
              </a:tr>
              <a:tr h="18089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6222F"/>
                          </a:solidFill>
                          <a:latin typeface="Calibri"/>
                        </a:rPr>
                        <a:t>GSK3B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temporal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@0.3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0.933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0.997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0.964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0.658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0.96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418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0.928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18089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6222F"/>
                          </a:solidFill>
                          <a:latin typeface="Calibri"/>
                        </a:rPr>
                        <a:t>GSK3B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temporal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@0.5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0.937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0.992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0.964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0.658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0.96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418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0.928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</a:tr>
              <a:tr h="18089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6222F"/>
                          </a:solidFill>
                          <a:latin typeface="Calibri"/>
                        </a:rPr>
                        <a:t>GSK3B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temporal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@0.7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0.935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0.972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0.953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0.658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0.96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418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0.928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18089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6222F"/>
                          </a:solidFill>
                          <a:latin typeface="Calibri"/>
                        </a:rPr>
                        <a:t>GSK3B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temporal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@youden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0.957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0.74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0.834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0.658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0.96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418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0.928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</a:tr>
              <a:tr h="18089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6222F"/>
                          </a:solidFill>
                          <a:latin typeface="Calibri"/>
                        </a:rPr>
                        <a:t>GSK3B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scaffold_holdout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@0.3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0.943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0.995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0.968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0.918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0.991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1037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0.916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18089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6222F"/>
                          </a:solidFill>
                          <a:latin typeface="Calibri"/>
                        </a:rPr>
                        <a:t>GSK3B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scaffold_holdout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@0.5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0.948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0.988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0.968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0.918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0.991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1037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0.916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</a:tr>
              <a:tr h="18089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6222F"/>
                          </a:solidFill>
                          <a:latin typeface="Calibri"/>
                        </a:rPr>
                        <a:t>GSK3B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scaffold_holdout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@0.7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0.959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0.951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0.955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0.918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0.991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1037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0.916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18089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6222F"/>
                          </a:solidFill>
                          <a:latin typeface="Calibri"/>
                        </a:rPr>
                        <a:t>GSK3B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scaffold_holdout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@youden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0.989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0.791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0.879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0.918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0.991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1037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0.916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</a:tr>
              <a:tr h="18089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6222F"/>
                          </a:solidFill>
                          <a:latin typeface="Calibri"/>
                        </a:rPr>
                        <a:t>HT2A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temporal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@0.3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0.968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1.0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0.984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0.736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0.986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901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0.968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18089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6222F"/>
                          </a:solidFill>
                          <a:latin typeface="Calibri"/>
                        </a:rPr>
                        <a:t>HT2A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temporal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@0.5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0.968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1.0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0.984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0.736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0.986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901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0.968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</a:tr>
              <a:tr h="18089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6222F"/>
                          </a:solidFill>
                          <a:latin typeface="Calibri"/>
                        </a:rPr>
                        <a:t>HT2A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temporal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@0.7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0.968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1.0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0.984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0.736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0.986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901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0.968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18089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6222F"/>
                          </a:solidFill>
                          <a:latin typeface="Calibri"/>
                        </a:rPr>
                        <a:t>HT2A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temporal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@youden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0.99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0.69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0.814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0.736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0.986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901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0.968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</a:tr>
              <a:tr h="18089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6222F"/>
                          </a:solidFill>
                          <a:latin typeface="Calibri"/>
                        </a:rPr>
                        <a:t>HT2A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scaffold_holdout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@0.3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0.985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1.0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0.992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0.894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0.998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928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0.985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18089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6222F"/>
                          </a:solidFill>
                          <a:latin typeface="Calibri"/>
                        </a:rPr>
                        <a:t>HT2A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scaffold_holdout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@0.5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0.986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1.0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0.993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0.894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0.998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928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0.985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</a:tr>
              <a:tr h="18089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6222F"/>
                          </a:solidFill>
                          <a:latin typeface="Calibri"/>
                        </a:rPr>
                        <a:t>HT2A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scaffold_holdout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@0.7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0.986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0.999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0.992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0.894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0.998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928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0.985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18089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6222F"/>
                          </a:solidFill>
                          <a:latin typeface="Calibri"/>
                        </a:rPr>
                        <a:t>HT2A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scaffold_holdout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@youden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1.0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0.698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0.822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0.894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0.998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928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0.985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</a:tr>
              <a:tr h="18089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6222F"/>
                          </a:solidFill>
                          <a:latin typeface="Calibri"/>
                        </a:rPr>
                        <a:t>MAO_A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temporal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@0.3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0.523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0.619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0.567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0.614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0.549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449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0.45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18089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6222F"/>
                          </a:solidFill>
                          <a:latin typeface="Calibri"/>
                        </a:rPr>
                        <a:t>MAO_A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temporal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@0.5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0.556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0.322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0.408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0.614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0.549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449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0.45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</a:tr>
              <a:tr h="18089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6222F"/>
                          </a:solidFill>
                          <a:latin typeface="Calibri"/>
                        </a:rPr>
                        <a:t>MAO_A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temporal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@0.7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0.619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0.064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0.117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0.614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0.549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449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0.45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18089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6222F"/>
                          </a:solidFill>
                          <a:latin typeface="Calibri"/>
                        </a:rPr>
                        <a:t>MAO_A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temporal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@youden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0.523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0.777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0.625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0.614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0.549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449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0.45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</a:tr>
              <a:tr h="18089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6222F"/>
                          </a:solidFill>
                          <a:latin typeface="Calibri"/>
                        </a:rPr>
                        <a:t>MAO_A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scaffold_holdout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@0.3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0.664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0.79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0.722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0.867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0.823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638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0.365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18089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6222F"/>
                          </a:solidFill>
                          <a:latin typeface="Calibri"/>
                        </a:rPr>
                        <a:t>MAO_A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scaffold_holdout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@0.5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0.802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0.627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0.704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0.867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0.823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638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0.365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594360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i="1">
                <a:solidFill>
                  <a:srgbClr val="5A6B7B"/>
                </a:solidFill>
                <a:latin typeface="Calibri"/>
              </a:rPr>
              <a:t>STable S4. Per-operating-threshold precision/recall/F1 by endpoint and split (temporal, scaffold-holdout).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072B2"/>
                </a:solidFill>
                <a:latin typeface="Consolas"/>
              </a:rPr>
              <a:t>SUPPLEMENTARY TABLE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530352"/>
            <a:ext cx="457200" cy="41148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22960"/>
            <a:ext cx="10607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6222F"/>
                </a:solidFill>
                <a:latin typeface="Georgia"/>
              </a:rPr>
              <a:t>STable S4 — Threshold sensitivity (continued)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600200"/>
          <a:ext cx="11274550" cy="41605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27455"/>
                <a:gridCol w="1127455"/>
                <a:gridCol w="1127455"/>
                <a:gridCol w="1127455"/>
                <a:gridCol w="1127455"/>
                <a:gridCol w="1127455"/>
                <a:gridCol w="1127455"/>
                <a:gridCol w="1127455"/>
                <a:gridCol w="1127455"/>
                <a:gridCol w="1127455"/>
              </a:tblGrid>
              <a:tr h="180892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5A6B7B"/>
                          </a:solidFill>
                          <a:latin typeface="Consolas"/>
                        </a:rPr>
                        <a:t>endpoint</a:t>
                      </a:r>
                    </a:p>
                  </a:txBody>
                  <a:tcPr marL="45720" marR="45720" marT="9144" marB="9144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A6B7B"/>
                          </a:solidFill>
                          <a:latin typeface="Consolas"/>
                        </a:rPr>
                        <a:t>split</a:t>
                      </a:r>
                    </a:p>
                  </a:txBody>
                  <a:tcPr marL="45720" marR="45720" marT="9144" marB="9144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A6B7B"/>
                          </a:solidFill>
                          <a:latin typeface="Consolas"/>
                        </a:rPr>
                        <a:t>threshold</a:t>
                      </a:r>
                    </a:p>
                  </a:txBody>
                  <a:tcPr marL="45720" marR="45720" marT="9144" marB="9144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A6B7B"/>
                          </a:solidFill>
                          <a:latin typeface="Consolas"/>
                        </a:rPr>
                        <a:t>precision</a:t>
                      </a:r>
                    </a:p>
                  </a:txBody>
                  <a:tcPr marL="45720" marR="45720" marT="9144" marB="9144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A6B7B"/>
                          </a:solidFill>
                          <a:latin typeface="Consolas"/>
                        </a:rPr>
                        <a:t>recall</a:t>
                      </a:r>
                    </a:p>
                  </a:txBody>
                  <a:tcPr marL="45720" marR="45720" marT="9144" marB="9144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A6B7B"/>
                          </a:solidFill>
                          <a:latin typeface="Consolas"/>
                        </a:rPr>
                        <a:t>f1</a:t>
                      </a:r>
                    </a:p>
                  </a:txBody>
                  <a:tcPr marL="45720" marR="45720" marT="9144" marB="9144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A6B7B"/>
                          </a:solidFill>
                          <a:latin typeface="Consolas"/>
                        </a:rPr>
                        <a:t>AUROC</a:t>
                      </a:r>
                    </a:p>
                  </a:txBody>
                  <a:tcPr marL="45720" marR="45720" marT="9144" marB="9144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A6B7B"/>
                          </a:solidFill>
                          <a:latin typeface="Consolas"/>
                        </a:rPr>
                        <a:t>PR_AUC</a:t>
                      </a:r>
                    </a:p>
                  </a:txBody>
                  <a:tcPr marL="45720" marR="45720" marT="9144" marB="9144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A6B7B"/>
                          </a:solidFill>
                          <a:latin typeface="Consolas"/>
                        </a:rPr>
                        <a:t>n_test</a:t>
                      </a:r>
                    </a:p>
                  </a:txBody>
                  <a:tcPr marL="45720" marR="45720" marT="9144" marB="9144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A6B7B"/>
                          </a:solidFill>
                          <a:latin typeface="Consolas"/>
                        </a:rPr>
                        <a:t>pos_rate_test</a:t>
                      </a:r>
                    </a:p>
                  </a:txBody>
                  <a:tcPr marL="45720" marR="45720" marT="9144" marB="9144" anchor="ctr">
                    <a:solidFill>
                      <a:srgbClr val="EEF2F6"/>
                    </a:solidFill>
                  </a:tcPr>
                </a:tc>
              </a:tr>
              <a:tr h="18089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6222F"/>
                          </a:solidFill>
                          <a:latin typeface="Calibri"/>
                        </a:rPr>
                        <a:t>MAO_A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scaffold_holdout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@0.7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0.957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0.382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0.546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0.867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0.823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638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0.365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18089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6222F"/>
                          </a:solidFill>
                          <a:latin typeface="Calibri"/>
                        </a:rPr>
                        <a:t>MAO_A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scaffold_holdout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@youden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0.667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0.815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0.734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0.867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0.823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638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0.365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</a:tr>
              <a:tr h="18089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6222F"/>
                          </a:solidFill>
                          <a:latin typeface="Calibri"/>
                        </a:rPr>
                        <a:t>MAO_B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temporal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@0.3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0.754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0.92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0.829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0.758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0.887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756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0.709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18089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6222F"/>
                          </a:solidFill>
                          <a:latin typeface="Calibri"/>
                        </a:rPr>
                        <a:t>MAO_B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temporal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@0.5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0.82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0.784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0.802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0.758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0.887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756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0.709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</a:tr>
              <a:tr h="18089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6222F"/>
                          </a:solidFill>
                          <a:latin typeface="Calibri"/>
                        </a:rPr>
                        <a:t>MAO_B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temporal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@0.7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0.883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0.547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0.675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0.758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0.887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756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0.709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18089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6222F"/>
                          </a:solidFill>
                          <a:latin typeface="Calibri"/>
                        </a:rPr>
                        <a:t>MAO_B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temporal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@youden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0.872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0.634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0.734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0.758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0.887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756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0.709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</a:tr>
              <a:tr h="18089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6222F"/>
                          </a:solidFill>
                          <a:latin typeface="Calibri"/>
                        </a:rPr>
                        <a:t>MAO_B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scaffold_holdout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@0.3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0.78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0.955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0.858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0.888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0.916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686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0.611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18089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6222F"/>
                          </a:solidFill>
                          <a:latin typeface="Calibri"/>
                        </a:rPr>
                        <a:t>MAO_B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scaffold_holdout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@0.5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0.844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0.866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0.855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0.888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0.916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686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0.611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</a:tr>
              <a:tr h="18089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6222F"/>
                          </a:solidFill>
                          <a:latin typeface="Calibri"/>
                        </a:rPr>
                        <a:t>MAO_B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scaffold_holdout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@0.7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0.908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0.611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0.73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0.888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0.916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686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0.611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18089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6222F"/>
                          </a:solidFill>
                          <a:latin typeface="Calibri"/>
                        </a:rPr>
                        <a:t>MAO_B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scaffold_holdout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@youden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0.843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0.883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0.862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0.888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0.916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686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0.611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</a:tr>
              <a:tr h="18089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6222F"/>
                          </a:solidFill>
                          <a:latin typeface="Calibri"/>
                        </a:rPr>
                        <a:t>SERT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temporal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@0.3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0.947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1.0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0.973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0.731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0.979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998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0.947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18089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6222F"/>
                          </a:solidFill>
                          <a:latin typeface="Calibri"/>
                        </a:rPr>
                        <a:t>SERT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temporal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@0.5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0.947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0.997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0.971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0.731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0.979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998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0.947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</a:tr>
              <a:tr h="18089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6222F"/>
                          </a:solidFill>
                          <a:latin typeface="Calibri"/>
                        </a:rPr>
                        <a:t>SERT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temporal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@0.7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0.951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0.997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0.973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0.731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0.979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998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0.947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18089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6222F"/>
                          </a:solidFill>
                          <a:latin typeface="Calibri"/>
                        </a:rPr>
                        <a:t>SERT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temporal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@youden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0.973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0.753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0.849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0.731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0.979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998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0.947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</a:tr>
              <a:tr h="18089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6222F"/>
                          </a:solidFill>
                          <a:latin typeface="Calibri"/>
                        </a:rPr>
                        <a:t>SERT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scaffold_holdout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@0.3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0.98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0.999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0.989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0.873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0.995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1279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0.977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18089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6222F"/>
                          </a:solidFill>
                          <a:latin typeface="Calibri"/>
                        </a:rPr>
                        <a:t>SERT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scaffold_holdout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@0.5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0.98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0.998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0.989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0.873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0.995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1279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0.977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</a:tr>
              <a:tr h="18089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6222F"/>
                          </a:solidFill>
                          <a:latin typeface="Calibri"/>
                        </a:rPr>
                        <a:t>SERT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scaffold_holdout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@0.7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0.981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0.998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0.99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0.873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0.995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1279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0.977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18089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6222F"/>
                          </a:solidFill>
                          <a:latin typeface="Calibri"/>
                        </a:rPr>
                        <a:t>SERT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scaffold_holdout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@youden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0.997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0.77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0.869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0.873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0.995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1279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0.977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</a:tr>
              <a:tr h="18089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6222F"/>
                          </a:solidFill>
                          <a:latin typeface="Calibri"/>
                        </a:rPr>
                        <a:t>hERG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temporal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@0.3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0.472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0.767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0.584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0.757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0.665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1263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0.313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18089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6222F"/>
                          </a:solidFill>
                          <a:latin typeface="Calibri"/>
                        </a:rPr>
                        <a:t>hERG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temporal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@0.5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0.649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0.539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0.589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0.757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0.665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1263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0.313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</a:tr>
              <a:tr h="18089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6222F"/>
                          </a:solidFill>
                          <a:latin typeface="Calibri"/>
                        </a:rPr>
                        <a:t>hERG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temporal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@0.7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0.811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0.271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0.406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0.757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0.665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1263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0.313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18089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6222F"/>
                          </a:solidFill>
                          <a:latin typeface="Calibri"/>
                        </a:rPr>
                        <a:t>hERG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temporal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@youden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0.565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0.686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0.619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0.757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0.665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1263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0.313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594360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i="1">
                <a:solidFill>
                  <a:srgbClr val="5A6B7B"/>
                </a:solidFill>
                <a:latin typeface="Calibri"/>
              </a:rPr>
              <a:t>STable S4. Per-operating-threshold precision/recall/F1 by endpoint and split (temporal, scaffold-holdout).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072B2"/>
                </a:solidFill>
                <a:latin typeface="Consolas"/>
              </a:rPr>
              <a:t>SUPPLEMENTARY TABLE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530352"/>
            <a:ext cx="457200" cy="41148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22960"/>
            <a:ext cx="10607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6222F"/>
                </a:solidFill>
                <a:latin typeface="Georgia"/>
              </a:rPr>
              <a:t>STable S4 — Threshold sensitivity (continued)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600200"/>
          <a:ext cx="11274550" cy="19202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27455"/>
                <a:gridCol w="1127455"/>
                <a:gridCol w="1127455"/>
                <a:gridCol w="1127455"/>
                <a:gridCol w="1127455"/>
                <a:gridCol w="1127455"/>
                <a:gridCol w="1127455"/>
                <a:gridCol w="1127455"/>
                <a:gridCol w="1127455"/>
                <a:gridCol w="1127455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5A6B7B"/>
                          </a:solidFill>
                          <a:latin typeface="Consolas"/>
                        </a:rPr>
                        <a:t>endpoint</a:t>
                      </a:r>
                    </a:p>
                  </a:txBody>
                  <a:tcPr marL="45720" marR="45720" marT="9144" marB="9144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A6B7B"/>
                          </a:solidFill>
                          <a:latin typeface="Consolas"/>
                        </a:rPr>
                        <a:t>split</a:t>
                      </a:r>
                    </a:p>
                  </a:txBody>
                  <a:tcPr marL="45720" marR="45720" marT="9144" marB="9144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A6B7B"/>
                          </a:solidFill>
                          <a:latin typeface="Consolas"/>
                        </a:rPr>
                        <a:t>threshold</a:t>
                      </a:r>
                    </a:p>
                  </a:txBody>
                  <a:tcPr marL="45720" marR="45720" marT="9144" marB="9144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A6B7B"/>
                          </a:solidFill>
                          <a:latin typeface="Consolas"/>
                        </a:rPr>
                        <a:t>precision</a:t>
                      </a:r>
                    </a:p>
                  </a:txBody>
                  <a:tcPr marL="45720" marR="45720" marT="9144" marB="9144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A6B7B"/>
                          </a:solidFill>
                          <a:latin typeface="Consolas"/>
                        </a:rPr>
                        <a:t>recall</a:t>
                      </a:r>
                    </a:p>
                  </a:txBody>
                  <a:tcPr marL="45720" marR="45720" marT="9144" marB="9144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A6B7B"/>
                          </a:solidFill>
                          <a:latin typeface="Consolas"/>
                        </a:rPr>
                        <a:t>f1</a:t>
                      </a:r>
                    </a:p>
                  </a:txBody>
                  <a:tcPr marL="45720" marR="45720" marT="9144" marB="9144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A6B7B"/>
                          </a:solidFill>
                          <a:latin typeface="Consolas"/>
                        </a:rPr>
                        <a:t>AUROC</a:t>
                      </a:r>
                    </a:p>
                  </a:txBody>
                  <a:tcPr marL="45720" marR="45720" marT="9144" marB="9144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A6B7B"/>
                          </a:solidFill>
                          <a:latin typeface="Consolas"/>
                        </a:rPr>
                        <a:t>PR_AUC</a:t>
                      </a:r>
                    </a:p>
                  </a:txBody>
                  <a:tcPr marL="45720" marR="45720" marT="9144" marB="9144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A6B7B"/>
                          </a:solidFill>
                          <a:latin typeface="Consolas"/>
                        </a:rPr>
                        <a:t>n_test</a:t>
                      </a:r>
                    </a:p>
                  </a:txBody>
                  <a:tcPr marL="45720" marR="45720" marT="9144" marB="9144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A6B7B"/>
                          </a:solidFill>
                          <a:latin typeface="Consolas"/>
                        </a:rPr>
                        <a:t>pos_rate_test</a:t>
                      </a:r>
                    </a:p>
                  </a:txBody>
                  <a:tcPr marL="45720" marR="45720" marT="9144" marB="9144" anchor="ctr">
                    <a:solidFill>
                      <a:srgbClr val="EEF2F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6222F"/>
                          </a:solidFill>
                          <a:latin typeface="Calibri"/>
                        </a:rPr>
                        <a:t>hERG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scaffold_holdout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@0.3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0.668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0.901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0.767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0.908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0.868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1610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0.389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6222F"/>
                          </a:solidFill>
                          <a:latin typeface="Calibri"/>
                        </a:rPr>
                        <a:t>hERG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scaffold_holdout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@0.5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0.861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0.665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0.75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0.908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0.868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1610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0.389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6222F"/>
                          </a:solidFill>
                          <a:latin typeface="Calibri"/>
                        </a:rPr>
                        <a:t>hERG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scaffold_holdout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@0.7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0.942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0.391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0.553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0.908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0.868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1610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0.389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6222F"/>
                          </a:solidFill>
                          <a:latin typeface="Calibri"/>
                        </a:rPr>
                        <a:t>hERG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scaffold_holdout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@youden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0.764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0.824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0.793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0.908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0.868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1610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0.389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594360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i="1">
                <a:solidFill>
                  <a:srgbClr val="5A6B7B"/>
                </a:solidFill>
                <a:latin typeface="Calibri"/>
              </a:rPr>
              <a:t>STable S4. Per-operating-threshold precision/recall/F1 by endpoint and split (temporal, scaffold-holdout).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072B2"/>
                </a:solidFill>
                <a:latin typeface="Consolas"/>
              </a:rPr>
              <a:t>SUPPLEMENTARY TABLE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530352"/>
            <a:ext cx="457200" cy="41148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22960"/>
            <a:ext cx="10607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6222F"/>
                </a:solidFill>
                <a:latin typeface="Georgia"/>
              </a:rPr>
              <a:t>STable S5 — Similarity-binned AUROC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600200"/>
          <a:ext cx="11274552" cy="41605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18638"/>
                <a:gridCol w="2818638"/>
                <a:gridCol w="2818638"/>
                <a:gridCol w="2818638"/>
              </a:tblGrid>
              <a:tr h="180892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5A6B7B"/>
                          </a:solidFill>
                          <a:latin typeface="Consolas"/>
                        </a:rPr>
                        <a:t>endpoint</a:t>
                      </a:r>
                    </a:p>
                  </a:txBody>
                  <a:tcPr marL="45720" marR="45720" marT="9144" marB="9144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5A6B7B"/>
                          </a:solidFill>
                          <a:latin typeface="Consolas"/>
                        </a:rPr>
                        <a:t>tanimoto_bin</a:t>
                      </a:r>
                    </a:p>
                  </a:txBody>
                  <a:tcPr marL="45720" marR="45720" marT="9144" marB="9144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5A6B7B"/>
                          </a:solidFill>
                          <a:latin typeface="Consolas"/>
                        </a:rPr>
                        <a:t>n</a:t>
                      </a:r>
                    </a:p>
                  </a:txBody>
                  <a:tcPr marL="45720" marR="45720" marT="9144" marB="9144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5A6B7B"/>
                          </a:solidFill>
                          <a:latin typeface="Consolas"/>
                        </a:rPr>
                        <a:t>AUROC</a:t>
                      </a:r>
                    </a:p>
                  </a:txBody>
                  <a:tcPr marL="45720" marR="45720" marT="9144" marB="9144" anchor="ctr">
                    <a:solidFill>
                      <a:srgbClr val="EEF2F6"/>
                    </a:solidFill>
                  </a:tcPr>
                </a:tc>
              </a:tr>
              <a:tr h="180892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6222F"/>
                          </a:solidFill>
                          <a:latin typeface="Calibri"/>
                        </a:rPr>
                        <a:t>A2A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T[0.0-0.4)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180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0.836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180892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6222F"/>
                          </a:solidFill>
                          <a:latin typeface="Calibri"/>
                        </a:rPr>
                        <a:t>A2A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T[0.4-0.6)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950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0.893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</a:tr>
              <a:tr h="180892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6222F"/>
                          </a:solidFill>
                          <a:latin typeface="Calibri"/>
                        </a:rPr>
                        <a:t>A2A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T[0.6-0.8)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3399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0.965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180892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6222F"/>
                          </a:solidFill>
                          <a:latin typeface="Calibri"/>
                        </a:rPr>
                        <a:t>A2A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T[0.8-1.0)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1018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0.958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</a:tr>
              <a:tr h="180892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6222F"/>
                          </a:solidFill>
                          <a:latin typeface="Calibri"/>
                        </a:rPr>
                        <a:t>AChE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T[0.0-0.4)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538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0.687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180892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6222F"/>
                          </a:solidFill>
                          <a:latin typeface="Calibri"/>
                        </a:rPr>
                        <a:t>AChE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T[0.4-0.6)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1044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0.827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</a:tr>
              <a:tr h="180892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6222F"/>
                          </a:solidFill>
                          <a:latin typeface="Calibri"/>
                        </a:rPr>
                        <a:t>AChE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T[0.6-0.8)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1569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0.94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180892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6222F"/>
                          </a:solidFill>
                          <a:latin typeface="Calibri"/>
                        </a:rPr>
                        <a:t>AChE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T[0.8-1.0)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1173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0.974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</a:tr>
              <a:tr h="180892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6222F"/>
                          </a:solidFill>
                          <a:latin typeface="Calibri"/>
                        </a:rPr>
                        <a:t>BACE1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T[0.0-0.4)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218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0.652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180892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6222F"/>
                          </a:solidFill>
                          <a:latin typeface="Calibri"/>
                        </a:rPr>
                        <a:t>BACE1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T[0.4-0.6)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1043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0.919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</a:tr>
              <a:tr h="180892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6222F"/>
                          </a:solidFill>
                          <a:latin typeface="Calibri"/>
                        </a:rPr>
                        <a:t>BACE1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T[0.6-0.8)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5244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0.937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180892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6222F"/>
                          </a:solidFill>
                          <a:latin typeface="Calibri"/>
                        </a:rPr>
                        <a:t>BACE1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T[0.8-1.0)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1562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0.966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</a:tr>
              <a:tr h="180892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6222F"/>
                          </a:solidFill>
                          <a:latin typeface="Calibri"/>
                        </a:rPr>
                        <a:t>BBB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T[0.0-0.4)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2587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0.846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180892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6222F"/>
                          </a:solidFill>
                          <a:latin typeface="Calibri"/>
                        </a:rPr>
                        <a:t>BBB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T[0.4-0.6)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2851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0.918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</a:tr>
              <a:tr h="180892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6222F"/>
                          </a:solidFill>
                          <a:latin typeface="Calibri"/>
                        </a:rPr>
                        <a:t>BBB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T[0.6-0.8)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1953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0.968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180892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6222F"/>
                          </a:solidFill>
                          <a:latin typeface="Calibri"/>
                        </a:rPr>
                        <a:t>BBB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T[0.8-1.0)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414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0.951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</a:tr>
              <a:tr h="180892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6222F"/>
                          </a:solidFill>
                          <a:latin typeface="Calibri"/>
                        </a:rPr>
                        <a:t>BChE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T[0.0-0.4)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250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0.6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180892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6222F"/>
                          </a:solidFill>
                          <a:latin typeface="Calibri"/>
                        </a:rPr>
                        <a:t>BChE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T[0.4-0.6)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485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0.842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</a:tr>
              <a:tr h="180892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6222F"/>
                          </a:solidFill>
                          <a:latin typeface="Calibri"/>
                        </a:rPr>
                        <a:t>BChE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T[0.6-0.8)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986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0.949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180892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6222F"/>
                          </a:solidFill>
                          <a:latin typeface="Calibri"/>
                        </a:rPr>
                        <a:t>BChE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T[0.8-1.0)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859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0.986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</a:tr>
              <a:tr h="180892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6222F"/>
                          </a:solidFill>
                          <a:latin typeface="Calibri"/>
                        </a:rPr>
                        <a:t>D2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T[0.0-0.4)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281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0.577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180892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6222F"/>
                          </a:solidFill>
                          <a:latin typeface="Calibri"/>
                        </a:rPr>
                        <a:t>D2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T[0.4-0.6)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1568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0.809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594360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i="1">
                <a:solidFill>
                  <a:srgbClr val="5A6B7B"/>
                </a:solidFill>
                <a:latin typeface="Calibri"/>
              </a:rPr>
              <a:t>STable S5. AUROC binned by nearest-training Tanimoto similarity — the empirical basis of the applicability-domain flag.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072B2"/>
                </a:solidFill>
                <a:latin typeface="Consolas"/>
              </a:rPr>
              <a:t>SUPPLEMENTARY TABLE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530352"/>
            <a:ext cx="457200" cy="41148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22960"/>
            <a:ext cx="10607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6222F"/>
                </a:solidFill>
                <a:latin typeface="Georgia"/>
              </a:rPr>
              <a:t>STable S5 — Similarity-binned AUROC (continued)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600200"/>
          <a:ext cx="11274552" cy="41605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18638"/>
                <a:gridCol w="2818638"/>
                <a:gridCol w="2818638"/>
                <a:gridCol w="2818638"/>
              </a:tblGrid>
              <a:tr h="180892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5A6B7B"/>
                          </a:solidFill>
                          <a:latin typeface="Consolas"/>
                        </a:rPr>
                        <a:t>endpoint</a:t>
                      </a:r>
                    </a:p>
                  </a:txBody>
                  <a:tcPr marL="45720" marR="45720" marT="9144" marB="9144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5A6B7B"/>
                          </a:solidFill>
                          <a:latin typeface="Consolas"/>
                        </a:rPr>
                        <a:t>tanimoto_bin</a:t>
                      </a:r>
                    </a:p>
                  </a:txBody>
                  <a:tcPr marL="45720" marR="45720" marT="9144" marB="9144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5A6B7B"/>
                          </a:solidFill>
                          <a:latin typeface="Consolas"/>
                        </a:rPr>
                        <a:t>n</a:t>
                      </a:r>
                    </a:p>
                  </a:txBody>
                  <a:tcPr marL="45720" marR="45720" marT="9144" marB="9144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5A6B7B"/>
                          </a:solidFill>
                          <a:latin typeface="Consolas"/>
                        </a:rPr>
                        <a:t>AUROC</a:t>
                      </a:r>
                    </a:p>
                  </a:txBody>
                  <a:tcPr marL="45720" marR="45720" marT="9144" marB="9144" anchor="ctr">
                    <a:solidFill>
                      <a:srgbClr val="EEF2F6"/>
                    </a:solidFill>
                  </a:tcPr>
                </a:tc>
              </a:tr>
              <a:tr h="180892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6222F"/>
                          </a:solidFill>
                          <a:latin typeface="Calibri"/>
                        </a:rPr>
                        <a:t>D2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T[0.6-0.8)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3880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0.885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180892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6222F"/>
                          </a:solidFill>
                          <a:latin typeface="Calibri"/>
                        </a:rPr>
                        <a:t>D2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T[0.8-1.0)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1782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0.935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</a:tr>
              <a:tr h="180892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6222F"/>
                          </a:solidFill>
                          <a:latin typeface="Calibri"/>
                        </a:rPr>
                        <a:t>GSK3B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T[0.0-0.4)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576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0.814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180892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6222F"/>
                          </a:solidFill>
                          <a:latin typeface="Calibri"/>
                        </a:rPr>
                        <a:t>GSK3B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T[0.4-0.6)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968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0.865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</a:tr>
              <a:tr h="180892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6222F"/>
                          </a:solidFill>
                          <a:latin typeface="Calibri"/>
                        </a:rPr>
                        <a:t>GSK3B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T[0.6-0.8)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1954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0.95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180892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6222F"/>
                          </a:solidFill>
                          <a:latin typeface="Calibri"/>
                        </a:rPr>
                        <a:t>GSK3B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T[0.8-1.0)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546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0.986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</a:tr>
              <a:tr h="180892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6222F"/>
                          </a:solidFill>
                          <a:latin typeface="Calibri"/>
                        </a:rPr>
                        <a:t>HT2A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T[0.0-0.4)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469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0.821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180892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6222F"/>
                          </a:solidFill>
                          <a:latin typeface="Calibri"/>
                        </a:rPr>
                        <a:t>HT2A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T[0.4-0.6)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1260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0.787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</a:tr>
              <a:tr h="180892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6222F"/>
                          </a:solidFill>
                          <a:latin typeface="Calibri"/>
                        </a:rPr>
                        <a:t>HT2A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T[0.6-0.8)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2341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0.966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180892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6222F"/>
                          </a:solidFill>
                          <a:latin typeface="Calibri"/>
                        </a:rPr>
                        <a:t>HT2A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T[0.8-1.0)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1186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0.976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</a:tr>
              <a:tr h="180892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6222F"/>
                          </a:solidFill>
                          <a:latin typeface="Calibri"/>
                        </a:rPr>
                        <a:t>MAO_A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T[0.0-0.4)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376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0.63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180892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6222F"/>
                          </a:solidFill>
                          <a:latin typeface="Calibri"/>
                        </a:rPr>
                        <a:t>MAO_A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T[0.4-0.6)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817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0.851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</a:tr>
              <a:tr h="180892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6222F"/>
                          </a:solidFill>
                          <a:latin typeface="Calibri"/>
                        </a:rPr>
                        <a:t>MAO_A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T[0.6-0.8)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705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0.916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180892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6222F"/>
                          </a:solidFill>
                          <a:latin typeface="Calibri"/>
                        </a:rPr>
                        <a:t>MAO_A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T[0.8-1.0)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243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0.948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</a:tr>
              <a:tr h="180892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6222F"/>
                          </a:solidFill>
                          <a:latin typeface="Calibri"/>
                        </a:rPr>
                        <a:t>MAO_B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T[0.0-0.4)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450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0.755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180892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6222F"/>
                          </a:solidFill>
                          <a:latin typeface="Calibri"/>
                        </a:rPr>
                        <a:t>MAO_B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T[0.4-0.6)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1345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0.831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</a:tr>
              <a:tr h="180892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6222F"/>
                          </a:solidFill>
                          <a:latin typeface="Calibri"/>
                        </a:rPr>
                        <a:t>MAO_B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T[0.6-0.8)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1172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0.91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180892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6222F"/>
                          </a:solidFill>
                          <a:latin typeface="Calibri"/>
                        </a:rPr>
                        <a:t>MAO_B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T[0.8-1.0)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488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0.983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</a:tr>
              <a:tr h="180892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6222F"/>
                          </a:solidFill>
                          <a:latin typeface="Calibri"/>
                        </a:rPr>
                        <a:t>SERT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T[0.0-0.4)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354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0.768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180892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6222F"/>
                          </a:solidFill>
                          <a:latin typeface="Calibri"/>
                        </a:rPr>
                        <a:t>SERT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T[0.4-0.6)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1318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0.927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</a:tr>
              <a:tr h="180892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6222F"/>
                          </a:solidFill>
                          <a:latin typeface="Calibri"/>
                        </a:rPr>
                        <a:t>SERT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T[0.6-0.8)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2126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0.939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180892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6222F"/>
                          </a:solidFill>
                          <a:latin typeface="Calibri"/>
                        </a:rPr>
                        <a:t>SERT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T[0.8-1.0)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673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0.857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594360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i="1">
                <a:solidFill>
                  <a:srgbClr val="5A6B7B"/>
                </a:solidFill>
                <a:latin typeface="Calibri"/>
              </a:rPr>
              <a:t>STable S5. AUROC binned by nearest-training Tanimoto similarity — the empirical basis of the applicability-domain flag.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072B2"/>
                </a:solidFill>
                <a:latin typeface="Consolas"/>
              </a:rPr>
              <a:t>SUPPLEMENTARY TABLE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530352"/>
            <a:ext cx="457200" cy="41148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22960"/>
            <a:ext cx="10607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6222F"/>
                </a:solidFill>
                <a:latin typeface="Georgia"/>
              </a:rPr>
              <a:t>STable S5 — Similarity-binned AUROC (continued)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600200"/>
          <a:ext cx="11274552" cy="19202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18638"/>
                <a:gridCol w="2818638"/>
                <a:gridCol w="2818638"/>
                <a:gridCol w="2818638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5A6B7B"/>
                          </a:solidFill>
                          <a:latin typeface="Consolas"/>
                        </a:rPr>
                        <a:t>endpoint</a:t>
                      </a:r>
                    </a:p>
                  </a:txBody>
                  <a:tcPr marL="45720" marR="45720" marT="9144" marB="9144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5A6B7B"/>
                          </a:solidFill>
                          <a:latin typeface="Consolas"/>
                        </a:rPr>
                        <a:t>tanimoto_bin</a:t>
                      </a:r>
                    </a:p>
                  </a:txBody>
                  <a:tcPr marL="45720" marR="45720" marT="9144" marB="9144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5A6B7B"/>
                          </a:solidFill>
                          <a:latin typeface="Consolas"/>
                        </a:rPr>
                        <a:t>n</a:t>
                      </a:r>
                    </a:p>
                  </a:txBody>
                  <a:tcPr marL="45720" marR="45720" marT="9144" marB="9144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5A6B7B"/>
                          </a:solidFill>
                          <a:latin typeface="Consolas"/>
                        </a:rPr>
                        <a:t>AUROC</a:t>
                      </a:r>
                    </a:p>
                  </a:txBody>
                  <a:tcPr marL="45720" marR="45720" marT="9144" marB="9144" anchor="ctr">
                    <a:solidFill>
                      <a:srgbClr val="EEF2F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6222F"/>
                          </a:solidFill>
                          <a:latin typeface="Calibri"/>
                        </a:rPr>
                        <a:t>hERG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T[0.0-0.4)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1222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0.748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6222F"/>
                          </a:solidFill>
                          <a:latin typeface="Calibri"/>
                        </a:rPr>
                        <a:t>hERG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T[0.4-0.6)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1643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0.862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6222F"/>
                          </a:solidFill>
                          <a:latin typeface="Calibri"/>
                        </a:rPr>
                        <a:t>hERG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T[0.6-0.8)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2539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0.946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6222F"/>
                          </a:solidFill>
                          <a:latin typeface="Calibri"/>
                        </a:rPr>
                        <a:t>hERG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T[0.8-1.0)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501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0.975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594360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i="1">
                <a:solidFill>
                  <a:srgbClr val="5A6B7B"/>
                </a:solidFill>
                <a:latin typeface="Calibri"/>
              </a:rPr>
              <a:t>STable S5. AUROC binned by nearest-training Tanimoto similarity — the empirical basis of the applicability-domain flag.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072B2"/>
                </a:solidFill>
                <a:latin typeface="Consolas"/>
              </a:rPr>
              <a:t>SUPPLEMENTARY TABLE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530352"/>
            <a:ext cx="457200" cy="41148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22960"/>
            <a:ext cx="10607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6222F"/>
                </a:solidFill>
                <a:latin typeface="Georgia"/>
              </a:rPr>
              <a:t>STable S6 — Clinical reference composition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600200"/>
          <a:ext cx="11274552" cy="38404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637276"/>
                <a:gridCol w="5637276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5A6B7B"/>
                          </a:solidFill>
                          <a:latin typeface="Consolas"/>
                        </a:rPr>
                        <a:t>disease</a:t>
                      </a:r>
                    </a:p>
                  </a:txBody>
                  <a:tcPr marL="45720" marR="45720" marT="9144" marB="9144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5A6B7B"/>
                          </a:solidFill>
                          <a:latin typeface="Consolas"/>
                        </a:rPr>
                        <a:t>n_compounds</a:t>
                      </a:r>
                    </a:p>
                  </a:txBody>
                  <a:tcPr marL="45720" marR="45720" marT="9144" marB="9144" anchor="ctr">
                    <a:solidFill>
                      <a:srgbClr val="EEF2F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6222F"/>
                          </a:solidFill>
                          <a:latin typeface="Calibri"/>
                        </a:rPr>
                        <a:t>CNS (other)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178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6222F"/>
                          </a:solidFill>
                          <a:latin typeface="Calibri"/>
                        </a:rPr>
                        <a:t>Depression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66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6222F"/>
                          </a:solidFill>
                          <a:latin typeface="Calibri"/>
                        </a:rPr>
                        <a:t>Psychosis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66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6222F"/>
                          </a:solidFill>
                          <a:latin typeface="Calibri"/>
                        </a:rPr>
                        <a:t>Other CNS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44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6222F"/>
                          </a:solidFill>
                          <a:latin typeface="Calibri"/>
                        </a:rPr>
                        <a:t>Epilepsy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44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6222F"/>
                          </a:solidFill>
                          <a:latin typeface="Calibri"/>
                        </a:rPr>
                        <a:t>Cognition/ADHD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34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6222F"/>
                          </a:solidFill>
                          <a:latin typeface="Calibri"/>
                        </a:rPr>
                        <a:t>Anxiety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34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6222F"/>
                          </a:solidFill>
                          <a:latin typeface="Calibri"/>
                        </a:rPr>
                        <a:t>Parkinson's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32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6222F"/>
                          </a:solidFill>
                          <a:latin typeface="Calibri"/>
                        </a:rPr>
                        <a:t>Alzheimer's / dementia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6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594360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i="1">
                <a:solidFill>
                  <a:srgbClr val="5A6B7B"/>
                </a:solidFill>
                <a:latin typeface="Calibri"/>
              </a:rPr>
              <a:t>STable S6. Composition of the 504-compound clinical-precedent reference set by disease class.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072B2"/>
                </a:solidFill>
                <a:latin typeface="Consolas"/>
              </a:rPr>
              <a:t>SUPPLEMENTARY TABLE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530352"/>
            <a:ext cx="457200" cy="41148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22960"/>
            <a:ext cx="10607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6222F"/>
                </a:solidFill>
                <a:latin typeface="Georgia"/>
              </a:rPr>
              <a:t>STable S7 — Benchmark vs literature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600200"/>
          <a:ext cx="11274552" cy="345643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58184"/>
                <a:gridCol w="3758184"/>
                <a:gridCol w="3758184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5A6B7B"/>
                          </a:solidFill>
                          <a:latin typeface="Consolas"/>
                        </a:rPr>
                        <a:t>endpoint</a:t>
                      </a:r>
                    </a:p>
                  </a:txBody>
                  <a:tcPr marL="45720" marR="45720" marT="9144" marB="9144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5A6B7B"/>
                          </a:solidFill>
                          <a:latin typeface="Consolas"/>
                        </a:rPr>
                        <a:t>BrainSafe_random_AUROC</a:t>
                      </a:r>
                    </a:p>
                  </a:txBody>
                  <a:tcPr marL="45720" marR="45720" marT="9144" marB="9144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5A6B7B"/>
                          </a:solidFill>
                          <a:latin typeface="Consolas"/>
                        </a:rPr>
                        <a:t>published_random_AUROC_range</a:t>
                      </a:r>
                    </a:p>
                  </a:txBody>
                  <a:tcPr marL="45720" marR="45720" marT="9144" marB="9144" anchor="ctr">
                    <a:solidFill>
                      <a:srgbClr val="EEF2F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6222F"/>
                          </a:solidFill>
                          <a:latin typeface="Calibri"/>
                        </a:rPr>
                        <a:t>BBB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0.963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0.88-0.96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6222F"/>
                          </a:solidFill>
                          <a:latin typeface="Calibri"/>
                        </a:rPr>
                        <a:t>AChE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0.975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~0.90-0.97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6222F"/>
                          </a:solidFill>
                          <a:latin typeface="Calibri"/>
                        </a:rPr>
                        <a:t>BChE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0.976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~0.90-0.97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6222F"/>
                          </a:solidFill>
                          <a:latin typeface="Calibri"/>
                        </a:rPr>
                        <a:t>BACE1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0.956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~0.90-0.96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6222F"/>
                          </a:solidFill>
                          <a:latin typeface="Calibri"/>
                        </a:rPr>
                        <a:t>GSK3B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0.943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~0.88-0.95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6222F"/>
                          </a:solidFill>
                          <a:latin typeface="Calibri"/>
                        </a:rPr>
                        <a:t>MAO_B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0.96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~0.88-0.96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6222F"/>
                          </a:solidFill>
                          <a:latin typeface="Calibri"/>
                        </a:rPr>
                        <a:t>MAO_A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0.95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~0.85-0.95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6222F"/>
                          </a:solidFill>
                          <a:latin typeface="Calibri"/>
                        </a:rPr>
                        <a:t>hERG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0.95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0.86-0.93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594360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i="1">
                <a:solidFill>
                  <a:srgbClr val="5A6B7B"/>
                </a:solidFill>
                <a:latin typeface="Calibri"/>
              </a:rPr>
              <a:t>STable S7. BrainSafe random-split AUROC versus published random-split ranges per endpoint.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072B2"/>
                </a:solidFill>
                <a:latin typeface="Consolas"/>
              </a:rPr>
              <a:t>SUPPLEMENTARY TABLE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530352"/>
            <a:ext cx="457200" cy="41148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22960"/>
            <a:ext cx="10607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6222F"/>
                </a:solidFill>
                <a:latin typeface="Georgia"/>
              </a:rPr>
              <a:t>STable S8 — Capability vs LLM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600200"/>
          <a:ext cx="11274552" cy="416051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58184"/>
                <a:gridCol w="3758184"/>
                <a:gridCol w="3758184"/>
              </a:tblGrid>
              <a:tr h="378229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5A6B7B"/>
                          </a:solidFill>
                          <a:latin typeface="Consolas"/>
                        </a:rPr>
                        <a:t>dimension</a:t>
                      </a:r>
                    </a:p>
                  </a:txBody>
                  <a:tcPr marL="45720" marR="45720" marT="9144" marB="9144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5A6B7B"/>
                          </a:solidFill>
                          <a:latin typeface="Consolas"/>
                        </a:rPr>
                        <a:t>BrainSafe_AI</a:t>
                      </a:r>
                    </a:p>
                  </a:txBody>
                  <a:tcPr marL="45720" marR="45720" marT="9144" marB="9144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5A6B7B"/>
                          </a:solidFill>
                          <a:latin typeface="Consolas"/>
                        </a:rPr>
                        <a:t>General_LLM</a:t>
                      </a:r>
                    </a:p>
                  </a:txBody>
                  <a:tcPr marL="45720" marR="45720" marT="9144" marB="9144" anchor="ctr">
                    <a:solidFill>
                      <a:srgbClr val="EEF2F6"/>
                    </a:solidFill>
                  </a:tcPr>
                </a:tc>
              </a:tr>
              <a:tr h="378229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6222F"/>
                          </a:solidFill>
                          <a:latin typeface="Calibri"/>
                        </a:rPr>
                        <a:t>Input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Chemical structure (SMILES; name/inchi resolved to structure)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Natural-language text prompt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378229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6222F"/>
                          </a:solidFill>
                          <a:latin typeface="Calibri"/>
                        </a:rPr>
                        <a:t>Molecular representation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ECFP-4 (1024-bit) + 24 computed RDKit physicochemical descriptors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Sub-word text tokens; no explicit molecular graph/descriptors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</a:tr>
              <a:tr h="378229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6222F"/>
                          </a:solidFill>
                          <a:latin typeface="Calibri"/>
                        </a:rPr>
                        <a:t>Training signal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64,474 measured ChEMBL/B3DB bioactivity records (structure-&gt;measured value)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Web/text corpus; bioactivity not learned as a measured regression target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378229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6222F"/>
                          </a:solidFill>
                          <a:latin typeface="Calibri"/>
                        </a:rPr>
                        <a:t>Primary output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Calibrated probability / potency per endpoint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Free-text assertion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</a:tr>
              <a:tr h="378229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6222F"/>
                          </a:solidFill>
                          <a:latin typeface="Calibri"/>
                        </a:rPr>
                        <a:t>Uncertainty quantification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Isotonic calibration + Mondrian conformal sets (empirical 88.5-90.5% coverage)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None, or verbal and uncalibrated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378229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6222F"/>
                          </a:solidFill>
                          <a:latin typeface="Calibri"/>
                        </a:rPr>
                        <a:t>Provenance / grounding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Returns nearest MEASURED analogue(s) + measured pChEMBL for every call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Not grounded in specific measurements; hallucination documented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</a:tr>
              <a:tr h="378229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6222F"/>
                          </a:solidFill>
                          <a:latin typeface="Calibri"/>
                        </a:rPr>
                        <a:t>Applicability domain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Explicit Tanimoto AD flag; performance shown to degrade with distance (STable5)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No domain boundary; equally fluent in- and out-of-domain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378229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6222F"/>
                          </a:solidFill>
                          <a:latin typeface="Calibri"/>
                        </a:rPr>
                        <a:t>Reproducibility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Deterministic (fixed seed 42); identical output on re-run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Stochastic; version- and prompt-dependent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</a:tr>
              <a:tr h="378229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6222F"/>
                          </a:solidFill>
                          <a:latin typeface="Calibri"/>
                        </a:rPr>
                        <a:t>Benchmarked property-prediction accuracy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AUROC 0.87-0.98 (scaffold/random, this work)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Underperforms specialised ML on molecular property prediction (Guo 2023; Zhong 2024)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378229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6222F"/>
                          </a:solidFill>
                          <a:latin typeface="Calibri"/>
                        </a:rPr>
                        <a:t>Behaviour on a novel compound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Grounded, calibrated prediction or explicit out-of-domain flag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May confabulate plausible but unverifiable values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594360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i="1">
                <a:solidFill>
                  <a:srgbClr val="5A6B7B"/>
                </a:solidFill>
                <a:latin typeface="Calibri"/>
              </a:rPr>
              <a:t>STable S8. Capability comparison: BrainSafe AI versus a general-purpose large language model.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072B2"/>
                </a:solidFill>
                <a:latin typeface="Consolas"/>
              </a:rPr>
              <a:t>SUPPLEMENTARY TABLE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530352"/>
            <a:ext cx="457200" cy="41148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22960"/>
            <a:ext cx="10607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6222F"/>
                </a:solidFill>
                <a:latin typeface="Georgia"/>
              </a:rPr>
              <a:t>STable S9 — Ablation vs baselines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600200"/>
          <a:ext cx="11274550" cy="345643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10650"/>
                <a:gridCol w="1610650"/>
                <a:gridCol w="1610650"/>
                <a:gridCol w="1610650"/>
                <a:gridCol w="1610650"/>
                <a:gridCol w="1610650"/>
                <a:gridCol w="161065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5A6B7B"/>
                          </a:solidFill>
                          <a:latin typeface="Consolas"/>
                        </a:rPr>
                        <a:t>endpoint</a:t>
                      </a:r>
                    </a:p>
                  </a:txBody>
                  <a:tcPr marL="45720" marR="45720" marT="9144" marB="9144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5A6B7B"/>
                          </a:solidFill>
                          <a:latin typeface="Consolas"/>
                        </a:rPr>
                        <a:t>Ensemble_AUROC</a:t>
                      </a:r>
                    </a:p>
                  </a:txBody>
                  <a:tcPr marL="45720" marR="45720" marT="9144" marB="9144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5A6B7B"/>
                          </a:solidFill>
                          <a:latin typeface="Consolas"/>
                        </a:rPr>
                        <a:t>kNN_Tanimoto_AUROC</a:t>
                      </a:r>
                    </a:p>
                  </a:txBody>
                  <a:tcPr marL="45720" marR="45720" marT="9144" marB="9144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5A6B7B"/>
                          </a:solidFill>
                          <a:latin typeface="Consolas"/>
                        </a:rPr>
                        <a:t>LogisticRegression_AUROC</a:t>
                      </a:r>
                    </a:p>
                  </a:txBody>
                  <a:tcPr marL="45720" marR="45720" marT="9144" marB="9144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5A6B7B"/>
                          </a:solidFill>
                          <a:latin typeface="Consolas"/>
                        </a:rPr>
                        <a:t>delta_vs_kNN</a:t>
                      </a:r>
                    </a:p>
                  </a:txBody>
                  <a:tcPr marL="45720" marR="45720" marT="9144" marB="9144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5A6B7B"/>
                          </a:solidFill>
                          <a:latin typeface="Consolas"/>
                        </a:rPr>
                        <a:t>delta_vs_LR</a:t>
                      </a:r>
                    </a:p>
                  </a:txBody>
                  <a:tcPr marL="45720" marR="45720" marT="9144" marB="9144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5A6B7B"/>
                          </a:solidFill>
                          <a:latin typeface="Consolas"/>
                        </a:rPr>
                        <a:t>ensemble_best</a:t>
                      </a:r>
                    </a:p>
                  </a:txBody>
                  <a:tcPr marL="45720" marR="45720" marT="9144" marB="9144" anchor="ctr">
                    <a:solidFill>
                      <a:srgbClr val="EEF2F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6222F"/>
                          </a:solidFill>
                          <a:latin typeface="Calibri"/>
                        </a:rPr>
                        <a:t>AChE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0.915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0.874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0.828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0.041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0.087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True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6222F"/>
                          </a:solidFill>
                          <a:latin typeface="Calibri"/>
                        </a:rPr>
                        <a:t>BACE1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0.95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0.885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0.883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0.065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0.067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True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6222F"/>
                          </a:solidFill>
                          <a:latin typeface="Calibri"/>
                        </a:rPr>
                        <a:t>BBB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0.921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0.882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0.792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0.039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0.129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True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6222F"/>
                          </a:solidFill>
                          <a:latin typeface="Calibri"/>
                        </a:rPr>
                        <a:t>BChE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0.937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0.899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0.866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0.038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0.071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True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6222F"/>
                          </a:solidFill>
                          <a:latin typeface="Calibri"/>
                        </a:rPr>
                        <a:t>GSK3B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0.92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0.842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0.831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0.078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0.089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True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6222F"/>
                          </a:solidFill>
                          <a:latin typeface="Calibri"/>
                        </a:rPr>
                        <a:t>MAO_A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0.867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0.853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0.731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0.014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0.136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True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6222F"/>
                          </a:solidFill>
                          <a:latin typeface="Calibri"/>
                        </a:rPr>
                        <a:t>MAO_B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0.885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0.833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0.742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0.052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0.143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True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6222F"/>
                          </a:solidFill>
                          <a:latin typeface="Calibri"/>
                        </a:rPr>
                        <a:t>hERG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0.901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0.871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0.792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0.03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0.109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True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594360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i="1">
                <a:solidFill>
                  <a:srgbClr val="5A6B7B"/>
                </a:solidFill>
                <a:latin typeface="Calibri"/>
              </a:rPr>
              <a:t>STable S9. Scaffold-split AUROC: deployed ensemble versus kNN-Tanimoto and logistic-regression baselines (ensemble best on all 8 endpoints).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072B2"/>
                </a:solidFill>
                <a:latin typeface="Consolas"/>
              </a:rPr>
              <a:t>SUPPLEMENTARY TABLE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530352"/>
            <a:ext cx="457200" cy="41148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22960"/>
            <a:ext cx="10607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6222F"/>
                </a:solidFill>
                <a:latin typeface="Georgia"/>
              </a:rPr>
              <a:t>STable S10 — Label-definition robustness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600200"/>
          <a:ext cx="11274552" cy="41605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09319"/>
                <a:gridCol w="1409319"/>
                <a:gridCol w="1409319"/>
                <a:gridCol w="1409319"/>
                <a:gridCol w="1409319"/>
                <a:gridCol w="1409319"/>
                <a:gridCol w="1409319"/>
                <a:gridCol w="1409319"/>
              </a:tblGrid>
              <a:tr h="2447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5A6B7B"/>
                          </a:solidFill>
                          <a:latin typeface="Consolas"/>
                        </a:rPr>
                        <a:t>endpoint</a:t>
                      </a:r>
                    </a:p>
                  </a:txBody>
                  <a:tcPr marL="45720" marR="45720" marT="9144" marB="9144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5A6B7B"/>
                          </a:solidFill>
                          <a:latin typeface="Consolas"/>
                        </a:rPr>
                        <a:t>label_definition</a:t>
                      </a:r>
                    </a:p>
                  </a:txBody>
                  <a:tcPr marL="45720" marR="45720" marT="9144" marB="9144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5A6B7B"/>
                          </a:solidFill>
                          <a:latin typeface="Consolas"/>
                        </a:rPr>
                        <a:t>n</a:t>
                      </a:r>
                    </a:p>
                  </a:txBody>
                  <a:tcPr marL="45720" marR="45720" marT="9144" marB="9144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5A6B7B"/>
                          </a:solidFill>
                          <a:latin typeface="Consolas"/>
                        </a:rPr>
                        <a:t>pos</a:t>
                      </a:r>
                    </a:p>
                  </a:txBody>
                  <a:tcPr marL="45720" marR="45720" marT="9144" marB="9144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5A6B7B"/>
                          </a:solidFill>
                          <a:latin typeface="Consolas"/>
                        </a:rPr>
                        <a:t>pos_rate</a:t>
                      </a:r>
                    </a:p>
                  </a:txBody>
                  <a:tcPr marL="45720" marR="45720" marT="9144" marB="9144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5A6B7B"/>
                          </a:solidFill>
                          <a:latin typeface="Consolas"/>
                        </a:rPr>
                        <a:t>scaffold_AUROC</a:t>
                      </a:r>
                    </a:p>
                  </a:txBody>
                  <a:tcPr marL="45720" marR="45720" marT="9144" marB="9144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5A6B7B"/>
                          </a:solidFill>
                          <a:latin typeface="Consolas"/>
                        </a:rPr>
                        <a:t>MCC</a:t>
                      </a:r>
                    </a:p>
                  </a:txBody>
                  <a:tcPr marL="45720" marR="45720" marT="9144" marB="9144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5A6B7B"/>
                          </a:solidFill>
                          <a:latin typeface="Consolas"/>
                        </a:rPr>
                        <a:t>balanced_acc</a:t>
                      </a:r>
                    </a:p>
                  </a:txBody>
                  <a:tcPr marL="45720" marR="45720" marT="9144" marB="9144" anchor="ctr">
                    <a:solidFill>
                      <a:srgbClr val="EEF2F6"/>
                    </a:solidFill>
                  </a:tcPr>
                </a:tc>
              </a:tr>
              <a:tr h="24473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6222F"/>
                          </a:solidFill>
                          <a:latin typeface="Calibri"/>
                        </a:rPr>
                        <a:t>AChE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deployed (&gt;=6 / &lt;5)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4324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3098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0.716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0.915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0.624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0.835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24473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6222F"/>
                          </a:solidFill>
                          <a:latin typeface="Calibri"/>
                        </a:rPr>
                        <a:t>AChE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strict (&gt;=6.5 / &lt;5.5)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4533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2297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0.507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0.927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0.687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0.843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</a:tr>
              <a:tr h="24473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6222F"/>
                          </a:solidFill>
                          <a:latin typeface="Calibri"/>
                        </a:rPr>
                        <a:t>AChE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sharp boundary (&gt;=6 / &lt;6)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6194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3098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0.5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0.865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0.553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0.775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24473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6222F"/>
                          </a:solidFill>
                          <a:latin typeface="Calibri"/>
                        </a:rPr>
                        <a:t>AChE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high-potency (&gt;=7 / &lt;5)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2833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1607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0.567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0.947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0.75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0.878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</a:tr>
              <a:tr h="24473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6222F"/>
                          </a:solidFill>
                          <a:latin typeface="Calibri"/>
                        </a:rPr>
                        <a:t>MAO_B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deployed (&gt;=6 / &lt;5)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3455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2254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0.652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0.884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0.602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0.807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24473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6222F"/>
                          </a:solidFill>
                          <a:latin typeface="Calibri"/>
                        </a:rPr>
                        <a:t>MAO_B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strict (&gt;=6.5 / &lt;5.5)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3575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1574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0.44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0.883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0.607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0.805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</a:tr>
              <a:tr h="24473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6222F"/>
                          </a:solidFill>
                          <a:latin typeface="Calibri"/>
                        </a:rPr>
                        <a:t>MAO_B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sharp boundary (&gt;=6 / &lt;6)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4933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2254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0.457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0.825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0.479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0.74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24473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6222F"/>
                          </a:solidFill>
                          <a:latin typeface="Calibri"/>
                        </a:rPr>
                        <a:t>MAO_B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high-potency (&gt;=7 / &lt;5)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2218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1017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0.459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0.914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0.67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0.835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</a:tr>
              <a:tr h="24473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6222F"/>
                          </a:solidFill>
                          <a:latin typeface="Calibri"/>
                        </a:rPr>
                        <a:t>hERG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deployed (&gt;=6 / &lt;5)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5905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2451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0.415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0.901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0.626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0.817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24473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6222F"/>
                          </a:solidFill>
                          <a:latin typeface="Calibri"/>
                        </a:rPr>
                        <a:t>hERG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strict (&gt;=6.5 / &lt;5.5)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7895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1302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0.165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0.907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0.55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0.822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</a:tr>
              <a:tr h="24473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6222F"/>
                          </a:solidFill>
                          <a:latin typeface="Calibri"/>
                        </a:rPr>
                        <a:t>hERG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sharp boundary (&gt;=6 / &lt;6)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11093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2451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0.221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0.827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0.424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0.75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24473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6222F"/>
                          </a:solidFill>
                          <a:latin typeface="Calibri"/>
                        </a:rPr>
                        <a:t>hERG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high-potency (&gt;=7 / &lt;5)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4181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727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0.174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0.936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0.68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0.865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</a:tr>
              <a:tr h="24473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6222F"/>
                          </a:solidFill>
                          <a:latin typeface="Calibri"/>
                        </a:rPr>
                        <a:t>BACE1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deployed (&gt;=6 / &lt;5)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8067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7303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0.905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0.95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0.607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0.888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24473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6222F"/>
                          </a:solidFill>
                          <a:latin typeface="Calibri"/>
                        </a:rPr>
                        <a:t>BACE1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strict (&gt;=6.5 / &lt;5.5)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7693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6126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0.796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0.938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0.678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0.87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</a:tr>
              <a:tr h="24473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6222F"/>
                          </a:solidFill>
                          <a:latin typeface="Calibri"/>
                        </a:rPr>
                        <a:t>BACE1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sharp boundary (&gt;=6 / &lt;6)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10022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7303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0.729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0.887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0.573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0.806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24473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6222F"/>
                          </a:solidFill>
                          <a:latin typeface="Calibri"/>
                        </a:rPr>
                        <a:t>BACE1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high-potency (&gt;=7 / &lt;5)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5500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4736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0.861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0.969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0.738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6222F"/>
                          </a:solidFill>
                          <a:latin typeface="Consolas"/>
                        </a:rPr>
                        <a:t>0.917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594360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i="1">
                <a:solidFill>
                  <a:srgbClr val="5A6B7B"/>
                </a:solidFill>
                <a:latin typeface="Calibri"/>
              </a:rPr>
              <a:t>STable S10. Scaffold-CV AUROC under alternative pChEMBL label cut-offs (deployed / strict / sharp-boundary / high-potency).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072B2"/>
                </a:solidFill>
                <a:latin typeface="Consolas"/>
              </a:rPr>
              <a:t>SUPPLEMENTARY TABLE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530352"/>
            <a:ext cx="457200" cy="41148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22960"/>
            <a:ext cx="10607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6222F"/>
                </a:solidFill>
                <a:latin typeface="Georgia"/>
              </a:rPr>
              <a:t>STable S11 — Assay-type composition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600200"/>
          <a:ext cx="11274552" cy="41605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18638"/>
                <a:gridCol w="2818638"/>
                <a:gridCol w="2818638"/>
                <a:gridCol w="2818638"/>
              </a:tblGrid>
              <a:tr h="180892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5A6B7B"/>
                          </a:solidFill>
                          <a:latin typeface="Consolas"/>
                        </a:rPr>
                        <a:t>endpoint</a:t>
                      </a:r>
                    </a:p>
                  </a:txBody>
                  <a:tcPr marL="45720" marR="45720" marT="9144" marB="9144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5A6B7B"/>
                          </a:solidFill>
                          <a:latin typeface="Consolas"/>
                        </a:rPr>
                        <a:t>standard_type</a:t>
                      </a:r>
                    </a:p>
                  </a:txBody>
                  <a:tcPr marL="45720" marR="45720" marT="9144" marB="9144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5A6B7B"/>
                          </a:solidFill>
                          <a:latin typeface="Consolas"/>
                        </a:rPr>
                        <a:t>n_activities</a:t>
                      </a:r>
                    </a:p>
                  </a:txBody>
                  <a:tcPr marL="45720" marR="45720" marT="9144" marB="9144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5A6B7B"/>
                          </a:solidFill>
                          <a:latin typeface="Consolas"/>
                        </a:rPr>
                        <a:t>fraction</a:t>
                      </a:r>
                    </a:p>
                  </a:txBody>
                  <a:tcPr marL="45720" marR="45720" marT="9144" marB="9144" anchor="ctr">
                    <a:solidFill>
                      <a:srgbClr val="EEF2F6"/>
                    </a:solidFill>
                  </a:tcPr>
                </a:tc>
              </a:tr>
              <a:tr h="180892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6222F"/>
                          </a:solidFill>
                          <a:latin typeface="Calibri"/>
                        </a:rPr>
                        <a:t>AChE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IC50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7274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0.888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180892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6222F"/>
                          </a:solidFill>
                          <a:latin typeface="Calibri"/>
                        </a:rPr>
                        <a:t>AChE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Ki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665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0.081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</a:tr>
              <a:tr h="180892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6222F"/>
                          </a:solidFill>
                          <a:latin typeface="Calibri"/>
                        </a:rPr>
                        <a:t>AChE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Kd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204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0.025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180892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6222F"/>
                          </a:solidFill>
                          <a:latin typeface="Calibri"/>
                        </a:rPr>
                        <a:t>AChE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EC50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46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0.006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</a:tr>
              <a:tr h="180892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6222F"/>
                          </a:solidFill>
                          <a:latin typeface="Calibri"/>
                        </a:rPr>
                        <a:t>BChE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IC50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4270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0.925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180892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6222F"/>
                          </a:solidFill>
                          <a:latin typeface="Calibri"/>
                        </a:rPr>
                        <a:t>BChE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Ki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337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0.073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</a:tr>
              <a:tr h="180892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6222F"/>
                          </a:solidFill>
                          <a:latin typeface="Calibri"/>
                        </a:rPr>
                        <a:t>BChE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Kd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6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0.001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180892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6222F"/>
                          </a:solidFill>
                          <a:latin typeface="Calibri"/>
                        </a:rPr>
                        <a:t>BChE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EC50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3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0.001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</a:tr>
              <a:tr h="180892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6222F"/>
                          </a:solidFill>
                          <a:latin typeface="Calibri"/>
                        </a:rPr>
                        <a:t>BACE1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IC50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12721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0.814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180892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6222F"/>
                          </a:solidFill>
                          <a:latin typeface="Calibri"/>
                        </a:rPr>
                        <a:t>BACE1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Ki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2534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0.162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</a:tr>
              <a:tr h="180892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6222F"/>
                          </a:solidFill>
                          <a:latin typeface="Calibri"/>
                        </a:rPr>
                        <a:t>BACE1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EC50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299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0.019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180892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6222F"/>
                          </a:solidFill>
                          <a:latin typeface="Calibri"/>
                        </a:rPr>
                        <a:t>BACE1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Kd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72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0.005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</a:tr>
              <a:tr h="180892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6222F"/>
                          </a:solidFill>
                          <a:latin typeface="Calibri"/>
                        </a:rPr>
                        <a:t>GSK3B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IC50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3994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0.493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180892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6222F"/>
                          </a:solidFill>
                          <a:latin typeface="Calibri"/>
                        </a:rPr>
                        <a:t>GSK3B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EC50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2695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0.333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</a:tr>
              <a:tr h="180892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6222F"/>
                          </a:solidFill>
                          <a:latin typeface="Calibri"/>
                        </a:rPr>
                        <a:t>GSK3B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Ki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1269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0.157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180892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6222F"/>
                          </a:solidFill>
                          <a:latin typeface="Calibri"/>
                        </a:rPr>
                        <a:t>GSK3B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Kd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144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0.018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</a:tr>
              <a:tr h="180892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6222F"/>
                          </a:solidFill>
                          <a:latin typeface="Calibri"/>
                        </a:rPr>
                        <a:t>MAO_B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IC50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5777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0.89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180892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6222F"/>
                          </a:solidFill>
                          <a:latin typeface="Calibri"/>
                        </a:rPr>
                        <a:t>MAO_B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Ki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686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0.106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</a:tr>
              <a:tr h="180892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6222F"/>
                          </a:solidFill>
                          <a:latin typeface="Calibri"/>
                        </a:rPr>
                        <a:t>MAO_B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EC50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20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0.003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180892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6222F"/>
                          </a:solidFill>
                          <a:latin typeface="Calibri"/>
                        </a:rPr>
                        <a:t>MAO_B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Kd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9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0.001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</a:tr>
              <a:tr h="180892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6222F"/>
                          </a:solidFill>
                          <a:latin typeface="Calibri"/>
                        </a:rPr>
                        <a:t>MAO_A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IC50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3687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0.855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180892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6222F"/>
                          </a:solidFill>
                          <a:latin typeface="Calibri"/>
                        </a:rPr>
                        <a:t>MAO_A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Ki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622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0.144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594360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i="1">
                <a:solidFill>
                  <a:srgbClr val="5A6B7B"/>
                </a:solidFill>
                <a:latin typeface="Calibri"/>
              </a:rPr>
              <a:t>STable S11. Assay-type composition per target (IC50/Ki/Kd/EC50 fractions on the standardised pChEMBL scale).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072B2"/>
                </a:solidFill>
                <a:latin typeface="Consolas"/>
              </a:rPr>
              <a:t>SUPPLEMENTARY TABLE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530352"/>
            <a:ext cx="457200" cy="41148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22960"/>
            <a:ext cx="10607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6222F"/>
                </a:solidFill>
                <a:latin typeface="Georgia"/>
              </a:rPr>
              <a:t>STable S11 — Assay-type composition (continued)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600200"/>
          <a:ext cx="11274552" cy="23042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18638"/>
                <a:gridCol w="2818638"/>
                <a:gridCol w="2818638"/>
                <a:gridCol w="2818638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5A6B7B"/>
                          </a:solidFill>
                          <a:latin typeface="Consolas"/>
                        </a:rPr>
                        <a:t>endpoint</a:t>
                      </a:r>
                    </a:p>
                  </a:txBody>
                  <a:tcPr marL="45720" marR="45720" marT="9144" marB="9144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5A6B7B"/>
                          </a:solidFill>
                          <a:latin typeface="Consolas"/>
                        </a:rPr>
                        <a:t>standard_type</a:t>
                      </a:r>
                    </a:p>
                  </a:txBody>
                  <a:tcPr marL="45720" marR="45720" marT="9144" marB="9144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5A6B7B"/>
                          </a:solidFill>
                          <a:latin typeface="Consolas"/>
                        </a:rPr>
                        <a:t>n_activities</a:t>
                      </a:r>
                    </a:p>
                  </a:txBody>
                  <a:tcPr marL="45720" marR="45720" marT="9144" marB="9144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5A6B7B"/>
                          </a:solidFill>
                          <a:latin typeface="Consolas"/>
                        </a:rPr>
                        <a:t>fraction</a:t>
                      </a:r>
                    </a:p>
                  </a:txBody>
                  <a:tcPr marL="45720" marR="45720" marT="9144" marB="9144" anchor="ctr">
                    <a:solidFill>
                      <a:srgbClr val="EEF2F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6222F"/>
                          </a:solidFill>
                          <a:latin typeface="Calibri"/>
                        </a:rPr>
                        <a:t>MAO_A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EC50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1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0.0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6222F"/>
                          </a:solidFill>
                          <a:latin typeface="Calibri"/>
                        </a:rPr>
                        <a:t>hERG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IC50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11707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0.851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6222F"/>
                          </a:solidFill>
                          <a:latin typeface="Calibri"/>
                        </a:rPr>
                        <a:t>hERG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Ki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1812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0.132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6222F"/>
                          </a:solidFill>
                          <a:latin typeface="Calibri"/>
                        </a:rPr>
                        <a:t>hERG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EC50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200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0.015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6222F"/>
                          </a:solidFill>
                          <a:latin typeface="Calibri"/>
                        </a:rPr>
                        <a:t>hERG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Kd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45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0.003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594360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i="1">
                <a:solidFill>
                  <a:srgbClr val="5A6B7B"/>
                </a:solidFill>
                <a:latin typeface="Calibri"/>
              </a:rPr>
              <a:t>STable S11. Assay-type composition per target (IC50/Ki/Kd/EC50 fractions on the standardised pChEMBL scale).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072B2"/>
                </a:solidFill>
                <a:latin typeface="Consolas"/>
              </a:rPr>
              <a:t>SUPPLEMENTARY TABLE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530352"/>
            <a:ext cx="457200" cy="41148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22960"/>
            <a:ext cx="10607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6222F"/>
                </a:solidFill>
                <a:latin typeface="Georgia"/>
              </a:rPr>
              <a:t>STable S12 — Assay sensitivity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600200"/>
          <a:ext cx="11274552" cy="15361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79092"/>
                <a:gridCol w="1879092"/>
                <a:gridCol w="1879092"/>
                <a:gridCol w="1879092"/>
                <a:gridCol w="1879092"/>
                <a:gridCol w="1879092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5A6B7B"/>
                          </a:solidFill>
                          <a:latin typeface="Consolas"/>
                        </a:rPr>
                        <a:t>endpoint</a:t>
                      </a:r>
                    </a:p>
                  </a:txBody>
                  <a:tcPr marL="45720" marR="45720" marT="9144" marB="9144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5A6B7B"/>
                          </a:solidFill>
                          <a:latin typeface="Consolas"/>
                        </a:rPr>
                        <a:t>pooled_n</a:t>
                      </a:r>
                    </a:p>
                  </a:txBody>
                  <a:tcPr marL="45720" marR="45720" marT="9144" marB="9144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5A6B7B"/>
                          </a:solidFill>
                          <a:latin typeface="Consolas"/>
                        </a:rPr>
                        <a:t>pooled_AUROC</a:t>
                      </a:r>
                    </a:p>
                  </a:txBody>
                  <a:tcPr marL="45720" marR="45720" marT="9144" marB="9144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5A6B7B"/>
                          </a:solidFill>
                          <a:latin typeface="Consolas"/>
                        </a:rPr>
                        <a:t>IC50only_n</a:t>
                      </a:r>
                    </a:p>
                  </a:txBody>
                  <a:tcPr marL="45720" marR="45720" marT="9144" marB="9144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5A6B7B"/>
                          </a:solidFill>
                          <a:latin typeface="Consolas"/>
                        </a:rPr>
                        <a:t>IC50only_AUROC</a:t>
                      </a:r>
                    </a:p>
                  </a:txBody>
                  <a:tcPr marL="45720" marR="45720" marT="9144" marB="9144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5A6B7B"/>
                          </a:solidFill>
                          <a:latin typeface="Consolas"/>
                        </a:rPr>
                        <a:t>AUROC_delta_pooled_minus_IC50</a:t>
                      </a:r>
                    </a:p>
                  </a:txBody>
                  <a:tcPr marL="45720" marR="45720" marT="9144" marB="9144" anchor="ctr">
                    <a:solidFill>
                      <a:srgbClr val="EEF2F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6222F"/>
                          </a:solidFill>
                          <a:latin typeface="Calibri"/>
                        </a:rPr>
                        <a:t>GSK3B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4044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0.919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2445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0.913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0.006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6222F"/>
                          </a:solidFill>
                          <a:latin typeface="Calibri"/>
                        </a:rPr>
                        <a:t>MAO_B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3455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0.884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3211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0.89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-0.006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6222F"/>
                          </a:solidFill>
                          <a:latin typeface="Calibri"/>
                        </a:rPr>
                        <a:t>hERG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5905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0.901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5054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0.901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222F"/>
                          </a:solidFill>
                          <a:latin typeface="Consolas"/>
                        </a:rPr>
                        <a:t>0.0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594360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i="1">
                <a:solidFill>
                  <a:srgbClr val="5A6B7B"/>
                </a:solidFill>
                <a:latin typeface="Calibri"/>
              </a:rPr>
              <a:t>STable S12. Single-assay (IC50-only) versus pooled retraining: AUROC delta &lt;= 0.006 across the three endpoints tested.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072B2"/>
                </a:solidFill>
                <a:latin typeface="Consolas"/>
              </a:rPr>
              <a:t>SUPPLEMENTARY TABLE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530352"/>
            <a:ext cx="457200" cy="41148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22960"/>
            <a:ext cx="10607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6222F"/>
                </a:solidFill>
                <a:latin typeface="Georgia"/>
              </a:rPr>
              <a:t>STable S13 — LLM head-to-head scoreboard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600200"/>
          <a:ext cx="11274550" cy="23042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27455"/>
                <a:gridCol w="1127455"/>
                <a:gridCol w="1127455"/>
                <a:gridCol w="1127455"/>
                <a:gridCol w="1127455"/>
                <a:gridCol w="1127455"/>
                <a:gridCol w="1127455"/>
                <a:gridCol w="1127455"/>
                <a:gridCol w="1127455"/>
                <a:gridCol w="1127455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5A6B7B"/>
                          </a:solidFill>
                          <a:latin typeface="Consolas"/>
                        </a:rPr>
                        <a:t>system</a:t>
                      </a:r>
                    </a:p>
                  </a:txBody>
                  <a:tcPr marL="45720" marR="45720" marT="9144" marB="9144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A6B7B"/>
                          </a:solidFill>
                          <a:latin typeface="Consolas"/>
                        </a:rPr>
                        <a:t>BBB_acc</a:t>
                      </a:r>
                    </a:p>
                  </a:txBody>
                  <a:tcPr marL="45720" marR="45720" marT="9144" marB="9144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A6B7B"/>
                          </a:solidFill>
                          <a:latin typeface="Consolas"/>
                        </a:rPr>
                        <a:t>BBB_n</a:t>
                      </a:r>
                    </a:p>
                  </a:txBody>
                  <a:tcPr marL="45720" marR="45720" marT="9144" marB="9144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A6B7B"/>
                          </a:solidFill>
                          <a:latin typeface="Consolas"/>
                        </a:rPr>
                        <a:t>hERG_acc</a:t>
                      </a:r>
                    </a:p>
                  </a:txBody>
                  <a:tcPr marL="45720" marR="45720" marT="9144" marB="9144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A6B7B"/>
                          </a:solidFill>
                          <a:latin typeface="Consolas"/>
                        </a:rPr>
                        <a:t>hERG_n</a:t>
                      </a:r>
                    </a:p>
                  </a:txBody>
                  <a:tcPr marL="45720" marR="45720" marT="9144" marB="9144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A6B7B"/>
                          </a:solidFill>
                          <a:latin typeface="Consolas"/>
                        </a:rPr>
                        <a:t>Brier</a:t>
                      </a:r>
                    </a:p>
                  </a:txBody>
                  <a:tcPr marL="45720" marR="45720" marT="9144" marB="9144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A6B7B"/>
                          </a:solidFill>
                          <a:latin typeface="Consolas"/>
                        </a:rPr>
                        <a:t>chembl_ids_given</a:t>
                      </a:r>
                    </a:p>
                  </a:txBody>
                  <a:tcPr marL="45720" marR="45720" marT="9144" marB="9144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A6B7B"/>
                          </a:solidFill>
                          <a:latin typeface="Consolas"/>
                        </a:rPr>
                        <a:t>fabricated_ids</a:t>
                      </a:r>
                    </a:p>
                  </a:txBody>
                  <a:tcPr marL="45720" marR="45720" marT="9144" marB="9144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A6B7B"/>
                          </a:solidFill>
                          <a:latin typeface="Consolas"/>
                        </a:rPr>
                        <a:t>wrong_structure_ids</a:t>
                      </a:r>
                    </a:p>
                  </a:txBody>
                  <a:tcPr marL="45720" marR="45720" marT="9144" marB="9144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A6B7B"/>
                          </a:solidFill>
                          <a:latin typeface="Consolas"/>
                        </a:rPr>
                        <a:t>novel_confabulation</a:t>
                      </a:r>
                    </a:p>
                  </a:txBody>
                  <a:tcPr marL="45720" marR="45720" marT="9144" marB="9144" anchor="ctr">
                    <a:solidFill>
                      <a:srgbClr val="EEF2F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6222F"/>
                          </a:solidFill>
                          <a:latin typeface="Calibri"/>
                        </a:rPr>
                        <a:t>BrainSafe AI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0.889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9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1.0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5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0.088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False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6222F"/>
                          </a:solidFill>
                          <a:latin typeface="Calibri"/>
                        </a:rPr>
                        <a:t>Gemini Pro (2026-07-03)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0.778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9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1.0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5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0.067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10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1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4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True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6222F"/>
                          </a:solidFill>
                          <a:latin typeface="Calibri"/>
                        </a:rPr>
                        <a:t>ChatGPT (GPT-4o, 2026-07-03)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1.0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9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1.0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5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0.035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9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1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3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True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6222F"/>
                          </a:solidFill>
                          <a:latin typeface="Calibri"/>
                        </a:rPr>
                        <a:t>Perplexity (2026-07-03)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1.0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9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0.8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5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0.041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1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True</a:t>
                      </a:r>
                    </a:p>
                  </a:txBody>
                  <a:tcPr marL="45720" marR="45720" marT="9144" marB="9144" anchor="ctr"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6222F"/>
                          </a:solidFill>
                          <a:latin typeface="Calibri"/>
                        </a:rPr>
                        <a:t>Claude (2026-07-03)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1.0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9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1.0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5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0.02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10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1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3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6222F"/>
                          </a:solidFill>
                          <a:latin typeface="Consolas"/>
                        </a:rPr>
                        <a:t>True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594360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i="1">
                <a:solidFill>
                  <a:srgbClr val="5A6B7B"/>
                </a:solidFill>
                <a:latin typeface="Calibri"/>
              </a:rPr>
              <a:t>STable S13. Pre-registered head-to-head: BrainSafe and four LLMs scored against the frozen measured-data key (live ChEMBL verification of cited identifiers).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