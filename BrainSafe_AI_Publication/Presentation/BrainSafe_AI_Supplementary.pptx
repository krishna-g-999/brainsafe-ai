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6B4E9"/>
                </a:solidFill>
                <a:latin typeface="Consolas"/>
              </a:rPr>
              <a:t>BRAINSAFE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Supplementary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5"/>
                </a:solidFill>
                <a:latin typeface="Calibri"/>
              </a:rPr>
              <a:t>Figures and supplementary tables. Every value is read directly from the released validation artifacts (supplementary/*.csv); figures are regenerated from out-of-fold predictions. Nothing is hand-entered.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6B4E9"/>
                </a:solidFill>
                <a:latin typeface="Consolas"/>
              </a:rPr>
              <a:t>8 figures    ·    14 supplementary tables (S0–S13)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Part A: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6B4E9"/>
                </a:solidFill>
                <a:latin typeface="Consolas"/>
              </a:rPr>
              <a:t>fig1–fig7 + graphical 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· GRAPHICAL ABSTRACT</a:t>
            </a:r>
          </a:p>
        </p:txBody>
      </p:sp>
      <p:pic>
        <p:nvPicPr>
          <p:cNvPr id="3" name="Picture 2" descr="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868680"/>
            <a:ext cx="11338560" cy="46487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Graphical abstract. Structure-to-brain-effect prediction from measured data; validation and coverage summarised. The per-compound profile shown is illustrative.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· FIGURE 1</a:t>
            </a:r>
          </a:p>
        </p:txBody>
      </p:sp>
      <p:pic>
        <p:nvPicPr>
          <p:cNvPr id="3" name="Picture 2" descr="fig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868680"/>
            <a:ext cx="11338560" cy="47280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Figure 1. BrainSafe AI pipeline: measured data sources -&gt; curation -&gt; ECFP+descriptor featurisation -&gt; ensemble training -&gt; calibration/conformal -&gt; integrated outputs, with the four validation regimes.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· FIGURE 2</a:t>
            </a:r>
          </a:p>
        </p:txBody>
      </p:sp>
      <p:pic>
        <p:nvPicPr>
          <p:cNvPr id="3" name="Picture 2" descr="fig2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863" y="868680"/>
            <a:ext cx="8887968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Figure 2. Training-set size and class balance for each endpoint (measured records).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· FIGURE 3</a:t>
            </a:r>
          </a:p>
        </p:txBody>
      </p:sp>
      <p:pic>
        <p:nvPicPr>
          <p:cNvPr id="3" name="Picture 2" descr="fig3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80" y="868680"/>
            <a:ext cx="10019934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Figure 3. AUROC across the four validation regimes (random, scaffold, leave-cluster-out, temporal). Error bars on scaffold bars are 95% bootstrap CIs. BBB has no temporal split (no document year).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· FIGURE 4</a:t>
            </a:r>
          </a:p>
        </p:txBody>
      </p:sp>
      <p:pic>
        <p:nvPicPr>
          <p:cNvPr id="3" name="Picture 2" descr="fig4_roc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23" y="868680"/>
            <a:ext cx="10907249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Figure 4. (A) Scaffold cross-validation ROC curves (out-of-fold). (B) Reliability diagrams after isotonic calibration.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· FIGURE 5</a:t>
            </a:r>
          </a:p>
        </p:txBody>
      </p:sp>
      <p:pic>
        <p:nvPicPr>
          <p:cNvPr id="3" name="Picture 2" descr="fig5_conform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868680"/>
            <a:ext cx="11338560" cy="4742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Figure 5. (A) Empirical coverage of 90%-level conformal prediction sets (target 0.90). (B) Scaffold-CV AUROC of the deployed ensemble versus kNN-Tanimoto and logistic-regression baselines.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· FIGURE 6</a:t>
            </a:r>
          </a:p>
        </p:txBody>
      </p:sp>
      <p:pic>
        <p:nvPicPr>
          <p:cNvPr id="3" name="Picture 2" descr="fig6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863" y="868680"/>
            <a:ext cx="8887968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Figure 6. Per-endpoint random-split AUROC (this work) relative to published random-split ranges.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· FIGURE 7</a:t>
            </a:r>
          </a:p>
        </p:txBody>
      </p:sp>
      <p:pic>
        <p:nvPicPr>
          <p:cNvPr id="3" name="Picture 2" descr="fig7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837" y="868680"/>
            <a:ext cx="8312019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Figure 7. Predicted versus measured potency (scaffold CV): measured antioxidant (DPPH) model and four receptor potency-regression endpoints (A2A, 5-HT2A, D2, SERT).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Part B: Supplementary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6B4E9"/>
                </a:solidFill>
                <a:latin typeface="Consolas"/>
              </a:rPr>
              <a:t>S0–S13, read from the released CSVs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S0: Data provenance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416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9319"/>
                <a:gridCol w="1409319"/>
                <a:gridCol w="1409319"/>
                <a:gridCol w="1409319"/>
                <a:gridCol w="1409319"/>
                <a:gridCol w="1409319"/>
                <a:gridCol w="1409319"/>
                <a:gridCol w="1409319"/>
              </a:tblGrid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Role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Modality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Source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Identifier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Measurement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Year range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BBB gate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Classification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B3DB (measured)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B3DB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BBB+/- permeability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7807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curated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Alzheimer's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Classification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CHEMBL220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4324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1986-2025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Alzheimer's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Classification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CHEMBL1914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2580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1976-2025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Alzheimer's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Classification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CHEMBL4822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8067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2001-2025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Neuroprotection (tau)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Classification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CHEMBL262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4044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2000-2025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MAO-B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Parkinson's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Classification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CHEMBL2039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3455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1990-2025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MAO-A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Depression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Classification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CHEMBL1951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2141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1990-2025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Parkinson's/psychosis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Regression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CHEMBL217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7511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1987-2025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Parkinson's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Regression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CHEMBL251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5547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1992-2025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Mood/psychosis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Regression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CHEMBL224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5256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1994-2025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Depression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Regression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CHEMBL228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4471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1980-2025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Safety (cardiotox)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Classification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CHEMBL240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5905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1995-2025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Antioxidant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Oxidative stress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Regression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DPPH (measured)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DPPH assays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pIC50 (radical scavenging)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2862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curated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Clinical precedent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Translational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Reference (k-NN)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ATC-N (measured)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ATC level-1 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max clinical phase 1-4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504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curated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S0. Provenance of every endpoint: role, modality, source database, identifier, measurement type, n, and year range. All measured experimental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S1: Classification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49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4959"/>
                <a:gridCol w="1024959"/>
                <a:gridCol w="1024959"/>
                <a:gridCol w="1024959"/>
                <a:gridCol w="1024959"/>
                <a:gridCol w="1024959"/>
                <a:gridCol w="1024959"/>
                <a:gridCol w="1024959"/>
                <a:gridCol w="1024959"/>
                <a:gridCol w="1024959"/>
                <a:gridCol w="1024959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pos_rate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AUROC_random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AUROC_scaffold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AUROC_cluster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AUROC_temporal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PR_AUC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MCC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Brier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conformal_coverage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4324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8067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0.039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7805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0.635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nan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0.105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2580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0.701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4044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2141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0.376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0.815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0.136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3455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0.652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0.606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0.122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5905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0.415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0.626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0.123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S1. Full classification metrics across regimes (key columns shown; complete 16-column table in the CSV).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S2: Receptor regression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9319"/>
                <a:gridCol w="1409319"/>
                <a:gridCol w="1409319"/>
                <a:gridCol w="1409319"/>
                <a:gridCol w="1409319"/>
                <a:gridCol w="1409319"/>
                <a:gridCol w="1409319"/>
                <a:gridCol w="1409319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receptor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scaffold_cv_R2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RMSE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Spearman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temporal_R2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y_range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task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7511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0.425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0.652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-0.007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3.74-10.83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regression (pChEMBL)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5547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0.526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0.738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0.706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0.326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3.39-11.0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regression (pChEMBL)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5256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4.0-11.0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regression (pChEMBL)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4471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0.338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0.841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0.573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0.171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4.0-11.0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regression (pChEMBL)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S2. Receptor potency-regression performance (scaffold CV and temporal split).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S3: Antioxidant (measured DPPH)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2728"/>
                <a:gridCol w="1252728"/>
                <a:gridCol w="1252728"/>
                <a:gridCol w="1252728"/>
                <a:gridCol w="1252728"/>
                <a:gridCol w="1252728"/>
                <a:gridCol w="1252728"/>
                <a:gridCol w="1252728"/>
                <a:gridCol w="1252728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scaffold_cv_R2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RMSE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Spearman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temporal_R2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crosscheck_curated_vs_measured_Spearman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prior_curated_R2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source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antioxidant_DPPH_measured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2862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0.597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-0.021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0.387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DPPH radical-scavenging assays (measured IC50/EC50 -&gt; pIC50)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S3. Measured-DPPH antioxidant regression, including cross-check against the prior curated proxy.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S4: Threshold sensitivity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0" cy="4160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</a:tblGrid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split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threshold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precision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recall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f1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PR_AUC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n_test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pos_rate_test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1057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1057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0.742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0.838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848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0.806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0.832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848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0.699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848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0.835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848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0.699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1183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1183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0.676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1183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0.833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1183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1604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1604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2334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2334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S4. Per-operating-threshold precision/recall/F1 by endpoint and split (temporal, scaffold-holdout).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S4: Threshold sensitivity (continued)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0" cy="4160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</a:tblGrid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split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threshold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precision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recall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f1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PR_AUC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n_test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pos_rate_test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2334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2334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1529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1529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0.856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1529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1529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527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0.816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527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0.848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602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602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0.746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602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602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0.746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0.727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1397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1397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0.727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1397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0.704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0.819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1397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2015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2015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2015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0.847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2015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S4. Per-operating-threshold precision/recall/F1 by endpoint and split (temporal, scaffold-holdout).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S4: Threshold sensitivity (continued)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0" cy="4160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</a:tblGrid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split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threshold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precision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recall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f1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PR_AUC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n_test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pos_rate_test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418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0.658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418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418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0.834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0.658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418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1037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0.791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1037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901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0.814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901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928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928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0.556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0.322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0.408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449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0.064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0.117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0.523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0.777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0.625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449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0.664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638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0.802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0.704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638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S4. Per-operating-threshold precision/recall/F1 by endpoint and split (temporal, scaffold-holdout).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S4: Threshold sensitivity (continued)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0" cy="4160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</a:tblGrid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split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threshold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precision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recall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f1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PR_AUC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n_test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pos_rate_test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638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0.815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638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756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0.802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756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0.709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0.675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756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0.634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756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0.709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0.855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0.843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0.849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1279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1279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1279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1279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0.472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1263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0.649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0.539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1263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0.313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0.271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0.406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1263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1263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0.313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S4. Per-operating-threshold precision/recall/F1 by endpoint and split (temporal, scaffold-holdout).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S4: Threshold sensitivity (continued)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split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threshold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precision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recall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f1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PR_AUC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n_test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pos_rate_test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1610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0.553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0.764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0.793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1610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S4. Per-operating-threshold precision/recall/F1 by endpoint and split (temporal, scaffold-holdout).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S5: Similarity-binned AUROC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4160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tanimoto_bin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950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0.893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3399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1018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0.958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538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0.687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1044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1569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1173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0.974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218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0.652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1043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0.919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5244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1562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0.966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2587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2851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0.918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1953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414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0.951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485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0.842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986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859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0.577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1568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0.809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S5. AUROC binned by nearest-training Tanimoto similarity, the empirical basis of the applicability-domain flag.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S5: Similarity-binned AUROC (continued)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4160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tanimoto_bin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3880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1782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0.935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576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968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1954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546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469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1260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0.787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2341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0.966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1186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0.976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376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817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0.851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705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243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0.948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0.755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1345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0.831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1172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488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0.768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1318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2126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0.939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673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0.857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S5. AUROC binned by nearest-training Tanimoto similarity, the empirical basis of the applicability-domain flag.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S5: Similarity-binned AUROC (continued)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tanimoto_bin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1222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0.748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1643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0.862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2539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501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0.975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S5. AUROC binned by nearest-training Tanimoto similarity, the empirical basis of the applicability-domain flag.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S6: Clinical reference composition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37276"/>
                <a:gridCol w="5637276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disease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n_compounds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CNS (other)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178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Depression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66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Psychosis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66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Other CNS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Epilepsy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Cognition/ADHD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Anxiety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Parkinson's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Alzheimer's / dementia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S6. Composition of the 504-compound clinical-precedent reference set by disease class.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S7: Benchmark vs literature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BrainSafe_random_AUROC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published_random_AUROC_range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0.88-0.96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0.975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~0.90-0.97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0.976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~0.90-0.97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0.956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~0.90-0.96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~0.88-0.95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~0.88-0.96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~0.85-0.95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0.86-0.93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S7. BrainSafe random-split AUROC versus published random-split ranges per endpoint.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S8: Capability vs LLM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41605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dimension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BrainSafe_AI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General_LLM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Chemical structure (SMILES; name/inchi resolved to structure)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Natural-language text prompt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Molecular representation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ECFP-4 (1024-bit) + 24 computed RDKit physicochemical descriptors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Sub-word text tokens; no explicit molecular graph/descriptors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Training signal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64,474 measured ChEMBL/B3DB bioactivity records (structure-&gt;measured value)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Web/text corpus; bioactivity not learned as a measured regression target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Primary output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Calibrated probability / potency per endpoint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Free-text assertion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Uncertainty quantification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Isotonic calibration + Mondrian conformal sets (empirical 88.5-90.5% coverage)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None, or verbal and uncalibrated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Provenance / grounding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Returns nearest MEASURED analogue(s) + measured pChEMBL for every call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Not grounded in specific measurements; hallucination documented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Applicability domain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Explicit Tanimoto AD flag; performance shown to degrade with distance (STable5)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No domain boundary; equally fluent in- and out-of-domain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Reproducibility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Deterministic (fixed seed 42); identical output on re-run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Stochastic; version- and prompt-dependent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Benchmarked property-prediction accuracy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AUROC 0.87-0.98 (scaffold/random, this work)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Underperforms specialised ML on molecular property prediction (Guo 2023; Zhong 2024)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Behaviour on a novel compound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Grounded, calibrated prediction or explicit out-of-domain flag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May confabulate plausible but unverifiable values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S8. Capability comparison: BrainSafe AI versus a general-purpose large language model.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S9: Ablation vs baselines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0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0650"/>
                <a:gridCol w="1610650"/>
                <a:gridCol w="1610650"/>
                <a:gridCol w="1610650"/>
                <a:gridCol w="1610650"/>
                <a:gridCol w="1610650"/>
                <a:gridCol w="161065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Ensemble_AUROC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kNN_Tanimoto_AUROC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LogisticRegression_AUROC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delta_vs_kNN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delta_vs_LR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ensemble_best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0.874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0.885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0.039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0.129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0.937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0.899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0.866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0.038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0.071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0.842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0.078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0.853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0.731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0.014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0.136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0.742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0.052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0.143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0.901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0.871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0.792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0.109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S9. Scaffold-split AUROC: deployed ensemble versus kNN-Tanimoto and logistic-regression baselines (ensemble best on all 8 endpoints).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S10: Label-definition robustness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4160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9319"/>
                <a:gridCol w="1409319"/>
                <a:gridCol w="1409319"/>
                <a:gridCol w="1409319"/>
                <a:gridCol w="1409319"/>
                <a:gridCol w="1409319"/>
                <a:gridCol w="1409319"/>
                <a:gridCol w="1409319"/>
              </a:tblGrid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label_definition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pos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pos_rate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scaffold_AUROC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MCC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balanced_acc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deployed (&gt;=6 / &lt;5)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4324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3098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0.835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strict (&gt;=6.5 / &lt;5.5)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4533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2297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0.507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0.843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sharp boundary (&gt;=6 / &lt;6)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6194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3098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0.553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0.775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high-potency (&gt;=7 / &lt;5)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2833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1607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0.567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0.947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0.878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deployed (&gt;=6 / &lt;5)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3455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2254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0.652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0.602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strict (&gt;=6.5 / &lt;5.5)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3575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1574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0.607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0.805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sharp boundary (&gt;=6 / &lt;6)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4933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2254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0.457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0.479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high-potency (&gt;=7 / &lt;5)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2218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1017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0.459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0.914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0.835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deployed (&gt;=6 / &lt;5)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5905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2451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0.415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0.817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strict (&gt;=6.5 / &lt;5.5)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7895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1302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0.165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0.907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0.55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0.822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sharp boundary (&gt;=6 / &lt;6)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11093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2451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0.221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0.827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0.424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high-potency (&gt;=7 / &lt;5)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4181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727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0.174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0.936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deployed (&gt;=6 / &lt;5)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8067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7303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strict (&gt;=6.5 / &lt;5.5)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7693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6126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0.938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0.678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sharp boundary (&gt;=6 / &lt;6)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10022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7303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0.729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0.573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0.806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high-potency (&gt;=7 / &lt;5)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5500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4736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0.861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0.969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0.738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0.917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S10. Scaffold-CV AUROC under alternative pChEMBL label cut-offs (deployed / strict / sharp-boundary / high-potency).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S11: Assay-type composition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4160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standard_type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n_activities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fraction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IC50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7274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Ki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665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0.081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EC50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0.006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IC50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4270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Ki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337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EC50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0.001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IC50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12721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Ki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2534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0.162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EC50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0.019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Kd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72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0.005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IC50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3994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0.493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EC50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2695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0.333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Ki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1269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0.157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Kd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0.018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IC50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5777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Ki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686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0.106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EC50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Kd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0.001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IC50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3687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Ki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622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0.144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S11. Assay-type composition per target (IC50/Ki/Kd/EC50 fractions on the standardised pChEMBL scale).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S11: Assay-type composition (continued)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standard_type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n_activities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fraction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EC50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IC50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11707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0.851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Ki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1812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0.132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EC50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200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0.015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S11. Assay-type composition per target (IC50/Ki/Kd/EC50 fractions on the standardised pChEMBL scale).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S12: Assay sensitivity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pooled_n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pooled_AUROC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IC50only_n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IC50only_AUROC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AUROC_delta_pooled_minus_IC50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4044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0.919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2445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0.006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3455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0.884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3211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-0.006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5905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5054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S12. Single-assay (IC50-only) versus pooled retraining: AUROC delta &lt;= 0.006 across the three endpoints tested.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S13: LLM head-to-head scoreboard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system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BBB_acc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BBB_n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hERG_acc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hERG_n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Brier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chembl_ids_given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fabricated_ids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wrong_structure_ids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novel_confabulation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BrainSafe AI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Gemini Pro (2026-07-03)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0.778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ChatGPT (GPT-4o, 2026-07-03)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0.035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Perplexity (2026-07-03)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0.041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Claude (2026-07-03)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S13. Pre-registered head-to-head: BrainSafe and four LLMs scored against the frozen measured-data key (live ChEMBL verification of cited identifiers).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