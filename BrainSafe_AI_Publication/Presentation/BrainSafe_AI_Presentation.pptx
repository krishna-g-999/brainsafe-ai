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snapToObjects="1">
      <p:cViewPr varScale="1">
        <p:scale>
          <a:sx n="91" d="100"/>
          <a:sy n="91" d="100"/>
        </p:scale>
        <p:origin x="68" y="3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0714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Welcome. In one sentence — BrainSafe AI takes a molecule's chemical structure and predicts how it is likely to act on the brain: can it get in, what does it hit, is it safe, and is it drug-like. Crucially, every prediction is built on real laboratory measurements and comes with an honest confidence estimate and the evidence behind it.</a:t>
            </a:r>
          </a:p>
          <a:p>
            <a:endParaRPr/>
          </a:p>
          <a:p>
            <a:r>
              <a:t>TECHNICAL TERMS:</a:t>
            </a:r>
          </a:p>
          <a:p>
            <a:r>
              <a:t>- 'Endpoint' = one specific thing we predict (e.g. brain penetration, or activity against one target).</a:t>
            </a:r>
          </a:p>
          <a:p>
            <a:r>
              <a:t>- 'Measured data' = results of actual lab experiments, not simulated or assumed values.</a:t>
            </a:r>
          </a:p>
          <a:p>
            <a:endParaRPr/>
          </a:p>
          <a:p>
            <a:r>
              <a:t>Q&amp;A — GENERAL/COMMERCIAL:</a:t>
            </a:r>
          </a:p>
          <a:p>
            <a:r>
              <a:t>Q: Is this a finished product / medical device?</a:t>
            </a:r>
          </a:p>
          <a:p>
            <a:r>
              <a:t>A: No. It is a validated research tool for prioritising and triaging compounds. It is not for clinical or diagnostic decisions, and we say that clearly throughout.</a:t>
            </a:r>
          </a:p>
          <a:p>
            <a:r>
              <a:t>Q: Who would use it?</a:t>
            </a:r>
          </a:p>
          <a:p>
            <a:r>
              <a:t>A: Medicinal chemists, natural-product and drug-repurposing researchers — anyone deciding which molecules are worth testing next for brain conditions.</a:t>
            </a:r>
          </a:p>
          <a:p>
            <a:endParaRPr/>
          </a:p>
          <a:p>
            <a:r>
              <a:t>Q&amp;A — EXPERT:</a:t>
            </a:r>
          </a:p>
          <a:p>
            <a:r>
              <a:t>Q: Application paper or method paper?</a:t>
            </a:r>
          </a:p>
          <a:p>
            <a:r>
              <a:t>A: An application/resource paper — the contribution is the integration and honest validation, on measured data, not a new algorithm.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 common misconception is that 'will this help the brain?' is one question. It isn't. A molecule can be a perfect target-blocker and still be useless because it never reaches the brain — or dangerous because it affects the heart. You have to answer all of these together. Today those answers are scattered across separate tools that don't talk to each other.</a:t>
            </a:r>
          </a:p>
          <a:p>
            <a:endParaRPr/>
          </a:p>
          <a:p>
            <a:r>
              <a:t>TECHNICAL TERMS:</a:t>
            </a:r>
          </a:p>
          <a:p>
            <a:r>
              <a:t>- Blood–brain barrier (BBB): a tight layer of cells that keeps most substances out of the brain.</a:t>
            </a:r>
          </a:p>
          <a:p>
            <a:r>
              <a:t>- Target: the specific protein a drug is meant to act on (e.g. an enzyme involved in Alzheimer's).</a:t>
            </a:r>
          </a:p>
          <a:p>
            <a:r>
              <a:t>- ADMET: absorption, distribution, metabolism, excretion, toxicity — the 'developability' properties.</a:t>
            </a:r>
          </a:p>
          <a:p>
            <a:endParaRPr/>
          </a:p>
          <a:p>
            <a:r>
              <a:t>Q&amp;A — GENERAL/COMMERCIAL:</a:t>
            </a:r>
          </a:p>
          <a:p>
            <a:r>
              <a:t>Q: Why does this matter commercially?</a:t>
            </a:r>
          </a:p>
          <a:p>
            <a:r>
              <a:t>A: Most drug candidates fail late and expensively. Catching 'won't reach the brain' or 'heart-safety risk' early saves time and money.</a:t>
            </a:r>
          </a:p>
          <a:p>
            <a:endParaRPr/>
          </a:p>
          <a:p>
            <a:r>
              <a:t>Q&amp;A — EXPERT:</a:t>
            </a:r>
          </a:p>
          <a:p>
            <a:r>
              <a:t>Q: Aren't SwissADME/ADMETlab enough?</a:t>
            </a:r>
          </a:p>
          <a:p>
            <a:r>
              <a:t>A: They cover BBB/ADMET well but not measured CNS-target activity, BBB-gated disease synthesis, calibrated uncertainty, or a linked safety axis — that combination is the gap.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We did not invent a new machine-learning algorithm — and that is deliberate. The scientific value here is engineering restraint: taking proven, trusted components and integrating them so the whole is honest and auditable. Three properties make it different from a black box: calibration, evidence-grounding, and brain-gating.</a:t>
            </a:r>
          </a:p>
          <a:p>
            <a:endParaRPr/>
          </a:p>
          <a:p>
            <a:r>
              <a:t>TECHNICAL TERMS:</a:t>
            </a:r>
          </a:p>
          <a:p>
            <a:r>
              <a:t>- Calibration: adjusting scores so a stated probability matches real-world frequency.</a:t>
            </a:r>
          </a:p>
          <a:p>
            <a:r>
              <a:t>- Confidence range (conformal set): instead of one number, the tool can say 'confidently active' or 'uncertain — both possible', with a mathematical coverage guarantee.</a:t>
            </a:r>
          </a:p>
          <a:p>
            <a:r>
              <a:t>- Brain-gating: multiplying target activity by brain-penetration probability, so a target hit that can't reach the brain is down-weighted.</a:t>
            </a:r>
          </a:p>
          <a:p>
            <a:endParaRPr/>
          </a:p>
          <a:p>
            <a:r>
              <a:t>Q&amp;A — EXPERT:</a:t>
            </a:r>
          </a:p>
          <a:p>
            <a:r>
              <a:t>Q: If nothing is novel algorithmically, what's the publishable claim?</a:t>
            </a:r>
          </a:p>
          <a:p>
            <a:r>
              <a:t>A: The integrated, calibrated, conformal, BBB-gated, safety-aware, evidence-grounded configuration on measured data — no existing single tool provides it — plus a rigorous multi-regime validation.</a:t>
            </a:r>
          </a:p>
          <a:p>
            <a:endParaRPr/>
          </a:p>
          <a:p>
            <a:r>
              <a:t>Q&amp;A — GENERAL/COMMERCIAL:</a:t>
            </a:r>
          </a:p>
          <a:p>
            <a:r>
              <a:t>Q: What's the moat if the parts are standard?</a:t>
            </a:r>
          </a:p>
          <a:p>
            <a:r>
              <a:t>A: The integration, the curated measured dataset, the honesty layer (calibration + provenance), and validated performance — hard to reproduce casually.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Everything the tool knows comes from real experiments in public databases — mainly ChEMBL, the standard repository of measured bioactivity, and B3DB for brain penetration. 64,474 measured records in total. This is the single most important integrity point: the foundation is measured, not scraped text.</a:t>
            </a:r>
          </a:p>
          <a:p>
            <a:endParaRPr/>
          </a:p>
          <a:p>
            <a:r>
              <a:t>TECHNICAL TERMS:</a:t>
            </a:r>
          </a:p>
          <a:p>
            <a:r>
              <a:t>- ChEMBL: a large public database of measured drug-target activity.</a:t>
            </a:r>
          </a:p>
          <a:p>
            <a:r>
              <a:t>- pChEMBL: a standardised potency value (higher = more potent) that lets different experiments be compared on one scale.</a:t>
            </a:r>
          </a:p>
          <a:p>
            <a:r>
              <a:t>- B3DB: a curated database of measured blood–brain-barrier permeability.</a:t>
            </a:r>
          </a:p>
          <a:p>
            <a:r>
              <a:t>- DPPH: a standard lab test of antioxidant (free-radical-scavenging) strength.</a:t>
            </a:r>
          </a:p>
          <a:p>
            <a:endParaRPr/>
          </a:p>
          <a:p>
            <a:r>
              <a:t>Q&amp;A — EXPERT:</a:t>
            </a:r>
          </a:p>
          <a:p>
            <a:r>
              <a:t>Q: You pool IC50/Ki/Kd/EC50 — doesn't that mix assays?</a:t>
            </a:r>
          </a:p>
          <a:p>
            <a:r>
              <a:t>A: Yes, on the standardised pChEMBL scale; we tested this (later slide): retraining on a single assay type changes AUROC by &lt;=0.006, so pooling is safe.</a:t>
            </a:r>
          </a:p>
          <a:p>
            <a:endParaRPr/>
          </a:p>
          <a:p>
            <a:r>
              <a:t>Q&amp;A — GENERAL/COMMERCIAL:</a:t>
            </a:r>
          </a:p>
          <a:p>
            <a:r>
              <a:t>Q: Is the data licensed/usable?</a:t>
            </a:r>
          </a:p>
          <a:p>
            <a:r>
              <a:t>A: ChEMBL and B3DB are public and openly licensed; the pipeline is reproducible from released scripts.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tool outputs a full brain profile: brain entry, several disease-relevant targets, a heart-safety flag, receptor strengths, antioxidant capacity, and drug-likeness. Two of these — druggability and CNS-MPO — are transparent chemistry rules, not machine learning.</a:t>
            </a:r>
          </a:p>
          <a:p>
            <a:endParaRPr/>
          </a:p>
          <a:p>
            <a:r>
              <a:t>TECHNICAL TERMS:</a:t>
            </a:r>
          </a:p>
          <a:p>
            <a:r>
              <a:t>- AChE/BChE/BACE1/GSK-3β/MAO: enzymes implicated in Alzheimer's, Parkinson's and mood disorders.</a:t>
            </a:r>
          </a:p>
          <a:p>
            <a:r>
              <a:t>- hERG: a heart ion-channel; blocking it can cause dangerous arrhythmia — a classic safety red flag.</a:t>
            </a:r>
          </a:p>
          <a:p>
            <a:r>
              <a:t>- Receptor (D2/A2A/5-HT2A/SERT): proteins involved in dopamine/serotonin signalling.</a:t>
            </a:r>
          </a:p>
          <a:p>
            <a:r>
              <a:t>- Classifier vs regression: yes/no-with-probability vs a continuous strength score.</a:t>
            </a:r>
          </a:p>
          <a:p>
            <a:r>
              <a:t>- CNS-MPO: a published 'is this drug-like for the brain?' scoring rule.</a:t>
            </a:r>
          </a:p>
          <a:p>
            <a:endParaRPr/>
          </a:p>
          <a:p>
            <a:r>
              <a:t>Q&amp;A — EXPERT:</a:t>
            </a:r>
          </a:p>
          <a:p>
            <a:r>
              <a:t>Q: Why regression for the receptors?</a:t>
            </a:r>
          </a:p>
          <a:p>
            <a:r>
              <a:t>A: 96–98% active-only data makes binary classification degenerate; a pre-set quality gate (MCC&gt;=0.45) routes them to potency regression instead — decided by data, not hand.</a:t>
            </a:r>
          </a:p>
          <a:p>
            <a:endParaRPr/>
          </a:p>
          <a:p>
            <a:r>
              <a:t>Q&amp;A — GENERAL/COMMERCIAL:</a:t>
            </a:r>
          </a:p>
          <a:p>
            <a:r>
              <a:t>Q: Can you add more targets later?</a:t>
            </a:r>
          </a:p>
          <a:p>
            <a:r>
              <a:t>A: Yes — the same pipeline extends to any target with enough measured data.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SAY: Computers can't read a chemical drawing directly, so we convert each molecule into numbers in two ways: a 'fingerprint' that records which small sub-structures are present, and 24 physical properties like size and greasiness. Then three different model types each make a prediction and we average their votes — like a panel of experts rather than one opinion.</a:t>
            </a:r>
          </a:p>
          <a:p>
            <a:endParaRPr dirty="0"/>
          </a:p>
          <a:p>
            <a:r>
              <a:rPr dirty="0"/>
              <a:t>TECHNICAL TERMS:</a:t>
            </a:r>
          </a:p>
          <a:p>
            <a:r>
              <a:rPr dirty="0"/>
              <a:t>- ECFP-4 / Morgan fingerprint: a fixed-length binary code of a molecule's local substructures.</a:t>
            </a:r>
          </a:p>
          <a:p>
            <a:r>
              <a:rPr dirty="0"/>
              <a:t>- Descriptor: a computed physical property (molecular weight, </a:t>
            </a:r>
            <a:r>
              <a:rPr dirty="0" err="1"/>
              <a:t>logP</a:t>
            </a:r>
            <a:r>
              <a:rPr dirty="0"/>
              <a:t>/greasiness, polar surface area, etc.).</a:t>
            </a:r>
          </a:p>
          <a:p>
            <a:r>
              <a:rPr dirty="0"/>
              <a:t>- Random Forest / Extra Trees / Gradient Boosting: standard, robust 'tree ensemble' algorithms.</a:t>
            </a:r>
          </a:p>
          <a:p>
            <a:r>
              <a:rPr dirty="0"/>
              <a:t>- Ensemble: combining several models to reduce error.</a:t>
            </a:r>
          </a:p>
          <a:p>
            <a:endParaRPr dirty="0"/>
          </a:p>
          <a:p>
            <a:r>
              <a:rPr dirty="0"/>
              <a:t>Q&amp;A — EXPERT:</a:t>
            </a:r>
          </a:p>
          <a:p>
            <a:r>
              <a:rPr dirty="0"/>
              <a:t>Q: Why not a graph neural network?</a:t>
            </a:r>
          </a:p>
          <a:p>
            <a:r>
              <a:rPr dirty="0"/>
              <a:t>A: On datasets this size, tree ensembles on </a:t>
            </a:r>
            <a:r>
              <a:rPr dirty="0" err="1"/>
              <a:t>ECFP+descriptors</a:t>
            </a:r>
            <a:r>
              <a:rPr dirty="0"/>
              <a:t> are competitive, far more interpretable, cheaper, and match the literature baselines; deep nets were unnecessary for the claim. Fixed seed 42, </a:t>
            </a:r>
            <a:r>
              <a:rPr dirty="0" err="1"/>
              <a:t>RDKit</a:t>
            </a:r>
            <a:r>
              <a:rPr dirty="0"/>
              <a:t> 2026.03, scikit-learn 1.8.</a:t>
            </a:r>
          </a:p>
          <a:p>
            <a:endParaRPr dirty="0"/>
          </a:p>
          <a:p>
            <a:r>
              <a:rPr dirty="0"/>
              <a:t>Q&amp;A — GENERAL/COMMERCIAL:</a:t>
            </a:r>
          </a:p>
          <a:p>
            <a:r>
              <a:rPr dirty="0"/>
              <a:t>Q: Does it need a supercomputer?</a:t>
            </a:r>
          </a:p>
          <a:p>
            <a:r>
              <a:rPr dirty="0"/>
              <a:t>A: No — it runs on a normal machine, which keeps it cheap and deployable.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difference between a toy and a trustworthy tool is what happens around the prediction. Four choices matter. First, how we define active vs inactive. Second, a quality gate so weak models never ship. Third, calibration so the numbers mean what they say. Fourth, a confidence range plus a warning when a molecule is outside what the model has seen.</a:t>
            </a:r>
          </a:p>
          <a:p>
            <a:endParaRPr/>
          </a:p>
          <a:p>
            <a:r>
              <a:t>TECHNICAL TERMS:</a:t>
            </a:r>
          </a:p>
          <a:p>
            <a:r>
              <a:t>- pChEMBL &gt;=6 (~1 micromolar): a standard potency cut for 'active'.</a:t>
            </a:r>
          </a:p>
          <a:p>
            <a:r>
              <a:t>- MCC: a balanced accuracy score (−1 to 1) robust to class imbalance; 0.45 is our minimum to deploy.</a:t>
            </a:r>
          </a:p>
          <a:p>
            <a:r>
              <a:t>- Isotonic calibration: a monotonic adjustment of scores to match observed frequencies.</a:t>
            </a:r>
          </a:p>
          <a:p>
            <a:r>
              <a:t>- Conformal prediction: a method giving prediction sets with a guaranteed error rate.</a:t>
            </a:r>
          </a:p>
          <a:p>
            <a:r>
              <a:t>- Applicability domain: the chemical space where the model is trustworthy.</a:t>
            </a:r>
          </a:p>
          <a:p>
            <a:endParaRPr/>
          </a:p>
          <a:p>
            <a:r>
              <a:t>Q&amp;A — EXPERT:</a:t>
            </a:r>
          </a:p>
          <a:p>
            <a:r>
              <a:t>Q: Is the &gt;=6/&lt;5 cut cherry-picked?</a:t>
            </a:r>
          </a:p>
          <a:p>
            <a:r>
              <a:t>A: No — we re-labelled at several cuts and retrained; max AUROC spread was 0.109 and the deployed cut ~ the strict cut (robustness slide). The grey-zone drop is empirically justified.</a:t>
            </a:r>
          </a:p>
          <a:p>
            <a:endParaRPr/>
          </a:p>
          <a:p>
            <a:r>
              <a:t>Q&amp;A — GENERAL/COMMERCIAL:</a:t>
            </a:r>
          </a:p>
          <a:p>
            <a:r>
              <a:t>Q: What happens with a brand-new molecule type?</a:t>
            </a:r>
          </a:p>
          <a:p>
            <a:r>
              <a:t>A: The tool flags it as 'out of domain' instead of pretending confidence — a safety feature, not a bug.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Anyone can score well on an easy test. We ran four, each closer to real life. The 'random' test is the easy one most papers stop at. The toughest — 'temporal' — trains only on older molecules and tests on the newest ones, simulating genuine prospective use. We report all four on purpose.</a:t>
            </a:r>
          </a:p>
          <a:p>
            <a:endParaRPr/>
          </a:p>
          <a:p>
            <a:r>
              <a:t>TECHNICAL TERMS:</a:t>
            </a:r>
          </a:p>
          <a:p>
            <a:r>
              <a:t>- Scaffold split (Bemis–Murcko): grouping by core molecular skeleton so test molecules are structurally novel.</a:t>
            </a:r>
          </a:p>
          <a:p>
            <a:r>
              <a:t>- Leave-cluster-out: entire chemical clusters held out.</a:t>
            </a:r>
          </a:p>
          <a:p>
            <a:r>
              <a:t>- Temporal split: train on compounds published up to a cutoff year, test on later ones.</a:t>
            </a:r>
          </a:p>
          <a:p>
            <a:r>
              <a:t>- AUROC (next slide): the score used.</a:t>
            </a:r>
          </a:p>
          <a:p>
            <a:endParaRPr/>
          </a:p>
          <a:p>
            <a:r>
              <a:t>Q&amp;A — EXPERT:</a:t>
            </a:r>
          </a:p>
          <a:p>
            <a:r>
              <a:t>Q: Why does temporal drop so much for some endpoints?</a:t>
            </a:r>
          </a:p>
          <a:p>
            <a:r>
              <a:t>A: 71–91% of recent test compounds have unseen scaffolds (covariate shift). Where the recent set is class-balanced (MAO-A) the honest number is 0.61; we surface this rather than hide it.</a:t>
            </a:r>
          </a:p>
          <a:p>
            <a:endParaRPr/>
          </a:p>
          <a:p>
            <a:r>
              <a:t>Q&amp;A — GENERAL/COMMERCIAL:</a:t>
            </a:r>
          </a:p>
          <a:p>
            <a:r>
              <a:t>Q: Why show your weaknesses?</a:t>
            </a:r>
          </a:p>
          <a:p>
            <a:r>
              <a:t>A: Credibility. A tool that only reports its best number can't be trusted; buyers and reviewers value honesty about limits.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On the standard 'random' test the models score 0.94–0.98 — at or above published state of the art. On the harder tests they hold 0.87–0.95, and on the toughest 'future' test they range 0.61–0.92. We show the low numbers too — GSK-3β and MAO-A are the hardest and we flag them as lower-confidence.</a:t>
            </a:r>
          </a:p>
          <a:p>
            <a:endParaRPr/>
          </a:p>
          <a:p>
            <a:r>
              <a:t>TECHNICAL TERMS:</a:t>
            </a:r>
          </a:p>
          <a:p>
            <a:r>
              <a:t>- AUROC: probability the model ranks a random active above a random inactive; 0.5 chance, 1.0 perfect.</a:t>
            </a:r>
          </a:p>
          <a:p>
            <a:r>
              <a:t>- 'Coverage 0.885–0.905': when the tool gives a 90% confidence set, it is right about 90% of the time — the promise is kept.</a:t>
            </a:r>
          </a:p>
          <a:p>
            <a:endParaRPr/>
          </a:p>
          <a:p>
            <a:r>
              <a:t>Q&amp;A — EXPERT:</a:t>
            </a:r>
          </a:p>
          <a:p>
            <a:r>
              <a:t>Q: BACE1 temporal 0.92 looks too good.</a:t>
            </a:r>
          </a:p>
          <a:p>
            <a:r>
              <a:t>A: Its recent test set is ~93% active, which inflates AUROC; we note this. Conversely MAO-A's balanced set gives an honest 0.61.</a:t>
            </a:r>
          </a:p>
          <a:p>
            <a:endParaRPr/>
          </a:p>
          <a:p>
            <a:r>
              <a:t>Q&amp;A — GENERAL/COMMERCIAL:</a:t>
            </a:r>
          </a:p>
          <a:p>
            <a:r>
              <a:t>Q: Is 0.90 good?</a:t>
            </a:r>
          </a:p>
          <a:p>
            <a:r>
              <a:t>A: Yes — for this kind of prediction it's strong; and unlike many tools we also tell you when to trust 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For the four receptors we predict strength and use it to rank compounds — useful for prioritisation even when an exact value is hard. The antioxidant model is now trained on real DPPH lab measurements and clearly beats the old text-derived estimate. The druggability score is a transparent rule that correctly separates brain-suitable drugs from things like table sugar.</a:t>
            </a:r>
          </a:p>
          <a:p>
            <a:endParaRPr/>
          </a:p>
          <a:p>
            <a:r>
              <a:t>TECHNICAL TERMS:</a:t>
            </a:r>
          </a:p>
          <a:p>
            <a:r>
              <a:t>- R²: fraction of variation explained (1.0 perfect, 0 none).</a:t>
            </a:r>
          </a:p>
          <a:p>
            <a:r>
              <a:t>- Spearman (ρ): how well the predicted ranking matches the true ranking.</a:t>
            </a:r>
          </a:p>
          <a:p>
            <a:r>
              <a:t>- DPPH: standard antioxidant assay.</a:t>
            </a:r>
          </a:p>
          <a:p>
            <a:endParaRPr/>
          </a:p>
          <a:p>
            <a:r>
              <a:t>Q&amp;A — EXPERT:</a:t>
            </a:r>
          </a:p>
          <a:p>
            <a:r>
              <a:t>Q: Temporal R² near zero for some receptors/DPPH?</a:t>
            </a:r>
          </a:p>
          <a:p>
            <a:r>
              <a:t>A: Correct and disclosed — pooled cross-lab DPPH and receptor data generalise weakly across time; these are reported as ranking-grade, not absolute predictors.</a:t>
            </a:r>
          </a:p>
          <a:p>
            <a:endParaRPr/>
          </a:p>
          <a:p>
            <a:r>
              <a:t>Q&amp;A — GENERAL/COMMERCIAL:</a:t>
            </a:r>
          </a:p>
          <a:p>
            <a:r>
              <a:t>Q: What's druggability good for?</a:t>
            </a:r>
          </a:p>
          <a:p>
            <a:r>
              <a:t>A: A quick 'is this even worth pursuing as a brain drug?' filter before expensive work.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 fair worry: is the model just memorising and returning the closest known molecule? We tested exactly that. A nearest-neighbour lookup scores 0.867; a simple linear model 0.808; our ensemble 0.912 — and it wins on every single endpoint. So it genuinely learns patterns, not just look-alikes.</a:t>
            </a:r>
          </a:p>
          <a:p>
            <a:endParaRPr/>
          </a:p>
          <a:p>
            <a:r>
              <a:t>TECHNICAL TERMS:</a:t>
            </a:r>
          </a:p>
          <a:p>
            <a:r>
              <a:t>- Nearest-neighbour (kNN-Tanimoto): predict from the most chemically similar known compounds — a 'read-across' baseline.</a:t>
            </a:r>
          </a:p>
          <a:p>
            <a:r>
              <a:t>- This baseline is the closest analogy to how an LLM's fuzzy recall works, which sets up the next slide.</a:t>
            </a:r>
          </a:p>
          <a:p>
            <a:endParaRPr/>
          </a:p>
          <a:p>
            <a:r>
              <a:t>Q&amp;A — EXPERT:</a:t>
            </a:r>
          </a:p>
          <a:p>
            <a:r>
              <a:t>Q: Deltas look modest (+0.045 vs kNN).</a:t>
            </a:r>
          </a:p>
          <a:p>
            <a:r>
              <a:t>A: Modest but consistent — best on 8/8 under scaffold split, and the point is qualitative: it exceeds pure similarity recall, so performance isn't memorisation.</a:t>
            </a:r>
          </a:p>
          <a:p>
            <a:endParaRPr/>
          </a:p>
          <a:p>
            <a:r>
              <a:t>Q&amp;A — GENERAL/COMMERCIAL:</a:t>
            </a:r>
          </a:p>
          <a:p>
            <a:r>
              <a:t>Q: So it's smarter than a database search?</a:t>
            </a:r>
          </a:p>
          <a:p>
            <a:r>
              <a:t>A: Yes — a search only finds look-alikes; the model generalises to genuinely new structures, with calibrated confidence.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Good science stress-tests its own choices. We asked three sceptical questions and answered each with a re-run, not an opinion. Does the active/inactive cut-off matter? Barely. Does mixing experiment types distort things? By under 0.006. Does it know its limits? Yes — accuracy declines predictably with novelty, which is why the warning flag is calibrated the way it is.</a:t>
            </a:r>
          </a:p>
          <a:p>
            <a:endParaRPr/>
          </a:p>
          <a:p>
            <a:r>
              <a:t>TECHNICAL TERMS:</a:t>
            </a:r>
          </a:p>
          <a:p>
            <a:r>
              <a:t>- Assay types (IC50/Ki/Kd/EC50): different ways to measure potency, standardised onto pChEMBL.</a:t>
            </a:r>
          </a:p>
          <a:p>
            <a:r>
              <a:t>- 'Out-of-domain': a molecule unlike anything in training, where predictions are less reliable.</a:t>
            </a:r>
          </a:p>
          <a:p>
            <a:endParaRPr/>
          </a:p>
          <a:p>
            <a:r>
              <a:t>Q&amp;A — EXPERT:</a:t>
            </a:r>
          </a:p>
          <a:p>
            <a:r>
              <a:t>Q: Which endpoints did you test for assay pooling?</a:t>
            </a:r>
          </a:p>
          <a:p>
            <a:r>
              <a:t>A: GSK-3β (the most mixed, 49% IC50), MAO-B and hERG; deltas were +0.006, −0.006 and 0.000 — negligible.</a:t>
            </a:r>
          </a:p>
          <a:p>
            <a:endParaRPr/>
          </a:p>
          <a:p>
            <a:r>
              <a:t>Q&amp;A — GENERAL/COMMERCIAL:</a:t>
            </a:r>
          </a:p>
          <a:p>
            <a:r>
              <a:t>Q: How do I know it won't confidently give a wrong answer?</a:t>
            </a:r>
          </a:p>
          <a:p>
            <a:r>
              <a:t>A: For unfamiliar molecules it marks the result out-of-domain and widens its confidence — it declines to over-claim.</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obvious question from a commercial audience: why not just use ChatGPT? So we ran a fair contest — same questions, scored against real data, decided in advance. Two honest findings. One: on well-known drugs the LLMs are genuinely good, sometimes better than us. Two: when we checked the specific evidence they cited — database IDs for the molecules — 45% were fabricated or pointed to a completely different drug (one 'rasagiline' ID was actually a steroid). And for a brand-new, unpublished molecule, all four confidently made up an answer, and disagreed with each other. Our tool cited real measurements every time and said 'uncertain' on the new one.</a:t>
            </a:r>
          </a:p>
          <a:p>
            <a:endParaRPr/>
          </a:p>
          <a:p>
            <a:r>
              <a:t>TECHNICAL TERMS:</a:t>
            </a:r>
          </a:p>
          <a:p>
            <a:r>
              <a:t>- Pre-registered: prompt, molecules and scoring fixed before running, so it's fair.</a:t>
            </a:r>
          </a:p>
          <a:p>
            <a:r>
              <a:t>- 'Made-up evidence': a cited ChEMBL ID that doesn't exist or belongs to a different molecule (we checked each live).</a:t>
            </a:r>
          </a:p>
          <a:p>
            <a:r>
              <a:t>- Confabulation/hallucination: a confident but false answer.</a:t>
            </a:r>
          </a:p>
          <a:p>
            <a:endParaRPr/>
          </a:p>
          <a:p>
            <a:r>
              <a:t>Q&amp;A — EXPERT:</a:t>
            </a:r>
          </a:p>
          <a:p>
            <a:r>
              <a:t>Q: Isn't this an unfair prompt?</a:t>
            </a:r>
          </a:p>
          <a:p>
            <a:r>
              <a:t>A: The prompt is identical for every system including ours, and scored on the same measured-data key with live ChEMBL verification; we even dropped contestable items (e.g. donepezil hERG) to be fair to the LLMs.</a:t>
            </a:r>
          </a:p>
          <a:p>
            <a:endParaRPr/>
          </a:p>
          <a:p>
            <a:r>
              <a:t>Q&amp;A — GENERAL/COMMERCIAL:</a:t>
            </a:r>
          </a:p>
          <a:p>
            <a:r>
              <a:t>Q: So LLMs are useless here?</a:t>
            </a:r>
          </a:p>
          <a:p>
            <a:r>
              <a:t>A: No — great for summarising known drugs. But for decisions needing traceable evidence or novel chemistry, a grounded tool is essential. They're complementary.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Put simply, BrainSafe is grounded and auditable by construction. It learns from measured data, gives calibrated probabilities with a confidence range, shows the real evidence behind each answer, warns when it's out of its depth, combines target activity with brain entry, and gives the same answer every time. General LLMs and typical ADMET tools each miss several of these.</a:t>
            </a:r>
          </a:p>
          <a:p>
            <a:endParaRPr/>
          </a:p>
          <a:p>
            <a:r>
              <a:t>Q&amp;A — EXPERT:</a:t>
            </a:r>
          </a:p>
          <a:p>
            <a:r>
              <a:t>Q: Isn't 'shows evidence' just nearest-neighbour retrieval?</a:t>
            </a:r>
          </a:p>
          <a:p>
            <a:r>
              <a:t>A: Yes — deliberately: it returns the actual measured analogue and value, which is verifiable, unlike an LLM's fabricated citation.</a:t>
            </a:r>
          </a:p>
          <a:p>
            <a:endParaRPr/>
          </a:p>
          <a:p>
            <a:r>
              <a:t>Q&amp;A — GENERAL/COMMERCIAL:</a:t>
            </a:r>
          </a:p>
          <a:p>
            <a:r>
              <a:t>Q: What's the one-line pitch?</a:t>
            </a:r>
          </a:p>
          <a:p>
            <a:r>
              <a:t>A: 'A brain-drug triage tool you can audit — every answer backed by a real measurement, with honest confidence.'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Being clear about scope is part of the integrity. It's a triage and hypothesis-generation engine: it helps you decide what to test next, cheaply and transparently. It is explicitly not a clinical or diagnostic tool. It predicts engagement, not direction or efficacy; it hasn't had wet-lab confirmation yet; and it covers one safety axis.</a:t>
            </a:r>
          </a:p>
          <a:p>
            <a:endParaRPr/>
          </a:p>
          <a:p>
            <a:r>
              <a:t>TECHNICAL TERMS:</a:t>
            </a:r>
          </a:p>
          <a:p>
            <a:r>
              <a:t>- Engagement vs direction: binding to a target vs activating (agonist) or blocking (antagonist) it.</a:t>
            </a:r>
          </a:p>
          <a:p>
            <a:r>
              <a:t>- Engagement vs efficacy: hitting a target vs actually helping a patient.</a:t>
            </a:r>
          </a:p>
          <a:p>
            <a:endParaRPr/>
          </a:p>
          <a:p>
            <a:r>
              <a:t>Q&amp;A — GENERAL/COMMERCIAL:</a:t>
            </a:r>
          </a:p>
          <a:p>
            <a:r>
              <a:t>Q: Can it recommend a treatment?</a:t>
            </a:r>
          </a:p>
          <a:p>
            <a:r>
              <a:t>A: No — and it never should. It shortlists candidates for scientists to test.</a:t>
            </a:r>
          </a:p>
          <a:p>
            <a:r>
              <a:t>Q: Commercial applications?</a:t>
            </a:r>
          </a:p>
          <a:p>
            <a:r>
              <a:t>A: Compound triage for CNS discovery, natural-product screening, and drug-repurposing prioritisation — reducing wasted lab spend.</a:t>
            </a:r>
          </a:p>
          <a:p>
            <a:endParaRPr/>
          </a:p>
          <a:p>
            <a:r>
              <a:t>Q&amp;A — EXPERT:</a:t>
            </a:r>
          </a:p>
          <a:p>
            <a:r>
              <a:t>Q: Path to efficacy prediction?</a:t>
            </a:r>
          </a:p>
          <a:p>
            <a:r>
              <a:t>A: Out of scope here; would need target-direction and disease-model data. We're explicit that this is engagement + clinical precedent, not efficacy.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To close — we built a brain-effect predictor you can trust because you can check it. 64,474 real measurements, four levels of testing, a confidence promise that holds, and zero fabricated evidence. It matches the best on standard tests, is honest about the hard ones, and every answer traces back to a real experiment. Thank you — happy to take questions.</a:t>
            </a:r>
          </a:p>
          <a:p>
            <a:endParaRPr/>
          </a:p>
          <a:p>
            <a:r>
              <a:t>Q&amp;A — EXPERT:</a:t>
            </a:r>
          </a:p>
          <a:p>
            <a:r>
              <a:t>Q: What's next?</a:t>
            </a:r>
          </a:p>
          <a:p>
            <a:r>
              <a:t>A: Wet-lab prospective validation, more safety anti-targets, and broader target coverage.</a:t>
            </a:r>
          </a:p>
          <a:p>
            <a:endParaRPr/>
          </a:p>
          <a:p>
            <a:r>
              <a:t>Q&amp;A — GENERAL/COMMERCIAL:</a:t>
            </a:r>
          </a:p>
          <a:p>
            <a:r>
              <a:t>Q: When can we use it?</a:t>
            </a:r>
          </a:p>
          <a:p>
            <a:r>
              <a:t>A: It runs today as a research tool; wider release follows peer review. We'd welcome collaboration on validation.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56B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640080"/>
            <a:ext cx="10515600" cy="457200"/>
          </a:xfrm>
          <a:prstGeom prst="rect">
            <a:avLst/>
          </a:prstGeom>
          <a:noFill/>
        </p:spPr>
        <p:txBody>
          <a:bodyPr wrap="square">
            <a:spAutoFit/>
          </a:bodyPr>
          <a:lstStyle/>
          <a:p>
            <a:pPr algn="l">
              <a:spcAft>
                <a:spcPts val="600"/>
              </a:spcAft>
            </a:pPr>
            <a:r>
              <a:rPr sz="1400" b="1">
                <a:solidFill>
                  <a:srgbClr val="56B4E9"/>
                </a:solidFill>
                <a:latin typeface="Consolas"/>
              </a:rPr>
              <a:t>● </a:t>
            </a:r>
            <a:r>
              <a:rPr sz="1400" b="1">
                <a:solidFill>
                  <a:srgbClr val="EAF1F7"/>
                </a:solidFill>
                <a:latin typeface="Consolas"/>
              </a:rPr>
              <a:t>BRAINSAFE AI</a:t>
            </a:r>
          </a:p>
        </p:txBody>
      </p:sp>
      <p:sp>
        <p:nvSpPr>
          <p:cNvPr id="4" name="TextBox 3"/>
          <p:cNvSpPr txBox="1"/>
          <p:nvPr/>
        </p:nvSpPr>
        <p:spPr>
          <a:xfrm>
            <a:off x="822960" y="1051560"/>
            <a:ext cx="10515600" cy="365760"/>
          </a:xfrm>
          <a:prstGeom prst="rect">
            <a:avLst/>
          </a:prstGeom>
          <a:noFill/>
        </p:spPr>
        <p:txBody>
          <a:bodyPr wrap="square">
            <a:spAutoFit/>
          </a:bodyPr>
          <a:lstStyle/>
          <a:p>
            <a:pPr algn="l">
              <a:spcBef>
                <a:spcPts val="0"/>
              </a:spcBef>
              <a:spcAft>
                <a:spcPts val="600"/>
              </a:spcAft>
            </a:pPr>
            <a:r>
              <a:rPr sz="1200" b="1" i="0">
                <a:solidFill>
                  <a:srgbClr val="56B4E9"/>
                </a:solidFill>
                <a:latin typeface="Consolas"/>
              </a:rPr>
              <a:t>RESEARCH PREVIEW · PENDING PEER REVIEW</a:t>
            </a:r>
          </a:p>
        </p:txBody>
      </p:sp>
      <p:sp>
        <p:nvSpPr>
          <p:cNvPr id="5" name="TextBox 4"/>
          <p:cNvSpPr txBox="1"/>
          <p:nvPr/>
        </p:nvSpPr>
        <p:spPr>
          <a:xfrm>
            <a:off x="822960" y="1737360"/>
            <a:ext cx="10607040" cy="2377440"/>
          </a:xfrm>
          <a:prstGeom prst="rect">
            <a:avLst/>
          </a:prstGeom>
          <a:noFill/>
        </p:spPr>
        <p:txBody>
          <a:bodyPr wrap="square">
            <a:spAutoFit/>
          </a:bodyPr>
          <a:lstStyle/>
          <a:p>
            <a:pPr algn="l">
              <a:spcBef>
                <a:spcPts val="0"/>
              </a:spcBef>
              <a:spcAft>
                <a:spcPts val="200"/>
              </a:spcAft>
            </a:pPr>
            <a:r>
              <a:rPr sz="3400" b="1" i="0">
                <a:solidFill>
                  <a:srgbClr val="FFFFFF"/>
                </a:solidFill>
                <a:latin typeface="Georgia"/>
              </a:rPr>
              <a:t>Predicting a molecule's effect on the brain —</a:t>
            </a:r>
          </a:p>
          <a:p>
            <a:pPr algn="l">
              <a:spcBef>
                <a:spcPts val="0"/>
              </a:spcBef>
              <a:spcAft>
                <a:spcPts val="0"/>
              </a:spcAft>
            </a:pPr>
            <a:r>
              <a:rPr sz="3400" b="1" i="0">
                <a:solidFill>
                  <a:srgbClr val="FFFFFF"/>
                </a:solidFill>
                <a:latin typeface="Georgia"/>
              </a:rPr>
              <a:t>from its chemical structure alone</a:t>
            </a:r>
          </a:p>
        </p:txBody>
      </p:sp>
      <p:sp>
        <p:nvSpPr>
          <p:cNvPr id="6" name="TextBox 5"/>
          <p:cNvSpPr txBox="1"/>
          <p:nvPr/>
        </p:nvSpPr>
        <p:spPr>
          <a:xfrm>
            <a:off x="822960" y="3794760"/>
            <a:ext cx="10241280" cy="1463040"/>
          </a:xfrm>
          <a:prstGeom prst="rect">
            <a:avLst/>
          </a:prstGeom>
          <a:noFill/>
        </p:spPr>
        <p:txBody>
          <a:bodyPr wrap="square">
            <a:spAutoFit/>
          </a:bodyPr>
          <a:lstStyle/>
          <a:p>
            <a:pPr algn="l">
              <a:spcBef>
                <a:spcPts val="0"/>
              </a:spcBef>
              <a:spcAft>
                <a:spcPts val="600"/>
              </a:spcAft>
            </a:pPr>
            <a:r>
              <a:rPr sz="1700" b="0" i="0">
                <a:solidFill>
                  <a:srgbClr val="EAF1F7"/>
                </a:solidFill>
                <a:latin typeface="Calibri"/>
              </a:rPr>
              <a:t>An evidence-grounded, calibrated, safety-aware predictor of central-nervous-system activity — built entirely on measured laboratory data, not guesswork.</a:t>
            </a:r>
          </a:p>
        </p:txBody>
      </p:sp>
      <p:sp>
        <p:nvSpPr>
          <p:cNvPr id="7" name="TextBox 6"/>
          <p:cNvSpPr txBox="1"/>
          <p:nvPr/>
        </p:nvSpPr>
        <p:spPr>
          <a:xfrm>
            <a:off x="822960" y="5943600"/>
            <a:ext cx="10515600" cy="548640"/>
          </a:xfrm>
          <a:prstGeom prst="rect">
            <a:avLst/>
          </a:prstGeom>
          <a:noFill/>
        </p:spPr>
        <p:txBody>
          <a:bodyPr wrap="square">
            <a:spAutoFit/>
          </a:bodyPr>
          <a:lstStyle/>
          <a:p>
            <a:pPr algn="l">
              <a:spcBef>
                <a:spcPts val="0"/>
              </a:spcBef>
              <a:spcAft>
                <a:spcPts val="600"/>
              </a:spcAft>
            </a:pPr>
            <a:r>
              <a:rPr sz="1250" b="0" i="0">
                <a:solidFill>
                  <a:srgbClr val="56B4E9"/>
                </a:solidFill>
                <a:latin typeface="Consolas"/>
              </a:rPr>
              <a:t>Sri Sathya Sai Institute of Higher Learning    ·    64,474 measured records    ·    12 endpoints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822960" y="606617"/>
            <a:ext cx="10515600" cy="365760"/>
          </a:xfrm>
          <a:prstGeom prst="rect">
            <a:avLst/>
          </a:prstGeom>
          <a:noFill/>
        </p:spPr>
        <p:txBody>
          <a:bodyPr wrap="square">
            <a:spAutoFit/>
          </a:bodyPr>
          <a:lstStyle/>
          <a:p>
            <a:pPr algn="l">
              <a:spcBef>
                <a:spcPts val="0"/>
              </a:spcBef>
              <a:spcAft>
                <a:spcPts val="0"/>
              </a:spcAft>
            </a:pPr>
            <a:r>
              <a:rPr sz="1200" b="1" i="0" dirty="0">
                <a:solidFill>
                  <a:srgbClr val="0072B2"/>
                </a:solidFill>
                <a:latin typeface="Consolas"/>
              </a:rPr>
              <a:t>01 · THE PROBLEM</a:t>
            </a:r>
          </a:p>
        </p:txBody>
      </p:sp>
      <p:sp>
        <p:nvSpPr>
          <p:cNvPr id="3" name="Rectangle 2"/>
          <p:cNvSpPr/>
          <p:nvPr/>
        </p:nvSpPr>
        <p:spPr>
          <a:xfrm>
            <a:off x="822960" y="566928"/>
            <a:ext cx="457200" cy="4114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868680"/>
            <a:ext cx="10515600" cy="1188720"/>
          </a:xfrm>
          <a:prstGeom prst="rect">
            <a:avLst/>
          </a:prstGeom>
          <a:noFill/>
        </p:spPr>
        <p:txBody>
          <a:bodyPr wrap="square">
            <a:spAutoFit/>
          </a:bodyPr>
          <a:lstStyle/>
          <a:p>
            <a:pPr algn="l">
              <a:spcBef>
                <a:spcPts val="0"/>
              </a:spcBef>
              <a:spcAft>
                <a:spcPts val="0"/>
              </a:spcAft>
            </a:pPr>
            <a:r>
              <a:rPr sz="3300" b="1" i="0" dirty="0">
                <a:solidFill>
                  <a:srgbClr val="16222F"/>
                </a:solidFill>
                <a:latin typeface="Georgia"/>
              </a:rPr>
              <a:t>One question that is really five questions at once</a:t>
            </a:r>
          </a:p>
        </p:txBody>
      </p:sp>
      <p:sp>
        <p:nvSpPr>
          <p:cNvPr id="5" name="TextBox 4"/>
          <p:cNvSpPr txBox="1"/>
          <p:nvPr/>
        </p:nvSpPr>
        <p:spPr>
          <a:xfrm>
            <a:off x="822960" y="1828800"/>
            <a:ext cx="5669280" cy="4023360"/>
          </a:xfrm>
          <a:prstGeom prst="rect">
            <a:avLst/>
          </a:prstGeom>
          <a:noFill/>
        </p:spPr>
        <p:txBody>
          <a:bodyPr wrap="square">
            <a:spAutoFit/>
          </a:bodyPr>
          <a:lstStyle/>
          <a:p>
            <a:pPr algn="l">
              <a:spcBef>
                <a:spcPts val="0"/>
              </a:spcBef>
              <a:spcAft>
                <a:spcPts val="1200"/>
              </a:spcAft>
            </a:pPr>
            <a:r>
              <a:rPr sz="1500" b="0" i="0">
                <a:solidFill>
                  <a:srgbClr val="16222F"/>
                </a:solidFill>
                <a:latin typeface="Calibri"/>
              </a:rPr>
              <a:t>To judge if a molecule is worth pursuing for a brain condition, you must answer, together:</a:t>
            </a:r>
          </a:p>
          <a:p>
            <a:pPr algn="l">
              <a:spcAft>
                <a:spcPts val="900"/>
              </a:spcAft>
            </a:pPr>
            <a:r>
              <a:rPr sz="1500" b="1">
                <a:solidFill>
                  <a:srgbClr val="0072B2"/>
                </a:solidFill>
                <a:latin typeface="Calibri"/>
              </a:rPr>
              <a:t>▪  </a:t>
            </a:r>
            <a:r>
              <a:rPr sz="1500" b="0">
                <a:solidFill>
                  <a:srgbClr val="16222F"/>
                </a:solidFill>
                <a:latin typeface="Calibri"/>
              </a:rPr>
              <a:t>Can it cross the blood–brain barrier?</a:t>
            </a:r>
          </a:p>
          <a:p>
            <a:pPr algn="l">
              <a:spcAft>
                <a:spcPts val="900"/>
              </a:spcAft>
            </a:pPr>
            <a:r>
              <a:rPr sz="1500" b="1">
                <a:solidFill>
                  <a:srgbClr val="0072B2"/>
                </a:solidFill>
                <a:latin typeface="Calibri"/>
              </a:rPr>
              <a:t>▪  </a:t>
            </a:r>
            <a:r>
              <a:rPr sz="1500" b="0">
                <a:solidFill>
                  <a:srgbClr val="16222F"/>
                </a:solidFill>
                <a:latin typeface="Calibri"/>
              </a:rPr>
              <a:t>Does it engage disease-relevant targets?</a:t>
            </a:r>
          </a:p>
          <a:p>
            <a:pPr algn="l">
              <a:spcAft>
                <a:spcPts val="900"/>
              </a:spcAft>
            </a:pPr>
            <a:r>
              <a:rPr sz="1500" b="1">
                <a:solidFill>
                  <a:srgbClr val="E69000"/>
                </a:solidFill>
                <a:latin typeface="Calibri"/>
              </a:rPr>
              <a:t>▪  </a:t>
            </a:r>
            <a:r>
              <a:rPr sz="1500" b="0">
                <a:solidFill>
                  <a:srgbClr val="16222F"/>
                </a:solidFill>
                <a:latin typeface="Calibri"/>
              </a:rPr>
              <a:t>Is it developable (drug-like enough)?</a:t>
            </a:r>
          </a:p>
          <a:p>
            <a:pPr algn="l">
              <a:spcAft>
                <a:spcPts val="900"/>
              </a:spcAft>
            </a:pPr>
            <a:r>
              <a:rPr sz="1500" b="1">
                <a:solidFill>
                  <a:srgbClr val="D55500"/>
                </a:solidFill>
                <a:latin typeface="Calibri"/>
              </a:rPr>
              <a:t>▪  </a:t>
            </a:r>
            <a:r>
              <a:rPr sz="1500" b="0">
                <a:solidFill>
                  <a:srgbClr val="16222F"/>
                </a:solidFill>
                <a:latin typeface="Calibri"/>
              </a:rPr>
              <a:t>Is it safe (no heart-rhythm liability)?</a:t>
            </a:r>
          </a:p>
          <a:p>
            <a:pPr algn="l">
              <a:spcAft>
                <a:spcPts val="900"/>
              </a:spcAft>
            </a:pPr>
            <a:r>
              <a:rPr sz="1500" b="1">
                <a:solidFill>
                  <a:srgbClr val="009E73"/>
                </a:solidFill>
                <a:latin typeface="Calibri"/>
              </a:rPr>
              <a:t>▪  </a:t>
            </a:r>
            <a:r>
              <a:rPr sz="1500" b="0">
                <a:solidFill>
                  <a:srgbClr val="16222F"/>
                </a:solidFill>
                <a:latin typeface="Calibri"/>
              </a:rPr>
              <a:t>Is there clinical precedent?</a:t>
            </a:r>
          </a:p>
        </p:txBody>
      </p:sp>
      <p:sp>
        <p:nvSpPr>
          <p:cNvPr id="6" name="Rounded Rectangle 5"/>
          <p:cNvSpPr/>
          <p:nvPr/>
        </p:nvSpPr>
        <p:spPr>
          <a:xfrm>
            <a:off x="6858000" y="1828800"/>
            <a:ext cx="4572000" cy="3200400"/>
          </a:xfrm>
          <a:prstGeom prst="roundRect">
            <a:avLst>
              <a:gd name="adj" fmla="val 8000"/>
            </a:avLst>
          </a:prstGeom>
          <a:solidFill>
            <a:srgbClr val="FFFFFF"/>
          </a:solidFill>
          <a:ln w="12700">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86600" y="2011680"/>
            <a:ext cx="4114800" cy="2926080"/>
          </a:xfrm>
          <a:prstGeom prst="rect">
            <a:avLst/>
          </a:prstGeom>
          <a:noFill/>
        </p:spPr>
        <p:txBody>
          <a:bodyPr wrap="square">
            <a:spAutoFit/>
          </a:bodyPr>
          <a:lstStyle/>
          <a:p>
            <a:pPr algn="l">
              <a:spcBef>
                <a:spcPts val="0"/>
              </a:spcBef>
              <a:spcAft>
                <a:spcPts val="600"/>
              </a:spcAft>
            </a:pPr>
            <a:r>
              <a:rPr sz="1600" b="1" i="0">
                <a:solidFill>
                  <a:srgbClr val="16222F"/>
                </a:solidFill>
                <a:latin typeface="Calibri"/>
              </a:rPr>
              <a:t>Existing tools answer only slices</a:t>
            </a:r>
          </a:p>
          <a:p>
            <a:pPr algn="l">
              <a:spcBef>
                <a:spcPts val="0"/>
              </a:spcBef>
              <a:spcAft>
                <a:spcPts val="0"/>
              </a:spcAft>
            </a:pPr>
            <a:r>
              <a:rPr sz="1300" b="0" i="0">
                <a:solidFill>
                  <a:srgbClr val="5A6B7B"/>
                </a:solidFill>
                <a:latin typeface="Calibri"/>
              </a:rPr>
              <a:t>General ADMET tools predict barrier entry and safety but not target activity. Target-prediction tools predict binding but ignore brain entry, safety, and confidence. No single public tool unifies all five on measured data.</a:t>
            </a:r>
          </a:p>
        </p:txBody>
      </p:sp>
      <p:sp>
        <p:nvSpPr>
          <p:cNvPr id="8" name="Rounded Rectangle 7"/>
          <p:cNvSpPr/>
          <p:nvPr/>
        </p:nvSpPr>
        <p:spPr>
          <a:xfrm>
            <a:off x="822960" y="5532120"/>
            <a:ext cx="10607040" cy="822960"/>
          </a:xfrm>
          <a:prstGeom prst="roundRect">
            <a:avLst>
              <a:gd name="adj" fmla="val 6000"/>
            </a:avLst>
          </a:prstGeom>
          <a:solidFill>
            <a:srgbClr val="EF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2960" y="5532120"/>
            <a:ext cx="54864" cy="82296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5586983"/>
            <a:ext cx="10332719" cy="713232"/>
          </a:xfrm>
          <a:prstGeom prst="rect">
            <a:avLst/>
          </a:prstGeom>
          <a:noFill/>
        </p:spPr>
        <p:txBody>
          <a:bodyPr wrap="square" anchor="ctr">
            <a:spAutoFit/>
          </a:bodyPr>
          <a:lstStyle/>
          <a:p>
            <a:pPr algn="l">
              <a:spcAft>
                <a:spcPts val="0"/>
              </a:spcAft>
            </a:pPr>
            <a:r>
              <a:rPr sz="1250" b="1">
                <a:solidFill>
                  <a:srgbClr val="0072B2"/>
                </a:solidFill>
                <a:latin typeface="Calibri"/>
              </a:rPr>
              <a:t>In plain terms:  </a:t>
            </a:r>
            <a:r>
              <a:rPr sz="1250" b="0">
                <a:solidFill>
                  <a:srgbClr val="16222F"/>
                </a:solidFill>
                <a:latin typeface="Calibri"/>
              </a:rPr>
              <a:t>the blood–brain barrier is the brain's security gate — most molecules can't pass. A compound has to clear that gate AND hit the right target AND be safe. Answering these one-at-a-time, in different tools, is slow and error-prone.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TextBox 1"/>
          <p:cNvSpPr txBox="1"/>
          <p:nvPr/>
        </p:nvSpPr>
        <p:spPr>
          <a:xfrm>
            <a:off x="728690" y="606617"/>
            <a:ext cx="10515600" cy="365760"/>
          </a:xfrm>
          <a:prstGeom prst="rect">
            <a:avLst/>
          </a:prstGeom>
          <a:noFill/>
        </p:spPr>
        <p:txBody>
          <a:bodyPr wrap="square">
            <a:spAutoFit/>
          </a:bodyPr>
          <a:lstStyle/>
          <a:p>
            <a:pPr algn="l">
              <a:spcBef>
                <a:spcPts val="0"/>
              </a:spcBef>
              <a:spcAft>
                <a:spcPts val="0"/>
              </a:spcAft>
            </a:pPr>
            <a:r>
              <a:rPr sz="1200" b="1" i="0" dirty="0">
                <a:solidFill>
                  <a:srgbClr val="56B4E9"/>
                </a:solidFill>
                <a:latin typeface="Consolas"/>
              </a:rPr>
              <a:t>02 · WHAT WE BUILT</a:t>
            </a:r>
          </a:p>
        </p:txBody>
      </p:sp>
      <p:sp>
        <p:nvSpPr>
          <p:cNvPr id="3" name="Rectangle 2"/>
          <p:cNvSpPr/>
          <p:nvPr/>
        </p:nvSpPr>
        <p:spPr>
          <a:xfrm>
            <a:off x="822960" y="566928"/>
            <a:ext cx="457200" cy="41148"/>
          </a:xfrm>
          <a:prstGeom prst="rect">
            <a:avLst/>
          </a:prstGeom>
          <a:solidFill>
            <a:srgbClr val="56B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868680"/>
            <a:ext cx="10515600" cy="1107996"/>
          </a:xfrm>
          <a:prstGeom prst="rect">
            <a:avLst/>
          </a:prstGeom>
          <a:noFill/>
        </p:spPr>
        <p:txBody>
          <a:bodyPr wrap="square">
            <a:spAutoFit/>
          </a:bodyPr>
          <a:lstStyle/>
          <a:p>
            <a:pPr algn="l">
              <a:spcBef>
                <a:spcPts val="0"/>
              </a:spcBef>
              <a:spcAft>
                <a:spcPts val="0"/>
              </a:spcAft>
            </a:pPr>
            <a:r>
              <a:rPr sz="3300" b="1" i="0" dirty="0">
                <a:solidFill>
                  <a:srgbClr val="FFFFFF"/>
                </a:solidFill>
                <a:latin typeface="Georgia"/>
              </a:rPr>
              <a:t>The innovation is the integration  not a new algorithm</a:t>
            </a:r>
          </a:p>
        </p:txBody>
      </p:sp>
      <p:sp>
        <p:nvSpPr>
          <p:cNvPr id="5" name="TextBox 4"/>
          <p:cNvSpPr txBox="1"/>
          <p:nvPr/>
        </p:nvSpPr>
        <p:spPr>
          <a:xfrm>
            <a:off x="822960" y="2113018"/>
            <a:ext cx="10424160" cy="914400"/>
          </a:xfrm>
          <a:prstGeom prst="rect">
            <a:avLst/>
          </a:prstGeom>
          <a:noFill/>
        </p:spPr>
        <p:txBody>
          <a:bodyPr wrap="square">
            <a:spAutoFit/>
          </a:bodyPr>
          <a:lstStyle/>
          <a:p>
            <a:pPr algn="l">
              <a:spcBef>
                <a:spcPts val="0"/>
              </a:spcBef>
              <a:spcAft>
                <a:spcPts val="600"/>
              </a:spcAft>
            </a:pPr>
            <a:r>
              <a:rPr sz="1600" b="0" i="0">
                <a:solidFill>
                  <a:srgbClr val="EAF1F7"/>
                </a:solidFill>
                <a:latin typeface="Calibri"/>
              </a:rPr>
              <a:t>Each individual piece is well established. Combining them into one transparent, measured-data brain profiler — that is the contribution.</a:t>
            </a:r>
          </a:p>
        </p:txBody>
      </p:sp>
      <p:sp>
        <p:nvSpPr>
          <p:cNvPr id="6" name="Rounded Rectangle 5"/>
          <p:cNvSpPr/>
          <p:nvPr/>
        </p:nvSpPr>
        <p:spPr>
          <a:xfrm>
            <a:off x="822960" y="2971800"/>
            <a:ext cx="3383280" cy="2926080"/>
          </a:xfrm>
          <a:prstGeom prst="roundRect">
            <a:avLst>
              <a:gd name="adj" fmla="val 8000"/>
            </a:avLst>
          </a:prstGeom>
          <a:solidFill>
            <a:srgbClr val="13273C"/>
          </a:solidFill>
          <a:ln w="12700">
            <a:solidFill>
              <a:srgbClr val="254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78992" y="3246120"/>
            <a:ext cx="457200" cy="4572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78992" y="3429000"/>
            <a:ext cx="2880360" cy="2286000"/>
          </a:xfrm>
          <a:prstGeom prst="rect">
            <a:avLst/>
          </a:prstGeom>
          <a:noFill/>
        </p:spPr>
        <p:txBody>
          <a:bodyPr wrap="square">
            <a:spAutoFit/>
          </a:bodyPr>
          <a:lstStyle/>
          <a:p>
            <a:pPr algn="l">
              <a:spcBef>
                <a:spcPts val="0"/>
              </a:spcBef>
              <a:spcAft>
                <a:spcPts val="600"/>
              </a:spcAft>
            </a:pPr>
            <a:r>
              <a:rPr sz="1700" b="1" i="0">
                <a:solidFill>
                  <a:srgbClr val="FFFFFF"/>
                </a:solidFill>
                <a:latin typeface="Calibri"/>
              </a:rPr>
              <a:t>Calibrated &amp; confident</a:t>
            </a:r>
          </a:p>
          <a:p>
            <a:pPr algn="l">
              <a:spcBef>
                <a:spcPts val="0"/>
              </a:spcBef>
              <a:spcAft>
                <a:spcPts val="0"/>
              </a:spcAft>
            </a:pPr>
            <a:r>
              <a:rPr sz="1300" b="0" i="0">
                <a:solidFill>
                  <a:srgbClr val="EAF1F7"/>
                </a:solidFill>
                <a:latin typeface="Calibri"/>
              </a:rPr>
              <a:t>Every probability is honest — a '90%' really behaves like 9-in-10 — and comes with a guaranteed confidence range.</a:t>
            </a:r>
          </a:p>
        </p:txBody>
      </p:sp>
      <p:sp>
        <p:nvSpPr>
          <p:cNvPr id="9" name="Rounded Rectangle 8"/>
          <p:cNvSpPr/>
          <p:nvPr/>
        </p:nvSpPr>
        <p:spPr>
          <a:xfrm>
            <a:off x="4425696" y="2971800"/>
            <a:ext cx="3383280" cy="2926080"/>
          </a:xfrm>
          <a:prstGeom prst="roundRect">
            <a:avLst>
              <a:gd name="adj" fmla="val 8000"/>
            </a:avLst>
          </a:prstGeom>
          <a:solidFill>
            <a:srgbClr val="13273C"/>
          </a:solidFill>
          <a:ln w="12700">
            <a:solidFill>
              <a:srgbClr val="254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681728" y="3246120"/>
            <a:ext cx="457200" cy="45720"/>
          </a:xfrm>
          <a:prstGeom prst="rect">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81728" y="3429000"/>
            <a:ext cx="2880360" cy="2286000"/>
          </a:xfrm>
          <a:prstGeom prst="rect">
            <a:avLst/>
          </a:prstGeom>
          <a:noFill/>
        </p:spPr>
        <p:txBody>
          <a:bodyPr wrap="square">
            <a:spAutoFit/>
          </a:bodyPr>
          <a:lstStyle/>
          <a:p>
            <a:pPr algn="l">
              <a:spcBef>
                <a:spcPts val="0"/>
              </a:spcBef>
              <a:spcAft>
                <a:spcPts val="600"/>
              </a:spcAft>
            </a:pPr>
            <a:r>
              <a:rPr sz="1700" b="1" i="0">
                <a:solidFill>
                  <a:srgbClr val="FFFFFF"/>
                </a:solidFill>
                <a:latin typeface="Calibri"/>
              </a:rPr>
              <a:t>Evidence-grounded</a:t>
            </a:r>
          </a:p>
          <a:p>
            <a:pPr algn="l">
              <a:spcBef>
                <a:spcPts val="0"/>
              </a:spcBef>
              <a:spcAft>
                <a:spcPts val="0"/>
              </a:spcAft>
            </a:pPr>
            <a:r>
              <a:rPr sz="1300" b="0" i="0">
                <a:solidFill>
                  <a:srgbClr val="EAF1F7"/>
                </a:solidFill>
                <a:latin typeface="Calibri"/>
              </a:rPr>
              <a:t>Every answer shows the nearest real, measured molecule it is based on — you can check the receipt.</a:t>
            </a:r>
          </a:p>
        </p:txBody>
      </p:sp>
      <p:sp>
        <p:nvSpPr>
          <p:cNvPr id="12" name="Rounded Rectangle 11"/>
          <p:cNvSpPr/>
          <p:nvPr/>
        </p:nvSpPr>
        <p:spPr>
          <a:xfrm>
            <a:off x="8028431" y="2971800"/>
            <a:ext cx="3383280" cy="2926080"/>
          </a:xfrm>
          <a:prstGeom prst="roundRect">
            <a:avLst>
              <a:gd name="adj" fmla="val 8000"/>
            </a:avLst>
          </a:prstGeom>
          <a:solidFill>
            <a:srgbClr val="13273C"/>
          </a:solidFill>
          <a:ln w="12700">
            <a:solidFill>
              <a:srgbClr val="254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284463" y="3246120"/>
            <a:ext cx="457200" cy="45720"/>
          </a:xfrm>
          <a:prstGeom prst="rect">
            <a:avLst/>
          </a:prstGeom>
          <a:solidFill>
            <a:srgbClr val="E6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84463" y="3429000"/>
            <a:ext cx="2880360" cy="2286000"/>
          </a:xfrm>
          <a:prstGeom prst="rect">
            <a:avLst/>
          </a:prstGeom>
          <a:noFill/>
        </p:spPr>
        <p:txBody>
          <a:bodyPr wrap="square">
            <a:spAutoFit/>
          </a:bodyPr>
          <a:lstStyle/>
          <a:p>
            <a:pPr algn="l">
              <a:spcBef>
                <a:spcPts val="0"/>
              </a:spcBef>
              <a:spcAft>
                <a:spcPts val="600"/>
              </a:spcAft>
            </a:pPr>
            <a:r>
              <a:rPr sz="1700" b="1" i="0">
                <a:solidFill>
                  <a:srgbClr val="FFFFFF"/>
                </a:solidFill>
                <a:latin typeface="Calibri"/>
              </a:rPr>
              <a:t>Brain-gated disease view</a:t>
            </a:r>
          </a:p>
          <a:p>
            <a:pPr algn="l">
              <a:spcBef>
                <a:spcPts val="0"/>
              </a:spcBef>
              <a:spcAft>
                <a:spcPts val="0"/>
              </a:spcAft>
            </a:pPr>
            <a:r>
              <a:rPr sz="1300" b="0" i="0">
                <a:solidFill>
                  <a:srgbClr val="EAF1F7"/>
                </a:solidFill>
                <a:latin typeface="Calibri"/>
              </a:rPr>
              <a:t>Target activity is combined with brain-entry, so 'engages target' only counts if the molecule can actually get 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38117" y="597190"/>
            <a:ext cx="10515600" cy="365760"/>
          </a:xfrm>
          <a:prstGeom prst="rect">
            <a:avLst/>
          </a:prstGeom>
          <a:noFill/>
        </p:spPr>
        <p:txBody>
          <a:bodyPr wrap="square">
            <a:spAutoFit/>
          </a:bodyPr>
          <a:lstStyle/>
          <a:p>
            <a:pPr algn="l">
              <a:spcBef>
                <a:spcPts val="0"/>
              </a:spcBef>
              <a:spcAft>
                <a:spcPts val="0"/>
              </a:spcAft>
            </a:pPr>
            <a:r>
              <a:rPr sz="1200" b="1" i="0">
                <a:solidFill>
                  <a:srgbClr val="0072B2"/>
                </a:solidFill>
                <a:latin typeface="Consolas"/>
              </a:rPr>
              <a:t>03 · DATA SOURCES</a:t>
            </a:r>
          </a:p>
        </p:txBody>
      </p:sp>
      <p:sp>
        <p:nvSpPr>
          <p:cNvPr id="3" name="Rectangle 2"/>
          <p:cNvSpPr/>
          <p:nvPr/>
        </p:nvSpPr>
        <p:spPr>
          <a:xfrm>
            <a:off x="822960" y="566928"/>
            <a:ext cx="457200" cy="4114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868680"/>
            <a:ext cx="10515600" cy="1188720"/>
          </a:xfrm>
          <a:prstGeom prst="rect">
            <a:avLst/>
          </a:prstGeom>
          <a:noFill/>
        </p:spPr>
        <p:txBody>
          <a:bodyPr wrap="square">
            <a:spAutoFit/>
          </a:bodyPr>
          <a:lstStyle/>
          <a:p>
            <a:pPr algn="l">
              <a:spcBef>
                <a:spcPts val="0"/>
              </a:spcBef>
              <a:spcAft>
                <a:spcPts val="0"/>
              </a:spcAft>
            </a:pPr>
            <a:r>
              <a:rPr sz="3300" b="1" i="0">
                <a:solidFill>
                  <a:srgbClr val="16222F"/>
                </a:solidFill>
                <a:latin typeface="Georgia"/>
              </a:rPr>
              <a:t>64,474 measured records — every one a real experiment</a:t>
            </a:r>
          </a:p>
        </p:txBody>
      </p:sp>
      <p:graphicFrame>
        <p:nvGraphicFramePr>
          <p:cNvPr id="5" name="Table 4"/>
          <p:cNvGraphicFramePr>
            <a:graphicFrameLocks noGrp="1"/>
          </p:cNvGraphicFramePr>
          <p:nvPr/>
        </p:nvGraphicFramePr>
        <p:xfrm>
          <a:off x="822960" y="1874519"/>
          <a:ext cx="6766558" cy="1865376"/>
        </p:xfrm>
        <a:graphic>
          <a:graphicData uri="http://schemas.openxmlformats.org/drawingml/2006/table">
            <a:tbl>
              <a:tblPr>
                <a:tableStyleId>{5C22544A-7EE6-4342-B048-85BDC9FD1C3A}</a:tableStyleId>
              </a:tblPr>
              <a:tblGrid>
                <a:gridCol w="2291899">
                  <a:extLst>
                    <a:ext uri="{9D8B030D-6E8A-4147-A177-3AD203B41FA5}">
                      <a16:colId xmlns:a16="http://schemas.microsoft.com/office/drawing/2014/main" val="20000"/>
                    </a:ext>
                  </a:extLst>
                </a:gridCol>
                <a:gridCol w="3274141">
                  <a:extLst>
                    <a:ext uri="{9D8B030D-6E8A-4147-A177-3AD203B41FA5}">
                      <a16:colId xmlns:a16="http://schemas.microsoft.com/office/drawing/2014/main" val="20001"/>
                    </a:ext>
                  </a:extLst>
                </a:gridCol>
                <a:gridCol w="1200518">
                  <a:extLst>
                    <a:ext uri="{9D8B030D-6E8A-4147-A177-3AD203B41FA5}">
                      <a16:colId xmlns:a16="http://schemas.microsoft.com/office/drawing/2014/main" val="20002"/>
                    </a:ext>
                  </a:extLst>
                </a:gridCol>
              </a:tblGrid>
              <a:tr h="310896">
                <a:tc>
                  <a:txBody>
                    <a:bodyPr/>
                    <a:lstStyle/>
                    <a:p>
                      <a:pPr algn="l"/>
                      <a:r>
                        <a:rPr sz="1000" b="1">
                          <a:solidFill>
                            <a:srgbClr val="5A6B7B"/>
                          </a:solidFill>
                          <a:latin typeface="Consolas"/>
                        </a:rPr>
                        <a:t>Source</a:t>
                      </a:r>
                    </a:p>
                  </a:txBody>
                  <a:tcPr marL="73152" marR="73152" marT="18288" marB="18288" anchor="ctr">
                    <a:solidFill>
                      <a:srgbClr val="EEF2F6"/>
                    </a:solidFill>
                  </a:tcPr>
                </a:tc>
                <a:tc>
                  <a:txBody>
                    <a:bodyPr/>
                    <a:lstStyle/>
                    <a:p>
                      <a:pPr algn="ctr"/>
                      <a:r>
                        <a:rPr sz="1000" b="1">
                          <a:solidFill>
                            <a:srgbClr val="5A6B7B"/>
                          </a:solidFill>
                          <a:latin typeface="Consolas"/>
                        </a:rPr>
                        <a:t>What it provides</a:t>
                      </a:r>
                    </a:p>
                  </a:txBody>
                  <a:tcPr marL="73152" marR="73152" marT="18288" marB="18288" anchor="ctr">
                    <a:solidFill>
                      <a:srgbClr val="EEF2F6"/>
                    </a:solidFill>
                  </a:tcPr>
                </a:tc>
                <a:tc>
                  <a:txBody>
                    <a:bodyPr/>
                    <a:lstStyle/>
                    <a:p>
                      <a:pPr algn="ctr"/>
                      <a:r>
                        <a:rPr sz="1000" b="1">
                          <a:solidFill>
                            <a:srgbClr val="5A6B7B"/>
                          </a:solidFill>
                          <a:latin typeface="Consolas"/>
                        </a:rPr>
                        <a:t>Records</a:t>
                      </a:r>
                    </a:p>
                  </a:txBody>
                  <a:tcPr marL="73152" marR="73152" marT="18288" marB="18288" anchor="ctr">
                    <a:solidFill>
                      <a:srgbClr val="EEF2F6"/>
                    </a:solidFill>
                  </a:tcPr>
                </a:tc>
                <a:extLst>
                  <a:ext uri="{0D108BD9-81ED-4DB2-BD59-A6C34878D82A}">
                    <a16:rowId xmlns:a16="http://schemas.microsoft.com/office/drawing/2014/main" val="10000"/>
                  </a:ext>
                </a:extLst>
              </a:tr>
              <a:tr h="310896">
                <a:tc>
                  <a:txBody>
                    <a:bodyPr/>
                    <a:lstStyle/>
                    <a:p>
                      <a:pPr algn="l"/>
                      <a:r>
                        <a:rPr sz="1150" b="0">
                          <a:solidFill>
                            <a:srgbClr val="16222F"/>
                          </a:solidFill>
                          <a:latin typeface="Calibri"/>
                        </a:rPr>
                        <a:t>ChEMBL_37 (pChEMBL)</a:t>
                      </a:r>
                    </a:p>
                  </a:txBody>
                  <a:tcPr marL="73152" marR="73152" marT="18288" marB="18288" anchor="ctr">
                    <a:solidFill>
                      <a:srgbClr val="FFFFFF"/>
                    </a:solidFill>
                  </a:tcPr>
                </a:tc>
                <a:tc>
                  <a:txBody>
                    <a:bodyPr/>
                    <a:lstStyle/>
                    <a:p>
                      <a:pPr algn="ctr"/>
                      <a:r>
                        <a:rPr sz="1150" b="0">
                          <a:solidFill>
                            <a:srgbClr val="16222F"/>
                          </a:solidFill>
                          <a:latin typeface="Consolas"/>
                        </a:rPr>
                        <a:t>Activity vs CNS targets + heart-safety</a:t>
                      </a:r>
                    </a:p>
                  </a:txBody>
                  <a:tcPr marL="73152" marR="73152" marT="18288" marB="18288" anchor="ctr">
                    <a:solidFill>
                      <a:srgbClr val="FFFFFF"/>
                    </a:solidFill>
                  </a:tcPr>
                </a:tc>
                <a:tc>
                  <a:txBody>
                    <a:bodyPr/>
                    <a:lstStyle/>
                    <a:p>
                      <a:pPr algn="ctr"/>
                      <a:r>
                        <a:rPr sz="1150" b="0">
                          <a:solidFill>
                            <a:srgbClr val="16222F"/>
                          </a:solidFill>
                          <a:latin typeface="Consolas"/>
                        </a:rPr>
                        <a:t>53,301</a:t>
                      </a:r>
                    </a:p>
                  </a:txBody>
                  <a:tcPr marL="73152" marR="73152"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150" b="0">
                          <a:solidFill>
                            <a:srgbClr val="16222F"/>
                          </a:solidFill>
                          <a:latin typeface="Calibri"/>
                        </a:rPr>
                        <a:t>B3DB</a:t>
                      </a:r>
                    </a:p>
                  </a:txBody>
                  <a:tcPr marL="73152" marR="73152" marT="18288" marB="18288" anchor="ctr">
                    <a:solidFill>
                      <a:srgbClr val="F4F6F9"/>
                    </a:solidFill>
                  </a:tcPr>
                </a:tc>
                <a:tc>
                  <a:txBody>
                    <a:bodyPr/>
                    <a:lstStyle/>
                    <a:p>
                      <a:pPr algn="ctr"/>
                      <a:r>
                        <a:rPr sz="1150" b="0">
                          <a:solidFill>
                            <a:srgbClr val="16222F"/>
                          </a:solidFill>
                          <a:latin typeface="Consolas"/>
                        </a:rPr>
                        <a:t>Brain-barrier penetration (measured)</a:t>
                      </a:r>
                    </a:p>
                  </a:txBody>
                  <a:tcPr marL="73152" marR="73152" marT="18288" marB="18288" anchor="ctr">
                    <a:solidFill>
                      <a:srgbClr val="F4F6F9"/>
                    </a:solidFill>
                  </a:tcPr>
                </a:tc>
                <a:tc>
                  <a:txBody>
                    <a:bodyPr/>
                    <a:lstStyle/>
                    <a:p>
                      <a:pPr algn="ctr"/>
                      <a:r>
                        <a:rPr sz="1150" b="0">
                          <a:solidFill>
                            <a:srgbClr val="16222F"/>
                          </a:solidFill>
                          <a:latin typeface="Consolas"/>
                        </a:rPr>
                        <a:t>7,807</a:t>
                      </a:r>
                    </a:p>
                  </a:txBody>
                  <a:tcPr marL="73152" marR="73152" marT="18288" marB="18288" anchor="ctr">
                    <a:solidFill>
                      <a:srgbClr val="F4F6F9"/>
                    </a:solidFill>
                  </a:tcPr>
                </a:tc>
                <a:extLst>
                  <a:ext uri="{0D108BD9-81ED-4DB2-BD59-A6C34878D82A}">
                    <a16:rowId xmlns:a16="http://schemas.microsoft.com/office/drawing/2014/main" val="10002"/>
                  </a:ext>
                </a:extLst>
              </a:tr>
              <a:tr h="310896">
                <a:tc>
                  <a:txBody>
                    <a:bodyPr/>
                    <a:lstStyle/>
                    <a:p>
                      <a:pPr algn="l"/>
                      <a:r>
                        <a:rPr sz="1150" b="0">
                          <a:solidFill>
                            <a:srgbClr val="16222F"/>
                          </a:solidFill>
                          <a:latin typeface="Calibri"/>
                        </a:rPr>
                        <a:t>ChEMBL DPPH assays</a:t>
                      </a:r>
                    </a:p>
                  </a:txBody>
                  <a:tcPr marL="73152" marR="73152" marT="18288" marB="18288" anchor="ctr">
                    <a:solidFill>
                      <a:srgbClr val="FFFFFF"/>
                    </a:solidFill>
                  </a:tcPr>
                </a:tc>
                <a:tc>
                  <a:txBody>
                    <a:bodyPr/>
                    <a:lstStyle/>
                    <a:p>
                      <a:pPr algn="ctr"/>
                      <a:r>
                        <a:rPr sz="1150" b="0">
                          <a:solidFill>
                            <a:srgbClr val="16222F"/>
                          </a:solidFill>
                          <a:latin typeface="Consolas"/>
                        </a:rPr>
                        <a:t>Antioxidant capacity</a:t>
                      </a:r>
                    </a:p>
                  </a:txBody>
                  <a:tcPr marL="73152" marR="73152" marT="18288" marB="18288" anchor="ctr">
                    <a:solidFill>
                      <a:srgbClr val="FFFFFF"/>
                    </a:solidFill>
                  </a:tcPr>
                </a:tc>
                <a:tc>
                  <a:txBody>
                    <a:bodyPr/>
                    <a:lstStyle/>
                    <a:p>
                      <a:pPr algn="ctr"/>
                      <a:r>
                        <a:rPr sz="1150" b="0">
                          <a:solidFill>
                            <a:srgbClr val="16222F"/>
                          </a:solidFill>
                          <a:latin typeface="Consolas"/>
                        </a:rPr>
                        <a:t>2,862</a:t>
                      </a:r>
                    </a:p>
                  </a:txBody>
                  <a:tcPr marL="73152" marR="73152" marT="18288" marB="18288" anchor="ctr">
                    <a:solidFill>
                      <a:srgbClr val="FFFFFF"/>
                    </a:solidFill>
                  </a:tcPr>
                </a:tc>
                <a:extLst>
                  <a:ext uri="{0D108BD9-81ED-4DB2-BD59-A6C34878D82A}">
                    <a16:rowId xmlns:a16="http://schemas.microsoft.com/office/drawing/2014/main" val="10003"/>
                  </a:ext>
                </a:extLst>
              </a:tr>
              <a:tr h="310896">
                <a:tc>
                  <a:txBody>
                    <a:bodyPr/>
                    <a:lstStyle/>
                    <a:p>
                      <a:pPr algn="l"/>
                      <a:r>
                        <a:rPr sz="1150" b="0">
                          <a:solidFill>
                            <a:srgbClr val="16222F"/>
                          </a:solidFill>
                          <a:latin typeface="Calibri"/>
                        </a:rPr>
                        <a:t>ChEMBL ATC-N</a:t>
                      </a:r>
                    </a:p>
                  </a:txBody>
                  <a:tcPr marL="73152" marR="73152" marT="18288" marB="18288" anchor="ctr">
                    <a:solidFill>
                      <a:srgbClr val="F4F6F9"/>
                    </a:solidFill>
                  </a:tcPr>
                </a:tc>
                <a:tc>
                  <a:txBody>
                    <a:bodyPr/>
                    <a:lstStyle/>
                    <a:p>
                      <a:pPr algn="ctr"/>
                      <a:r>
                        <a:rPr sz="1150" b="0">
                          <a:solidFill>
                            <a:srgbClr val="16222F"/>
                          </a:solidFill>
                          <a:latin typeface="Consolas"/>
                        </a:rPr>
                        <a:t>Clinical precedent (trial phase)</a:t>
                      </a:r>
                    </a:p>
                  </a:txBody>
                  <a:tcPr marL="73152" marR="73152" marT="18288" marB="18288" anchor="ctr">
                    <a:solidFill>
                      <a:srgbClr val="F4F6F9"/>
                    </a:solidFill>
                  </a:tcPr>
                </a:tc>
                <a:tc>
                  <a:txBody>
                    <a:bodyPr/>
                    <a:lstStyle/>
                    <a:p>
                      <a:pPr algn="ctr"/>
                      <a:r>
                        <a:rPr sz="1150" b="0">
                          <a:solidFill>
                            <a:srgbClr val="16222F"/>
                          </a:solidFill>
                          <a:latin typeface="Consolas"/>
                        </a:rPr>
                        <a:t>504</a:t>
                      </a:r>
                    </a:p>
                  </a:txBody>
                  <a:tcPr marL="73152" marR="73152" marT="18288" marB="18288" anchor="ctr">
                    <a:solidFill>
                      <a:srgbClr val="F4F6F9"/>
                    </a:solidFill>
                  </a:tcPr>
                </a:tc>
                <a:extLst>
                  <a:ext uri="{0D108BD9-81ED-4DB2-BD59-A6C34878D82A}">
                    <a16:rowId xmlns:a16="http://schemas.microsoft.com/office/drawing/2014/main" val="10004"/>
                  </a:ext>
                </a:extLst>
              </a:tr>
              <a:tr h="310896">
                <a:tc>
                  <a:txBody>
                    <a:bodyPr/>
                    <a:lstStyle/>
                    <a:p>
                      <a:pPr algn="l"/>
                      <a:r>
                        <a:rPr sz="1150" b="1">
                          <a:solidFill>
                            <a:srgbClr val="16222F"/>
                          </a:solidFill>
                          <a:latin typeface="Calibri"/>
                        </a:rPr>
                        <a:t>Total</a:t>
                      </a:r>
                    </a:p>
                  </a:txBody>
                  <a:tcPr marL="73152" marR="73152" marT="18288" marB="18288" anchor="ctr">
                    <a:solidFill>
                      <a:srgbClr val="FFFFFF"/>
                    </a:solidFill>
                  </a:tcPr>
                </a:tc>
                <a:tc>
                  <a:txBody>
                    <a:bodyPr/>
                    <a:lstStyle/>
                    <a:p>
                      <a:pPr algn="ctr"/>
                      <a:endParaRPr/>
                    </a:p>
                  </a:txBody>
                  <a:tcPr marL="73152" marR="73152" marT="18288" marB="18288" anchor="ctr">
                    <a:solidFill>
                      <a:srgbClr val="FFFFFF"/>
                    </a:solidFill>
                  </a:tcPr>
                </a:tc>
                <a:tc>
                  <a:txBody>
                    <a:bodyPr/>
                    <a:lstStyle/>
                    <a:p>
                      <a:pPr algn="ctr"/>
                      <a:r>
                        <a:rPr sz="1150" b="1">
                          <a:solidFill>
                            <a:srgbClr val="0072B2"/>
                          </a:solidFill>
                          <a:latin typeface="Consolas"/>
                        </a:rPr>
                        <a:t>64,474</a:t>
                      </a:r>
                    </a:p>
                  </a:txBody>
                  <a:tcPr marL="73152" marR="73152"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7863840" y="1874519"/>
            <a:ext cx="3566160" cy="3291840"/>
          </a:xfrm>
          <a:prstGeom prst="rect">
            <a:avLst/>
          </a:prstGeom>
          <a:noFill/>
        </p:spPr>
        <p:txBody>
          <a:bodyPr wrap="square">
            <a:spAutoFit/>
          </a:bodyPr>
          <a:lstStyle/>
          <a:p>
            <a:pPr algn="l">
              <a:spcAft>
                <a:spcPts val="1000"/>
              </a:spcAft>
            </a:pPr>
            <a:r>
              <a:rPr sz="1350" b="1">
                <a:solidFill>
                  <a:srgbClr val="0072B2"/>
                </a:solidFill>
                <a:latin typeface="Calibri"/>
              </a:rPr>
              <a:t>▪  </a:t>
            </a:r>
            <a:r>
              <a:rPr sz="1350" b="0">
                <a:solidFill>
                  <a:srgbClr val="16222F"/>
                </a:solidFill>
                <a:latin typeface="Calibri"/>
              </a:rPr>
              <a:t>Public, reproducible sources — ChEMBL and B3DB.</a:t>
            </a:r>
          </a:p>
          <a:p>
            <a:pPr algn="l">
              <a:spcAft>
                <a:spcPts val="1000"/>
              </a:spcAft>
            </a:pPr>
            <a:r>
              <a:rPr sz="1350" b="1">
                <a:solidFill>
                  <a:srgbClr val="009E73"/>
                </a:solidFill>
                <a:latin typeface="Calibri"/>
              </a:rPr>
              <a:t>▪  </a:t>
            </a:r>
            <a:r>
              <a:rPr sz="1350" b="0">
                <a:solidFill>
                  <a:srgbClr val="16222F"/>
                </a:solidFill>
                <a:latin typeface="Calibri"/>
              </a:rPr>
              <a:t>Only lab-measured values kept (no guesses/imputation).</a:t>
            </a:r>
          </a:p>
          <a:p>
            <a:pPr algn="l">
              <a:spcAft>
                <a:spcPts val="1000"/>
              </a:spcAft>
            </a:pPr>
            <a:r>
              <a:rPr sz="1350" b="1">
                <a:solidFill>
                  <a:srgbClr val="E69000"/>
                </a:solidFill>
                <a:latin typeface="Calibri"/>
              </a:rPr>
              <a:t>▪  </a:t>
            </a:r>
            <a:r>
              <a:rPr sz="1350" b="0">
                <a:solidFill>
                  <a:srgbClr val="16222F"/>
                </a:solidFill>
                <a:latin typeface="Calibri"/>
              </a:rPr>
              <a:t>Report dates (1976–2025) retained for a 'future' test.</a:t>
            </a:r>
          </a:p>
        </p:txBody>
      </p:sp>
      <p:sp>
        <p:nvSpPr>
          <p:cNvPr id="7" name="Rounded Rectangle 6"/>
          <p:cNvSpPr/>
          <p:nvPr/>
        </p:nvSpPr>
        <p:spPr>
          <a:xfrm>
            <a:off x="822960" y="5623560"/>
            <a:ext cx="10607040" cy="777240"/>
          </a:xfrm>
          <a:prstGeom prst="roundRect">
            <a:avLst>
              <a:gd name="adj" fmla="val 6000"/>
            </a:avLst>
          </a:prstGeom>
          <a:solidFill>
            <a:srgbClr val="EE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960" y="5623560"/>
            <a:ext cx="54864" cy="777240"/>
          </a:xfrm>
          <a:prstGeom prst="rect">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5678424"/>
            <a:ext cx="10332719" cy="667512"/>
          </a:xfrm>
          <a:prstGeom prst="rect">
            <a:avLst/>
          </a:prstGeom>
          <a:noFill/>
        </p:spPr>
        <p:txBody>
          <a:bodyPr wrap="square" anchor="ctr">
            <a:spAutoFit/>
          </a:bodyPr>
          <a:lstStyle/>
          <a:p>
            <a:pPr algn="l">
              <a:spcAft>
                <a:spcPts val="0"/>
              </a:spcAft>
            </a:pPr>
            <a:r>
              <a:rPr sz="1250" b="1">
                <a:solidFill>
                  <a:srgbClr val="009E73"/>
                </a:solidFill>
                <a:latin typeface="Calibri"/>
              </a:rPr>
              <a:t>In plain terms:  </a:t>
            </a:r>
            <a:r>
              <a:rPr sz="1250" b="0">
                <a:solidFill>
                  <a:srgbClr val="16222F"/>
                </a:solidFill>
                <a:latin typeface="Calibri"/>
              </a:rPr>
              <a:t>'measured' means someone physically tested each molecule in a lab and recorded the result. The tool learns from tens of thousands of these real results — it is not making things up from text on the internet.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47544" y="578336"/>
            <a:ext cx="10515600" cy="365760"/>
          </a:xfrm>
          <a:prstGeom prst="rect">
            <a:avLst/>
          </a:prstGeom>
          <a:noFill/>
        </p:spPr>
        <p:txBody>
          <a:bodyPr wrap="square">
            <a:spAutoFit/>
          </a:bodyPr>
          <a:lstStyle/>
          <a:p>
            <a:pPr algn="l">
              <a:spcBef>
                <a:spcPts val="0"/>
              </a:spcBef>
              <a:spcAft>
                <a:spcPts val="0"/>
              </a:spcAft>
            </a:pPr>
            <a:r>
              <a:rPr sz="1200" b="1" i="0" dirty="0">
                <a:solidFill>
                  <a:srgbClr val="0072B2"/>
                </a:solidFill>
                <a:latin typeface="Consolas"/>
              </a:rPr>
              <a:t>04 · WHAT IT PREDICTS</a:t>
            </a:r>
          </a:p>
        </p:txBody>
      </p:sp>
      <p:sp>
        <p:nvSpPr>
          <p:cNvPr id="3" name="Rectangle 2"/>
          <p:cNvSpPr/>
          <p:nvPr/>
        </p:nvSpPr>
        <p:spPr>
          <a:xfrm>
            <a:off x="822960" y="566928"/>
            <a:ext cx="457200" cy="4114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868680"/>
            <a:ext cx="10515600" cy="1188720"/>
          </a:xfrm>
          <a:prstGeom prst="rect">
            <a:avLst/>
          </a:prstGeom>
          <a:noFill/>
        </p:spPr>
        <p:txBody>
          <a:bodyPr wrap="square">
            <a:spAutoFit/>
          </a:bodyPr>
          <a:lstStyle/>
          <a:p>
            <a:pPr algn="l">
              <a:spcBef>
                <a:spcPts val="0"/>
              </a:spcBef>
              <a:spcAft>
                <a:spcPts val="0"/>
              </a:spcAft>
            </a:pPr>
            <a:r>
              <a:rPr sz="3300" b="1" i="0">
                <a:solidFill>
                  <a:srgbClr val="16222F"/>
                </a:solidFill>
                <a:latin typeface="Georgia"/>
              </a:rPr>
              <a:t>Twelve core endpoints, plus supporting layers</a:t>
            </a:r>
          </a:p>
        </p:txBody>
      </p:sp>
      <p:graphicFrame>
        <p:nvGraphicFramePr>
          <p:cNvPr id="5" name="Table 4"/>
          <p:cNvGraphicFramePr>
            <a:graphicFrameLocks noGrp="1"/>
          </p:cNvGraphicFramePr>
          <p:nvPr/>
        </p:nvGraphicFramePr>
        <p:xfrm>
          <a:off x="822960" y="1828800"/>
          <a:ext cx="7040878" cy="3840480"/>
        </p:xfrm>
        <a:graphic>
          <a:graphicData uri="http://schemas.openxmlformats.org/drawingml/2006/table">
            <a:tbl>
              <a:tblPr>
                <a:tableStyleId>{5C22544A-7EE6-4342-B048-85BDC9FD1C3A}</a:tableStyleId>
              </a:tblPr>
              <a:tblGrid>
                <a:gridCol w="2380015">
                  <a:extLst>
                    <a:ext uri="{9D8B030D-6E8A-4147-A177-3AD203B41FA5}">
                      <a16:colId xmlns:a16="http://schemas.microsoft.com/office/drawing/2014/main" val="20000"/>
                    </a:ext>
                  </a:extLst>
                </a:gridCol>
                <a:gridCol w="3272521">
                  <a:extLst>
                    <a:ext uri="{9D8B030D-6E8A-4147-A177-3AD203B41FA5}">
                      <a16:colId xmlns:a16="http://schemas.microsoft.com/office/drawing/2014/main" val="20001"/>
                    </a:ext>
                  </a:extLst>
                </a:gridCol>
                <a:gridCol w="1388342">
                  <a:extLst>
                    <a:ext uri="{9D8B030D-6E8A-4147-A177-3AD203B41FA5}">
                      <a16:colId xmlns:a16="http://schemas.microsoft.com/office/drawing/2014/main" val="20002"/>
                    </a:ext>
                  </a:extLst>
                </a:gridCol>
              </a:tblGrid>
              <a:tr h="384048">
                <a:tc>
                  <a:txBody>
                    <a:bodyPr/>
                    <a:lstStyle/>
                    <a:p>
                      <a:pPr algn="l"/>
                      <a:r>
                        <a:rPr sz="1000" b="1">
                          <a:solidFill>
                            <a:srgbClr val="5A6B7B"/>
                          </a:solidFill>
                          <a:latin typeface="Consolas"/>
                        </a:rPr>
                        <a:t>Prediction</a:t>
                      </a:r>
                    </a:p>
                  </a:txBody>
                  <a:tcPr marL="73152" marR="73152" marT="18288" marB="18288" anchor="ctr">
                    <a:solidFill>
                      <a:srgbClr val="EEF2F6"/>
                    </a:solidFill>
                  </a:tcPr>
                </a:tc>
                <a:tc>
                  <a:txBody>
                    <a:bodyPr/>
                    <a:lstStyle/>
                    <a:p>
                      <a:pPr algn="ctr"/>
                      <a:r>
                        <a:rPr sz="1000" b="1">
                          <a:solidFill>
                            <a:srgbClr val="5A6B7B"/>
                          </a:solidFill>
                          <a:latin typeface="Consolas"/>
                        </a:rPr>
                        <a:t>In plain terms</a:t>
                      </a:r>
                    </a:p>
                  </a:txBody>
                  <a:tcPr marL="73152" marR="73152" marT="18288" marB="18288" anchor="ctr">
                    <a:solidFill>
                      <a:srgbClr val="EEF2F6"/>
                    </a:solidFill>
                  </a:tcPr>
                </a:tc>
                <a:tc>
                  <a:txBody>
                    <a:bodyPr/>
                    <a:lstStyle/>
                    <a:p>
                      <a:pPr algn="ctr"/>
                      <a:r>
                        <a:rPr sz="1000" b="1">
                          <a:solidFill>
                            <a:srgbClr val="5A6B7B"/>
                          </a:solidFill>
                          <a:latin typeface="Consolas"/>
                        </a:rPr>
                        <a:t>How it's served</a:t>
                      </a:r>
                    </a:p>
                  </a:txBody>
                  <a:tcPr marL="73152" marR="73152" marT="18288" marB="18288" anchor="ctr">
                    <a:solidFill>
                      <a:srgbClr val="EEF2F6"/>
                    </a:solidFill>
                  </a:tcPr>
                </a:tc>
                <a:extLst>
                  <a:ext uri="{0D108BD9-81ED-4DB2-BD59-A6C34878D82A}">
                    <a16:rowId xmlns:a16="http://schemas.microsoft.com/office/drawing/2014/main" val="10000"/>
                  </a:ext>
                </a:extLst>
              </a:tr>
              <a:tr h="384048">
                <a:tc>
                  <a:txBody>
                    <a:bodyPr/>
                    <a:lstStyle/>
                    <a:p>
                      <a:pPr algn="l"/>
                      <a:r>
                        <a:rPr sz="1100" b="0">
                          <a:solidFill>
                            <a:srgbClr val="16222F"/>
                          </a:solidFill>
                          <a:latin typeface="Calibri"/>
                        </a:rPr>
                        <a:t>BBB</a:t>
                      </a:r>
                    </a:p>
                  </a:txBody>
                  <a:tcPr marL="73152" marR="73152" marT="18288" marB="18288" anchor="ctr">
                    <a:solidFill>
                      <a:srgbClr val="FFFFFF"/>
                    </a:solidFill>
                  </a:tcPr>
                </a:tc>
                <a:tc>
                  <a:txBody>
                    <a:bodyPr/>
                    <a:lstStyle/>
                    <a:p>
                      <a:pPr algn="ctr"/>
                      <a:r>
                        <a:rPr sz="1100" b="0">
                          <a:solidFill>
                            <a:srgbClr val="16222F"/>
                          </a:solidFill>
                          <a:latin typeface="Consolas"/>
                        </a:rPr>
                        <a:t>Can it enter the brain?</a:t>
                      </a:r>
                    </a:p>
                  </a:txBody>
                  <a:tcPr marL="73152" marR="73152" marT="18288" marB="18288" anchor="ctr">
                    <a:solidFill>
                      <a:srgbClr val="FFFFFF"/>
                    </a:solidFill>
                  </a:tcPr>
                </a:tc>
                <a:tc>
                  <a:txBody>
                    <a:bodyPr/>
                    <a:lstStyle/>
                    <a:p>
                      <a:pPr algn="ctr"/>
                      <a:r>
                        <a:rPr sz="1100" b="0">
                          <a:solidFill>
                            <a:srgbClr val="16222F"/>
                          </a:solidFill>
                          <a:latin typeface="Consolas"/>
                        </a:rPr>
                        <a:t>classifier</a:t>
                      </a:r>
                    </a:p>
                  </a:txBody>
                  <a:tcPr marL="73152" marR="73152" marT="18288" marB="18288" anchor="ctr">
                    <a:solidFill>
                      <a:srgbClr val="FFFFFF"/>
                    </a:solidFill>
                  </a:tcPr>
                </a:tc>
                <a:extLst>
                  <a:ext uri="{0D108BD9-81ED-4DB2-BD59-A6C34878D82A}">
                    <a16:rowId xmlns:a16="http://schemas.microsoft.com/office/drawing/2014/main" val="10001"/>
                  </a:ext>
                </a:extLst>
              </a:tr>
              <a:tr h="384048">
                <a:tc>
                  <a:txBody>
                    <a:bodyPr/>
                    <a:lstStyle/>
                    <a:p>
                      <a:pPr algn="l"/>
                      <a:r>
                        <a:rPr sz="1100" b="0">
                          <a:solidFill>
                            <a:srgbClr val="16222F"/>
                          </a:solidFill>
                          <a:latin typeface="Calibri"/>
                        </a:rPr>
                        <a:t>AChE / BChE</a:t>
                      </a:r>
                    </a:p>
                  </a:txBody>
                  <a:tcPr marL="73152" marR="73152" marT="18288" marB="18288" anchor="ctr">
                    <a:solidFill>
                      <a:srgbClr val="F4F6F9"/>
                    </a:solidFill>
                  </a:tcPr>
                </a:tc>
                <a:tc>
                  <a:txBody>
                    <a:bodyPr/>
                    <a:lstStyle/>
                    <a:p>
                      <a:pPr algn="ctr"/>
                      <a:r>
                        <a:rPr sz="1100" b="0">
                          <a:solidFill>
                            <a:srgbClr val="16222F"/>
                          </a:solidFill>
                          <a:latin typeface="Consolas"/>
                        </a:rPr>
                        <a:t>Alzheimer's cholinergic enzymes</a:t>
                      </a:r>
                    </a:p>
                  </a:txBody>
                  <a:tcPr marL="73152" marR="73152" marT="18288" marB="18288" anchor="ctr">
                    <a:solidFill>
                      <a:srgbClr val="F4F6F9"/>
                    </a:solidFill>
                  </a:tcPr>
                </a:tc>
                <a:tc>
                  <a:txBody>
                    <a:bodyPr/>
                    <a:lstStyle/>
                    <a:p>
                      <a:pPr algn="ctr"/>
                      <a:r>
                        <a:rPr sz="1100" b="0">
                          <a:solidFill>
                            <a:srgbClr val="16222F"/>
                          </a:solidFill>
                          <a:latin typeface="Consolas"/>
                        </a:rPr>
                        <a:t>classifier</a:t>
                      </a:r>
                    </a:p>
                  </a:txBody>
                  <a:tcPr marL="73152" marR="73152" marT="18288" marB="18288" anchor="ctr">
                    <a:solidFill>
                      <a:srgbClr val="F4F6F9"/>
                    </a:solidFill>
                  </a:tcPr>
                </a:tc>
                <a:extLst>
                  <a:ext uri="{0D108BD9-81ED-4DB2-BD59-A6C34878D82A}">
                    <a16:rowId xmlns:a16="http://schemas.microsoft.com/office/drawing/2014/main" val="10002"/>
                  </a:ext>
                </a:extLst>
              </a:tr>
              <a:tr h="384048">
                <a:tc>
                  <a:txBody>
                    <a:bodyPr/>
                    <a:lstStyle/>
                    <a:p>
                      <a:pPr algn="l"/>
                      <a:r>
                        <a:rPr sz="1100" b="0">
                          <a:solidFill>
                            <a:srgbClr val="16222F"/>
                          </a:solidFill>
                          <a:latin typeface="Calibri"/>
                        </a:rPr>
                        <a:t>BACE1</a:t>
                      </a:r>
                    </a:p>
                  </a:txBody>
                  <a:tcPr marL="73152" marR="73152" marT="18288" marB="18288" anchor="ctr">
                    <a:solidFill>
                      <a:srgbClr val="FFFFFF"/>
                    </a:solidFill>
                  </a:tcPr>
                </a:tc>
                <a:tc>
                  <a:txBody>
                    <a:bodyPr/>
                    <a:lstStyle/>
                    <a:p>
                      <a:pPr algn="ctr"/>
                      <a:r>
                        <a:rPr sz="1100" b="0">
                          <a:solidFill>
                            <a:srgbClr val="16222F"/>
                          </a:solidFill>
                          <a:latin typeface="Consolas"/>
                        </a:rPr>
                        <a:t>Alzheimer's amyloid enzyme</a:t>
                      </a:r>
                    </a:p>
                  </a:txBody>
                  <a:tcPr marL="73152" marR="73152" marT="18288" marB="18288" anchor="ctr">
                    <a:solidFill>
                      <a:srgbClr val="FFFFFF"/>
                    </a:solidFill>
                  </a:tcPr>
                </a:tc>
                <a:tc>
                  <a:txBody>
                    <a:bodyPr/>
                    <a:lstStyle/>
                    <a:p>
                      <a:pPr algn="ctr"/>
                      <a:r>
                        <a:rPr sz="1100" b="0">
                          <a:solidFill>
                            <a:srgbClr val="16222F"/>
                          </a:solidFill>
                          <a:latin typeface="Consolas"/>
                        </a:rPr>
                        <a:t>classifier</a:t>
                      </a:r>
                    </a:p>
                  </a:txBody>
                  <a:tcPr marL="73152" marR="73152" marT="18288" marB="18288" anchor="ctr">
                    <a:solidFill>
                      <a:srgbClr val="FFFFFF"/>
                    </a:solidFill>
                  </a:tcPr>
                </a:tc>
                <a:extLst>
                  <a:ext uri="{0D108BD9-81ED-4DB2-BD59-A6C34878D82A}">
                    <a16:rowId xmlns:a16="http://schemas.microsoft.com/office/drawing/2014/main" val="10003"/>
                  </a:ext>
                </a:extLst>
              </a:tr>
              <a:tr h="384048">
                <a:tc>
                  <a:txBody>
                    <a:bodyPr/>
                    <a:lstStyle/>
                    <a:p>
                      <a:pPr algn="l"/>
                      <a:r>
                        <a:rPr sz="1100" b="0">
                          <a:solidFill>
                            <a:srgbClr val="16222F"/>
                          </a:solidFill>
                          <a:latin typeface="Calibri"/>
                        </a:rPr>
                        <a:t>GSK-3β</a:t>
                      </a:r>
                    </a:p>
                  </a:txBody>
                  <a:tcPr marL="73152" marR="73152" marT="18288" marB="18288" anchor="ctr">
                    <a:solidFill>
                      <a:srgbClr val="F4F6F9"/>
                    </a:solidFill>
                  </a:tcPr>
                </a:tc>
                <a:tc>
                  <a:txBody>
                    <a:bodyPr/>
                    <a:lstStyle/>
                    <a:p>
                      <a:pPr algn="ctr"/>
                      <a:r>
                        <a:rPr sz="1100" b="0">
                          <a:solidFill>
                            <a:srgbClr val="16222F"/>
                          </a:solidFill>
                          <a:latin typeface="Consolas"/>
                        </a:rPr>
                        <a:t>Tau / neuroprotection</a:t>
                      </a:r>
                    </a:p>
                  </a:txBody>
                  <a:tcPr marL="73152" marR="73152" marT="18288" marB="18288" anchor="ctr">
                    <a:solidFill>
                      <a:srgbClr val="F4F6F9"/>
                    </a:solidFill>
                  </a:tcPr>
                </a:tc>
                <a:tc>
                  <a:txBody>
                    <a:bodyPr/>
                    <a:lstStyle/>
                    <a:p>
                      <a:pPr algn="ctr"/>
                      <a:r>
                        <a:rPr sz="1100" b="0">
                          <a:solidFill>
                            <a:srgbClr val="16222F"/>
                          </a:solidFill>
                          <a:latin typeface="Consolas"/>
                        </a:rPr>
                        <a:t>classifier</a:t>
                      </a:r>
                    </a:p>
                  </a:txBody>
                  <a:tcPr marL="73152" marR="73152" marT="18288" marB="18288" anchor="ctr">
                    <a:solidFill>
                      <a:srgbClr val="F4F6F9"/>
                    </a:solidFill>
                  </a:tcPr>
                </a:tc>
                <a:extLst>
                  <a:ext uri="{0D108BD9-81ED-4DB2-BD59-A6C34878D82A}">
                    <a16:rowId xmlns:a16="http://schemas.microsoft.com/office/drawing/2014/main" val="10004"/>
                  </a:ext>
                </a:extLst>
              </a:tr>
              <a:tr h="384048">
                <a:tc>
                  <a:txBody>
                    <a:bodyPr/>
                    <a:lstStyle/>
                    <a:p>
                      <a:pPr algn="l"/>
                      <a:r>
                        <a:rPr sz="1100" b="0">
                          <a:solidFill>
                            <a:srgbClr val="16222F"/>
                          </a:solidFill>
                          <a:latin typeface="Calibri"/>
                        </a:rPr>
                        <a:t>MAO-A / MAO-B</a:t>
                      </a:r>
                    </a:p>
                  </a:txBody>
                  <a:tcPr marL="73152" marR="73152" marT="18288" marB="18288" anchor="ctr">
                    <a:solidFill>
                      <a:srgbClr val="FFFFFF"/>
                    </a:solidFill>
                  </a:tcPr>
                </a:tc>
                <a:tc>
                  <a:txBody>
                    <a:bodyPr/>
                    <a:lstStyle/>
                    <a:p>
                      <a:pPr algn="ctr"/>
                      <a:r>
                        <a:rPr sz="1100" b="0">
                          <a:solidFill>
                            <a:srgbClr val="16222F"/>
                          </a:solidFill>
                          <a:latin typeface="Consolas"/>
                        </a:rPr>
                        <a:t>Mood / Parkinson's enzymes</a:t>
                      </a:r>
                    </a:p>
                  </a:txBody>
                  <a:tcPr marL="73152" marR="73152" marT="18288" marB="18288" anchor="ctr">
                    <a:solidFill>
                      <a:srgbClr val="FFFFFF"/>
                    </a:solidFill>
                  </a:tcPr>
                </a:tc>
                <a:tc>
                  <a:txBody>
                    <a:bodyPr/>
                    <a:lstStyle/>
                    <a:p>
                      <a:pPr algn="ctr"/>
                      <a:r>
                        <a:rPr sz="1100" b="0">
                          <a:solidFill>
                            <a:srgbClr val="16222F"/>
                          </a:solidFill>
                          <a:latin typeface="Consolas"/>
                        </a:rPr>
                        <a:t>classifier</a:t>
                      </a:r>
                    </a:p>
                  </a:txBody>
                  <a:tcPr marL="73152" marR="73152" marT="18288" marB="18288" anchor="ctr">
                    <a:solidFill>
                      <a:srgbClr val="FFFFFF"/>
                    </a:solidFill>
                  </a:tcPr>
                </a:tc>
                <a:extLst>
                  <a:ext uri="{0D108BD9-81ED-4DB2-BD59-A6C34878D82A}">
                    <a16:rowId xmlns:a16="http://schemas.microsoft.com/office/drawing/2014/main" val="10005"/>
                  </a:ext>
                </a:extLst>
              </a:tr>
              <a:tr h="384048">
                <a:tc>
                  <a:txBody>
                    <a:bodyPr/>
                    <a:lstStyle/>
                    <a:p>
                      <a:pPr algn="l"/>
                      <a:r>
                        <a:rPr sz="1100" b="0">
                          <a:solidFill>
                            <a:srgbClr val="16222F"/>
                          </a:solidFill>
                          <a:latin typeface="Calibri"/>
                        </a:rPr>
                        <a:t>hERG</a:t>
                      </a:r>
                    </a:p>
                  </a:txBody>
                  <a:tcPr marL="73152" marR="73152" marT="18288" marB="18288" anchor="ctr">
                    <a:solidFill>
                      <a:srgbClr val="F4F6F9"/>
                    </a:solidFill>
                  </a:tcPr>
                </a:tc>
                <a:tc>
                  <a:txBody>
                    <a:bodyPr/>
                    <a:lstStyle/>
                    <a:p>
                      <a:pPr algn="ctr"/>
                      <a:r>
                        <a:rPr sz="1100" b="0">
                          <a:solidFill>
                            <a:srgbClr val="16222F"/>
                          </a:solidFill>
                          <a:latin typeface="Consolas"/>
                        </a:rPr>
                        <a:t>Heart-rhythm safety flag</a:t>
                      </a:r>
                    </a:p>
                  </a:txBody>
                  <a:tcPr marL="73152" marR="73152" marT="18288" marB="18288" anchor="ctr">
                    <a:solidFill>
                      <a:srgbClr val="F4F6F9"/>
                    </a:solidFill>
                  </a:tcPr>
                </a:tc>
                <a:tc>
                  <a:txBody>
                    <a:bodyPr/>
                    <a:lstStyle/>
                    <a:p>
                      <a:pPr algn="ctr"/>
                      <a:r>
                        <a:rPr sz="1100" b="0">
                          <a:solidFill>
                            <a:srgbClr val="16222F"/>
                          </a:solidFill>
                          <a:latin typeface="Consolas"/>
                        </a:rPr>
                        <a:t>classifier</a:t>
                      </a:r>
                    </a:p>
                  </a:txBody>
                  <a:tcPr marL="73152" marR="73152" marT="18288" marB="18288" anchor="ctr">
                    <a:solidFill>
                      <a:srgbClr val="F4F6F9"/>
                    </a:solidFill>
                  </a:tcPr>
                </a:tc>
                <a:extLst>
                  <a:ext uri="{0D108BD9-81ED-4DB2-BD59-A6C34878D82A}">
                    <a16:rowId xmlns:a16="http://schemas.microsoft.com/office/drawing/2014/main" val="10006"/>
                  </a:ext>
                </a:extLst>
              </a:tr>
              <a:tr h="384048">
                <a:tc>
                  <a:txBody>
                    <a:bodyPr/>
                    <a:lstStyle/>
                    <a:p>
                      <a:pPr algn="l"/>
                      <a:r>
                        <a:rPr sz="1100" b="0">
                          <a:solidFill>
                            <a:srgbClr val="16222F"/>
                          </a:solidFill>
                          <a:latin typeface="Calibri"/>
                        </a:rPr>
                        <a:t>D2 · A2A · 5-HT2A · SERT</a:t>
                      </a:r>
                    </a:p>
                  </a:txBody>
                  <a:tcPr marL="73152" marR="73152" marT="18288" marB="18288" anchor="ctr">
                    <a:solidFill>
                      <a:srgbClr val="FFFFFF"/>
                    </a:solidFill>
                  </a:tcPr>
                </a:tc>
                <a:tc>
                  <a:txBody>
                    <a:bodyPr/>
                    <a:lstStyle/>
                    <a:p>
                      <a:pPr algn="ctr"/>
                      <a:r>
                        <a:rPr sz="1100" b="0">
                          <a:solidFill>
                            <a:srgbClr val="16222F"/>
                          </a:solidFill>
                          <a:latin typeface="Consolas"/>
                        </a:rPr>
                        <a:t>Receptor potency (how strong)</a:t>
                      </a:r>
                    </a:p>
                  </a:txBody>
                  <a:tcPr marL="73152" marR="73152" marT="18288" marB="18288" anchor="ctr">
                    <a:solidFill>
                      <a:srgbClr val="FFFFFF"/>
                    </a:solidFill>
                  </a:tcPr>
                </a:tc>
                <a:tc>
                  <a:txBody>
                    <a:bodyPr/>
                    <a:lstStyle/>
                    <a:p>
                      <a:pPr algn="ctr"/>
                      <a:r>
                        <a:rPr sz="1100" b="0">
                          <a:solidFill>
                            <a:srgbClr val="16222F"/>
                          </a:solidFill>
                          <a:latin typeface="Consolas"/>
                        </a:rPr>
                        <a:t>regression</a:t>
                      </a:r>
                    </a:p>
                  </a:txBody>
                  <a:tcPr marL="73152" marR="73152" marT="18288" marB="18288" anchor="ctr">
                    <a:solidFill>
                      <a:srgbClr val="FFFFFF"/>
                    </a:solidFill>
                  </a:tcPr>
                </a:tc>
                <a:extLst>
                  <a:ext uri="{0D108BD9-81ED-4DB2-BD59-A6C34878D82A}">
                    <a16:rowId xmlns:a16="http://schemas.microsoft.com/office/drawing/2014/main" val="10007"/>
                  </a:ext>
                </a:extLst>
              </a:tr>
              <a:tr h="384048">
                <a:tc>
                  <a:txBody>
                    <a:bodyPr/>
                    <a:lstStyle/>
                    <a:p>
                      <a:pPr algn="l"/>
                      <a:r>
                        <a:rPr sz="1100" b="0">
                          <a:solidFill>
                            <a:srgbClr val="16222F"/>
                          </a:solidFill>
                          <a:latin typeface="Calibri"/>
                        </a:rPr>
                        <a:t>Antioxidant (DPPH)</a:t>
                      </a:r>
                    </a:p>
                  </a:txBody>
                  <a:tcPr marL="73152" marR="73152" marT="18288" marB="18288" anchor="ctr">
                    <a:solidFill>
                      <a:srgbClr val="F4F6F9"/>
                    </a:solidFill>
                  </a:tcPr>
                </a:tc>
                <a:tc>
                  <a:txBody>
                    <a:bodyPr/>
                    <a:lstStyle/>
                    <a:p>
                      <a:pPr algn="ctr"/>
                      <a:r>
                        <a:rPr sz="1100" b="0">
                          <a:solidFill>
                            <a:srgbClr val="16222F"/>
                          </a:solidFill>
                          <a:latin typeface="Consolas"/>
                        </a:rPr>
                        <a:t>Radical-scavenging strength</a:t>
                      </a:r>
                    </a:p>
                  </a:txBody>
                  <a:tcPr marL="73152" marR="73152" marT="18288" marB="18288" anchor="ctr">
                    <a:solidFill>
                      <a:srgbClr val="F4F6F9"/>
                    </a:solidFill>
                  </a:tcPr>
                </a:tc>
                <a:tc>
                  <a:txBody>
                    <a:bodyPr/>
                    <a:lstStyle/>
                    <a:p>
                      <a:pPr algn="ctr"/>
                      <a:r>
                        <a:rPr sz="1100" b="0">
                          <a:solidFill>
                            <a:srgbClr val="16222F"/>
                          </a:solidFill>
                          <a:latin typeface="Consolas"/>
                        </a:rPr>
                        <a:t>regression</a:t>
                      </a:r>
                    </a:p>
                  </a:txBody>
                  <a:tcPr marL="73152" marR="73152" marT="18288" marB="18288" anchor="ctr">
                    <a:solidFill>
                      <a:srgbClr val="F4F6F9"/>
                    </a:solidFill>
                  </a:tcPr>
                </a:tc>
                <a:extLst>
                  <a:ext uri="{0D108BD9-81ED-4DB2-BD59-A6C34878D82A}">
                    <a16:rowId xmlns:a16="http://schemas.microsoft.com/office/drawing/2014/main" val="10008"/>
                  </a:ext>
                </a:extLst>
              </a:tr>
              <a:tr h="384048">
                <a:tc>
                  <a:txBody>
                    <a:bodyPr/>
                    <a:lstStyle/>
                    <a:p>
                      <a:pPr algn="l"/>
                      <a:r>
                        <a:rPr sz="1100" b="0">
                          <a:solidFill>
                            <a:srgbClr val="16222F"/>
                          </a:solidFill>
                          <a:latin typeface="Calibri"/>
                        </a:rPr>
                        <a:t>Druggability / CNS-MPO</a:t>
                      </a:r>
                    </a:p>
                  </a:txBody>
                  <a:tcPr marL="73152" marR="73152" marT="18288" marB="18288" anchor="ctr">
                    <a:solidFill>
                      <a:srgbClr val="FFFFFF"/>
                    </a:solidFill>
                  </a:tcPr>
                </a:tc>
                <a:tc>
                  <a:txBody>
                    <a:bodyPr/>
                    <a:lstStyle/>
                    <a:p>
                      <a:pPr algn="ctr"/>
                      <a:r>
                        <a:rPr sz="1100" b="0">
                          <a:solidFill>
                            <a:srgbClr val="16222F"/>
                          </a:solidFill>
                          <a:latin typeface="Consolas"/>
                        </a:rPr>
                        <a:t>Is it drug-like for the brain?</a:t>
                      </a:r>
                    </a:p>
                  </a:txBody>
                  <a:tcPr marL="73152" marR="73152" marT="18288" marB="18288" anchor="ctr">
                    <a:solidFill>
                      <a:srgbClr val="FFFFFF"/>
                    </a:solidFill>
                  </a:tcPr>
                </a:tc>
                <a:tc>
                  <a:txBody>
                    <a:bodyPr/>
                    <a:lstStyle/>
                    <a:p>
                      <a:pPr algn="ctr"/>
                      <a:r>
                        <a:rPr sz="1100" b="0">
                          <a:solidFill>
                            <a:srgbClr val="16222F"/>
                          </a:solidFill>
                          <a:latin typeface="Consolas"/>
                        </a:rPr>
                        <a:t>rule-based</a:t>
                      </a:r>
                    </a:p>
                  </a:txBody>
                  <a:tcPr marL="73152" marR="73152" marT="18288" marB="18288" anchor="ctr">
                    <a:solidFill>
                      <a:srgbClr val="FFFFFF"/>
                    </a:solidFill>
                  </a:tcPr>
                </a:tc>
                <a:extLst>
                  <a:ext uri="{0D108BD9-81ED-4DB2-BD59-A6C34878D82A}">
                    <a16:rowId xmlns:a16="http://schemas.microsoft.com/office/drawing/2014/main" val="10009"/>
                  </a:ext>
                </a:extLst>
              </a:tr>
            </a:tbl>
          </a:graphicData>
        </a:graphic>
      </p:graphicFrame>
      <p:sp>
        <p:nvSpPr>
          <p:cNvPr id="6" name="TextBox 5"/>
          <p:cNvSpPr txBox="1"/>
          <p:nvPr/>
        </p:nvSpPr>
        <p:spPr>
          <a:xfrm>
            <a:off x="8138160" y="1828800"/>
            <a:ext cx="3291840" cy="3657600"/>
          </a:xfrm>
          <a:prstGeom prst="rect">
            <a:avLst/>
          </a:prstGeom>
          <a:noFill/>
        </p:spPr>
        <p:txBody>
          <a:bodyPr wrap="square">
            <a:spAutoFit/>
          </a:bodyPr>
          <a:lstStyle/>
          <a:p>
            <a:pPr algn="l">
              <a:spcBef>
                <a:spcPts val="0"/>
              </a:spcBef>
              <a:spcAft>
                <a:spcPts val="500"/>
              </a:spcAft>
            </a:pPr>
            <a:r>
              <a:rPr sz="1500" b="1" i="0">
                <a:solidFill>
                  <a:srgbClr val="16222F"/>
                </a:solidFill>
                <a:latin typeface="Calibri"/>
              </a:rPr>
              <a:t>Two kinds of answer</a:t>
            </a:r>
          </a:p>
          <a:p>
            <a:pPr algn="l">
              <a:spcAft>
                <a:spcPts val="800"/>
              </a:spcAft>
            </a:pPr>
            <a:r>
              <a:rPr sz="1300" b="1">
                <a:solidFill>
                  <a:srgbClr val="0072B2"/>
                </a:solidFill>
                <a:latin typeface="Calibri"/>
              </a:rPr>
              <a:t>Classifier</a:t>
            </a:r>
            <a:r>
              <a:rPr sz="1300" b="0">
                <a:solidFill>
                  <a:srgbClr val="16222F"/>
                </a:solidFill>
                <a:latin typeface="Calibri"/>
              </a:rPr>
              <a:t> = yes/no with a probability (e.g. 'active, 0.92').</a:t>
            </a:r>
          </a:p>
          <a:p>
            <a:pPr algn="l">
              <a:spcAft>
                <a:spcPts val="1200"/>
              </a:spcAft>
            </a:pPr>
            <a:r>
              <a:rPr sz="1300" b="1">
                <a:solidFill>
                  <a:srgbClr val="009E73"/>
                </a:solidFill>
                <a:latin typeface="Calibri"/>
              </a:rPr>
              <a:t>Regression</a:t>
            </a:r>
            <a:r>
              <a:rPr sz="1300" b="0">
                <a:solidFill>
                  <a:srgbClr val="16222F"/>
                </a:solidFill>
                <a:latin typeface="Calibri"/>
              </a:rPr>
              <a:t> = a strength number, used to rank compounds.</a:t>
            </a:r>
          </a:p>
          <a:p>
            <a:pPr algn="l">
              <a:spcBef>
                <a:spcPts val="0"/>
              </a:spcBef>
              <a:spcAft>
                <a:spcPts val="0"/>
              </a:spcAft>
            </a:pPr>
            <a:r>
              <a:rPr sz="1250" b="0" i="0">
                <a:solidFill>
                  <a:srgbClr val="5A6B7B"/>
                </a:solidFill>
                <a:latin typeface="Calibri"/>
              </a:rPr>
              <a:t>Why the split? The four receptors were 96–98% actives in the data — too lopsided for a fair yes/no model — so the tool ranks their strength instead. A quality gate decides this automatically.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extBox 1"/>
          <p:cNvSpPr txBox="1"/>
          <p:nvPr/>
        </p:nvSpPr>
        <p:spPr>
          <a:xfrm>
            <a:off x="777240" y="675337"/>
            <a:ext cx="10515600" cy="365760"/>
          </a:xfrm>
          <a:prstGeom prst="rect">
            <a:avLst/>
          </a:prstGeom>
          <a:noFill/>
        </p:spPr>
        <p:txBody>
          <a:bodyPr wrap="square">
            <a:spAutoFit/>
          </a:bodyPr>
          <a:lstStyle/>
          <a:p>
            <a:pPr algn="l">
              <a:spcBef>
                <a:spcPts val="0"/>
              </a:spcBef>
              <a:spcAft>
                <a:spcPts val="0"/>
              </a:spcAft>
            </a:pPr>
            <a:r>
              <a:rPr sz="1200" b="1" i="0" dirty="0">
                <a:solidFill>
                  <a:srgbClr val="56B4E9"/>
                </a:solidFill>
                <a:latin typeface="Consolas"/>
              </a:rPr>
              <a:t>05 · HOW IT LEARNS</a:t>
            </a:r>
          </a:p>
        </p:txBody>
      </p:sp>
      <p:sp>
        <p:nvSpPr>
          <p:cNvPr id="3" name="Rectangle 2"/>
          <p:cNvSpPr/>
          <p:nvPr/>
        </p:nvSpPr>
        <p:spPr>
          <a:xfrm>
            <a:off x="822960" y="566928"/>
            <a:ext cx="457200" cy="41148"/>
          </a:xfrm>
          <a:prstGeom prst="rect">
            <a:avLst/>
          </a:prstGeom>
          <a:solidFill>
            <a:srgbClr val="56B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868680"/>
            <a:ext cx="10515600" cy="1188720"/>
          </a:xfrm>
          <a:prstGeom prst="rect">
            <a:avLst/>
          </a:prstGeom>
          <a:noFill/>
        </p:spPr>
        <p:txBody>
          <a:bodyPr wrap="square">
            <a:spAutoFit/>
          </a:bodyPr>
          <a:lstStyle/>
          <a:p>
            <a:pPr algn="l">
              <a:spcBef>
                <a:spcPts val="0"/>
              </a:spcBef>
              <a:spcAft>
                <a:spcPts val="0"/>
              </a:spcAft>
            </a:pPr>
            <a:r>
              <a:rPr sz="3300" b="1" i="0" dirty="0">
                <a:solidFill>
                  <a:srgbClr val="FFFFFF"/>
                </a:solidFill>
                <a:latin typeface="Georgia"/>
              </a:rPr>
              <a:t>How the computer 'sees' a molecule — and learns</a:t>
            </a:r>
          </a:p>
        </p:txBody>
      </p:sp>
      <p:sp>
        <p:nvSpPr>
          <p:cNvPr id="5" name="Rounded Rectangle 4"/>
          <p:cNvSpPr/>
          <p:nvPr/>
        </p:nvSpPr>
        <p:spPr>
          <a:xfrm>
            <a:off x="822960" y="1999897"/>
            <a:ext cx="5212080" cy="4023360"/>
          </a:xfrm>
          <a:prstGeom prst="roundRect">
            <a:avLst>
              <a:gd name="adj" fmla="val 8000"/>
            </a:avLst>
          </a:prstGeom>
          <a:solidFill>
            <a:srgbClr val="13273C"/>
          </a:solidFill>
          <a:ln w="12700">
            <a:solidFill>
              <a:srgbClr val="254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7760" y="2057400"/>
            <a:ext cx="4663440" cy="3657600"/>
          </a:xfrm>
          <a:prstGeom prst="rect">
            <a:avLst/>
          </a:prstGeom>
          <a:noFill/>
        </p:spPr>
        <p:txBody>
          <a:bodyPr wrap="square">
            <a:spAutoFit/>
          </a:bodyPr>
          <a:lstStyle/>
          <a:p>
            <a:pPr algn="l">
              <a:spcBef>
                <a:spcPts val="0"/>
              </a:spcBef>
              <a:spcAft>
                <a:spcPts val="800"/>
              </a:spcAft>
            </a:pPr>
            <a:r>
              <a:rPr sz="1700" b="1" i="0" dirty="0">
                <a:solidFill>
                  <a:srgbClr val="FFFFFF"/>
                </a:solidFill>
                <a:latin typeface="Calibri"/>
              </a:rPr>
              <a:t>Turning a molecule into numbers</a:t>
            </a:r>
          </a:p>
          <a:p>
            <a:pPr algn="l">
              <a:spcAft>
                <a:spcPts val="800"/>
              </a:spcAft>
            </a:pPr>
            <a:r>
              <a:rPr sz="1350" b="1" dirty="0">
                <a:solidFill>
                  <a:srgbClr val="0072B2"/>
                </a:solidFill>
                <a:latin typeface="Calibri"/>
              </a:rPr>
              <a:t>▪  </a:t>
            </a:r>
            <a:r>
              <a:rPr sz="1350" b="1" dirty="0">
                <a:solidFill>
                  <a:srgbClr val="56B4E9"/>
                </a:solidFill>
                <a:latin typeface="Calibri"/>
              </a:rPr>
              <a:t>Chemical fingerprint (ECFP-4)</a:t>
            </a:r>
            <a:r>
              <a:rPr sz="1350" b="0" dirty="0">
                <a:solidFill>
                  <a:srgbClr val="EAF1F7"/>
                </a:solidFill>
                <a:latin typeface="Calibri"/>
              </a:rPr>
              <a:t> — a 1,024-bit 'barcode' of the molecule's building blocks.</a:t>
            </a:r>
          </a:p>
          <a:p>
            <a:pPr algn="l">
              <a:spcAft>
                <a:spcPts val="800"/>
              </a:spcAft>
            </a:pPr>
            <a:r>
              <a:rPr sz="1350" b="1" dirty="0">
                <a:solidFill>
                  <a:srgbClr val="0072B2"/>
                </a:solidFill>
                <a:latin typeface="Calibri"/>
              </a:rPr>
              <a:t>▪  </a:t>
            </a:r>
            <a:r>
              <a:rPr sz="1350" b="1" dirty="0">
                <a:solidFill>
                  <a:srgbClr val="56B4E9"/>
                </a:solidFill>
                <a:latin typeface="Calibri"/>
              </a:rPr>
              <a:t>24 physical descriptors</a:t>
            </a:r>
            <a:r>
              <a:rPr sz="1350" b="0" dirty="0">
                <a:solidFill>
                  <a:srgbClr val="EAF1F7"/>
                </a:solidFill>
                <a:latin typeface="Calibri"/>
              </a:rPr>
              <a:t> — size, greasiness, surface area, flexibility, drug-likeness.</a:t>
            </a:r>
          </a:p>
          <a:p>
            <a:pPr algn="l">
              <a:spcAft>
                <a:spcPts val="0"/>
              </a:spcAft>
            </a:pPr>
            <a:r>
              <a:rPr sz="1350" b="1" dirty="0">
                <a:solidFill>
                  <a:srgbClr val="0072B2"/>
                </a:solidFill>
                <a:latin typeface="Calibri"/>
              </a:rPr>
              <a:t>▪  </a:t>
            </a:r>
            <a:r>
              <a:rPr sz="1350" b="1" dirty="0">
                <a:solidFill>
                  <a:srgbClr val="E69000"/>
                </a:solidFill>
                <a:latin typeface="Calibri"/>
              </a:rPr>
              <a:t>Why this?</a:t>
            </a:r>
            <a:r>
              <a:rPr sz="1350" b="0" dirty="0">
                <a:solidFill>
                  <a:srgbClr val="EAF1F7"/>
                </a:solidFill>
                <a:latin typeface="Calibri"/>
              </a:rPr>
              <a:t> interpretable and fast, and the standard other studies are measured against.</a:t>
            </a:r>
          </a:p>
        </p:txBody>
      </p:sp>
      <p:sp>
        <p:nvSpPr>
          <p:cNvPr id="7" name="Rounded Rectangle 6"/>
          <p:cNvSpPr/>
          <p:nvPr/>
        </p:nvSpPr>
        <p:spPr>
          <a:xfrm>
            <a:off x="6309360" y="2075311"/>
            <a:ext cx="5029200" cy="4023360"/>
          </a:xfrm>
          <a:prstGeom prst="roundRect">
            <a:avLst>
              <a:gd name="adj" fmla="val 8000"/>
            </a:avLst>
          </a:prstGeom>
          <a:solidFill>
            <a:srgbClr val="13273C"/>
          </a:solidFill>
          <a:ln w="12700">
            <a:solidFill>
              <a:srgbClr val="254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2124804"/>
            <a:ext cx="4480560" cy="3657600"/>
          </a:xfrm>
          <a:prstGeom prst="rect">
            <a:avLst/>
          </a:prstGeom>
          <a:noFill/>
        </p:spPr>
        <p:txBody>
          <a:bodyPr wrap="square">
            <a:spAutoFit/>
          </a:bodyPr>
          <a:lstStyle/>
          <a:p>
            <a:pPr algn="l">
              <a:spcBef>
                <a:spcPts val="0"/>
              </a:spcBef>
              <a:spcAft>
                <a:spcPts val="800"/>
              </a:spcAft>
            </a:pPr>
            <a:r>
              <a:rPr sz="1700" b="1" i="0" dirty="0">
                <a:solidFill>
                  <a:srgbClr val="FFFFFF"/>
                </a:solidFill>
                <a:latin typeface="Calibri"/>
              </a:rPr>
              <a:t>A panel of three models that vote</a:t>
            </a:r>
          </a:p>
          <a:p>
            <a:pPr algn="l">
              <a:spcAft>
                <a:spcPts val="700"/>
              </a:spcAft>
            </a:pPr>
            <a:r>
              <a:rPr sz="1350" b="1" dirty="0">
                <a:solidFill>
                  <a:srgbClr val="0072B2"/>
                </a:solidFill>
                <a:latin typeface="Calibri"/>
              </a:rPr>
              <a:t>▪  </a:t>
            </a:r>
            <a:r>
              <a:rPr sz="1350" b="0" dirty="0">
                <a:solidFill>
                  <a:srgbClr val="EAF1F7"/>
                </a:solidFill>
                <a:latin typeface="Calibri"/>
              </a:rPr>
              <a:t>Random Forest — 300 decision trees</a:t>
            </a:r>
          </a:p>
          <a:p>
            <a:pPr algn="l">
              <a:spcAft>
                <a:spcPts val="700"/>
              </a:spcAft>
            </a:pPr>
            <a:r>
              <a:rPr sz="1350" b="1" dirty="0">
                <a:solidFill>
                  <a:srgbClr val="0072B2"/>
                </a:solidFill>
                <a:latin typeface="Calibri"/>
              </a:rPr>
              <a:t>▪  </a:t>
            </a:r>
            <a:r>
              <a:rPr sz="1350" b="0" dirty="0">
                <a:solidFill>
                  <a:srgbClr val="EAF1F7"/>
                </a:solidFill>
                <a:latin typeface="Calibri"/>
              </a:rPr>
              <a:t>Extra Trees — 300 </a:t>
            </a:r>
            <a:r>
              <a:rPr sz="1350" b="0" dirty="0" err="1">
                <a:solidFill>
                  <a:srgbClr val="EAF1F7"/>
                </a:solidFill>
                <a:latin typeface="Calibri"/>
              </a:rPr>
              <a:t>randomised</a:t>
            </a:r>
            <a:r>
              <a:rPr sz="1350" b="0" dirty="0">
                <a:solidFill>
                  <a:srgbClr val="EAF1F7"/>
                </a:solidFill>
                <a:latin typeface="Calibri"/>
              </a:rPr>
              <a:t> trees</a:t>
            </a:r>
          </a:p>
          <a:p>
            <a:pPr algn="l">
              <a:spcAft>
                <a:spcPts val="700"/>
              </a:spcAft>
            </a:pPr>
            <a:r>
              <a:rPr sz="1350" b="1" dirty="0">
                <a:solidFill>
                  <a:srgbClr val="0072B2"/>
                </a:solidFill>
                <a:latin typeface="Calibri"/>
              </a:rPr>
              <a:t>▪  </a:t>
            </a:r>
            <a:r>
              <a:rPr sz="1350" b="0" dirty="0">
                <a:solidFill>
                  <a:srgbClr val="EAF1F7"/>
                </a:solidFill>
                <a:latin typeface="Calibri"/>
              </a:rPr>
              <a:t>Gradient Boosting — 300 rounds</a:t>
            </a:r>
          </a:p>
          <a:p>
            <a:pPr algn="l">
              <a:spcAft>
                <a:spcPts val="0"/>
              </a:spcAft>
            </a:pPr>
            <a:r>
              <a:rPr sz="1350" b="1" dirty="0">
                <a:solidFill>
                  <a:srgbClr val="009E73"/>
                </a:solidFill>
                <a:latin typeface="Calibri"/>
              </a:rPr>
              <a:t>Why a panel?</a:t>
            </a:r>
            <a:r>
              <a:rPr sz="1350" b="0" dirty="0">
                <a:solidFill>
                  <a:srgbClr val="EAF1F7"/>
                </a:solidFill>
                <a:latin typeface="Calibri"/>
              </a:rPr>
              <a:t> averaging three different learners is steadier and more accurate than any one — and beats simpler methods (shown next).</a:t>
            </a:r>
          </a:p>
        </p:txBody>
      </p:sp>
      <p:sp>
        <p:nvSpPr>
          <p:cNvPr id="9" name="Rounded Rectangle 8"/>
          <p:cNvSpPr/>
          <p:nvPr/>
        </p:nvSpPr>
        <p:spPr>
          <a:xfrm>
            <a:off x="822960" y="5989320"/>
            <a:ext cx="10515600" cy="0"/>
          </a:xfrm>
          <a:prstGeom prst="roundRect">
            <a:avLst>
              <a:gd name="adj" fmla="val 6000"/>
            </a:avLst>
          </a:prstGeom>
          <a:solidFill>
            <a:srgbClr val="EF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5989320"/>
            <a:ext cx="54864" cy="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25240" y="663461"/>
            <a:ext cx="10515600" cy="365760"/>
          </a:xfrm>
          <a:prstGeom prst="rect">
            <a:avLst/>
          </a:prstGeom>
          <a:noFill/>
        </p:spPr>
        <p:txBody>
          <a:bodyPr wrap="square">
            <a:spAutoFit/>
          </a:bodyPr>
          <a:lstStyle/>
          <a:p>
            <a:pPr algn="l">
              <a:spcBef>
                <a:spcPts val="0"/>
              </a:spcBef>
              <a:spcAft>
                <a:spcPts val="0"/>
              </a:spcAft>
            </a:pPr>
            <a:r>
              <a:rPr sz="1200" b="1" i="0" dirty="0">
                <a:solidFill>
                  <a:srgbClr val="0072B2"/>
                </a:solidFill>
                <a:latin typeface="Consolas"/>
              </a:rPr>
              <a:t>06 · MAKING THE ANSWER TRUSTWORTHY</a:t>
            </a:r>
          </a:p>
        </p:txBody>
      </p:sp>
      <p:sp>
        <p:nvSpPr>
          <p:cNvPr id="3" name="Rectangle 2"/>
          <p:cNvSpPr/>
          <p:nvPr/>
        </p:nvSpPr>
        <p:spPr>
          <a:xfrm>
            <a:off x="822960" y="566928"/>
            <a:ext cx="457200" cy="4114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959420"/>
            <a:ext cx="10515600" cy="1188720"/>
          </a:xfrm>
          <a:prstGeom prst="rect">
            <a:avLst/>
          </a:prstGeom>
          <a:noFill/>
        </p:spPr>
        <p:txBody>
          <a:bodyPr wrap="square">
            <a:spAutoFit/>
          </a:bodyPr>
          <a:lstStyle/>
          <a:p>
            <a:pPr algn="l">
              <a:spcBef>
                <a:spcPts val="0"/>
              </a:spcBef>
              <a:spcAft>
                <a:spcPts val="0"/>
              </a:spcAft>
            </a:pPr>
            <a:r>
              <a:rPr sz="3300" b="1" i="0" dirty="0">
                <a:solidFill>
                  <a:srgbClr val="16222F"/>
                </a:solidFill>
                <a:latin typeface="Georgia"/>
              </a:rPr>
              <a:t>Every threshold is a stated, defended choice</a:t>
            </a:r>
          </a:p>
        </p:txBody>
      </p:sp>
      <p:sp>
        <p:nvSpPr>
          <p:cNvPr id="5" name="Rounded Rectangle 4"/>
          <p:cNvSpPr/>
          <p:nvPr/>
        </p:nvSpPr>
        <p:spPr>
          <a:xfrm>
            <a:off x="822960" y="1874519"/>
            <a:ext cx="5257800" cy="1783080"/>
          </a:xfrm>
          <a:prstGeom prst="roundRect">
            <a:avLst>
              <a:gd name="adj" fmla="val 8000"/>
            </a:avLst>
          </a:prstGeom>
          <a:solidFill>
            <a:srgbClr val="FFFFFF"/>
          </a:solidFill>
          <a:ln w="12700">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1874519"/>
            <a:ext cx="54864" cy="178308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020824"/>
            <a:ext cx="4892040" cy="1554480"/>
          </a:xfrm>
          <a:prstGeom prst="rect">
            <a:avLst/>
          </a:prstGeom>
          <a:noFill/>
        </p:spPr>
        <p:txBody>
          <a:bodyPr wrap="square">
            <a:spAutoFit/>
          </a:bodyPr>
          <a:lstStyle/>
          <a:p>
            <a:pPr algn="l">
              <a:spcBef>
                <a:spcPts val="0"/>
              </a:spcBef>
              <a:spcAft>
                <a:spcPts val="400"/>
              </a:spcAft>
            </a:pPr>
            <a:r>
              <a:rPr sz="1550" b="1" i="0">
                <a:solidFill>
                  <a:srgbClr val="16222F"/>
                </a:solidFill>
                <a:latin typeface="Calibri"/>
              </a:rPr>
              <a:t>Labelling</a:t>
            </a:r>
          </a:p>
          <a:p>
            <a:pPr algn="l">
              <a:spcBef>
                <a:spcPts val="0"/>
              </a:spcBef>
              <a:spcAft>
                <a:spcPts val="0"/>
              </a:spcAft>
            </a:pPr>
            <a:r>
              <a:rPr sz="1250" b="0" i="0">
                <a:solidFill>
                  <a:srgbClr val="5A6B7B"/>
                </a:solidFill>
                <a:latin typeface="Calibri"/>
              </a:rPr>
              <a:t>'Active' = potent (pChEMBL ≥ 6, ~1 µM); 'inactive' = weak (&lt; 5). The ambiguous middle is dropped to cut noise.</a:t>
            </a:r>
          </a:p>
        </p:txBody>
      </p:sp>
      <p:sp>
        <p:nvSpPr>
          <p:cNvPr id="8" name="Rounded Rectangle 7"/>
          <p:cNvSpPr/>
          <p:nvPr/>
        </p:nvSpPr>
        <p:spPr>
          <a:xfrm>
            <a:off x="6263640" y="1874519"/>
            <a:ext cx="5257800" cy="1783080"/>
          </a:xfrm>
          <a:prstGeom prst="roundRect">
            <a:avLst>
              <a:gd name="adj" fmla="val 8000"/>
            </a:avLst>
          </a:prstGeom>
          <a:solidFill>
            <a:srgbClr val="FFFFFF"/>
          </a:solidFill>
          <a:ln w="12700">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63640" y="1874519"/>
            <a:ext cx="54864" cy="1783080"/>
          </a:xfrm>
          <a:prstGeom prst="rect">
            <a:avLst/>
          </a:prstGeom>
          <a:solidFill>
            <a:srgbClr val="E6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2020824"/>
            <a:ext cx="4892040" cy="1554480"/>
          </a:xfrm>
          <a:prstGeom prst="rect">
            <a:avLst/>
          </a:prstGeom>
          <a:noFill/>
        </p:spPr>
        <p:txBody>
          <a:bodyPr wrap="square">
            <a:spAutoFit/>
          </a:bodyPr>
          <a:lstStyle/>
          <a:p>
            <a:pPr algn="l">
              <a:spcBef>
                <a:spcPts val="0"/>
              </a:spcBef>
              <a:spcAft>
                <a:spcPts val="400"/>
              </a:spcAft>
            </a:pPr>
            <a:r>
              <a:rPr sz="1550" b="1" i="0">
                <a:solidFill>
                  <a:srgbClr val="16222F"/>
                </a:solidFill>
                <a:latin typeface="Calibri"/>
              </a:rPr>
              <a:t>Deployment gate</a:t>
            </a:r>
          </a:p>
          <a:p>
            <a:pPr algn="l">
              <a:spcBef>
                <a:spcPts val="0"/>
              </a:spcBef>
              <a:spcAft>
                <a:spcPts val="0"/>
              </a:spcAft>
            </a:pPr>
            <a:r>
              <a:rPr sz="1250" b="0" i="0">
                <a:solidFill>
                  <a:srgbClr val="5A6B7B"/>
                </a:solidFill>
                <a:latin typeface="Calibri"/>
              </a:rPr>
              <a:t>A model ships only if it clears a fixed quality bar (MCC ≥ 0.45). Four targets failed as yes/no and were re-cast as ranking.</a:t>
            </a:r>
          </a:p>
        </p:txBody>
      </p:sp>
      <p:sp>
        <p:nvSpPr>
          <p:cNvPr id="11" name="Rounded Rectangle 10"/>
          <p:cNvSpPr/>
          <p:nvPr/>
        </p:nvSpPr>
        <p:spPr>
          <a:xfrm>
            <a:off x="822960" y="3840479"/>
            <a:ext cx="5257800" cy="1783080"/>
          </a:xfrm>
          <a:prstGeom prst="roundRect">
            <a:avLst>
              <a:gd name="adj" fmla="val 8000"/>
            </a:avLst>
          </a:prstGeom>
          <a:solidFill>
            <a:srgbClr val="FFFFFF"/>
          </a:solidFill>
          <a:ln w="12700">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22960" y="3840479"/>
            <a:ext cx="54864" cy="1783080"/>
          </a:xfrm>
          <a:prstGeom prst="rect">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3986783"/>
            <a:ext cx="4892040" cy="1554480"/>
          </a:xfrm>
          <a:prstGeom prst="rect">
            <a:avLst/>
          </a:prstGeom>
          <a:noFill/>
        </p:spPr>
        <p:txBody>
          <a:bodyPr wrap="square">
            <a:spAutoFit/>
          </a:bodyPr>
          <a:lstStyle/>
          <a:p>
            <a:pPr algn="l">
              <a:spcBef>
                <a:spcPts val="0"/>
              </a:spcBef>
              <a:spcAft>
                <a:spcPts val="400"/>
              </a:spcAft>
            </a:pPr>
            <a:r>
              <a:rPr sz="1550" b="1" i="0">
                <a:solidFill>
                  <a:srgbClr val="16222F"/>
                </a:solidFill>
                <a:latin typeface="Calibri"/>
              </a:rPr>
              <a:t>Calibration</a:t>
            </a:r>
          </a:p>
          <a:p>
            <a:pPr algn="l">
              <a:spcBef>
                <a:spcPts val="0"/>
              </a:spcBef>
              <a:spcAft>
                <a:spcPts val="0"/>
              </a:spcAft>
            </a:pPr>
            <a:r>
              <a:rPr sz="1250" b="0" i="0">
                <a:solidFill>
                  <a:srgbClr val="5A6B7B"/>
                </a:solidFill>
                <a:latin typeface="Calibri"/>
              </a:rPr>
              <a:t>Scores are adjusted (isotonic) so a '0.9' behaves like a real 90% — not just a ranking.</a:t>
            </a:r>
          </a:p>
        </p:txBody>
      </p:sp>
      <p:sp>
        <p:nvSpPr>
          <p:cNvPr id="14" name="Rounded Rectangle 13"/>
          <p:cNvSpPr/>
          <p:nvPr/>
        </p:nvSpPr>
        <p:spPr>
          <a:xfrm>
            <a:off x="6263640" y="3840479"/>
            <a:ext cx="5257800" cy="1783080"/>
          </a:xfrm>
          <a:prstGeom prst="roundRect">
            <a:avLst>
              <a:gd name="adj" fmla="val 8000"/>
            </a:avLst>
          </a:prstGeom>
          <a:solidFill>
            <a:srgbClr val="FFFFFF"/>
          </a:solidFill>
          <a:ln w="12700">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3840479"/>
            <a:ext cx="54864" cy="1783080"/>
          </a:xfrm>
          <a:prstGeom prst="rect">
            <a:avLst/>
          </a:prstGeom>
          <a:solidFill>
            <a:srgbClr val="D55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3986783"/>
            <a:ext cx="4892040" cy="1554480"/>
          </a:xfrm>
          <a:prstGeom prst="rect">
            <a:avLst/>
          </a:prstGeom>
          <a:noFill/>
        </p:spPr>
        <p:txBody>
          <a:bodyPr wrap="square">
            <a:spAutoFit/>
          </a:bodyPr>
          <a:lstStyle/>
          <a:p>
            <a:pPr algn="l">
              <a:spcBef>
                <a:spcPts val="0"/>
              </a:spcBef>
              <a:spcAft>
                <a:spcPts val="400"/>
              </a:spcAft>
            </a:pPr>
            <a:r>
              <a:rPr sz="1550" b="1" i="0">
                <a:solidFill>
                  <a:srgbClr val="16222F"/>
                </a:solidFill>
                <a:latin typeface="Calibri"/>
              </a:rPr>
              <a:t>Confidence + domain</a:t>
            </a:r>
          </a:p>
          <a:p>
            <a:pPr algn="l">
              <a:spcBef>
                <a:spcPts val="0"/>
              </a:spcBef>
              <a:spcAft>
                <a:spcPts val="0"/>
              </a:spcAft>
            </a:pPr>
            <a:r>
              <a:rPr sz="1250" b="0" i="0">
                <a:solidFill>
                  <a:srgbClr val="5A6B7B"/>
                </a:solidFill>
                <a:latin typeface="Calibri"/>
              </a:rPr>
              <a:t>Conformal sets give a ~90%-coverage confidence range; an 'applicability' flag warns when a molecule is unlike anything seen.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TextBox 1"/>
          <p:cNvSpPr txBox="1"/>
          <p:nvPr/>
        </p:nvSpPr>
        <p:spPr>
          <a:xfrm>
            <a:off x="732220" y="614600"/>
            <a:ext cx="10515600" cy="365760"/>
          </a:xfrm>
          <a:prstGeom prst="rect">
            <a:avLst/>
          </a:prstGeom>
          <a:noFill/>
        </p:spPr>
        <p:txBody>
          <a:bodyPr wrap="square">
            <a:spAutoFit/>
          </a:bodyPr>
          <a:lstStyle/>
          <a:p>
            <a:pPr algn="l">
              <a:spcBef>
                <a:spcPts val="0"/>
              </a:spcBef>
              <a:spcAft>
                <a:spcPts val="0"/>
              </a:spcAft>
            </a:pPr>
            <a:r>
              <a:rPr sz="1200" b="1" i="0">
                <a:solidFill>
                  <a:srgbClr val="56B4E9"/>
                </a:solidFill>
                <a:latin typeface="Consolas"/>
              </a:rPr>
              <a:t>07 · HOW WE TESTED IT</a:t>
            </a:r>
          </a:p>
        </p:txBody>
      </p:sp>
      <p:sp>
        <p:nvSpPr>
          <p:cNvPr id="3" name="Rectangle 2"/>
          <p:cNvSpPr/>
          <p:nvPr/>
        </p:nvSpPr>
        <p:spPr>
          <a:xfrm>
            <a:off x="822960" y="566928"/>
            <a:ext cx="457200" cy="41148"/>
          </a:xfrm>
          <a:prstGeom prst="rect">
            <a:avLst/>
          </a:prstGeom>
          <a:solidFill>
            <a:srgbClr val="56B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868680"/>
            <a:ext cx="10515600" cy="1188720"/>
          </a:xfrm>
          <a:prstGeom prst="rect">
            <a:avLst/>
          </a:prstGeom>
          <a:noFill/>
        </p:spPr>
        <p:txBody>
          <a:bodyPr wrap="square">
            <a:spAutoFit/>
          </a:bodyPr>
          <a:lstStyle/>
          <a:p>
            <a:pPr algn="l">
              <a:spcBef>
                <a:spcPts val="0"/>
              </a:spcBef>
              <a:spcAft>
                <a:spcPts val="0"/>
              </a:spcAft>
            </a:pPr>
            <a:r>
              <a:rPr sz="3300" b="1" i="0">
                <a:solidFill>
                  <a:srgbClr val="FFFFFF"/>
                </a:solidFill>
                <a:latin typeface="Georgia"/>
              </a:rPr>
              <a:t>Four exams, each harder and more realistic</a:t>
            </a:r>
          </a:p>
        </p:txBody>
      </p:sp>
      <p:sp>
        <p:nvSpPr>
          <p:cNvPr id="5" name="Rounded Rectangle 4"/>
          <p:cNvSpPr/>
          <p:nvPr/>
        </p:nvSpPr>
        <p:spPr>
          <a:xfrm>
            <a:off x="822960" y="2011680"/>
            <a:ext cx="2606040" cy="2743200"/>
          </a:xfrm>
          <a:prstGeom prst="roundRect">
            <a:avLst>
              <a:gd name="adj" fmla="val 8000"/>
            </a:avLst>
          </a:prstGeom>
          <a:solidFill>
            <a:srgbClr val="13273C"/>
          </a:solidFill>
          <a:ln w="12700">
            <a:solidFill>
              <a:srgbClr val="254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4128" y="2194560"/>
            <a:ext cx="2240280" cy="997709"/>
          </a:xfrm>
          <a:prstGeom prst="rect">
            <a:avLst/>
          </a:prstGeom>
          <a:noFill/>
        </p:spPr>
        <p:txBody>
          <a:bodyPr wrap="square">
            <a:spAutoFit/>
          </a:bodyPr>
          <a:lstStyle/>
          <a:p>
            <a:pPr algn="l">
              <a:spcBef>
                <a:spcPts val="0"/>
              </a:spcBef>
              <a:spcAft>
                <a:spcPts val="400"/>
              </a:spcAft>
            </a:pPr>
            <a:r>
              <a:rPr sz="1100" b="1" i="0" dirty="0">
                <a:solidFill>
                  <a:srgbClr val="56B4E9"/>
                </a:solidFill>
                <a:latin typeface="Consolas"/>
              </a:rPr>
              <a:t>Exam 1</a:t>
            </a:r>
          </a:p>
          <a:p>
            <a:pPr algn="l">
              <a:spcBef>
                <a:spcPts val="0"/>
              </a:spcBef>
              <a:spcAft>
                <a:spcPts val="600"/>
              </a:spcAft>
            </a:pPr>
            <a:r>
              <a:rPr sz="1550" b="1" i="0" dirty="0">
                <a:solidFill>
                  <a:srgbClr val="FFFFFF"/>
                </a:solidFill>
                <a:latin typeface="Calibri"/>
              </a:rPr>
              <a:t>Random</a:t>
            </a:r>
          </a:p>
          <a:p>
            <a:pPr algn="l">
              <a:spcBef>
                <a:spcPts val="0"/>
              </a:spcBef>
              <a:spcAft>
                <a:spcPts val="0"/>
              </a:spcAft>
            </a:pPr>
            <a:r>
              <a:rPr sz="1200" b="0" i="0" dirty="0">
                <a:solidFill>
                  <a:srgbClr val="EAF1F7"/>
                </a:solidFill>
                <a:latin typeface="Calibri"/>
              </a:rPr>
              <a:t>Familiar questions </a:t>
            </a:r>
            <a:r>
              <a:rPr lang="en-US" sz="1200" b="0" i="0" dirty="0">
                <a:solidFill>
                  <a:srgbClr val="EAF1F7"/>
                </a:solidFill>
                <a:latin typeface="Calibri"/>
              </a:rPr>
              <a:t>-</a:t>
            </a:r>
            <a:r>
              <a:rPr sz="1200" b="0" i="0" dirty="0">
                <a:solidFill>
                  <a:srgbClr val="EAF1F7"/>
                </a:solidFill>
                <a:latin typeface="Calibri"/>
              </a:rPr>
              <a:t> the easy exam most papers report.</a:t>
            </a:r>
          </a:p>
        </p:txBody>
      </p:sp>
      <p:sp>
        <p:nvSpPr>
          <p:cNvPr id="7" name="TextBox 6"/>
          <p:cNvSpPr txBox="1"/>
          <p:nvPr/>
        </p:nvSpPr>
        <p:spPr>
          <a:xfrm>
            <a:off x="3310128" y="3063240"/>
            <a:ext cx="320040" cy="457200"/>
          </a:xfrm>
          <a:prstGeom prst="rect">
            <a:avLst/>
          </a:prstGeom>
          <a:noFill/>
        </p:spPr>
        <p:txBody>
          <a:bodyPr wrap="square">
            <a:spAutoFit/>
          </a:bodyPr>
          <a:lstStyle/>
          <a:p>
            <a:pPr algn="l">
              <a:spcBef>
                <a:spcPts val="0"/>
              </a:spcBef>
              <a:spcAft>
                <a:spcPts val="600"/>
              </a:spcAft>
            </a:pPr>
            <a:r>
              <a:rPr sz="2200" b="1" i="0">
                <a:solidFill>
                  <a:srgbClr val="56B4E9"/>
                </a:solidFill>
                <a:latin typeface="Calibri"/>
              </a:rPr>
              <a:t>›</a:t>
            </a:r>
          </a:p>
        </p:txBody>
      </p:sp>
      <p:sp>
        <p:nvSpPr>
          <p:cNvPr id="8" name="Rounded Rectangle 7"/>
          <p:cNvSpPr/>
          <p:nvPr/>
        </p:nvSpPr>
        <p:spPr>
          <a:xfrm>
            <a:off x="3584448" y="2011680"/>
            <a:ext cx="2606040" cy="2743200"/>
          </a:xfrm>
          <a:prstGeom prst="roundRect">
            <a:avLst>
              <a:gd name="adj" fmla="val 8000"/>
            </a:avLst>
          </a:prstGeom>
          <a:solidFill>
            <a:srgbClr val="13273C"/>
          </a:solidFill>
          <a:ln w="12700">
            <a:solidFill>
              <a:srgbClr val="254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85615" y="2194560"/>
            <a:ext cx="2240280" cy="2468880"/>
          </a:xfrm>
          <a:prstGeom prst="rect">
            <a:avLst/>
          </a:prstGeom>
          <a:noFill/>
        </p:spPr>
        <p:txBody>
          <a:bodyPr wrap="square">
            <a:spAutoFit/>
          </a:bodyPr>
          <a:lstStyle/>
          <a:p>
            <a:pPr algn="l">
              <a:spcBef>
                <a:spcPts val="0"/>
              </a:spcBef>
              <a:spcAft>
                <a:spcPts val="400"/>
              </a:spcAft>
            </a:pPr>
            <a:r>
              <a:rPr sz="1100" b="1" i="0">
                <a:solidFill>
                  <a:srgbClr val="0072B2"/>
                </a:solidFill>
                <a:latin typeface="Consolas"/>
              </a:rPr>
              <a:t>Exam 2</a:t>
            </a:r>
          </a:p>
          <a:p>
            <a:pPr algn="l">
              <a:spcBef>
                <a:spcPts val="0"/>
              </a:spcBef>
              <a:spcAft>
                <a:spcPts val="600"/>
              </a:spcAft>
            </a:pPr>
            <a:r>
              <a:rPr sz="1550" b="1" i="0">
                <a:solidFill>
                  <a:srgbClr val="FFFFFF"/>
                </a:solidFill>
                <a:latin typeface="Calibri"/>
              </a:rPr>
              <a:t>Scaffold</a:t>
            </a:r>
          </a:p>
          <a:p>
            <a:pPr algn="l">
              <a:spcBef>
                <a:spcPts val="0"/>
              </a:spcBef>
              <a:spcAft>
                <a:spcPts val="0"/>
              </a:spcAft>
            </a:pPr>
            <a:r>
              <a:rPr sz="1200" b="0" i="0">
                <a:solidFill>
                  <a:srgbClr val="EAF1F7"/>
                </a:solidFill>
                <a:latin typeface="Calibri"/>
              </a:rPr>
              <a:t>New molecular skeletons at test time.</a:t>
            </a:r>
          </a:p>
        </p:txBody>
      </p:sp>
      <p:sp>
        <p:nvSpPr>
          <p:cNvPr id="10" name="TextBox 9"/>
          <p:cNvSpPr txBox="1"/>
          <p:nvPr/>
        </p:nvSpPr>
        <p:spPr>
          <a:xfrm>
            <a:off x="6071616" y="3063240"/>
            <a:ext cx="320040" cy="457200"/>
          </a:xfrm>
          <a:prstGeom prst="rect">
            <a:avLst/>
          </a:prstGeom>
          <a:noFill/>
        </p:spPr>
        <p:txBody>
          <a:bodyPr wrap="square">
            <a:spAutoFit/>
          </a:bodyPr>
          <a:lstStyle/>
          <a:p>
            <a:pPr algn="l">
              <a:spcBef>
                <a:spcPts val="0"/>
              </a:spcBef>
              <a:spcAft>
                <a:spcPts val="600"/>
              </a:spcAft>
            </a:pPr>
            <a:r>
              <a:rPr sz="2200" b="1" i="0">
                <a:solidFill>
                  <a:srgbClr val="56B4E9"/>
                </a:solidFill>
                <a:latin typeface="Calibri"/>
              </a:rPr>
              <a:t>›</a:t>
            </a:r>
          </a:p>
        </p:txBody>
      </p:sp>
      <p:sp>
        <p:nvSpPr>
          <p:cNvPr id="11" name="Rounded Rectangle 10"/>
          <p:cNvSpPr/>
          <p:nvPr/>
        </p:nvSpPr>
        <p:spPr>
          <a:xfrm>
            <a:off x="6345936" y="2011680"/>
            <a:ext cx="2606040" cy="2743200"/>
          </a:xfrm>
          <a:prstGeom prst="roundRect">
            <a:avLst>
              <a:gd name="adj" fmla="val 8000"/>
            </a:avLst>
          </a:prstGeom>
          <a:solidFill>
            <a:srgbClr val="13273C"/>
          </a:solidFill>
          <a:ln w="12700">
            <a:solidFill>
              <a:srgbClr val="254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47103" y="2194560"/>
            <a:ext cx="2240280" cy="2468880"/>
          </a:xfrm>
          <a:prstGeom prst="rect">
            <a:avLst/>
          </a:prstGeom>
          <a:noFill/>
        </p:spPr>
        <p:txBody>
          <a:bodyPr wrap="square">
            <a:spAutoFit/>
          </a:bodyPr>
          <a:lstStyle/>
          <a:p>
            <a:pPr algn="l">
              <a:spcBef>
                <a:spcPts val="0"/>
              </a:spcBef>
              <a:spcAft>
                <a:spcPts val="400"/>
              </a:spcAft>
            </a:pPr>
            <a:r>
              <a:rPr sz="1100" b="1" i="0">
                <a:solidFill>
                  <a:srgbClr val="009E73"/>
                </a:solidFill>
                <a:latin typeface="Consolas"/>
              </a:rPr>
              <a:t>Exam 3</a:t>
            </a:r>
          </a:p>
          <a:p>
            <a:pPr algn="l">
              <a:spcBef>
                <a:spcPts val="0"/>
              </a:spcBef>
              <a:spcAft>
                <a:spcPts val="600"/>
              </a:spcAft>
            </a:pPr>
            <a:r>
              <a:rPr sz="1550" b="1" i="0">
                <a:solidFill>
                  <a:srgbClr val="FFFFFF"/>
                </a:solidFill>
                <a:latin typeface="Calibri"/>
              </a:rPr>
              <a:t>Leave-cluster-out</a:t>
            </a:r>
          </a:p>
          <a:p>
            <a:pPr algn="l">
              <a:spcBef>
                <a:spcPts val="0"/>
              </a:spcBef>
              <a:spcAft>
                <a:spcPts val="0"/>
              </a:spcAft>
            </a:pPr>
            <a:r>
              <a:rPr sz="1200" b="0" i="0">
                <a:solidFill>
                  <a:srgbClr val="EAF1F7"/>
                </a:solidFill>
                <a:latin typeface="Calibri"/>
              </a:rPr>
              <a:t>Whole new chemical families held back.</a:t>
            </a:r>
          </a:p>
        </p:txBody>
      </p:sp>
      <p:sp>
        <p:nvSpPr>
          <p:cNvPr id="13" name="TextBox 12"/>
          <p:cNvSpPr txBox="1"/>
          <p:nvPr/>
        </p:nvSpPr>
        <p:spPr>
          <a:xfrm>
            <a:off x="8833104" y="3063240"/>
            <a:ext cx="320040" cy="457200"/>
          </a:xfrm>
          <a:prstGeom prst="rect">
            <a:avLst/>
          </a:prstGeom>
          <a:noFill/>
        </p:spPr>
        <p:txBody>
          <a:bodyPr wrap="square">
            <a:spAutoFit/>
          </a:bodyPr>
          <a:lstStyle/>
          <a:p>
            <a:pPr algn="l">
              <a:spcBef>
                <a:spcPts val="0"/>
              </a:spcBef>
              <a:spcAft>
                <a:spcPts val="600"/>
              </a:spcAft>
            </a:pPr>
            <a:r>
              <a:rPr sz="2200" b="1" i="0">
                <a:solidFill>
                  <a:srgbClr val="56B4E9"/>
                </a:solidFill>
                <a:latin typeface="Calibri"/>
              </a:rPr>
              <a:t>›</a:t>
            </a:r>
          </a:p>
        </p:txBody>
      </p:sp>
      <p:sp>
        <p:nvSpPr>
          <p:cNvPr id="14" name="Rounded Rectangle 13"/>
          <p:cNvSpPr/>
          <p:nvPr/>
        </p:nvSpPr>
        <p:spPr>
          <a:xfrm>
            <a:off x="9107424" y="2011680"/>
            <a:ext cx="2606040" cy="2743200"/>
          </a:xfrm>
          <a:prstGeom prst="roundRect">
            <a:avLst>
              <a:gd name="adj" fmla="val 8000"/>
            </a:avLst>
          </a:prstGeom>
          <a:solidFill>
            <a:srgbClr val="13273C"/>
          </a:solidFill>
          <a:ln w="12700">
            <a:solidFill>
              <a:srgbClr val="254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08592" y="2194560"/>
            <a:ext cx="2240280" cy="1182375"/>
          </a:xfrm>
          <a:prstGeom prst="rect">
            <a:avLst/>
          </a:prstGeom>
          <a:noFill/>
        </p:spPr>
        <p:txBody>
          <a:bodyPr wrap="square">
            <a:spAutoFit/>
          </a:bodyPr>
          <a:lstStyle/>
          <a:p>
            <a:pPr algn="l">
              <a:spcBef>
                <a:spcPts val="0"/>
              </a:spcBef>
              <a:spcAft>
                <a:spcPts val="400"/>
              </a:spcAft>
            </a:pPr>
            <a:r>
              <a:rPr sz="1100" b="1" i="0" dirty="0">
                <a:solidFill>
                  <a:srgbClr val="E69000"/>
                </a:solidFill>
                <a:latin typeface="Consolas"/>
              </a:rPr>
              <a:t>Exam 4</a:t>
            </a:r>
          </a:p>
          <a:p>
            <a:pPr algn="l">
              <a:spcBef>
                <a:spcPts val="0"/>
              </a:spcBef>
              <a:spcAft>
                <a:spcPts val="600"/>
              </a:spcAft>
            </a:pPr>
            <a:r>
              <a:rPr sz="1550" b="1" i="0" dirty="0">
                <a:solidFill>
                  <a:srgbClr val="FFFFFF"/>
                </a:solidFill>
                <a:latin typeface="Calibri"/>
              </a:rPr>
              <a:t>Temporal</a:t>
            </a:r>
          </a:p>
          <a:p>
            <a:pPr algn="l">
              <a:spcBef>
                <a:spcPts val="0"/>
              </a:spcBef>
              <a:spcAft>
                <a:spcPts val="0"/>
              </a:spcAft>
            </a:pPr>
            <a:r>
              <a:rPr sz="1200" b="0" i="0" dirty="0">
                <a:solidFill>
                  <a:srgbClr val="EAF1F7"/>
                </a:solidFill>
                <a:latin typeface="Calibri"/>
              </a:rPr>
              <a:t>Trained on older compounds, tested on the newest </a:t>
            </a:r>
            <a:r>
              <a:rPr lang="en-US" sz="1200" b="0" i="0" dirty="0">
                <a:solidFill>
                  <a:srgbClr val="EAF1F7"/>
                </a:solidFill>
                <a:latin typeface="Calibri"/>
              </a:rPr>
              <a:t>-</a:t>
            </a:r>
            <a:r>
              <a:rPr sz="1200" b="0" i="0" dirty="0">
                <a:solidFill>
                  <a:srgbClr val="EAF1F7"/>
                </a:solidFill>
                <a:latin typeface="Calibri"/>
              </a:rPr>
              <a:t> a true 'future' exam.</a:t>
            </a:r>
          </a:p>
        </p:txBody>
      </p:sp>
      <p:sp>
        <p:nvSpPr>
          <p:cNvPr id="16" name="TextBox 15"/>
          <p:cNvSpPr txBox="1"/>
          <p:nvPr/>
        </p:nvSpPr>
        <p:spPr>
          <a:xfrm>
            <a:off x="822960" y="5120640"/>
            <a:ext cx="10515600" cy="1097280"/>
          </a:xfrm>
          <a:prstGeom prst="rect">
            <a:avLst/>
          </a:prstGeom>
          <a:noFill/>
        </p:spPr>
        <p:txBody>
          <a:bodyPr wrap="square">
            <a:spAutoFit/>
          </a:bodyPr>
          <a:lstStyle/>
          <a:p>
            <a:pPr algn="l">
              <a:spcBef>
                <a:spcPts val="0"/>
              </a:spcBef>
              <a:spcAft>
                <a:spcPts val="600"/>
              </a:spcAft>
            </a:pPr>
            <a:r>
              <a:rPr sz="1500" b="0" i="0">
                <a:solidFill>
                  <a:srgbClr val="EAF1F7"/>
                </a:solidFill>
                <a:latin typeface="Calibri"/>
              </a:rPr>
              <a:t>Reporting all four is a deliberate honesty choice: it shows exactly where the tool is strong and where it is not. Most published models report only the easy 'random' exam.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25239" y="663461"/>
            <a:ext cx="10515600" cy="365760"/>
          </a:xfrm>
          <a:prstGeom prst="rect">
            <a:avLst/>
          </a:prstGeom>
          <a:noFill/>
        </p:spPr>
        <p:txBody>
          <a:bodyPr wrap="square">
            <a:spAutoFit/>
          </a:bodyPr>
          <a:lstStyle/>
          <a:p>
            <a:pPr algn="l">
              <a:spcBef>
                <a:spcPts val="0"/>
              </a:spcBef>
              <a:spcAft>
                <a:spcPts val="0"/>
              </a:spcAft>
            </a:pPr>
            <a:r>
              <a:rPr sz="1200" b="1" i="0">
                <a:solidFill>
                  <a:srgbClr val="0072B2"/>
                </a:solidFill>
                <a:latin typeface="Consolas"/>
              </a:rPr>
              <a:t>08 · RESULTS — THE YES/NO MODELS</a:t>
            </a:r>
          </a:p>
        </p:txBody>
      </p:sp>
      <p:sp>
        <p:nvSpPr>
          <p:cNvPr id="3" name="Rectangle 2"/>
          <p:cNvSpPr/>
          <p:nvPr/>
        </p:nvSpPr>
        <p:spPr>
          <a:xfrm>
            <a:off x="822960" y="566928"/>
            <a:ext cx="457200" cy="4114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868680"/>
            <a:ext cx="10515600" cy="1188720"/>
          </a:xfrm>
          <a:prstGeom prst="rect">
            <a:avLst/>
          </a:prstGeom>
          <a:noFill/>
        </p:spPr>
        <p:txBody>
          <a:bodyPr wrap="square">
            <a:spAutoFit/>
          </a:bodyPr>
          <a:lstStyle/>
          <a:p>
            <a:pPr algn="l">
              <a:spcBef>
                <a:spcPts val="0"/>
              </a:spcBef>
              <a:spcAft>
                <a:spcPts val="0"/>
              </a:spcAft>
            </a:pPr>
            <a:r>
              <a:rPr sz="3300" b="1" i="0">
                <a:solidFill>
                  <a:srgbClr val="16222F"/>
                </a:solidFill>
                <a:latin typeface="Georgia"/>
              </a:rPr>
              <a:t>Strong on the easy exam, honest on the hard ones</a:t>
            </a:r>
          </a:p>
        </p:txBody>
      </p:sp>
      <p:graphicFrame>
        <p:nvGraphicFramePr>
          <p:cNvPr id="5" name="Table 4"/>
          <p:cNvGraphicFramePr>
            <a:graphicFrameLocks noGrp="1"/>
          </p:cNvGraphicFramePr>
          <p:nvPr/>
        </p:nvGraphicFramePr>
        <p:xfrm>
          <a:off x="822960" y="1828800"/>
          <a:ext cx="6400796" cy="3291840"/>
        </p:xfrm>
        <a:graphic>
          <a:graphicData uri="http://schemas.openxmlformats.org/drawingml/2006/table">
            <a:tbl>
              <a:tblPr>
                <a:tableStyleId>{5C22544A-7EE6-4342-B048-85BDC9FD1C3A}</a:tableStyleId>
              </a:tblPr>
              <a:tblGrid>
                <a:gridCol w="1745672">
                  <a:extLst>
                    <a:ext uri="{9D8B030D-6E8A-4147-A177-3AD203B41FA5}">
                      <a16:colId xmlns:a16="http://schemas.microsoft.com/office/drawing/2014/main" val="20000"/>
                    </a:ext>
                  </a:extLst>
                </a:gridCol>
                <a:gridCol w="1163781">
                  <a:extLst>
                    <a:ext uri="{9D8B030D-6E8A-4147-A177-3AD203B41FA5}">
                      <a16:colId xmlns:a16="http://schemas.microsoft.com/office/drawing/2014/main" val="20001"/>
                    </a:ext>
                  </a:extLst>
                </a:gridCol>
                <a:gridCol w="1163781">
                  <a:extLst>
                    <a:ext uri="{9D8B030D-6E8A-4147-A177-3AD203B41FA5}">
                      <a16:colId xmlns:a16="http://schemas.microsoft.com/office/drawing/2014/main" val="20002"/>
                    </a:ext>
                  </a:extLst>
                </a:gridCol>
                <a:gridCol w="1163781">
                  <a:extLst>
                    <a:ext uri="{9D8B030D-6E8A-4147-A177-3AD203B41FA5}">
                      <a16:colId xmlns:a16="http://schemas.microsoft.com/office/drawing/2014/main" val="20003"/>
                    </a:ext>
                  </a:extLst>
                </a:gridCol>
                <a:gridCol w="1163781">
                  <a:extLst>
                    <a:ext uri="{9D8B030D-6E8A-4147-A177-3AD203B41FA5}">
                      <a16:colId xmlns:a16="http://schemas.microsoft.com/office/drawing/2014/main" val="20004"/>
                    </a:ext>
                  </a:extLst>
                </a:gridCol>
              </a:tblGrid>
              <a:tr h="365760">
                <a:tc>
                  <a:txBody>
                    <a:bodyPr/>
                    <a:lstStyle/>
                    <a:p>
                      <a:pPr algn="l"/>
                      <a:r>
                        <a:rPr sz="1000" b="1">
                          <a:solidFill>
                            <a:srgbClr val="5A6B7B"/>
                          </a:solidFill>
                          <a:latin typeface="Consolas"/>
                        </a:rPr>
                        <a:t>Endpoint</a:t>
                      </a:r>
                    </a:p>
                  </a:txBody>
                  <a:tcPr marL="73152" marR="73152" marT="18288" marB="18288" anchor="ctr">
                    <a:solidFill>
                      <a:srgbClr val="EEF2F6"/>
                    </a:solidFill>
                  </a:tcPr>
                </a:tc>
                <a:tc>
                  <a:txBody>
                    <a:bodyPr/>
                    <a:lstStyle/>
                    <a:p>
                      <a:pPr algn="ctr"/>
                      <a:r>
                        <a:rPr sz="1000" b="1">
                          <a:solidFill>
                            <a:srgbClr val="5A6B7B"/>
                          </a:solidFill>
                          <a:latin typeface="Consolas"/>
                        </a:rPr>
                        <a:t>Random</a:t>
                      </a:r>
                    </a:p>
                  </a:txBody>
                  <a:tcPr marL="73152" marR="73152" marT="18288" marB="18288" anchor="ctr">
                    <a:solidFill>
                      <a:srgbClr val="EEF2F6"/>
                    </a:solidFill>
                  </a:tcPr>
                </a:tc>
                <a:tc>
                  <a:txBody>
                    <a:bodyPr/>
                    <a:lstStyle/>
                    <a:p>
                      <a:pPr algn="ctr"/>
                      <a:r>
                        <a:rPr sz="1000" b="1">
                          <a:solidFill>
                            <a:srgbClr val="5A6B7B"/>
                          </a:solidFill>
                          <a:latin typeface="Consolas"/>
                        </a:rPr>
                        <a:t>Scaffold</a:t>
                      </a:r>
                    </a:p>
                  </a:txBody>
                  <a:tcPr marL="73152" marR="73152" marT="18288" marB="18288" anchor="ctr">
                    <a:solidFill>
                      <a:srgbClr val="EEF2F6"/>
                    </a:solidFill>
                  </a:tcPr>
                </a:tc>
                <a:tc>
                  <a:txBody>
                    <a:bodyPr/>
                    <a:lstStyle/>
                    <a:p>
                      <a:pPr algn="ctr"/>
                      <a:r>
                        <a:rPr sz="1000" b="1">
                          <a:solidFill>
                            <a:srgbClr val="5A6B7B"/>
                          </a:solidFill>
                          <a:latin typeface="Consolas"/>
                        </a:rPr>
                        <a:t>Cluster</a:t>
                      </a:r>
                    </a:p>
                  </a:txBody>
                  <a:tcPr marL="73152" marR="73152" marT="18288" marB="18288" anchor="ctr">
                    <a:solidFill>
                      <a:srgbClr val="EEF2F6"/>
                    </a:solidFill>
                  </a:tcPr>
                </a:tc>
                <a:tc>
                  <a:txBody>
                    <a:bodyPr/>
                    <a:lstStyle/>
                    <a:p>
                      <a:pPr algn="ctr"/>
                      <a:r>
                        <a:rPr sz="1000" b="1">
                          <a:solidFill>
                            <a:srgbClr val="5A6B7B"/>
                          </a:solidFill>
                          <a:latin typeface="Consolas"/>
                        </a:rPr>
                        <a:t>Temporal</a:t>
                      </a:r>
                    </a:p>
                  </a:txBody>
                  <a:tcPr marL="73152" marR="73152" marT="18288" marB="18288" anchor="ctr">
                    <a:solidFill>
                      <a:srgbClr val="EEF2F6"/>
                    </a:solidFill>
                  </a:tcPr>
                </a:tc>
                <a:extLst>
                  <a:ext uri="{0D108BD9-81ED-4DB2-BD59-A6C34878D82A}">
                    <a16:rowId xmlns:a16="http://schemas.microsoft.com/office/drawing/2014/main" val="10000"/>
                  </a:ext>
                </a:extLst>
              </a:tr>
              <a:tr h="365760">
                <a:tc>
                  <a:txBody>
                    <a:bodyPr/>
                    <a:lstStyle/>
                    <a:p>
                      <a:pPr algn="l"/>
                      <a:r>
                        <a:rPr sz="1150" b="0">
                          <a:solidFill>
                            <a:srgbClr val="16222F"/>
                          </a:solidFill>
                          <a:latin typeface="Calibri"/>
                        </a:rPr>
                        <a:t>BBB</a:t>
                      </a:r>
                    </a:p>
                  </a:txBody>
                  <a:tcPr marL="73152" marR="73152" marT="18288" marB="18288" anchor="ctr">
                    <a:solidFill>
                      <a:srgbClr val="FFFFFF"/>
                    </a:solidFill>
                  </a:tcPr>
                </a:tc>
                <a:tc>
                  <a:txBody>
                    <a:bodyPr/>
                    <a:lstStyle/>
                    <a:p>
                      <a:pPr algn="ctr"/>
                      <a:r>
                        <a:rPr sz="1150" b="0">
                          <a:solidFill>
                            <a:srgbClr val="16222F"/>
                          </a:solidFill>
                          <a:latin typeface="Consolas"/>
                        </a:rPr>
                        <a:t>0.963</a:t>
                      </a:r>
                    </a:p>
                  </a:txBody>
                  <a:tcPr marL="73152" marR="73152" marT="18288" marB="18288" anchor="ctr">
                    <a:solidFill>
                      <a:srgbClr val="FFFFFF"/>
                    </a:solidFill>
                  </a:tcPr>
                </a:tc>
                <a:tc>
                  <a:txBody>
                    <a:bodyPr/>
                    <a:lstStyle/>
                    <a:p>
                      <a:pPr algn="ctr"/>
                      <a:r>
                        <a:rPr sz="1150" b="0">
                          <a:solidFill>
                            <a:srgbClr val="16222F"/>
                          </a:solidFill>
                          <a:latin typeface="Consolas"/>
                        </a:rPr>
                        <a:t>0.921</a:t>
                      </a:r>
                    </a:p>
                  </a:txBody>
                  <a:tcPr marL="73152" marR="73152" marT="18288" marB="18288" anchor="ctr">
                    <a:solidFill>
                      <a:srgbClr val="FFFFFF"/>
                    </a:solidFill>
                  </a:tcPr>
                </a:tc>
                <a:tc>
                  <a:txBody>
                    <a:bodyPr/>
                    <a:lstStyle/>
                    <a:p>
                      <a:pPr algn="ctr"/>
                      <a:r>
                        <a:rPr sz="1150" b="0">
                          <a:solidFill>
                            <a:srgbClr val="16222F"/>
                          </a:solidFill>
                          <a:latin typeface="Consolas"/>
                        </a:rPr>
                        <a:t>0.906</a:t>
                      </a:r>
                    </a:p>
                  </a:txBody>
                  <a:tcPr marL="73152" marR="73152" marT="18288" marB="18288" anchor="ctr">
                    <a:solidFill>
                      <a:srgbClr val="FFFFFF"/>
                    </a:solidFill>
                  </a:tcPr>
                </a:tc>
                <a:tc>
                  <a:txBody>
                    <a:bodyPr/>
                    <a:lstStyle/>
                    <a:p>
                      <a:pPr algn="ctr"/>
                      <a:r>
                        <a:rPr sz="1150" b="0">
                          <a:solidFill>
                            <a:srgbClr val="16222F"/>
                          </a:solidFill>
                          <a:latin typeface="Consolas"/>
                        </a:rPr>
                        <a:t>–</a:t>
                      </a:r>
                    </a:p>
                  </a:txBody>
                  <a:tcPr marL="73152" marR="73152" marT="18288" marB="18288" anchor="ctr">
                    <a:solidFill>
                      <a:srgbClr val="FFFFFF"/>
                    </a:solidFill>
                  </a:tcPr>
                </a:tc>
                <a:extLst>
                  <a:ext uri="{0D108BD9-81ED-4DB2-BD59-A6C34878D82A}">
                    <a16:rowId xmlns:a16="http://schemas.microsoft.com/office/drawing/2014/main" val="10001"/>
                  </a:ext>
                </a:extLst>
              </a:tr>
              <a:tr h="365760">
                <a:tc>
                  <a:txBody>
                    <a:bodyPr/>
                    <a:lstStyle/>
                    <a:p>
                      <a:pPr algn="l"/>
                      <a:r>
                        <a:rPr sz="1150" b="0">
                          <a:solidFill>
                            <a:srgbClr val="16222F"/>
                          </a:solidFill>
                          <a:latin typeface="Calibri"/>
                        </a:rPr>
                        <a:t>AChE</a:t>
                      </a:r>
                    </a:p>
                  </a:txBody>
                  <a:tcPr marL="73152" marR="73152" marT="18288" marB="18288" anchor="ctr">
                    <a:solidFill>
                      <a:srgbClr val="F4F6F9"/>
                    </a:solidFill>
                  </a:tcPr>
                </a:tc>
                <a:tc>
                  <a:txBody>
                    <a:bodyPr/>
                    <a:lstStyle/>
                    <a:p>
                      <a:pPr algn="ctr"/>
                      <a:r>
                        <a:rPr sz="1150" b="0">
                          <a:solidFill>
                            <a:srgbClr val="16222F"/>
                          </a:solidFill>
                          <a:latin typeface="Consolas"/>
                        </a:rPr>
                        <a:t>0.975</a:t>
                      </a:r>
                    </a:p>
                  </a:txBody>
                  <a:tcPr marL="73152" marR="73152" marT="18288" marB="18288" anchor="ctr">
                    <a:solidFill>
                      <a:srgbClr val="F4F6F9"/>
                    </a:solidFill>
                  </a:tcPr>
                </a:tc>
                <a:tc>
                  <a:txBody>
                    <a:bodyPr/>
                    <a:lstStyle/>
                    <a:p>
                      <a:pPr algn="ctr"/>
                      <a:r>
                        <a:rPr sz="1150" b="0">
                          <a:solidFill>
                            <a:srgbClr val="16222F"/>
                          </a:solidFill>
                          <a:latin typeface="Consolas"/>
                        </a:rPr>
                        <a:t>0.915</a:t>
                      </a:r>
                    </a:p>
                  </a:txBody>
                  <a:tcPr marL="73152" marR="73152" marT="18288" marB="18288" anchor="ctr">
                    <a:solidFill>
                      <a:srgbClr val="F4F6F9"/>
                    </a:solidFill>
                  </a:tcPr>
                </a:tc>
                <a:tc>
                  <a:txBody>
                    <a:bodyPr/>
                    <a:lstStyle/>
                    <a:p>
                      <a:pPr algn="ctr"/>
                      <a:r>
                        <a:rPr sz="1150" b="0">
                          <a:solidFill>
                            <a:srgbClr val="16222F"/>
                          </a:solidFill>
                          <a:latin typeface="Consolas"/>
                        </a:rPr>
                        <a:t>0.912</a:t>
                      </a:r>
                    </a:p>
                  </a:txBody>
                  <a:tcPr marL="73152" marR="73152" marT="18288" marB="18288" anchor="ctr">
                    <a:solidFill>
                      <a:srgbClr val="F4F6F9"/>
                    </a:solidFill>
                  </a:tcPr>
                </a:tc>
                <a:tc>
                  <a:txBody>
                    <a:bodyPr/>
                    <a:lstStyle/>
                    <a:p>
                      <a:pPr algn="ctr"/>
                      <a:r>
                        <a:rPr sz="1150" b="0">
                          <a:solidFill>
                            <a:srgbClr val="16222F"/>
                          </a:solidFill>
                          <a:latin typeface="Consolas"/>
                        </a:rPr>
                        <a:t>0.784</a:t>
                      </a:r>
                    </a:p>
                  </a:txBody>
                  <a:tcPr marL="73152" marR="73152" marT="18288" marB="18288" anchor="ctr">
                    <a:solidFill>
                      <a:srgbClr val="F4F6F9"/>
                    </a:solidFill>
                  </a:tcPr>
                </a:tc>
                <a:extLst>
                  <a:ext uri="{0D108BD9-81ED-4DB2-BD59-A6C34878D82A}">
                    <a16:rowId xmlns:a16="http://schemas.microsoft.com/office/drawing/2014/main" val="10002"/>
                  </a:ext>
                </a:extLst>
              </a:tr>
              <a:tr h="365760">
                <a:tc>
                  <a:txBody>
                    <a:bodyPr/>
                    <a:lstStyle/>
                    <a:p>
                      <a:pPr algn="l"/>
                      <a:r>
                        <a:rPr sz="1150" b="0">
                          <a:solidFill>
                            <a:srgbClr val="16222F"/>
                          </a:solidFill>
                          <a:latin typeface="Calibri"/>
                        </a:rPr>
                        <a:t>BChE</a:t>
                      </a:r>
                    </a:p>
                  </a:txBody>
                  <a:tcPr marL="73152" marR="73152" marT="18288" marB="18288" anchor="ctr">
                    <a:solidFill>
                      <a:srgbClr val="FFFFFF"/>
                    </a:solidFill>
                  </a:tcPr>
                </a:tc>
                <a:tc>
                  <a:txBody>
                    <a:bodyPr/>
                    <a:lstStyle/>
                    <a:p>
                      <a:pPr algn="ctr"/>
                      <a:r>
                        <a:rPr sz="1150" b="0">
                          <a:solidFill>
                            <a:srgbClr val="16222F"/>
                          </a:solidFill>
                          <a:latin typeface="Consolas"/>
                        </a:rPr>
                        <a:t>0.976</a:t>
                      </a:r>
                    </a:p>
                  </a:txBody>
                  <a:tcPr marL="73152" marR="73152" marT="18288" marB="18288" anchor="ctr">
                    <a:solidFill>
                      <a:srgbClr val="FFFFFF"/>
                    </a:solidFill>
                  </a:tcPr>
                </a:tc>
                <a:tc>
                  <a:txBody>
                    <a:bodyPr/>
                    <a:lstStyle/>
                    <a:p>
                      <a:pPr algn="ctr"/>
                      <a:r>
                        <a:rPr sz="1150" b="0">
                          <a:solidFill>
                            <a:srgbClr val="16222F"/>
                          </a:solidFill>
                          <a:latin typeface="Consolas"/>
                        </a:rPr>
                        <a:t>0.937</a:t>
                      </a:r>
                    </a:p>
                  </a:txBody>
                  <a:tcPr marL="73152" marR="73152" marT="18288" marB="18288" anchor="ctr">
                    <a:solidFill>
                      <a:srgbClr val="FFFFFF"/>
                    </a:solidFill>
                  </a:tcPr>
                </a:tc>
                <a:tc>
                  <a:txBody>
                    <a:bodyPr/>
                    <a:lstStyle/>
                    <a:p>
                      <a:pPr algn="ctr"/>
                      <a:r>
                        <a:rPr sz="1150" b="0">
                          <a:solidFill>
                            <a:srgbClr val="16222F"/>
                          </a:solidFill>
                          <a:latin typeface="Consolas"/>
                        </a:rPr>
                        <a:t>0.921</a:t>
                      </a:r>
                    </a:p>
                  </a:txBody>
                  <a:tcPr marL="73152" marR="73152" marT="18288" marB="18288" anchor="ctr">
                    <a:solidFill>
                      <a:srgbClr val="FFFFFF"/>
                    </a:solidFill>
                  </a:tcPr>
                </a:tc>
                <a:tc>
                  <a:txBody>
                    <a:bodyPr/>
                    <a:lstStyle/>
                    <a:p>
                      <a:pPr algn="ctr"/>
                      <a:r>
                        <a:rPr sz="1150" b="0">
                          <a:solidFill>
                            <a:srgbClr val="16222F"/>
                          </a:solidFill>
                          <a:latin typeface="Consolas"/>
                        </a:rPr>
                        <a:t>0.794</a:t>
                      </a:r>
                    </a:p>
                  </a:txBody>
                  <a:tcPr marL="73152" marR="73152" marT="18288" marB="18288" anchor="ctr">
                    <a:solidFill>
                      <a:srgbClr val="FFFFFF"/>
                    </a:solidFill>
                  </a:tcPr>
                </a:tc>
                <a:extLst>
                  <a:ext uri="{0D108BD9-81ED-4DB2-BD59-A6C34878D82A}">
                    <a16:rowId xmlns:a16="http://schemas.microsoft.com/office/drawing/2014/main" val="10003"/>
                  </a:ext>
                </a:extLst>
              </a:tr>
              <a:tr h="365760">
                <a:tc>
                  <a:txBody>
                    <a:bodyPr/>
                    <a:lstStyle/>
                    <a:p>
                      <a:pPr algn="l"/>
                      <a:r>
                        <a:rPr sz="1150" b="0">
                          <a:solidFill>
                            <a:srgbClr val="16222F"/>
                          </a:solidFill>
                          <a:latin typeface="Calibri"/>
                        </a:rPr>
                        <a:t>BACE1</a:t>
                      </a:r>
                    </a:p>
                  </a:txBody>
                  <a:tcPr marL="73152" marR="73152" marT="18288" marB="18288" anchor="ctr">
                    <a:solidFill>
                      <a:srgbClr val="F4F6F9"/>
                    </a:solidFill>
                  </a:tcPr>
                </a:tc>
                <a:tc>
                  <a:txBody>
                    <a:bodyPr/>
                    <a:lstStyle/>
                    <a:p>
                      <a:pPr algn="ctr"/>
                      <a:r>
                        <a:rPr sz="1150" b="0">
                          <a:solidFill>
                            <a:srgbClr val="16222F"/>
                          </a:solidFill>
                          <a:latin typeface="Consolas"/>
                        </a:rPr>
                        <a:t>0.956</a:t>
                      </a:r>
                    </a:p>
                  </a:txBody>
                  <a:tcPr marL="73152" marR="73152" marT="18288" marB="18288" anchor="ctr">
                    <a:solidFill>
                      <a:srgbClr val="F4F6F9"/>
                    </a:solidFill>
                  </a:tcPr>
                </a:tc>
                <a:tc>
                  <a:txBody>
                    <a:bodyPr/>
                    <a:lstStyle/>
                    <a:p>
                      <a:pPr algn="ctr"/>
                      <a:r>
                        <a:rPr sz="1150" b="0">
                          <a:solidFill>
                            <a:srgbClr val="16222F"/>
                          </a:solidFill>
                          <a:latin typeface="Consolas"/>
                        </a:rPr>
                        <a:t>0.950</a:t>
                      </a:r>
                    </a:p>
                  </a:txBody>
                  <a:tcPr marL="73152" marR="73152" marT="18288" marB="18288" anchor="ctr">
                    <a:solidFill>
                      <a:srgbClr val="F4F6F9"/>
                    </a:solidFill>
                  </a:tcPr>
                </a:tc>
                <a:tc>
                  <a:txBody>
                    <a:bodyPr/>
                    <a:lstStyle/>
                    <a:p>
                      <a:pPr algn="ctr"/>
                      <a:r>
                        <a:rPr sz="1150" b="0">
                          <a:solidFill>
                            <a:srgbClr val="16222F"/>
                          </a:solidFill>
                          <a:latin typeface="Consolas"/>
                        </a:rPr>
                        <a:t>0.940</a:t>
                      </a:r>
                    </a:p>
                  </a:txBody>
                  <a:tcPr marL="73152" marR="73152" marT="18288" marB="18288" anchor="ctr">
                    <a:solidFill>
                      <a:srgbClr val="F4F6F9"/>
                    </a:solidFill>
                  </a:tcPr>
                </a:tc>
                <a:tc>
                  <a:txBody>
                    <a:bodyPr/>
                    <a:lstStyle/>
                    <a:p>
                      <a:pPr algn="ctr"/>
                      <a:r>
                        <a:rPr sz="1150" b="1">
                          <a:solidFill>
                            <a:srgbClr val="009E73"/>
                          </a:solidFill>
                          <a:latin typeface="Consolas"/>
                        </a:rPr>
                        <a:t>0.915</a:t>
                      </a:r>
                    </a:p>
                  </a:txBody>
                  <a:tcPr marL="73152" marR="73152" marT="18288" marB="18288" anchor="ctr">
                    <a:solidFill>
                      <a:srgbClr val="F4F6F9"/>
                    </a:solidFill>
                  </a:tcPr>
                </a:tc>
                <a:extLst>
                  <a:ext uri="{0D108BD9-81ED-4DB2-BD59-A6C34878D82A}">
                    <a16:rowId xmlns:a16="http://schemas.microsoft.com/office/drawing/2014/main" val="10004"/>
                  </a:ext>
                </a:extLst>
              </a:tr>
              <a:tr h="365760">
                <a:tc>
                  <a:txBody>
                    <a:bodyPr/>
                    <a:lstStyle/>
                    <a:p>
                      <a:pPr algn="l"/>
                      <a:r>
                        <a:rPr sz="1150" b="0">
                          <a:solidFill>
                            <a:srgbClr val="16222F"/>
                          </a:solidFill>
                          <a:latin typeface="Calibri"/>
                        </a:rPr>
                        <a:t>GSK-3β</a:t>
                      </a:r>
                    </a:p>
                  </a:txBody>
                  <a:tcPr marL="73152" marR="73152" marT="18288" marB="18288" anchor="ctr">
                    <a:solidFill>
                      <a:srgbClr val="FFFFFF"/>
                    </a:solidFill>
                  </a:tcPr>
                </a:tc>
                <a:tc>
                  <a:txBody>
                    <a:bodyPr/>
                    <a:lstStyle/>
                    <a:p>
                      <a:pPr algn="ctr"/>
                      <a:r>
                        <a:rPr sz="1150" b="0">
                          <a:solidFill>
                            <a:srgbClr val="16222F"/>
                          </a:solidFill>
                          <a:latin typeface="Consolas"/>
                        </a:rPr>
                        <a:t>0.943</a:t>
                      </a:r>
                    </a:p>
                  </a:txBody>
                  <a:tcPr marL="73152" marR="73152" marT="18288" marB="18288" anchor="ctr">
                    <a:solidFill>
                      <a:srgbClr val="FFFFFF"/>
                    </a:solidFill>
                  </a:tcPr>
                </a:tc>
                <a:tc>
                  <a:txBody>
                    <a:bodyPr/>
                    <a:lstStyle/>
                    <a:p>
                      <a:pPr algn="ctr"/>
                      <a:r>
                        <a:rPr sz="1150" b="0">
                          <a:solidFill>
                            <a:srgbClr val="16222F"/>
                          </a:solidFill>
                          <a:latin typeface="Consolas"/>
                        </a:rPr>
                        <a:t>0.920</a:t>
                      </a:r>
                    </a:p>
                  </a:txBody>
                  <a:tcPr marL="73152" marR="73152" marT="18288" marB="18288" anchor="ctr">
                    <a:solidFill>
                      <a:srgbClr val="FFFFFF"/>
                    </a:solidFill>
                  </a:tcPr>
                </a:tc>
                <a:tc>
                  <a:txBody>
                    <a:bodyPr/>
                    <a:lstStyle/>
                    <a:p>
                      <a:pPr algn="ctr"/>
                      <a:r>
                        <a:rPr sz="1150" b="0">
                          <a:solidFill>
                            <a:srgbClr val="16222F"/>
                          </a:solidFill>
                          <a:latin typeface="Consolas"/>
                        </a:rPr>
                        <a:t>0.915</a:t>
                      </a:r>
                    </a:p>
                  </a:txBody>
                  <a:tcPr marL="73152" marR="73152" marT="18288" marB="18288" anchor="ctr">
                    <a:solidFill>
                      <a:srgbClr val="FFFFFF"/>
                    </a:solidFill>
                  </a:tcPr>
                </a:tc>
                <a:tc>
                  <a:txBody>
                    <a:bodyPr/>
                    <a:lstStyle/>
                    <a:p>
                      <a:pPr algn="ctr"/>
                      <a:r>
                        <a:rPr sz="1150" b="1">
                          <a:solidFill>
                            <a:srgbClr val="D55500"/>
                          </a:solidFill>
                          <a:latin typeface="Consolas"/>
                        </a:rPr>
                        <a:t>0.658</a:t>
                      </a:r>
                    </a:p>
                  </a:txBody>
                  <a:tcPr marL="73152" marR="73152" marT="18288" marB="18288" anchor="ctr">
                    <a:solidFill>
                      <a:srgbClr val="FFFFFF"/>
                    </a:solidFill>
                  </a:tcPr>
                </a:tc>
                <a:extLst>
                  <a:ext uri="{0D108BD9-81ED-4DB2-BD59-A6C34878D82A}">
                    <a16:rowId xmlns:a16="http://schemas.microsoft.com/office/drawing/2014/main" val="10005"/>
                  </a:ext>
                </a:extLst>
              </a:tr>
              <a:tr h="365760">
                <a:tc>
                  <a:txBody>
                    <a:bodyPr/>
                    <a:lstStyle/>
                    <a:p>
                      <a:pPr algn="l"/>
                      <a:r>
                        <a:rPr sz="1150" b="0">
                          <a:solidFill>
                            <a:srgbClr val="16222F"/>
                          </a:solidFill>
                          <a:latin typeface="Calibri"/>
                        </a:rPr>
                        <a:t>MAO-B</a:t>
                      </a:r>
                    </a:p>
                  </a:txBody>
                  <a:tcPr marL="73152" marR="73152" marT="18288" marB="18288" anchor="ctr">
                    <a:solidFill>
                      <a:srgbClr val="F4F6F9"/>
                    </a:solidFill>
                  </a:tcPr>
                </a:tc>
                <a:tc>
                  <a:txBody>
                    <a:bodyPr/>
                    <a:lstStyle/>
                    <a:p>
                      <a:pPr algn="ctr"/>
                      <a:r>
                        <a:rPr sz="1150" b="0">
                          <a:solidFill>
                            <a:srgbClr val="16222F"/>
                          </a:solidFill>
                          <a:latin typeface="Consolas"/>
                        </a:rPr>
                        <a:t>0.960</a:t>
                      </a:r>
                    </a:p>
                  </a:txBody>
                  <a:tcPr marL="73152" marR="73152" marT="18288" marB="18288" anchor="ctr">
                    <a:solidFill>
                      <a:srgbClr val="F4F6F9"/>
                    </a:solidFill>
                  </a:tcPr>
                </a:tc>
                <a:tc>
                  <a:txBody>
                    <a:bodyPr/>
                    <a:lstStyle/>
                    <a:p>
                      <a:pPr algn="ctr"/>
                      <a:r>
                        <a:rPr sz="1150" b="0">
                          <a:solidFill>
                            <a:srgbClr val="16222F"/>
                          </a:solidFill>
                          <a:latin typeface="Consolas"/>
                        </a:rPr>
                        <a:t>0.885</a:t>
                      </a:r>
                    </a:p>
                  </a:txBody>
                  <a:tcPr marL="73152" marR="73152" marT="18288" marB="18288" anchor="ctr">
                    <a:solidFill>
                      <a:srgbClr val="F4F6F9"/>
                    </a:solidFill>
                  </a:tcPr>
                </a:tc>
                <a:tc>
                  <a:txBody>
                    <a:bodyPr/>
                    <a:lstStyle/>
                    <a:p>
                      <a:pPr algn="ctr"/>
                      <a:r>
                        <a:rPr sz="1150" b="0">
                          <a:solidFill>
                            <a:srgbClr val="16222F"/>
                          </a:solidFill>
                          <a:latin typeface="Consolas"/>
                        </a:rPr>
                        <a:t>0.873</a:t>
                      </a:r>
                    </a:p>
                  </a:txBody>
                  <a:tcPr marL="73152" marR="73152" marT="18288" marB="18288" anchor="ctr">
                    <a:solidFill>
                      <a:srgbClr val="F4F6F9"/>
                    </a:solidFill>
                  </a:tcPr>
                </a:tc>
                <a:tc>
                  <a:txBody>
                    <a:bodyPr/>
                    <a:lstStyle/>
                    <a:p>
                      <a:pPr algn="ctr"/>
                      <a:r>
                        <a:rPr sz="1150" b="0">
                          <a:solidFill>
                            <a:srgbClr val="16222F"/>
                          </a:solidFill>
                          <a:latin typeface="Consolas"/>
                        </a:rPr>
                        <a:t>0.758</a:t>
                      </a:r>
                    </a:p>
                  </a:txBody>
                  <a:tcPr marL="73152" marR="73152" marT="18288" marB="18288" anchor="ctr">
                    <a:solidFill>
                      <a:srgbClr val="F4F6F9"/>
                    </a:solidFill>
                  </a:tcPr>
                </a:tc>
                <a:extLst>
                  <a:ext uri="{0D108BD9-81ED-4DB2-BD59-A6C34878D82A}">
                    <a16:rowId xmlns:a16="http://schemas.microsoft.com/office/drawing/2014/main" val="10006"/>
                  </a:ext>
                </a:extLst>
              </a:tr>
              <a:tr h="365760">
                <a:tc>
                  <a:txBody>
                    <a:bodyPr/>
                    <a:lstStyle/>
                    <a:p>
                      <a:pPr algn="l"/>
                      <a:r>
                        <a:rPr sz="1150" b="0">
                          <a:solidFill>
                            <a:srgbClr val="16222F"/>
                          </a:solidFill>
                          <a:latin typeface="Calibri"/>
                        </a:rPr>
                        <a:t>MAO-A</a:t>
                      </a:r>
                    </a:p>
                  </a:txBody>
                  <a:tcPr marL="73152" marR="73152" marT="18288" marB="18288" anchor="ctr">
                    <a:solidFill>
                      <a:srgbClr val="FFFFFF"/>
                    </a:solidFill>
                  </a:tcPr>
                </a:tc>
                <a:tc>
                  <a:txBody>
                    <a:bodyPr/>
                    <a:lstStyle/>
                    <a:p>
                      <a:pPr algn="ctr"/>
                      <a:r>
                        <a:rPr sz="1150" b="0">
                          <a:solidFill>
                            <a:srgbClr val="16222F"/>
                          </a:solidFill>
                          <a:latin typeface="Consolas"/>
                        </a:rPr>
                        <a:t>0.950</a:t>
                      </a:r>
                    </a:p>
                  </a:txBody>
                  <a:tcPr marL="73152" marR="73152" marT="18288" marB="18288" anchor="ctr">
                    <a:solidFill>
                      <a:srgbClr val="FFFFFF"/>
                    </a:solidFill>
                  </a:tcPr>
                </a:tc>
                <a:tc>
                  <a:txBody>
                    <a:bodyPr/>
                    <a:lstStyle/>
                    <a:p>
                      <a:pPr algn="ctr"/>
                      <a:r>
                        <a:rPr sz="1150" b="0">
                          <a:solidFill>
                            <a:srgbClr val="16222F"/>
                          </a:solidFill>
                          <a:latin typeface="Consolas"/>
                        </a:rPr>
                        <a:t>0.867</a:t>
                      </a:r>
                    </a:p>
                  </a:txBody>
                  <a:tcPr marL="73152" marR="73152" marT="18288" marB="18288" anchor="ctr">
                    <a:solidFill>
                      <a:srgbClr val="FFFFFF"/>
                    </a:solidFill>
                  </a:tcPr>
                </a:tc>
                <a:tc>
                  <a:txBody>
                    <a:bodyPr/>
                    <a:lstStyle/>
                    <a:p>
                      <a:pPr algn="ctr"/>
                      <a:r>
                        <a:rPr sz="1150" b="0">
                          <a:solidFill>
                            <a:srgbClr val="16222F"/>
                          </a:solidFill>
                          <a:latin typeface="Consolas"/>
                        </a:rPr>
                        <a:t>0.890</a:t>
                      </a:r>
                    </a:p>
                  </a:txBody>
                  <a:tcPr marL="73152" marR="73152" marT="18288" marB="18288" anchor="ctr">
                    <a:solidFill>
                      <a:srgbClr val="FFFFFF"/>
                    </a:solidFill>
                  </a:tcPr>
                </a:tc>
                <a:tc>
                  <a:txBody>
                    <a:bodyPr/>
                    <a:lstStyle/>
                    <a:p>
                      <a:pPr algn="ctr"/>
                      <a:r>
                        <a:rPr sz="1150" b="1">
                          <a:solidFill>
                            <a:srgbClr val="D55500"/>
                          </a:solidFill>
                          <a:latin typeface="Consolas"/>
                        </a:rPr>
                        <a:t>0.614</a:t>
                      </a:r>
                    </a:p>
                  </a:txBody>
                  <a:tcPr marL="73152" marR="73152" marT="18288" marB="18288" anchor="ctr">
                    <a:solidFill>
                      <a:srgbClr val="FFFFFF"/>
                    </a:solidFill>
                  </a:tcPr>
                </a:tc>
                <a:extLst>
                  <a:ext uri="{0D108BD9-81ED-4DB2-BD59-A6C34878D82A}">
                    <a16:rowId xmlns:a16="http://schemas.microsoft.com/office/drawing/2014/main" val="10007"/>
                  </a:ext>
                </a:extLst>
              </a:tr>
              <a:tr h="365760">
                <a:tc>
                  <a:txBody>
                    <a:bodyPr/>
                    <a:lstStyle/>
                    <a:p>
                      <a:pPr algn="l"/>
                      <a:r>
                        <a:rPr sz="1150" b="0">
                          <a:solidFill>
                            <a:srgbClr val="16222F"/>
                          </a:solidFill>
                          <a:latin typeface="Calibri"/>
                        </a:rPr>
                        <a:t>hERG</a:t>
                      </a:r>
                    </a:p>
                  </a:txBody>
                  <a:tcPr marL="73152" marR="73152" marT="18288" marB="18288" anchor="ctr">
                    <a:solidFill>
                      <a:srgbClr val="F4F6F9"/>
                    </a:solidFill>
                  </a:tcPr>
                </a:tc>
                <a:tc>
                  <a:txBody>
                    <a:bodyPr/>
                    <a:lstStyle/>
                    <a:p>
                      <a:pPr algn="ctr"/>
                      <a:r>
                        <a:rPr sz="1150" b="0">
                          <a:solidFill>
                            <a:srgbClr val="16222F"/>
                          </a:solidFill>
                          <a:latin typeface="Consolas"/>
                        </a:rPr>
                        <a:t>0.950</a:t>
                      </a:r>
                    </a:p>
                  </a:txBody>
                  <a:tcPr marL="73152" marR="73152" marT="18288" marB="18288" anchor="ctr">
                    <a:solidFill>
                      <a:srgbClr val="F4F6F9"/>
                    </a:solidFill>
                  </a:tcPr>
                </a:tc>
                <a:tc>
                  <a:txBody>
                    <a:bodyPr/>
                    <a:lstStyle/>
                    <a:p>
                      <a:pPr algn="ctr"/>
                      <a:r>
                        <a:rPr sz="1150" b="0">
                          <a:solidFill>
                            <a:srgbClr val="16222F"/>
                          </a:solidFill>
                          <a:latin typeface="Consolas"/>
                        </a:rPr>
                        <a:t>0.901</a:t>
                      </a:r>
                    </a:p>
                  </a:txBody>
                  <a:tcPr marL="73152" marR="73152" marT="18288" marB="18288" anchor="ctr">
                    <a:solidFill>
                      <a:srgbClr val="F4F6F9"/>
                    </a:solidFill>
                  </a:tcPr>
                </a:tc>
                <a:tc>
                  <a:txBody>
                    <a:bodyPr/>
                    <a:lstStyle/>
                    <a:p>
                      <a:pPr algn="ctr"/>
                      <a:r>
                        <a:rPr sz="1150" b="0">
                          <a:solidFill>
                            <a:srgbClr val="16222F"/>
                          </a:solidFill>
                          <a:latin typeface="Consolas"/>
                        </a:rPr>
                        <a:t>0.870</a:t>
                      </a:r>
                    </a:p>
                  </a:txBody>
                  <a:tcPr marL="73152" marR="73152" marT="18288" marB="18288" anchor="ctr">
                    <a:solidFill>
                      <a:srgbClr val="F4F6F9"/>
                    </a:solidFill>
                  </a:tcPr>
                </a:tc>
                <a:tc>
                  <a:txBody>
                    <a:bodyPr/>
                    <a:lstStyle/>
                    <a:p>
                      <a:pPr algn="ctr"/>
                      <a:r>
                        <a:rPr sz="1150" b="0">
                          <a:solidFill>
                            <a:srgbClr val="16222F"/>
                          </a:solidFill>
                          <a:latin typeface="Consolas"/>
                        </a:rPr>
                        <a:t>0.757</a:t>
                      </a:r>
                    </a:p>
                  </a:txBody>
                  <a:tcPr marL="73152" marR="73152" marT="18288" marB="18288" anchor="ctr">
                    <a:solidFill>
                      <a:srgbClr val="F4F6F9"/>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7589520" y="1828800"/>
            <a:ext cx="3840480" cy="457200"/>
          </a:xfrm>
          <a:prstGeom prst="rect">
            <a:avLst/>
          </a:prstGeom>
          <a:noFill/>
        </p:spPr>
        <p:txBody>
          <a:bodyPr wrap="square">
            <a:spAutoFit/>
          </a:bodyPr>
          <a:lstStyle/>
          <a:p>
            <a:pPr algn="l">
              <a:spcBef>
                <a:spcPts val="0"/>
              </a:spcBef>
              <a:spcAft>
                <a:spcPts val="600"/>
              </a:spcAft>
            </a:pPr>
            <a:r>
              <a:rPr sz="1150" b="0" i="1">
                <a:solidFill>
                  <a:srgbClr val="5A6B7B"/>
                </a:solidFill>
                <a:latin typeface="Calibri"/>
              </a:rPr>
              <a:t>AUROC by test (higher = better)</a:t>
            </a:r>
          </a:p>
        </p:txBody>
      </p:sp>
      <p:sp>
        <p:nvSpPr>
          <p:cNvPr id="7" name="Rounded Rectangle 6"/>
          <p:cNvSpPr/>
          <p:nvPr/>
        </p:nvSpPr>
        <p:spPr>
          <a:xfrm>
            <a:off x="7589520" y="2286000"/>
            <a:ext cx="3840480" cy="658368"/>
          </a:xfrm>
          <a:prstGeom prst="roundRect">
            <a:avLst>
              <a:gd name="adj" fmla="val 8000"/>
            </a:avLst>
          </a:prstGeom>
          <a:solidFill>
            <a:srgbClr val="FFFFFF"/>
          </a:solidFill>
          <a:ln w="12700">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89520" y="2286000"/>
            <a:ext cx="54864" cy="658368"/>
          </a:xfrm>
          <a:prstGeom prst="rect">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0" y="2331720"/>
            <a:ext cx="3566160" cy="566928"/>
          </a:xfrm>
          <a:prstGeom prst="rect">
            <a:avLst/>
          </a:prstGeom>
          <a:noFill/>
        </p:spPr>
        <p:txBody>
          <a:bodyPr wrap="square">
            <a:spAutoFit/>
          </a:bodyPr>
          <a:lstStyle/>
          <a:p>
            <a:pPr algn="l">
              <a:spcAft>
                <a:spcPts val="0"/>
              </a:spcAft>
            </a:pPr>
            <a:r>
              <a:rPr sz="1400" b="1">
                <a:solidFill>
                  <a:srgbClr val="009E73"/>
                </a:solidFill>
                <a:latin typeface="Consolas"/>
              </a:rPr>
              <a:t>0.94–0.98   </a:t>
            </a:r>
            <a:r>
              <a:rPr sz="1400" b="0">
                <a:solidFill>
                  <a:srgbClr val="5A6B7B"/>
                </a:solidFill>
                <a:latin typeface="Calibri"/>
              </a:rPr>
              <a:t>Random split</a:t>
            </a:r>
          </a:p>
        </p:txBody>
      </p:sp>
      <p:sp>
        <p:nvSpPr>
          <p:cNvPr id="10" name="Rounded Rectangle 9"/>
          <p:cNvSpPr/>
          <p:nvPr/>
        </p:nvSpPr>
        <p:spPr>
          <a:xfrm>
            <a:off x="7589520" y="3035808"/>
            <a:ext cx="3840480" cy="658368"/>
          </a:xfrm>
          <a:prstGeom prst="roundRect">
            <a:avLst>
              <a:gd name="adj" fmla="val 8000"/>
            </a:avLst>
          </a:prstGeom>
          <a:solidFill>
            <a:srgbClr val="FFFFFF"/>
          </a:solidFill>
          <a:ln w="12700">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589520" y="3035808"/>
            <a:ext cx="54864" cy="65836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0" y="3081527"/>
            <a:ext cx="3566160" cy="566928"/>
          </a:xfrm>
          <a:prstGeom prst="rect">
            <a:avLst/>
          </a:prstGeom>
          <a:noFill/>
        </p:spPr>
        <p:txBody>
          <a:bodyPr wrap="square">
            <a:spAutoFit/>
          </a:bodyPr>
          <a:lstStyle/>
          <a:p>
            <a:pPr algn="l">
              <a:spcAft>
                <a:spcPts val="0"/>
              </a:spcAft>
            </a:pPr>
            <a:r>
              <a:rPr sz="1400" b="1">
                <a:solidFill>
                  <a:srgbClr val="0072B2"/>
                </a:solidFill>
                <a:latin typeface="Consolas"/>
              </a:rPr>
              <a:t>0.87–0.95   </a:t>
            </a:r>
            <a:r>
              <a:rPr sz="1400" b="0">
                <a:solidFill>
                  <a:srgbClr val="5A6B7B"/>
                </a:solidFill>
                <a:latin typeface="Calibri"/>
              </a:rPr>
              <a:t>Scaffold &amp; cluster</a:t>
            </a:r>
          </a:p>
        </p:txBody>
      </p:sp>
      <p:sp>
        <p:nvSpPr>
          <p:cNvPr id="13" name="Rounded Rectangle 12"/>
          <p:cNvSpPr/>
          <p:nvPr/>
        </p:nvSpPr>
        <p:spPr>
          <a:xfrm>
            <a:off x="7589520" y="3785615"/>
            <a:ext cx="3840480" cy="658368"/>
          </a:xfrm>
          <a:prstGeom prst="roundRect">
            <a:avLst>
              <a:gd name="adj" fmla="val 8000"/>
            </a:avLst>
          </a:prstGeom>
          <a:solidFill>
            <a:srgbClr val="FFFFFF"/>
          </a:solidFill>
          <a:ln w="12700">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589520" y="3785615"/>
            <a:ext cx="54864" cy="658368"/>
          </a:xfrm>
          <a:prstGeom prst="rect">
            <a:avLst/>
          </a:prstGeom>
          <a:solidFill>
            <a:srgbClr val="E6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0" y="3831335"/>
            <a:ext cx="3566160" cy="566928"/>
          </a:xfrm>
          <a:prstGeom prst="rect">
            <a:avLst/>
          </a:prstGeom>
          <a:noFill/>
        </p:spPr>
        <p:txBody>
          <a:bodyPr wrap="square">
            <a:spAutoFit/>
          </a:bodyPr>
          <a:lstStyle/>
          <a:p>
            <a:pPr algn="l">
              <a:spcAft>
                <a:spcPts val="0"/>
              </a:spcAft>
            </a:pPr>
            <a:r>
              <a:rPr sz="1400" b="1">
                <a:solidFill>
                  <a:srgbClr val="E69000"/>
                </a:solidFill>
                <a:latin typeface="Consolas"/>
              </a:rPr>
              <a:t>0.61–0.92   </a:t>
            </a:r>
            <a:r>
              <a:rPr sz="1400" b="0">
                <a:solidFill>
                  <a:srgbClr val="5A6B7B"/>
                </a:solidFill>
                <a:latin typeface="Calibri"/>
              </a:rPr>
              <a:t>Temporal (future)</a:t>
            </a:r>
          </a:p>
        </p:txBody>
      </p:sp>
      <p:sp>
        <p:nvSpPr>
          <p:cNvPr id="16" name="Rounded Rectangle 15"/>
          <p:cNvSpPr/>
          <p:nvPr/>
        </p:nvSpPr>
        <p:spPr>
          <a:xfrm>
            <a:off x="7589520" y="4535424"/>
            <a:ext cx="3840480" cy="658368"/>
          </a:xfrm>
          <a:prstGeom prst="roundRect">
            <a:avLst>
              <a:gd name="adj" fmla="val 8000"/>
            </a:avLst>
          </a:prstGeom>
          <a:solidFill>
            <a:srgbClr val="FFFFFF"/>
          </a:solidFill>
          <a:ln w="12700">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589520" y="4535424"/>
            <a:ext cx="54864" cy="658368"/>
          </a:xfrm>
          <a:prstGeom prst="rect">
            <a:avLst/>
          </a:prstGeom>
          <a:solidFill>
            <a:srgbClr val="56B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4581144"/>
            <a:ext cx="3566160" cy="566928"/>
          </a:xfrm>
          <a:prstGeom prst="rect">
            <a:avLst/>
          </a:prstGeom>
          <a:noFill/>
        </p:spPr>
        <p:txBody>
          <a:bodyPr wrap="square">
            <a:spAutoFit/>
          </a:bodyPr>
          <a:lstStyle/>
          <a:p>
            <a:pPr algn="l">
              <a:spcAft>
                <a:spcPts val="0"/>
              </a:spcAft>
            </a:pPr>
            <a:r>
              <a:rPr sz="1400" b="1">
                <a:solidFill>
                  <a:srgbClr val="56B4E9"/>
                </a:solidFill>
                <a:latin typeface="Consolas"/>
              </a:rPr>
              <a:t>0.885–0.905   </a:t>
            </a:r>
            <a:r>
              <a:rPr sz="1400" b="0">
                <a:solidFill>
                  <a:srgbClr val="5A6B7B"/>
                </a:solidFill>
                <a:latin typeface="Calibri"/>
              </a:rPr>
              <a:t>Confidence coverage</a:t>
            </a:r>
          </a:p>
        </p:txBody>
      </p:sp>
      <p:sp>
        <p:nvSpPr>
          <p:cNvPr id="19" name="Rounded Rectangle 18"/>
          <p:cNvSpPr/>
          <p:nvPr/>
        </p:nvSpPr>
        <p:spPr>
          <a:xfrm>
            <a:off x="822960" y="5623560"/>
            <a:ext cx="10607040" cy="777240"/>
          </a:xfrm>
          <a:prstGeom prst="roundRect">
            <a:avLst>
              <a:gd name="adj" fmla="val 6000"/>
            </a:avLst>
          </a:prstGeom>
          <a:solidFill>
            <a:srgbClr val="EF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2960" y="5623560"/>
            <a:ext cx="54864" cy="77724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7552" y="5678424"/>
            <a:ext cx="10332719" cy="667512"/>
          </a:xfrm>
          <a:prstGeom prst="rect">
            <a:avLst/>
          </a:prstGeom>
          <a:noFill/>
        </p:spPr>
        <p:txBody>
          <a:bodyPr wrap="square" anchor="ctr">
            <a:spAutoFit/>
          </a:bodyPr>
          <a:lstStyle/>
          <a:p>
            <a:pPr algn="l">
              <a:spcAft>
                <a:spcPts val="0"/>
              </a:spcAft>
            </a:pPr>
            <a:r>
              <a:rPr sz="1250" b="1" dirty="0">
                <a:solidFill>
                  <a:srgbClr val="0072B2"/>
                </a:solidFill>
                <a:latin typeface="Calibri"/>
              </a:rPr>
              <a:t>In plain terms:  </a:t>
            </a:r>
            <a:r>
              <a:rPr sz="1250" b="0" dirty="0">
                <a:solidFill>
                  <a:srgbClr val="16222F"/>
                </a:solidFill>
                <a:latin typeface="Calibri"/>
              </a:rPr>
              <a:t>AUROC scores how well the tool separates 'active' from 'inactive'. 0.5 = a coin flip; 1.0 = perfect. 0.90 means that, given one active and one inactive molecule, it ranks them correctly ~90% of the time.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53160" y="691382"/>
            <a:ext cx="10515600" cy="365760"/>
          </a:xfrm>
          <a:prstGeom prst="rect">
            <a:avLst/>
          </a:prstGeom>
          <a:noFill/>
        </p:spPr>
        <p:txBody>
          <a:bodyPr wrap="square">
            <a:spAutoFit/>
          </a:bodyPr>
          <a:lstStyle/>
          <a:p>
            <a:pPr algn="l">
              <a:spcBef>
                <a:spcPts val="0"/>
              </a:spcBef>
              <a:spcAft>
                <a:spcPts val="0"/>
              </a:spcAft>
            </a:pPr>
            <a:r>
              <a:rPr sz="1200" b="1" i="0" dirty="0">
                <a:solidFill>
                  <a:srgbClr val="0072B2"/>
                </a:solidFill>
                <a:latin typeface="Consolas"/>
              </a:rPr>
              <a:t>09 · RESULTS — STRENGTH &amp; DRUG-LIKENESS</a:t>
            </a:r>
          </a:p>
        </p:txBody>
      </p:sp>
      <p:sp>
        <p:nvSpPr>
          <p:cNvPr id="3" name="Rectangle 2"/>
          <p:cNvSpPr/>
          <p:nvPr/>
        </p:nvSpPr>
        <p:spPr>
          <a:xfrm>
            <a:off x="822960" y="566928"/>
            <a:ext cx="457200" cy="4114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868680"/>
            <a:ext cx="10515600" cy="1188720"/>
          </a:xfrm>
          <a:prstGeom prst="rect">
            <a:avLst/>
          </a:prstGeom>
          <a:noFill/>
        </p:spPr>
        <p:txBody>
          <a:bodyPr wrap="square">
            <a:spAutoFit/>
          </a:bodyPr>
          <a:lstStyle/>
          <a:p>
            <a:pPr algn="l">
              <a:spcBef>
                <a:spcPts val="0"/>
              </a:spcBef>
              <a:spcAft>
                <a:spcPts val="0"/>
              </a:spcAft>
            </a:pPr>
            <a:r>
              <a:rPr sz="3300" b="1" i="0">
                <a:solidFill>
                  <a:srgbClr val="16222F"/>
                </a:solidFill>
                <a:latin typeface="Georgia"/>
              </a:rPr>
              <a:t>Ranking-grade potency, a measured antioxidant model</a:t>
            </a:r>
          </a:p>
        </p:txBody>
      </p:sp>
      <p:graphicFrame>
        <p:nvGraphicFramePr>
          <p:cNvPr id="5" name="Table 4"/>
          <p:cNvGraphicFramePr>
            <a:graphicFrameLocks noGrp="1"/>
          </p:cNvGraphicFramePr>
          <p:nvPr/>
        </p:nvGraphicFramePr>
        <p:xfrm>
          <a:off x="822960" y="1874519"/>
          <a:ext cx="5669278" cy="1828800"/>
        </p:xfrm>
        <a:graphic>
          <a:graphicData uri="http://schemas.openxmlformats.org/drawingml/2006/table">
            <a:tbl>
              <a:tblPr>
                <a:tableStyleId>{5C22544A-7EE6-4342-B048-85BDC9FD1C3A}</a:tableStyleId>
              </a:tblPr>
              <a:tblGrid>
                <a:gridCol w="1744393">
                  <a:extLst>
                    <a:ext uri="{9D8B030D-6E8A-4147-A177-3AD203B41FA5}">
                      <a16:colId xmlns:a16="http://schemas.microsoft.com/office/drawing/2014/main" val="20000"/>
                    </a:ext>
                  </a:extLst>
                </a:gridCol>
                <a:gridCol w="1308295">
                  <a:extLst>
                    <a:ext uri="{9D8B030D-6E8A-4147-A177-3AD203B41FA5}">
                      <a16:colId xmlns:a16="http://schemas.microsoft.com/office/drawing/2014/main" val="20001"/>
                    </a:ext>
                  </a:extLst>
                </a:gridCol>
                <a:gridCol w="1308295">
                  <a:extLst>
                    <a:ext uri="{9D8B030D-6E8A-4147-A177-3AD203B41FA5}">
                      <a16:colId xmlns:a16="http://schemas.microsoft.com/office/drawing/2014/main" val="20002"/>
                    </a:ext>
                  </a:extLst>
                </a:gridCol>
                <a:gridCol w="1308295">
                  <a:extLst>
                    <a:ext uri="{9D8B030D-6E8A-4147-A177-3AD203B41FA5}">
                      <a16:colId xmlns:a16="http://schemas.microsoft.com/office/drawing/2014/main" val="20003"/>
                    </a:ext>
                  </a:extLst>
                </a:gridCol>
              </a:tblGrid>
              <a:tr h="365760">
                <a:tc>
                  <a:txBody>
                    <a:bodyPr/>
                    <a:lstStyle/>
                    <a:p>
                      <a:pPr algn="l"/>
                      <a:r>
                        <a:rPr sz="1000" b="1">
                          <a:solidFill>
                            <a:srgbClr val="5A6B7B"/>
                          </a:solidFill>
                          <a:latin typeface="Consolas"/>
                        </a:rPr>
                        <a:t>Receptor</a:t>
                      </a:r>
                    </a:p>
                  </a:txBody>
                  <a:tcPr marL="73152" marR="73152" marT="18288" marB="18288" anchor="ctr">
                    <a:solidFill>
                      <a:srgbClr val="EEF2F6"/>
                    </a:solidFill>
                  </a:tcPr>
                </a:tc>
                <a:tc>
                  <a:txBody>
                    <a:bodyPr/>
                    <a:lstStyle/>
                    <a:p>
                      <a:pPr algn="ctr"/>
                      <a:r>
                        <a:rPr sz="1000" b="1">
                          <a:solidFill>
                            <a:srgbClr val="5A6B7B"/>
                          </a:solidFill>
                          <a:latin typeface="Consolas"/>
                        </a:rPr>
                        <a:t>R² (fit)</a:t>
                      </a:r>
                    </a:p>
                  </a:txBody>
                  <a:tcPr marL="73152" marR="73152" marT="18288" marB="18288" anchor="ctr">
                    <a:solidFill>
                      <a:srgbClr val="EEF2F6"/>
                    </a:solidFill>
                  </a:tcPr>
                </a:tc>
                <a:tc>
                  <a:txBody>
                    <a:bodyPr/>
                    <a:lstStyle/>
                    <a:p>
                      <a:pPr algn="ctr"/>
                      <a:r>
                        <a:rPr sz="1000" b="1">
                          <a:solidFill>
                            <a:srgbClr val="5A6B7B"/>
                          </a:solidFill>
                          <a:latin typeface="Consolas"/>
                        </a:rPr>
                        <a:t>Spearman</a:t>
                      </a:r>
                    </a:p>
                  </a:txBody>
                  <a:tcPr marL="73152" marR="73152" marT="18288" marB="18288" anchor="ctr">
                    <a:solidFill>
                      <a:srgbClr val="EEF2F6"/>
                    </a:solidFill>
                  </a:tcPr>
                </a:tc>
                <a:tc>
                  <a:txBody>
                    <a:bodyPr/>
                    <a:lstStyle/>
                    <a:p>
                      <a:pPr algn="ctr"/>
                      <a:r>
                        <a:rPr sz="1000" b="1">
                          <a:solidFill>
                            <a:srgbClr val="5A6B7B"/>
                          </a:solidFill>
                          <a:latin typeface="Consolas"/>
                        </a:rPr>
                        <a:t>Temporal</a:t>
                      </a:r>
                    </a:p>
                  </a:txBody>
                  <a:tcPr marL="73152" marR="73152" marT="18288" marB="18288" anchor="ctr">
                    <a:solidFill>
                      <a:srgbClr val="EEF2F6"/>
                    </a:solidFill>
                  </a:tcPr>
                </a:tc>
                <a:extLst>
                  <a:ext uri="{0D108BD9-81ED-4DB2-BD59-A6C34878D82A}">
                    <a16:rowId xmlns:a16="http://schemas.microsoft.com/office/drawing/2014/main" val="10000"/>
                  </a:ext>
                </a:extLst>
              </a:tr>
              <a:tr h="365760">
                <a:tc>
                  <a:txBody>
                    <a:bodyPr/>
                    <a:lstStyle/>
                    <a:p>
                      <a:pPr algn="l"/>
                      <a:r>
                        <a:rPr sz="1150" b="0">
                          <a:solidFill>
                            <a:srgbClr val="16222F"/>
                          </a:solidFill>
                          <a:latin typeface="Calibri"/>
                        </a:rPr>
                        <a:t>A2A</a:t>
                      </a:r>
                    </a:p>
                  </a:txBody>
                  <a:tcPr marL="73152" marR="73152" marT="18288" marB="18288" anchor="ctr">
                    <a:solidFill>
                      <a:srgbClr val="FFFFFF"/>
                    </a:solidFill>
                  </a:tcPr>
                </a:tc>
                <a:tc>
                  <a:txBody>
                    <a:bodyPr/>
                    <a:lstStyle/>
                    <a:p>
                      <a:pPr algn="ctr"/>
                      <a:r>
                        <a:rPr sz="1150" b="0">
                          <a:solidFill>
                            <a:srgbClr val="16222F"/>
                          </a:solidFill>
                          <a:latin typeface="Consolas"/>
                        </a:rPr>
                        <a:t>0.526</a:t>
                      </a:r>
                    </a:p>
                  </a:txBody>
                  <a:tcPr marL="73152" marR="73152" marT="18288" marB="18288" anchor="ctr">
                    <a:solidFill>
                      <a:srgbClr val="FFFFFF"/>
                    </a:solidFill>
                  </a:tcPr>
                </a:tc>
                <a:tc>
                  <a:txBody>
                    <a:bodyPr/>
                    <a:lstStyle/>
                    <a:p>
                      <a:pPr algn="ctr"/>
                      <a:r>
                        <a:rPr sz="1150" b="0">
                          <a:solidFill>
                            <a:srgbClr val="16222F"/>
                          </a:solidFill>
                          <a:latin typeface="Consolas"/>
                        </a:rPr>
                        <a:t>0.706</a:t>
                      </a:r>
                    </a:p>
                  </a:txBody>
                  <a:tcPr marL="73152" marR="73152" marT="18288" marB="18288" anchor="ctr">
                    <a:solidFill>
                      <a:srgbClr val="FFFFFF"/>
                    </a:solidFill>
                  </a:tcPr>
                </a:tc>
                <a:tc>
                  <a:txBody>
                    <a:bodyPr/>
                    <a:lstStyle/>
                    <a:p>
                      <a:pPr algn="ctr"/>
                      <a:r>
                        <a:rPr sz="1150" b="0">
                          <a:solidFill>
                            <a:srgbClr val="16222F"/>
                          </a:solidFill>
                          <a:latin typeface="Consolas"/>
                        </a:rPr>
                        <a:t>0.326</a:t>
                      </a:r>
                    </a:p>
                  </a:txBody>
                  <a:tcPr marL="73152" marR="73152" marT="18288" marB="18288" anchor="ctr">
                    <a:solidFill>
                      <a:srgbClr val="FFFFFF"/>
                    </a:solidFill>
                  </a:tcPr>
                </a:tc>
                <a:extLst>
                  <a:ext uri="{0D108BD9-81ED-4DB2-BD59-A6C34878D82A}">
                    <a16:rowId xmlns:a16="http://schemas.microsoft.com/office/drawing/2014/main" val="10001"/>
                  </a:ext>
                </a:extLst>
              </a:tr>
              <a:tr h="365760">
                <a:tc>
                  <a:txBody>
                    <a:bodyPr/>
                    <a:lstStyle/>
                    <a:p>
                      <a:pPr algn="l"/>
                      <a:r>
                        <a:rPr sz="1150" b="0">
                          <a:solidFill>
                            <a:srgbClr val="16222F"/>
                          </a:solidFill>
                          <a:latin typeface="Calibri"/>
                        </a:rPr>
                        <a:t>5-HT2A</a:t>
                      </a:r>
                    </a:p>
                  </a:txBody>
                  <a:tcPr marL="73152" marR="73152" marT="18288" marB="18288" anchor="ctr">
                    <a:solidFill>
                      <a:srgbClr val="F4F6F9"/>
                    </a:solidFill>
                  </a:tcPr>
                </a:tc>
                <a:tc>
                  <a:txBody>
                    <a:bodyPr/>
                    <a:lstStyle/>
                    <a:p>
                      <a:pPr algn="ctr"/>
                      <a:r>
                        <a:rPr sz="1150" b="0">
                          <a:solidFill>
                            <a:srgbClr val="16222F"/>
                          </a:solidFill>
                          <a:latin typeface="Consolas"/>
                        </a:rPr>
                        <a:t>0.460</a:t>
                      </a:r>
                    </a:p>
                  </a:txBody>
                  <a:tcPr marL="73152" marR="73152" marT="18288" marB="18288" anchor="ctr">
                    <a:solidFill>
                      <a:srgbClr val="F4F6F9"/>
                    </a:solidFill>
                  </a:tcPr>
                </a:tc>
                <a:tc>
                  <a:txBody>
                    <a:bodyPr/>
                    <a:lstStyle/>
                    <a:p>
                      <a:pPr algn="ctr"/>
                      <a:r>
                        <a:rPr sz="1150" b="0">
                          <a:solidFill>
                            <a:srgbClr val="16222F"/>
                          </a:solidFill>
                          <a:latin typeface="Consolas"/>
                        </a:rPr>
                        <a:t>0.684</a:t>
                      </a:r>
                    </a:p>
                  </a:txBody>
                  <a:tcPr marL="73152" marR="73152" marT="18288" marB="18288" anchor="ctr">
                    <a:solidFill>
                      <a:srgbClr val="F4F6F9"/>
                    </a:solidFill>
                  </a:tcPr>
                </a:tc>
                <a:tc>
                  <a:txBody>
                    <a:bodyPr/>
                    <a:lstStyle/>
                    <a:p>
                      <a:pPr algn="ctr"/>
                      <a:r>
                        <a:rPr sz="1150" b="0">
                          <a:solidFill>
                            <a:srgbClr val="16222F"/>
                          </a:solidFill>
                          <a:latin typeface="Consolas"/>
                        </a:rPr>
                        <a:t>0.085</a:t>
                      </a:r>
                    </a:p>
                  </a:txBody>
                  <a:tcPr marL="73152" marR="73152" marT="18288" marB="18288" anchor="ctr">
                    <a:solidFill>
                      <a:srgbClr val="F4F6F9"/>
                    </a:solidFill>
                  </a:tcPr>
                </a:tc>
                <a:extLst>
                  <a:ext uri="{0D108BD9-81ED-4DB2-BD59-A6C34878D82A}">
                    <a16:rowId xmlns:a16="http://schemas.microsoft.com/office/drawing/2014/main" val="10002"/>
                  </a:ext>
                </a:extLst>
              </a:tr>
              <a:tr h="365760">
                <a:tc>
                  <a:txBody>
                    <a:bodyPr/>
                    <a:lstStyle/>
                    <a:p>
                      <a:pPr algn="l"/>
                      <a:r>
                        <a:rPr sz="1150" b="0">
                          <a:solidFill>
                            <a:srgbClr val="16222F"/>
                          </a:solidFill>
                          <a:latin typeface="Calibri"/>
                        </a:rPr>
                        <a:t>D2</a:t>
                      </a:r>
                    </a:p>
                  </a:txBody>
                  <a:tcPr marL="73152" marR="73152" marT="18288" marB="18288" anchor="ctr">
                    <a:solidFill>
                      <a:srgbClr val="FFFFFF"/>
                    </a:solidFill>
                  </a:tcPr>
                </a:tc>
                <a:tc>
                  <a:txBody>
                    <a:bodyPr/>
                    <a:lstStyle/>
                    <a:p>
                      <a:pPr algn="ctr"/>
                      <a:r>
                        <a:rPr sz="1150" b="0">
                          <a:solidFill>
                            <a:srgbClr val="16222F"/>
                          </a:solidFill>
                          <a:latin typeface="Consolas"/>
                        </a:rPr>
                        <a:t>0.425</a:t>
                      </a:r>
                    </a:p>
                  </a:txBody>
                  <a:tcPr marL="73152" marR="73152" marT="18288" marB="18288" anchor="ctr">
                    <a:solidFill>
                      <a:srgbClr val="FFFFFF"/>
                    </a:solidFill>
                  </a:tcPr>
                </a:tc>
                <a:tc>
                  <a:txBody>
                    <a:bodyPr/>
                    <a:lstStyle/>
                    <a:p>
                      <a:pPr algn="ctr"/>
                      <a:r>
                        <a:rPr sz="1150" b="0">
                          <a:solidFill>
                            <a:srgbClr val="16222F"/>
                          </a:solidFill>
                          <a:latin typeface="Consolas"/>
                        </a:rPr>
                        <a:t>0.652</a:t>
                      </a:r>
                    </a:p>
                  </a:txBody>
                  <a:tcPr marL="73152" marR="73152" marT="18288" marB="18288" anchor="ctr">
                    <a:solidFill>
                      <a:srgbClr val="FFFFFF"/>
                    </a:solidFill>
                  </a:tcPr>
                </a:tc>
                <a:tc>
                  <a:txBody>
                    <a:bodyPr/>
                    <a:lstStyle/>
                    <a:p>
                      <a:pPr algn="ctr"/>
                      <a:r>
                        <a:rPr sz="1150" b="0">
                          <a:solidFill>
                            <a:srgbClr val="16222F"/>
                          </a:solidFill>
                          <a:latin typeface="Consolas"/>
                        </a:rPr>
                        <a:t>−0.007</a:t>
                      </a:r>
                    </a:p>
                  </a:txBody>
                  <a:tcPr marL="73152" marR="73152" marT="18288" marB="18288" anchor="ctr">
                    <a:solidFill>
                      <a:srgbClr val="FFFFFF"/>
                    </a:solidFill>
                  </a:tcPr>
                </a:tc>
                <a:extLst>
                  <a:ext uri="{0D108BD9-81ED-4DB2-BD59-A6C34878D82A}">
                    <a16:rowId xmlns:a16="http://schemas.microsoft.com/office/drawing/2014/main" val="10003"/>
                  </a:ext>
                </a:extLst>
              </a:tr>
              <a:tr h="365760">
                <a:tc>
                  <a:txBody>
                    <a:bodyPr/>
                    <a:lstStyle/>
                    <a:p>
                      <a:pPr algn="l"/>
                      <a:r>
                        <a:rPr sz="1150" b="0">
                          <a:solidFill>
                            <a:srgbClr val="16222F"/>
                          </a:solidFill>
                          <a:latin typeface="Calibri"/>
                        </a:rPr>
                        <a:t>SERT</a:t>
                      </a:r>
                    </a:p>
                  </a:txBody>
                  <a:tcPr marL="73152" marR="73152" marT="18288" marB="18288" anchor="ctr">
                    <a:solidFill>
                      <a:srgbClr val="F4F6F9"/>
                    </a:solidFill>
                  </a:tcPr>
                </a:tc>
                <a:tc>
                  <a:txBody>
                    <a:bodyPr/>
                    <a:lstStyle/>
                    <a:p>
                      <a:pPr algn="ctr"/>
                      <a:r>
                        <a:rPr sz="1150" b="0">
                          <a:solidFill>
                            <a:srgbClr val="16222F"/>
                          </a:solidFill>
                          <a:latin typeface="Consolas"/>
                        </a:rPr>
                        <a:t>0.338</a:t>
                      </a:r>
                    </a:p>
                  </a:txBody>
                  <a:tcPr marL="73152" marR="73152" marT="18288" marB="18288" anchor="ctr">
                    <a:solidFill>
                      <a:srgbClr val="F4F6F9"/>
                    </a:solidFill>
                  </a:tcPr>
                </a:tc>
                <a:tc>
                  <a:txBody>
                    <a:bodyPr/>
                    <a:lstStyle/>
                    <a:p>
                      <a:pPr algn="ctr"/>
                      <a:r>
                        <a:rPr sz="1150" b="0">
                          <a:solidFill>
                            <a:srgbClr val="16222F"/>
                          </a:solidFill>
                          <a:latin typeface="Consolas"/>
                        </a:rPr>
                        <a:t>0.573</a:t>
                      </a:r>
                    </a:p>
                  </a:txBody>
                  <a:tcPr marL="73152" marR="73152" marT="18288" marB="18288" anchor="ctr">
                    <a:solidFill>
                      <a:srgbClr val="F4F6F9"/>
                    </a:solidFill>
                  </a:tcPr>
                </a:tc>
                <a:tc>
                  <a:txBody>
                    <a:bodyPr/>
                    <a:lstStyle/>
                    <a:p>
                      <a:pPr algn="ctr"/>
                      <a:r>
                        <a:rPr sz="1150" b="0">
                          <a:solidFill>
                            <a:srgbClr val="16222F"/>
                          </a:solidFill>
                          <a:latin typeface="Consolas"/>
                        </a:rPr>
                        <a:t>0.171</a:t>
                      </a:r>
                    </a:p>
                  </a:txBody>
                  <a:tcPr marL="73152" marR="73152" marT="18288" marB="18288" anchor="ctr">
                    <a:solidFill>
                      <a:srgbClr val="F4F6F9"/>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6766560" y="1874519"/>
            <a:ext cx="4663440" cy="1600200"/>
          </a:xfrm>
          <a:prstGeom prst="roundRect">
            <a:avLst>
              <a:gd name="adj" fmla="val 8000"/>
            </a:avLst>
          </a:prstGeom>
          <a:solidFill>
            <a:srgbClr val="FFFFFF"/>
          </a:solidFill>
          <a:ln w="12700">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766560" y="1874519"/>
            <a:ext cx="54864" cy="1600200"/>
          </a:xfrm>
          <a:prstGeom prst="rect">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95160" y="2011680"/>
            <a:ext cx="4297680" cy="1371600"/>
          </a:xfrm>
          <a:prstGeom prst="rect">
            <a:avLst/>
          </a:prstGeom>
          <a:noFill/>
        </p:spPr>
        <p:txBody>
          <a:bodyPr wrap="square">
            <a:spAutoFit/>
          </a:bodyPr>
          <a:lstStyle/>
          <a:p>
            <a:pPr algn="l">
              <a:spcBef>
                <a:spcPts val="0"/>
              </a:spcBef>
              <a:spcAft>
                <a:spcPts val="400"/>
              </a:spcAft>
            </a:pPr>
            <a:r>
              <a:rPr sz="1450" b="1" i="0">
                <a:solidFill>
                  <a:srgbClr val="16222F"/>
                </a:solidFill>
                <a:latin typeface="Calibri"/>
              </a:rPr>
              <a:t>Antioxidant (measured DPPH)</a:t>
            </a:r>
          </a:p>
          <a:p>
            <a:pPr algn="l">
              <a:spcAft>
                <a:spcPts val="300"/>
              </a:spcAft>
            </a:pPr>
            <a:r>
              <a:rPr sz="1300" b="0">
                <a:solidFill>
                  <a:srgbClr val="16222F"/>
                </a:solidFill>
                <a:latin typeface="Consolas"/>
              </a:rPr>
              <a:t>n = 2,862   ·   R² 0.43   ·   ρ 0.636</a:t>
            </a:r>
          </a:p>
          <a:p>
            <a:pPr algn="l">
              <a:spcBef>
                <a:spcPts val="0"/>
              </a:spcBef>
              <a:spcAft>
                <a:spcPts val="0"/>
              </a:spcAft>
            </a:pPr>
            <a:r>
              <a:rPr sz="1150" b="0" i="0">
                <a:solidFill>
                  <a:srgbClr val="5A6B7B"/>
                </a:solidFill>
                <a:latin typeface="Calibri"/>
              </a:rPr>
              <a:t>Replaces a prior text-based proxy that fit poorly (R² ≈ 0.25).</a:t>
            </a:r>
          </a:p>
        </p:txBody>
      </p:sp>
      <p:sp>
        <p:nvSpPr>
          <p:cNvPr id="9" name="TextBox 8"/>
          <p:cNvSpPr txBox="1"/>
          <p:nvPr/>
        </p:nvSpPr>
        <p:spPr>
          <a:xfrm>
            <a:off x="822960" y="4023360"/>
            <a:ext cx="5120640" cy="365760"/>
          </a:xfrm>
          <a:prstGeom prst="rect">
            <a:avLst/>
          </a:prstGeom>
          <a:noFill/>
        </p:spPr>
        <p:txBody>
          <a:bodyPr wrap="square">
            <a:spAutoFit/>
          </a:bodyPr>
          <a:lstStyle/>
          <a:p>
            <a:pPr algn="l">
              <a:spcBef>
                <a:spcPts val="0"/>
              </a:spcBef>
              <a:spcAft>
                <a:spcPts val="600"/>
              </a:spcAft>
            </a:pPr>
            <a:r>
              <a:rPr sz="1300" b="1" i="0">
                <a:solidFill>
                  <a:srgbClr val="16222F"/>
                </a:solidFill>
                <a:latin typeface="Calibri"/>
              </a:rPr>
              <a:t>Druggability score — CNS drugs vs polar non-drugs</a:t>
            </a:r>
          </a:p>
        </p:txBody>
      </p:sp>
      <p:sp>
        <p:nvSpPr>
          <p:cNvPr id="10" name="TextBox 9"/>
          <p:cNvSpPr txBox="1"/>
          <p:nvPr/>
        </p:nvSpPr>
        <p:spPr>
          <a:xfrm>
            <a:off x="822960" y="4416552"/>
            <a:ext cx="1554480" cy="274320"/>
          </a:xfrm>
          <a:prstGeom prst="rect">
            <a:avLst/>
          </a:prstGeom>
          <a:noFill/>
        </p:spPr>
        <p:txBody>
          <a:bodyPr wrap="square">
            <a:spAutoFit/>
          </a:bodyPr>
          <a:lstStyle/>
          <a:p>
            <a:pPr algn="l">
              <a:spcBef>
                <a:spcPts val="0"/>
              </a:spcBef>
              <a:spcAft>
                <a:spcPts val="600"/>
              </a:spcAft>
            </a:pPr>
            <a:r>
              <a:rPr sz="1150" b="0" i="0">
                <a:solidFill>
                  <a:srgbClr val="5A6B7B"/>
                </a:solidFill>
                <a:latin typeface="Consolas"/>
              </a:rPr>
              <a:t>Caffeine</a:t>
            </a:r>
          </a:p>
        </p:txBody>
      </p:sp>
      <p:sp>
        <p:nvSpPr>
          <p:cNvPr id="11" name="Rectangle 10"/>
          <p:cNvSpPr/>
          <p:nvPr/>
        </p:nvSpPr>
        <p:spPr>
          <a:xfrm>
            <a:off x="2468880" y="4453127"/>
            <a:ext cx="3291840" cy="201168"/>
          </a:xfrm>
          <a:prstGeom prst="rect">
            <a:avLst/>
          </a:prstGeom>
          <a:solidFill>
            <a:srgbClr val="E9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468880" y="4453127"/>
            <a:ext cx="2830982" cy="201168"/>
          </a:xfrm>
          <a:prstGeom prst="rect">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06440" y="4416552"/>
            <a:ext cx="548640" cy="274320"/>
          </a:xfrm>
          <a:prstGeom prst="rect">
            <a:avLst/>
          </a:prstGeom>
          <a:noFill/>
        </p:spPr>
        <p:txBody>
          <a:bodyPr wrap="square">
            <a:spAutoFit/>
          </a:bodyPr>
          <a:lstStyle/>
          <a:p>
            <a:pPr algn="l">
              <a:spcBef>
                <a:spcPts val="0"/>
              </a:spcBef>
              <a:spcAft>
                <a:spcPts val="600"/>
              </a:spcAft>
            </a:pPr>
            <a:r>
              <a:rPr sz="1150" b="0" i="0">
                <a:solidFill>
                  <a:srgbClr val="16222F"/>
                </a:solidFill>
                <a:latin typeface="Consolas"/>
              </a:rPr>
              <a:t>86</a:t>
            </a:r>
          </a:p>
        </p:txBody>
      </p:sp>
      <p:sp>
        <p:nvSpPr>
          <p:cNvPr id="14" name="TextBox 13"/>
          <p:cNvSpPr txBox="1"/>
          <p:nvPr/>
        </p:nvSpPr>
        <p:spPr>
          <a:xfrm>
            <a:off x="822960" y="4800600"/>
            <a:ext cx="1554480" cy="274320"/>
          </a:xfrm>
          <a:prstGeom prst="rect">
            <a:avLst/>
          </a:prstGeom>
          <a:noFill/>
        </p:spPr>
        <p:txBody>
          <a:bodyPr wrap="square">
            <a:spAutoFit/>
          </a:bodyPr>
          <a:lstStyle/>
          <a:p>
            <a:pPr algn="l">
              <a:spcBef>
                <a:spcPts val="0"/>
              </a:spcBef>
              <a:spcAft>
                <a:spcPts val="600"/>
              </a:spcAft>
            </a:pPr>
            <a:r>
              <a:rPr sz="1150" b="0" i="0">
                <a:solidFill>
                  <a:srgbClr val="5A6B7B"/>
                </a:solidFill>
                <a:latin typeface="Consolas"/>
              </a:rPr>
              <a:t>Donepezil</a:t>
            </a:r>
          </a:p>
        </p:txBody>
      </p:sp>
      <p:sp>
        <p:nvSpPr>
          <p:cNvPr id="15" name="Rectangle 14"/>
          <p:cNvSpPr/>
          <p:nvPr/>
        </p:nvSpPr>
        <p:spPr>
          <a:xfrm>
            <a:off x="2468880" y="4837175"/>
            <a:ext cx="3291840" cy="201168"/>
          </a:xfrm>
          <a:prstGeom prst="rect">
            <a:avLst/>
          </a:prstGeom>
          <a:solidFill>
            <a:srgbClr val="E9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468880" y="4837175"/>
            <a:ext cx="2600553" cy="201168"/>
          </a:xfrm>
          <a:prstGeom prst="rect">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06440" y="4800600"/>
            <a:ext cx="548640" cy="274320"/>
          </a:xfrm>
          <a:prstGeom prst="rect">
            <a:avLst/>
          </a:prstGeom>
          <a:noFill/>
        </p:spPr>
        <p:txBody>
          <a:bodyPr wrap="square">
            <a:spAutoFit/>
          </a:bodyPr>
          <a:lstStyle/>
          <a:p>
            <a:pPr algn="l">
              <a:spcBef>
                <a:spcPts val="0"/>
              </a:spcBef>
              <a:spcAft>
                <a:spcPts val="600"/>
              </a:spcAft>
            </a:pPr>
            <a:r>
              <a:rPr sz="1150" b="0" i="0">
                <a:solidFill>
                  <a:srgbClr val="16222F"/>
                </a:solidFill>
                <a:latin typeface="Consolas"/>
              </a:rPr>
              <a:t>79</a:t>
            </a:r>
          </a:p>
        </p:txBody>
      </p:sp>
      <p:sp>
        <p:nvSpPr>
          <p:cNvPr id="18" name="TextBox 17"/>
          <p:cNvSpPr txBox="1"/>
          <p:nvPr/>
        </p:nvSpPr>
        <p:spPr>
          <a:xfrm>
            <a:off x="822960" y="5184648"/>
            <a:ext cx="1554480" cy="274320"/>
          </a:xfrm>
          <a:prstGeom prst="rect">
            <a:avLst/>
          </a:prstGeom>
          <a:noFill/>
        </p:spPr>
        <p:txBody>
          <a:bodyPr wrap="square">
            <a:spAutoFit/>
          </a:bodyPr>
          <a:lstStyle/>
          <a:p>
            <a:pPr algn="l">
              <a:spcBef>
                <a:spcPts val="0"/>
              </a:spcBef>
              <a:spcAft>
                <a:spcPts val="600"/>
              </a:spcAft>
            </a:pPr>
            <a:r>
              <a:rPr sz="1150" b="0" i="0">
                <a:solidFill>
                  <a:srgbClr val="5A6B7B"/>
                </a:solidFill>
                <a:latin typeface="Consolas"/>
              </a:rPr>
              <a:t>Sucrose</a:t>
            </a:r>
          </a:p>
        </p:txBody>
      </p:sp>
      <p:sp>
        <p:nvSpPr>
          <p:cNvPr id="19" name="Rectangle 18"/>
          <p:cNvSpPr/>
          <p:nvPr/>
        </p:nvSpPr>
        <p:spPr>
          <a:xfrm>
            <a:off x="2468880" y="5221223"/>
            <a:ext cx="3291840" cy="201168"/>
          </a:xfrm>
          <a:prstGeom prst="rect">
            <a:avLst/>
          </a:prstGeom>
          <a:solidFill>
            <a:srgbClr val="E9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468880" y="5221223"/>
            <a:ext cx="1514246" cy="201168"/>
          </a:xfrm>
          <a:prstGeom prst="rect">
            <a:avLst/>
          </a:prstGeom>
          <a:solidFill>
            <a:srgbClr val="D55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806440" y="5184648"/>
            <a:ext cx="548640" cy="274320"/>
          </a:xfrm>
          <a:prstGeom prst="rect">
            <a:avLst/>
          </a:prstGeom>
          <a:noFill/>
        </p:spPr>
        <p:txBody>
          <a:bodyPr wrap="square">
            <a:spAutoFit/>
          </a:bodyPr>
          <a:lstStyle/>
          <a:p>
            <a:pPr algn="l">
              <a:spcBef>
                <a:spcPts val="0"/>
              </a:spcBef>
              <a:spcAft>
                <a:spcPts val="600"/>
              </a:spcAft>
            </a:pPr>
            <a:r>
              <a:rPr sz="1150" b="0" i="0">
                <a:solidFill>
                  <a:srgbClr val="16222F"/>
                </a:solidFill>
                <a:latin typeface="Consolas"/>
              </a:rPr>
              <a:t>46</a:t>
            </a:r>
          </a:p>
        </p:txBody>
      </p:sp>
      <p:sp>
        <p:nvSpPr>
          <p:cNvPr id="22" name="TextBox 21"/>
          <p:cNvSpPr txBox="1"/>
          <p:nvPr/>
        </p:nvSpPr>
        <p:spPr>
          <a:xfrm>
            <a:off x="822960" y="5568696"/>
            <a:ext cx="1554480" cy="274320"/>
          </a:xfrm>
          <a:prstGeom prst="rect">
            <a:avLst/>
          </a:prstGeom>
          <a:noFill/>
        </p:spPr>
        <p:txBody>
          <a:bodyPr wrap="square">
            <a:spAutoFit/>
          </a:bodyPr>
          <a:lstStyle/>
          <a:p>
            <a:pPr algn="l">
              <a:spcBef>
                <a:spcPts val="0"/>
              </a:spcBef>
              <a:spcAft>
                <a:spcPts val="600"/>
              </a:spcAft>
            </a:pPr>
            <a:r>
              <a:rPr sz="1150" b="0" i="0">
                <a:solidFill>
                  <a:srgbClr val="5A6B7B"/>
                </a:solidFill>
                <a:latin typeface="Consolas"/>
              </a:rPr>
              <a:t>Atorvastatin</a:t>
            </a:r>
          </a:p>
        </p:txBody>
      </p:sp>
      <p:sp>
        <p:nvSpPr>
          <p:cNvPr id="23" name="Rectangle 22"/>
          <p:cNvSpPr/>
          <p:nvPr/>
        </p:nvSpPr>
        <p:spPr>
          <a:xfrm>
            <a:off x="2468880" y="5605271"/>
            <a:ext cx="3291840" cy="201168"/>
          </a:xfrm>
          <a:prstGeom prst="rect">
            <a:avLst/>
          </a:prstGeom>
          <a:solidFill>
            <a:srgbClr val="E9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468880" y="5605271"/>
            <a:ext cx="790041" cy="201168"/>
          </a:xfrm>
          <a:prstGeom prst="rect">
            <a:avLst/>
          </a:prstGeom>
          <a:solidFill>
            <a:srgbClr val="D55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06440" y="5568696"/>
            <a:ext cx="548640" cy="274320"/>
          </a:xfrm>
          <a:prstGeom prst="rect">
            <a:avLst/>
          </a:prstGeom>
          <a:noFill/>
        </p:spPr>
        <p:txBody>
          <a:bodyPr wrap="square">
            <a:spAutoFit/>
          </a:bodyPr>
          <a:lstStyle/>
          <a:p>
            <a:pPr algn="l">
              <a:spcBef>
                <a:spcPts val="0"/>
              </a:spcBef>
              <a:spcAft>
                <a:spcPts val="600"/>
              </a:spcAft>
            </a:pPr>
            <a:r>
              <a:rPr sz="1150" b="0" i="0">
                <a:solidFill>
                  <a:srgbClr val="16222F"/>
                </a:solidFill>
                <a:latin typeface="Consolas"/>
              </a:rPr>
              <a:t>24</a:t>
            </a:r>
          </a:p>
        </p:txBody>
      </p:sp>
      <p:sp>
        <p:nvSpPr>
          <p:cNvPr id="26" name="Rounded Rectangle 25"/>
          <p:cNvSpPr/>
          <p:nvPr/>
        </p:nvSpPr>
        <p:spPr>
          <a:xfrm>
            <a:off x="6766560" y="4023360"/>
            <a:ext cx="4663440" cy="1965960"/>
          </a:xfrm>
          <a:prstGeom prst="roundRect">
            <a:avLst>
              <a:gd name="adj" fmla="val 6000"/>
            </a:avLst>
          </a:prstGeom>
          <a:solidFill>
            <a:srgbClr val="EE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766560" y="4023360"/>
            <a:ext cx="54864" cy="1965960"/>
          </a:xfrm>
          <a:prstGeom prst="rect">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31152" y="4078224"/>
            <a:ext cx="4389120" cy="1856231"/>
          </a:xfrm>
          <a:prstGeom prst="rect">
            <a:avLst/>
          </a:prstGeom>
          <a:noFill/>
        </p:spPr>
        <p:txBody>
          <a:bodyPr wrap="square" anchor="ctr">
            <a:spAutoFit/>
          </a:bodyPr>
          <a:lstStyle/>
          <a:p>
            <a:pPr algn="l">
              <a:spcAft>
                <a:spcPts val="0"/>
              </a:spcAft>
            </a:pPr>
            <a:r>
              <a:rPr sz="1250" b="1">
                <a:solidFill>
                  <a:srgbClr val="009E73"/>
                </a:solidFill>
                <a:latin typeface="Calibri"/>
              </a:rPr>
              <a:t>In plain terms:  </a:t>
            </a:r>
            <a:r>
              <a:rPr sz="1250" b="0">
                <a:solidFill>
                  <a:srgbClr val="16222F"/>
                </a:solidFill>
                <a:latin typeface="Calibri"/>
              </a:rPr>
              <a:t>R² and Spearman measure how closely predicted strength tracks the real measured strength (1.0 = perfect ordering). For druggability, higher = more drug-like for the brain — caffeine and donepezil score high; table sugar and a cholesterol drug (not brain-aimed) score low, as expected.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TextBox 1"/>
          <p:cNvSpPr txBox="1"/>
          <p:nvPr/>
        </p:nvSpPr>
        <p:spPr>
          <a:xfrm>
            <a:off x="732220" y="593660"/>
            <a:ext cx="10515600" cy="365760"/>
          </a:xfrm>
          <a:prstGeom prst="rect">
            <a:avLst/>
          </a:prstGeom>
          <a:noFill/>
        </p:spPr>
        <p:txBody>
          <a:bodyPr wrap="square">
            <a:spAutoFit/>
          </a:bodyPr>
          <a:lstStyle/>
          <a:p>
            <a:pPr algn="l">
              <a:spcBef>
                <a:spcPts val="0"/>
              </a:spcBef>
              <a:spcAft>
                <a:spcPts val="0"/>
              </a:spcAft>
            </a:pPr>
            <a:r>
              <a:rPr sz="1200" b="1" i="0" dirty="0">
                <a:solidFill>
                  <a:srgbClr val="56B4E9"/>
                </a:solidFill>
                <a:latin typeface="Consolas"/>
              </a:rPr>
              <a:t>10 · DOES THE MODEL EARN ITS KEEP?</a:t>
            </a:r>
          </a:p>
        </p:txBody>
      </p:sp>
      <p:sp>
        <p:nvSpPr>
          <p:cNvPr id="3" name="Rectangle 2"/>
          <p:cNvSpPr/>
          <p:nvPr/>
        </p:nvSpPr>
        <p:spPr>
          <a:xfrm>
            <a:off x="822960" y="566928"/>
            <a:ext cx="457200" cy="41148"/>
          </a:xfrm>
          <a:prstGeom prst="rect">
            <a:avLst/>
          </a:prstGeom>
          <a:solidFill>
            <a:srgbClr val="56B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868680"/>
            <a:ext cx="10515600" cy="1188720"/>
          </a:xfrm>
          <a:prstGeom prst="rect">
            <a:avLst/>
          </a:prstGeom>
          <a:noFill/>
        </p:spPr>
        <p:txBody>
          <a:bodyPr wrap="square">
            <a:spAutoFit/>
          </a:bodyPr>
          <a:lstStyle/>
          <a:p>
            <a:pPr algn="l">
              <a:spcBef>
                <a:spcPts val="0"/>
              </a:spcBef>
              <a:spcAft>
                <a:spcPts val="0"/>
              </a:spcAft>
            </a:pPr>
            <a:r>
              <a:rPr sz="3300" b="1" i="0" dirty="0">
                <a:solidFill>
                  <a:srgbClr val="FFFFFF"/>
                </a:solidFill>
                <a:latin typeface="Georgia"/>
              </a:rPr>
              <a:t>It beats 'just find the most similar known molecule'</a:t>
            </a:r>
          </a:p>
        </p:txBody>
      </p:sp>
      <p:sp>
        <p:nvSpPr>
          <p:cNvPr id="5" name="TextBox 4"/>
          <p:cNvSpPr txBox="1"/>
          <p:nvPr/>
        </p:nvSpPr>
        <p:spPr>
          <a:xfrm>
            <a:off x="822960" y="1783080"/>
            <a:ext cx="10424160" cy="731520"/>
          </a:xfrm>
          <a:prstGeom prst="rect">
            <a:avLst/>
          </a:prstGeom>
          <a:noFill/>
        </p:spPr>
        <p:txBody>
          <a:bodyPr wrap="square">
            <a:spAutoFit/>
          </a:bodyPr>
          <a:lstStyle/>
          <a:p>
            <a:pPr algn="l">
              <a:spcBef>
                <a:spcPts val="0"/>
              </a:spcBef>
              <a:spcAft>
                <a:spcPts val="600"/>
              </a:spcAft>
            </a:pPr>
            <a:r>
              <a:rPr sz="1550" b="0" i="0">
                <a:solidFill>
                  <a:srgbClr val="EAF1F7"/>
                </a:solidFill>
                <a:latin typeface="Calibri"/>
              </a:rPr>
              <a:t>We compared the model against two simpler methods under the identical fair test.</a:t>
            </a:r>
          </a:p>
        </p:txBody>
      </p:sp>
      <p:sp>
        <p:nvSpPr>
          <p:cNvPr id="6" name="TextBox 5"/>
          <p:cNvSpPr txBox="1"/>
          <p:nvPr/>
        </p:nvSpPr>
        <p:spPr>
          <a:xfrm>
            <a:off x="822960" y="2715768"/>
            <a:ext cx="3108960" cy="365760"/>
          </a:xfrm>
          <a:prstGeom prst="rect">
            <a:avLst/>
          </a:prstGeom>
          <a:noFill/>
        </p:spPr>
        <p:txBody>
          <a:bodyPr wrap="square">
            <a:spAutoFit/>
          </a:bodyPr>
          <a:lstStyle/>
          <a:p>
            <a:pPr algn="l">
              <a:spcBef>
                <a:spcPts val="0"/>
              </a:spcBef>
              <a:spcAft>
                <a:spcPts val="600"/>
              </a:spcAft>
            </a:pPr>
            <a:r>
              <a:rPr sz="1400" b="0" i="0">
                <a:solidFill>
                  <a:srgbClr val="EAF1F7"/>
                </a:solidFill>
                <a:latin typeface="Calibri"/>
              </a:rPr>
              <a:t>Our ensemble</a:t>
            </a:r>
          </a:p>
        </p:txBody>
      </p:sp>
      <p:sp>
        <p:nvSpPr>
          <p:cNvPr id="7" name="Rectangle 6"/>
          <p:cNvSpPr/>
          <p:nvPr/>
        </p:nvSpPr>
        <p:spPr>
          <a:xfrm>
            <a:off x="4114800" y="2743200"/>
            <a:ext cx="5669280" cy="310896"/>
          </a:xfrm>
          <a:prstGeom prst="rect">
            <a:avLst/>
          </a:prstGeom>
          <a:solidFill>
            <a:srgbClr val="1327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0" y="2743200"/>
            <a:ext cx="4671486" cy="310896"/>
          </a:xfrm>
          <a:prstGeom prst="rect">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921240" y="2715768"/>
            <a:ext cx="1280160" cy="365760"/>
          </a:xfrm>
          <a:prstGeom prst="rect">
            <a:avLst/>
          </a:prstGeom>
          <a:noFill/>
        </p:spPr>
        <p:txBody>
          <a:bodyPr wrap="square">
            <a:spAutoFit/>
          </a:bodyPr>
          <a:lstStyle/>
          <a:p>
            <a:pPr algn="l">
              <a:spcBef>
                <a:spcPts val="0"/>
              </a:spcBef>
              <a:spcAft>
                <a:spcPts val="600"/>
              </a:spcAft>
            </a:pPr>
            <a:r>
              <a:rPr sz="1400" b="1" i="0">
                <a:solidFill>
                  <a:srgbClr val="FFFFFF"/>
                </a:solidFill>
                <a:latin typeface="Consolas"/>
              </a:rPr>
              <a:t>0.912</a:t>
            </a:r>
          </a:p>
        </p:txBody>
      </p:sp>
      <p:sp>
        <p:nvSpPr>
          <p:cNvPr id="10" name="TextBox 9"/>
          <p:cNvSpPr txBox="1"/>
          <p:nvPr/>
        </p:nvSpPr>
        <p:spPr>
          <a:xfrm>
            <a:off x="822960" y="3282696"/>
            <a:ext cx="3108960" cy="365760"/>
          </a:xfrm>
          <a:prstGeom prst="rect">
            <a:avLst/>
          </a:prstGeom>
          <a:noFill/>
        </p:spPr>
        <p:txBody>
          <a:bodyPr wrap="square">
            <a:spAutoFit/>
          </a:bodyPr>
          <a:lstStyle/>
          <a:p>
            <a:pPr algn="l">
              <a:spcBef>
                <a:spcPts val="0"/>
              </a:spcBef>
              <a:spcAft>
                <a:spcPts val="600"/>
              </a:spcAft>
            </a:pPr>
            <a:r>
              <a:rPr sz="1400" b="0" i="0">
                <a:solidFill>
                  <a:srgbClr val="EAF1F7"/>
                </a:solidFill>
                <a:latin typeface="Calibri"/>
              </a:rPr>
              <a:t>Nearest-neighbour lookup</a:t>
            </a:r>
          </a:p>
        </p:txBody>
      </p:sp>
      <p:sp>
        <p:nvSpPr>
          <p:cNvPr id="11" name="Rectangle 10"/>
          <p:cNvSpPr/>
          <p:nvPr/>
        </p:nvSpPr>
        <p:spPr>
          <a:xfrm>
            <a:off x="4114800" y="3310128"/>
            <a:ext cx="5669280" cy="310896"/>
          </a:xfrm>
          <a:prstGeom prst="rect">
            <a:avLst/>
          </a:prstGeom>
          <a:solidFill>
            <a:srgbClr val="1327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114800" y="3310128"/>
            <a:ext cx="4161251" cy="310896"/>
          </a:xfrm>
          <a:prstGeom prst="rect">
            <a:avLst/>
          </a:prstGeom>
          <a:solidFill>
            <a:srgbClr val="56B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921240" y="3282696"/>
            <a:ext cx="1280160" cy="365760"/>
          </a:xfrm>
          <a:prstGeom prst="rect">
            <a:avLst/>
          </a:prstGeom>
          <a:noFill/>
        </p:spPr>
        <p:txBody>
          <a:bodyPr wrap="square">
            <a:spAutoFit/>
          </a:bodyPr>
          <a:lstStyle/>
          <a:p>
            <a:pPr algn="l">
              <a:spcBef>
                <a:spcPts val="0"/>
              </a:spcBef>
              <a:spcAft>
                <a:spcPts val="600"/>
              </a:spcAft>
            </a:pPr>
            <a:r>
              <a:rPr sz="1400" b="1" i="0">
                <a:solidFill>
                  <a:srgbClr val="FFFFFF"/>
                </a:solidFill>
                <a:latin typeface="Consolas"/>
              </a:rPr>
              <a:t>0.867</a:t>
            </a:r>
          </a:p>
        </p:txBody>
      </p:sp>
      <p:sp>
        <p:nvSpPr>
          <p:cNvPr id="14" name="TextBox 13"/>
          <p:cNvSpPr txBox="1"/>
          <p:nvPr/>
        </p:nvSpPr>
        <p:spPr>
          <a:xfrm>
            <a:off x="822960" y="3849624"/>
            <a:ext cx="3108960" cy="365760"/>
          </a:xfrm>
          <a:prstGeom prst="rect">
            <a:avLst/>
          </a:prstGeom>
          <a:noFill/>
        </p:spPr>
        <p:txBody>
          <a:bodyPr wrap="square">
            <a:spAutoFit/>
          </a:bodyPr>
          <a:lstStyle/>
          <a:p>
            <a:pPr algn="l">
              <a:spcBef>
                <a:spcPts val="0"/>
              </a:spcBef>
              <a:spcAft>
                <a:spcPts val="600"/>
              </a:spcAft>
            </a:pPr>
            <a:r>
              <a:rPr sz="1400" b="0" i="0">
                <a:solidFill>
                  <a:srgbClr val="EAF1F7"/>
                </a:solidFill>
                <a:latin typeface="Calibri"/>
              </a:rPr>
              <a:t>Simple linear model</a:t>
            </a:r>
          </a:p>
        </p:txBody>
      </p:sp>
      <p:sp>
        <p:nvSpPr>
          <p:cNvPr id="15" name="Rectangle 14"/>
          <p:cNvSpPr/>
          <p:nvPr/>
        </p:nvSpPr>
        <p:spPr>
          <a:xfrm>
            <a:off x="4114800" y="3877056"/>
            <a:ext cx="5669280" cy="310896"/>
          </a:xfrm>
          <a:prstGeom prst="rect">
            <a:avLst/>
          </a:prstGeom>
          <a:solidFill>
            <a:srgbClr val="1327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114800" y="3877056"/>
            <a:ext cx="3492276" cy="310896"/>
          </a:xfrm>
          <a:prstGeom prst="rect">
            <a:avLst/>
          </a:prstGeom>
          <a:solidFill>
            <a:srgbClr val="E6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921240" y="3849624"/>
            <a:ext cx="1280160" cy="365760"/>
          </a:xfrm>
          <a:prstGeom prst="rect">
            <a:avLst/>
          </a:prstGeom>
          <a:noFill/>
        </p:spPr>
        <p:txBody>
          <a:bodyPr wrap="square">
            <a:spAutoFit/>
          </a:bodyPr>
          <a:lstStyle/>
          <a:p>
            <a:pPr algn="l">
              <a:spcBef>
                <a:spcPts val="0"/>
              </a:spcBef>
              <a:spcAft>
                <a:spcPts val="600"/>
              </a:spcAft>
            </a:pPr>
            <a:r>
              <a:rPr sz="1400" b="1" i="0">
                <a:solidFill>
                  <a:srgbClr val="FFFFFF"/>
                </a:solidFill>
                <a:latin typeface="Consolas"/>
              </a:rPr>
              <a:t>0.808</a:t>
            </a:r>
          </a:p>
        </p:txBody>
      </p:sp>
      <p:sp>
        <p:nvSpPr>
          <p:cNvPr id="18" name="TextBox 17"/>
          <p:cNvSpPr txBox="1"/>
          <p:nvPr/>
        </p:nvSpPr>
        <p:spPr>
          <a:xfrm>
            <a:off x="4114800" y="4462272"/>
            <a:ext cx="5669280" cy="274320"/>
          </a:xfrm>
          <a:prstGeom prst="rect">
            <a:avLst/>
          </a:prstGeom>
          <a:noFill/>
        </p:spPr>
        <p:txBody>
          <a:bodyPr wrap="square">
            <a:spAutoFit/>
          </a:bodyPr>
          <a:lstStyle/>
          <a:p>
            <a:pPr algn="ctr">
              <a:spcAft>
                <a:spcPts val="600"/>
              </a:spcAft>
            </a:pPr>
            <a:r>
              <a:rPr sz="1000" b="0">
                <a:solidFill>
                  <a:srgbClr val="56B4E9"/>
                </a:solidFill>
                <a:latin typeface="Consolas"/>
              </a:rPr>
              <a:t>0.50</a:t>
            </a:r>
            <a:r>
              <a:rPr sz="1000" b="0">
                <a:solidFill>
                  <a:srgbClr val="5A6B7B"/>
                </a:solidFill>
                <a:latin typeface="Consolas"/>
              </a:rPr>
              <a:t>        mean AUROC (8 endpoints)        </a:t>
            </a:r>
            <a:r>
              <a:rPr sz="1000" b="0">
                <a:solidFill>
                  <a:srgbClr val="56B4E9"/>
                </a:solidFill>
                <a:latin typeface="Consolas"/>
              </a:rPr>
              <a:t>1.00</a:t>
            </a:r>
          </a:p>
        </p:txBody>
      </p:sp>
      <p:sp>
        <p:nvSpPr>
          <p:cNvPr id="19" name="TextBox 18"/>
          <p:cNvSpPr txBox="1"/>
          <p:nvPr/>
        </p:nvSpPr>
        <p:spPr>
          <a:xfrm>
            <a:off x="822960" y="5166360"/>
            <a:ext cx="10515600" cy="1280160"/>
          </a:xfrm>
          <a:prstGeom prst="rect">
            <a:avLst/>
          </a:prstGeom>
          <a:noFill/>
        </p:spPr>
        <p:txBody>
          <a:bodyPr wrap="square">
            <a:spAutoFit/>
          </a:bodyPr>
          <a:lstStyle/>
          <a:p>
            <a:pPr algn="l">
              <a:spcAft>
                <a:spcPts val="600"/>
              </a:spcAft>
            </a:pPr>
            <a:r>
              <a:rPr sz="1500" b="1">
                <a:solidFill>
                  <a:srgbClr val="009E73"/>
                </a:solidFill>
                <a:latin typeface="Calibri"/>
              </a:rPr>
              <a:t>The model wins on all 8 endpoints. </a:t>
            </a:r>
            <a:r>
              <a:rPr sz="1500" b="0">
                <a:solidFill>
                  <a:srgbClr val="EAF1F7"/>
                </a:solidFill>
                <a:latin typeface="Calibri"/>
              </a:rPr>
              <a:t>Beating a pure 'look up the most similar molecule' method is the key check that it has learned real structure–activity patterns — not just memorised look-alikes. This is also why it behaves differently from an LLM (next).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53160" y="663461"/>
            <a:ext cx="10515600" cy="365760"/>
          </a:xfrm>
          <a:prstGeom prst="rect">
            <a:avLst/>
          </a:prstGeom>
          <a:noFill/>
        </p:spPr>
        <p:txBody>
          <a:bodyPr wrap="square">
            <a:spAutoFit/>
          </a:bodyPr>
          <a:lstStyle/>
          <a:p>
            <a:pPr algn="l">
              <a:spcBef>
                <a:spcPts val="0"/>
              </a:spcBef>
              <a:spcAft>
                <a:spcPts val="0"/>
              </a:spcAft>
            </a:pPr>
            <a:r>
              <a:rPr sz="1200" b="1" i="0" dirty="0">
                <a:solidFill>
                  <a:srgbClr val="0072B2"/>
                </a:solidFill>
                <a:latin typeface="Consolas"/>
              </a:rPr>
              <a:t>11 · WE TESTED OUR OWN ASSUMPTIONS</a:t>
            </a:r>
          </a:p>
        </p:txBody>
      </p:sp>
      <p:sp>
        <p:nvSpPr>
          <p:cNvPr id="3" name="Rectangle 2"/>
          <p:cNvSpPr/>
          <p:nvPr/>
        </p:nvSpPr>
        <p:spPr>
          <a:xfrm>
            <a:off x="822960" y="566928"/>
            <a:ext cx="457200" cy="4114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868680"/>
            <a:ext cx="10515600" cy="1188720"/>
          </a:xfrm>
          <a:prstGeom prst="rect">
            <a:avLst/>
          </a:prstGeom>
          <a:noFill/>
        </p:spPr>
        <p:txBody>
          <a:bodyPr wrap="square">
            <a:spAutoFit/>
          </a:bodyPr>
          <a:lstStyle/>
          <a:p>
            <a:pPr algn="l">
              <a:spcBef>
                <a:spcPts val="0"/>
              </a:spcBef>
              <a:spcAft>
                <a:spcPts val="0"/>
              </a:spcAft>
            </a:pPr>
            <a:r>
              <a:rPr sz="3300" b="1" i="0">
                <a:solidFill>
                  <a:srgbClr val="16222F"/>
                </a:solidFill>
                <a:latin typeface="Georgia"/>
              </a:rPr>
              <a:t>Three known risks — measured, not just mentioned</a:t>
            </a:r>
          </a:p>
        </p:txBody>
      </p:sp>
      <p:sp>
        <p:nvSpPr>
          <p:cNvPr id="5" name="Rounded Rectangle 4"/>
          <p:cNvSpPr/>
          <p:nvPr/>
        </p:nvSpPr>
        <p:spPr>
          <a:xfrm>
            <a:off x="822960" y="1874519"/>
            <a:ext cx="3520440" cy="2926080"/>
          </a:xfrm>
          <a:prstGeom prst="roundRect">
            <a:avLst>
              <a:gd name="adj" fmla="val 8000"/>
            </a:avLst>
          </a:prstGeom>
          <a:solidFill>
            <a:srgbClr val="FFFFFF"/>
          </a:solidFill>
          <a:ln w="12700">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1874519"/>
            <a:ext cx="3520440" cy="54864"/>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103120"/>
            <a:ext cx="3108960" cy="2560320"/>
          </a:xfrm>
          <a:prstGeom prst="rect">
            <a:avLst/>
          </a:prstGeom>
          <a:noFill/>
        </p:spPr>
        <p:txBody>
          <a:bodyPr wrap="square">
            <a:spAutoFit/>
          </a:bodyPr>
          <a:lstStyle/>
          <a:p>
            <a:pPr algn="l">
              <a:spcBef>
                <a:spcPts val="0"/>
              </a:spcBef>
              <a:spcAft>
                <a:spcPts val="600"/>
              </a:spcAft>
            </a:pPr>
            <a:r>
              <a:rPr sz="1500" b="1" i="0">
                <a:solidFill>
                  <a:srgbClr val="16222F"/>
                </a:solidFill>
                <a:latin typeface="Calibri"/>
              </a:rPr>
              <a:t>Definition of 'active'</a:t>
            </a:r>
          </a:p>
          <a:p>
            <a:pPr algn="l">
              <a:spcBef>
                <a:spcPts val="0"/>
              </a:spcBef>
              <a:spcAft>
                <a:spcPts val="0"/>
              </a:spcAft>
            </a:pPr>
            <a:r>
              <a:rPr sz="1250" b="0" i="0">
                <a:solidFill>
                  <a:srgbClr val="5A6B7B"/>
                </a:solidFill>
                <a:latin typeface="Calibri"/>
              </a:rPr>
              <a:t>We re-labelled at several cut-offs and retrained. Results barely moved (max AUROC change 0.109); the deployed choice is not cherry-picked.</a:t>
            </a:r>
          </a:p>
        </p:txBody>
      </p:sp>
      <p:sp>
        <p:nvSpPr>
          <p:cNvPr id="8" name="Rounded Rectangle 7"/>
          <p:cNvSpPr/>
          <p:nvPr/>
        </p:nvSpPr>
        <p:spPr>
          <a:xfrm>
            <a:off x="4526280" y="1874519"/>
            <a:ext cx="3520440" cy="2926080"/>
          </a:xfrm>
          <a:prstGeom prst="roundRect">
            <a:avLst>
              <a:gd name="adj" fmla="val 8000"/>
            </a:avLst>
          </a:prstGeom>
          <a:solidFill>
            <a:srgbClr val="FFFFFF"/>
          </a:solidFill>
          <a:ln w="12700">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26280" y="1874519"/>
            <a:ext cx="3520440" cy="54864"/>
          </a:xfrm>
          <a:prstGeom prst="rect">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54880" y="2103120"/>
            <a:ext cx="3108960" cy="2560320"/>
          </a:xfrm>
          <a:prstGeom prst="rect">
            <a:avLst/>
          </a:prstGeom>
          <a:noFill/>
        </p:spPr>
        <p:txBody>
          <a:bodyPr wrap="square">
            <a:spAutoFit/>
          </a:bodyPr>
          <a:lstStyle/>
          <a:p>
            <a:pPr algn="l">
              <a:spcBef>
                <a:spcPts val="0"/>
              </a:spcBef>
              <a:spcAft>
                <a:spcPts val="600"/>
              </a:spcAft>
            </a:pPr>
            <a:r>
              <a:rPr sz="1500" b="1" i="0">
                <a:solidFill>
                  <a:srgbClr val="16222F"/>
                </a:solidFill>
                <a:latin typeface="Calibri"/>
              </a:rPr>
              <a:t>Mixing experiment types</a:t>
            </a:r>
          </a:p>
          <a:p>
            <a:pPr algn="l">
              <a:spcBef>
                <a:spcPts val="0"/>
              </a:spcBef>
              <a:spcAft>
                <a:spcPts val="0"/>
              </a:spcAft>
            </a:pPr>
            <a:r>
              <a:rPr sz="1250" b="0" i="0">
                <a:solidFill>
                  <a:srgbClr val="5A6B7B"/>
                </a:solidFill>
                <a:latin typeface="Calibri"/>
              </a:rPr>
              <a:t>Retraining on one experiment type only vs the mix changed scores by ≤ 0.006 — mixing is safe on the common scale.</a:t>
            </a:r>
          </a:p>
        </p:txBody>
      </p:sp>
      <p:sp>
        <p:nvSpPr>
          <p:cNvPr id="11" name="Rounded Rectangle 10"/>
          <p:cNvSpPr/>
          <p:nvPr/>
        </p:nvSpPr>
        <p:spPr>
          <a:xfrm>
            <a:off x="8229600" y="1874519"/>
            <a:ext cx="3520440" cy="2926080"/>
          </a:xfrm>
          <a:prstGeom prst="roundRect">
            <a:avLst>
              <a:gd name="adj" fmla="val 8000"/>
            </a:avLst>
          </a:prstGeom>
          <a:solidFill>
            <a:srgbClr val="FFFFFF"/>
          </a:solidFill>
          <a:ln w="12700">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229600" y="1874519"/>
            <a:ext cx="3520440" cy="54864"/>
          </a:xfrm>
          <a:prstGeom prst="rect">
            <a:avLst/>
          </a:prstGeom>
          <a:solidFill>
            <a:srgbClr val="E6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58200" y="2103120"/>
            <a:ext cx="3108960" cy="2560320"/>
          </a:xfrm>
          <a:prstGeom prst="rect">
            <a:avLst/>
          </a:prstGeom>
          <a:noFill/>
        </p:spPr>
        <p:txBody>
          <a:bodyPr wrap="square">
            <a:spAutoFit/>
          </a:bodyPr>
          <a:lstStyle/>
          <a:p>
            <a:pPr algn="l">
              <a:spcBef>
                <a:spcPts val="0"/>
              </a:spcBef>
              <a:spcAft>
                <a:spcPts val="600"/>
              </a:spcAft>
            </a:pPr>
            <a:r>
              <a:rPr sz="1500" b="1" i="0">
                <a:solidFill>
                  <a:srgbClr val="16222F"/>
                </a:solidFill>
                <a:latin typeface="Calibri"/>
              </a:rPr>
              <a:t>Knowing its own limits</a:t>
            </a:r>
          </a:p>
          <a:p>
            <a:pPr algn="l">
              <a:spcBef>
                <a:spcPts val="0"/>
              </a:spcBef>
              <a:spcAft>
                <a:spcPts val="0"/>
              </a:spcAft>
            </a:pPr>
            <a:r>
              <a:rPr sz="1250" b="0" i="0">
                <a:solidFill>
                  <a:srgbClr val="5A6B7B"/>
                </a:solidFill>
                <a:latin typeface="Calibri"/>
              </a:rPr>
              <a:t>Accuracy falls smoothly as molecules get less similar to training (0.96 → 0.77). That is exactly why the 'out-of-domain' warning exists.</a:t>
            </a:r>
          </a:p>
        </p:txBody>
      </p:sp>
      <p:sp>
        <p:nvSpPr>
          <p:cNvPr id="14" name="Rounded Rectangle 13"/>
          <p:cNvSpPr/>
          <p:nvPr/>
        </p:nvSpPr>
        <p:spPr>
          <a:xfrm>
            <a:off x="822960" y="5074920"/>
            <a:ext cx="10607040" cy="1005840"/>
          </a:xfrm>
          <a:prstGeom prst="roundRect">
            <a:avLst>
              <a:gd name="adj" fmla="val 6000"/>
            </a:avLst>
          </a:prstGeom>
          <a:solidFill>
            <a:srgbClr val="EE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2960" y="5074920"/>
            <a:ext cx="54864" cy="1005840"/>
          </a:xfrm>
          <a:prstGeom prst="rect">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87552" y="5129783"/>
            <a:ext cx="10332719" cy="896112"/>
          </a:xfrm>
          <a:prstGeom prst="rect">
            <a:avLst/>
          </a:prstGeom>
          <a:noFill/>
        </p:spPr>
        <p:txBody>
          <a:bodyPr wrap="square" anchor="ctr">
            <a:spAutoFit/>
          </a:bodyPr>
          <a:lstStyle/>
          <a:p>
            <a:pPr algn="l">
              <a:spcAft>
                <a:spcPts val="0"/>
              </a:spcAft>
            </a:pPr>
            <a:r>
              <a:rPr sz="1250" b="1">
                <a:solidFill>
                  <a:srgbClr val="009E73"/>
                </a:solidFill>
                <a:latin typeface="Calibri"/>
              </a:rPr>
              <a:t>In plain terms:  </a:t>
            </a:r>
            <a:r>
              <a:rPr sz="1250" b="0">
                <a:solidFill>
                  <a:srgbClr val="16222F"/>
                </a:solidFill>
                <a:latin typeface="Calibri"/>
              </a:rPr>
              <a:t>instead of just listing caveats, we re-ran the whole pipeline to put a number on each risk. All three came back reassuring — and where the model is weak (very novel molecules), it warns you rather than guessing confidently.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TextBox 1"/>
          <p:cNvSpPr txBox="1"/>
          <p:nvPr/>
        </p:nvSpPr>
        <p:spPr>
          <a:xfrm>
            <a:off x="760139" y="656481"/>
            <a:ext cx="10515600" cy="365760"/>
          </a:xfrm>
          <a:prstGeom prst="rect">
            <a:avLst/>
          </a:prstGeom>
          <a:noFill/>
        </p:spPr>
        <p:txBody>
          <a:bodyPr wrap="square">
            <a:spAutoFit/>
          </a:bodyPr>
          <a:lstStyle/>
          <a:p>
            <a:pPr algn="l">
              <a:spcBef>
                <a:spcPts val="0"/>
              </a:spcBef>
              <a:spcAft>
                <a:spcPts val="0"/>
              </a:spcAft>
            </a:pPr>
            <a:r>
              <a:rPr sz="1200" b="1" i="0" dirty="0">
                <a:solidFill>
                  <a:srgbClr val="56B4E9"/>
                </a:solidFill>
                <a:latin typeface="Consolas"/>
              </a:rPr>
              <a:t>12 · "WHY NOT JUST ASK CHATGPT?"</a:t>
            </a:r>
          </a:p>
        </p:txBody>
      </p:sp>
      <p:sp>
        <p:nvSpPr>
          <p:cNvPr id="3" name="Rectangle 2"/>
          <p:cNvSpPr/>
          <p:nvPr/>
        </p:nvSpPr>
        <p:spPr>
          <a:xfrm>
            <a:off x="822960" y="566928"/>
            <a:ext cx="457200" cy="41148"/>
          </a:xfrm>
          <a:prstGeom prst="rect">
            <a:avLst/>
          </a:prstGeom>
          <a:solidFill>
            <a:srgbClr val="56B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868680"/>
            <a:ext cx="10515600" cy="1107996"/>
          </a:xfrm>
          <a:prstGeom prst="rect">
            <a:avLst/>
          </a:prstGeom>
          <a:noFill/>
        </p:spPr>
        <p:txBody>
          <a:bodyPr wrap="square">
            <a:spAutoFit/>
          </a:bodyPr>
          <a:lstStyle/>
          <a:p>
            <a:pPr algn="l">
              <a:spcBef>
                <a:spcPts val="0"/>
              </a:spcBef>
              <a:spcAft>
                <a:spcPts val="0"/>
              </a:spcAft>
            </a:pPr>
            <a:r>
              <a:rPr sz="3300" b="1" i="0" dirty="0">
                <a:solidFill>
                  <a:srgbClr val="FFFFFF"/>
                </a:solidFill>
                <a:latin typeface="Georgia"/>
              </a:rPr>
              <a:t>We ran a fair, pre-registered contest</a:t>
            </a:r>
            <a:r>
              <a:rPr lang="en-US" sz="3300" b="1" dirty="0">
                <a:solidFill>
                  <a:srgbClr val="FFFFFF"/>
                </a:solidFill>
                <a:latin typeface="Georgia"/>
              </a:rPr>
              <a:t>,</a:t>
            </a:r>
            <a:r>
              <a:rPr sz="3300" b="1" i="0" dirty="0">
                <a:solidFill>
                  <a:srgbClr val="FFFFFF"/>
                </a:solidFill>
                <a:latin typeface="Georgia"/>
              </a:rPr>
              <a:t> here's what happened</a:t>
            </a:r>
          </a:p>
        </p:txBody>
      </p:sp>
      <p:graphicFrame>
        <p:nvGraphicFramePr>
          <p:cNvPr id="5" name="Table 4"/>
          <p:cNvGraphicFramePr>
            <a:graphicFrameLocks noGrp="1"/>
          </p:cNvGraphicFramePr>
          <p:nvPr>
            <p:extLst>
              <p:ext uri="{D42A27DB-BD31-4B8C-83A1-F6EECF244321}">
                <p14:modId xmlns:p14="http://schemas.microsoft.com/office/powerpoint/2010/main" val="1658282364"/>
              </p:ext>
            </p:extLst>
          </p:nvPr>
        </p:nvGraphicFramePr>
        <p:xfrm>
          <a:off x="822262" y="2162556"/>
          <a:ext cx="6949436" cy="2194560"/>
        </p:xfrm>
        <a:graphic>
          <a:graphicData uri="http://schemas.openxmlformats.org/drawingml/2006/table">
            <a:tbl>
              <a:tblPr>
                <a:tableStyleId>{5C22544A-7EE6-4342-B048-85BDC9FD1C3A}</a:tableStyleId>
              </a:tblPr>
              <a:tblGrid>
                <a:gridCol w="1845944">
                  <a:extLst>
                    <a:ext uri="{9D8B030D-6E8A-4147-A177-3AD203B41FA5}">
                      <a16:colId xmlns:a16="http://schemas.microsoft.com/office/drawing/2014/main" val="20000"/>
                    </a:ext>
                  </a:extLst>
                </a:gridCol>
                <a:gridCol w="977264">
                  <a:extLst>
                    <a:ext uri="{9D8B030D-6E8A-4147-A177-3AD203B41FA5}">
                      <a16:colId xmlns:a16="http://schemas.microsoft.com/office/drawing/2014/main" val="20001"/>
                    </a:ext>
                  </a:extLst>
                </a:gridCol>
                <a:gridCol w="977264">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411604">
                  <a:extLst>
                    <a:ext uri="{9D8B030D-6E8A-4147-A177-3AD203B41FA5}">
                      <a16:colId xmlns:a16="http://schemas.microsoft.com/office/drawing/2014/main" val="20004"/>
                    </a:ext>
                  </a:extLst>
                </a:gridCol>
              </a:tblGrid>
              <a:tr h="365760">
                <a:tc>
                  <a:txBody>
                    <a:bodyPr/>
                    <a:lstStyle/>
                    <a:p>
                      <a:pPr algn="l"/>
                      <a:r>
                        <a:rPr sz="1000" b="1">
                          <a:solidFill>
                            <a:srgbClr val="5A6B7B"/>
                          </a:solidFill>
                          <a:latin typeface="Consolas"/>
                        </a:rPr>
                        <a:t>System</a:t>
                      </a:r>
                    </a:p>
                  </a:txBody>
                  <a:tcPr marL="73152" marR="73152" marT="18288" marB="18288" anchor="ctr">
                    <a:solidFill>
                      <a:srgbClr val="EEF2F6"/>
                    </a:solidFill>
                  </a:tcPr>
                </a:tc>
                <a:tc>
                  <a:txBody>
                    <a:bodyPr/>
                    <a:lstStyle/>
                    <a:p>
                      <a:pPr algn="ctr"/>
                      <a:r>
                        <a:rPr sz="1000" b="1">
                          <a:solidFill>
                            <a:srgbClr val="5A6B7B"/>
                          </a:solidFill>
                          <a:latin typeface="Consolas"/>
                        </a:rPr>
                        <a:t>BBB</a:t>
                      </a:r>
                    </a:p>
                  </a:txBody>
                  <a:tcPr marL="73152" marR="73152" marT="18288" marB="18288" anchor="ctr">
                    <a:solidFill>
                      <a:srgbClr val="EEF2F6"/>
                    </a:solidFill>
                  </a:tcPr>
                </a:tc>
                <a:tc>
                  <a:txBody>
                    <a:bodyPr/>
                    <a:lstStyle/>
                    <a:p>
                      <a:pPr algn="ctr"/>
                      <a:r>
                        <a:rPr sz="1000" b="1">
                          <a:solidFill>
                            <a:srgbClr val="5A6B7B"/>
                          </a:solidFill>
                          <a:latin typeface="Consolas"/>
                        </a:rPr>
                        <a:t>hERG</a:t>
                      </a:r>
                    </a:p>
                  </a:txBody>
                  <a:tcPr marL="73152" marR="73152" marT="18288" marB="18288" anchor="ctr">
                    <a:solidFill>
                      <a:srgbClr val="EEF2F6"/>
                    </a:solidFill>
                  </a:tcPr>
                </a:tc>
                <a:tc>
                  <a:txBody>
                    <a:bodyPr/>
                    <a:lstStyle/>
                    <a:p>
                      <a:pPr algn="ctr"/>
                      <a:r>
                        <a:rPr sz="1000" b="1">
                          <a:solidFill>
                            <a:srgbClr val="5A6B7B"/>
                          </a:solidFill>
                          <a:latin typeface="Consolas"/>
                        </a:rPr>
                        <a:t>Made-up evidence</a:t>
                      </a:r>
                    </a:p>
                  </a:txBody>
                  <a:tcPr marL="73152" marR="73152" marT="18288" marB="18288" anchor="ctr">
                    <a:solidFill>
                      <a:srgbClr val="EEF2F6"/>
                    </a:solidFill>
                  </a:tcPr>
                </a:tc>
                <a:tc>
                  <a:txBody>
                    <a:bodyPr/>
                    <a:lstStyle/>
                    <a:p>
                      <a:pPr algn="ctr"/>
                      <a:r>
                        <a:rPr sz="1000" b="1">
                          <a:solidFill>
                            <a:srgbClr val="5A6B7B"/>
                          </a:solidFill>
                          <a:latin typeface="Consolas"/>
                        </a:rPr>
                        <a:t>New molecule</a:t>
                      </a:r>
                    </a:p>
                  </a:txBody>
                  <a:tcPr marL="73152" marR="73152" marT="18288" marB="18288" anchor="ctr">
                    <a:solidFill>
                      <a:srgbClr val="EEF2F6"/>
                    </a:solidFill>
                  </a:tcPr>
                </a:tc>
                <a:extLst>
                  <a:ext uri="{0D108BD9-81ED-4DB2-BD59-A6C34878D82A}">
                    <a16:rowId xmlns:a16="http://schemas.microsoft.com/office/drawing/2014/main" val="10000"/>
                  </a:ext>
                </a:extLst>
              </a:tr>
              <a:tr h="365760">
                <a:tc>
                  <a:txBody>
                    <a:bodyPr/>
                    <a:lstStyle/>
                    <a:p>
                      <a:pPr algn="l"/>
                      <a:r>
                        <a:rPr sz="1200" b="1">
                          <a:solidFill>
                            <a:srgbClr val="FFFFFF"/>
                          </a:solidFill>
                          <a:latin typeface="Calibri"/>
                        </a:rPr>
                        <a:t>BrainSafe</a:t>
                      </a:r>
                    </a:p>
                  </a:txBody>
                  <a:tcPr marL="73152" marR="73152" marT="18288" marB="18288" anchor="ctr">
                    <a:solidFill>
                      <a:srgbClr val="FFFFFF"/>
                    </a:solidFill>
                  </a:tcPr>
                </a:tc>
                <a:tc>
                  <a:txBody>
                    <a:bodyPr/>
                    <a:lstStyle/>
                    <a:p>
                      <a:pPr algn="ctr"/>
                      <a:r>
                        <a:rPr sz="1200" b="0" dirty="0">
                          <a:solidFill>
                            <a:srgbClr val="16222F"/>
                          </a:solidFill>
                          <a:latin typeface="Consolas"/>
                        </a:rPr>
                        <a:t>8/9</a:t>
                      </a:r>
                    </a:p>
                  </a:txBody>
                  <a:tcPr marL="73152" marR="73152" marT="18288" marB="18288" anchor="ctr">
                    <a:solidFill>
                      <a:srgbClr val="FFFFFF"/>
                    </a:solidFill>
                  </a:tcPr>
                </a:tc>
                <a:tc>
                  <a:txBody>
                    <a:bodyPr/>
                    <a:lstStyle/>
                    <a:p>
                      <a:pPr algn="ctr"/>
                      <a:r>
                        <a:rPr sz="1200" b="0">
                          <a:solidFill>
                            <a:srgbClr val="16222F"/>
                          </a:solidFill>
                          <a:latin typeface="Consolas"/>
                        </a:rPr>
                        <a:t>5/5</a:t>
                      </a:r>
                    </a:p>
                  </a:txBody>
                  <a:tcPr marL="73152" marR="73152" marT="18288" marB="18288" anchor="ctr">
                    <a:solidFill>
                      <a:srgbClr val="FFFFFF"/>
                    </a:solidFill>
                  </a:tcPr>
                </a:tc>
                <a:tc>
                  <a:txBody>
                    <a:bodyPr/>
                    <a:lstStyle/>
                    <a:p>
                      <a:pPr algn="ctr"/>
                      <a:r>
                        <a:rPr sz="1200" b="1">
                          <a:solidFill>
                            <a:srgbClr val="009E73"/>
                          </a:solidFill>
                          <a:latin typeface="Consolas"/>
                        </a:rPr>
                        <a:t>0 of 0</a:t>
                      </a:r>
                    </a:p>
                  </a:txBody>
                  <a:tcPr marL="73152" marR="73152" marT="18288" marB="18288" anchor="ctr">
                    <a:solidFill>
                      <a:srgbClr val="FFFFFF"/>
                    </a:solidFill>
                  </a:tcPr>
                </a:tc>
                <a:tc>
                  <a:txBody>
                    <a:bodyPr/>
                    <a:lstStyle/>
                    <a:p>
                      <a:pPr algn="ctr"/>
                      <a:r>
                        <a:rPr sz="1200" b="1" dirty="0">
                          <a:solidFill>
                            <a:srgbClr val="009E73"/>
                          </a:solidFill>
                          <a:latin typeface="Consolas"/>
                        </a:rPr>
                        <a:t>honest</a:t>
                      </a:r>
                    </a:p>
                  </a:txBody>
                  <a:tcPr marL="73152" marR="73152" marT="18288" marB="18288" anchor="ctr">
                    <a:solidFill>
                      <a:srgbClr val="FFFFFF"/>
                    </a:solidFill>
                  </a:tcPr>
                </a:tc>
                <a:extLst>
                  <a:ext uri="{0D108BD9-81ED-4DB2-BD59-A6C34878D82A}">
                    <a16:rowId xmlns:a16="http://schemas.microsoft.com/office/drawing/2014/main" val="10001"/>
                  </a:ext>
                </a:extLst>
              </a:tr>
              <a:tr h="365760">
                <a:tc>
                  <a:txBody>
                    <a:bodyPr/>
                    <a:lstStyle/>
                    <a:p>
                      <a:pPr algn="l"/>
                      <a:r>
                        <a:rPr sz="1200" b="0">
                          <a:solidFill>
                            <a:srgbClr val="16222F"/>
                          </a:solidFill>
                          <a:latin typeface="Calibri"/>
                        </a:rPr>
                        <a:t>Gemini Pro</a:t>
                      </a:r>
                    </a:p>
                  </a:txBody>
                  <a:tcPr marL="73152" marR="73152" marT="18288" marB="18288" anchor="ctr">
                    <a:solidFill>
                      <a:srgbClr val="F4F6F9"/>
                    </a:solidFill>
                  </a:tcPr>
                </a:tc>
                <a:tc>
                  <a:txBody>
                    <a:bodyPr/>
                    <a:lstStyle/>
                    <a:p>
                      <a:pPr algn="ctr"/>
                      <a:r>
                        <a:rPr sz="1200" b="0">
                          <a:solidFill>
                            <a:srgbClr val="16222F"/>
                          </a:solidFill>
                          <a:latin typeface="Consolas"/>
                        </a:rPr>
                        <a:t>7/9</a:t>
                      </a:r>
                    </a:p>
                  </a:txBody>
                  <a:tcPr marL="73152" marR="73152" marT="18288" marB="18288" anchor="ctr">
                    <a:solidFill>
                      <a:srgbClr val="F4F6F9"/>
                    </a:solidFill>
                  </a:tcPr>
                </a:tc>
                <a:tc>
                  <a:txBody>
                    <a:bodyPr/>
                    <a:lstStyle/>
                    <a:p>
                      <a:pPr algn="ctr"/>
                      <a:r>
                        <a:rPr sz="1200" b="0">
                          <a:solidFill>
                            <a:srgbClr val="16222F"/>
                          </a:solidFill>
                          <a:latin typeface="Consolas"/>
                        </a:rPr>
                        <a:t>5/5</a:t>
                      </a:r>
                    </a:p>
                  </a:txBody>
                  <a:tcPr marL="73152" marR="73152" marT="18288" marB="18288" anchor="ctr">
                    <a:solidFill>
                      <a:srgbClr val="F4F6F9"/>
                    </a:solidFill>
                  </a:tcPr>
                </a:tc>
                <a:tc>
                  <a:txBody>
                    <a:bodyPr/>
                    <a:lstStyle/>
                    <a:p>
                      <a:pPr algn="ctr"/>
                      <a:r>
                        <a:rPr sz="1200" b="1">
                          <a:solidFill>
                            <a:srgbClr val="D55500"/>
                          </a:solidFill>
                          <a:latin typeface="Consolas"/>
                        </a:rPr>
                        <a:t>5 of 10</a:t>
                      </a:r>
                    </a:p>
                  </a:txBody>
                  <a:tcPr marL="73152" marR="73152" marT="18288" marB="18288" anchor="ctr">
                    <a:solidFill>
                      <a:srgbClr val="F4F6F9"/>
                    </a:solidFill>
                  </a:tcPr>
                </a:tc>
                <a:tc>
                  <a:txBody>
                    <a:bodyPr/>
                    <a:lstStyle/>
                    <a:p>
                      <a:pPr algn="ctr"/>
                      <a:r>
                        <a:rPr sz="1200" b="1">
                          <a:solidFill>
                            <a:srgbClr val="D55500"/>
                          </a:solidFill>
                          <a:latin typeface="Consolas"/>
                        </a:rPr>
                        <a:t>made up</a:t>
                      </a:r>
                    </a:p>
                  </a:txBody>
                  <a:tcPr marL="73152" marR="73152" marT="18288" marB="18288" anchor="ctr">
                    <a:solidFill>
                      <a:srgbClr val="F4F6F9"/>
                    </a:solidFill>
                  </a:tcPr>
                </a:tc>
                <a:extLst>
                  <a:ext uri="{0D108BD9-81ED-4DB2-BD59-A6C34878D82A}">
                    <a16:rowId xmlns:a16="http://schemas.microsoft.com/office/drawing/2014/main" val="10002"/>
                  </a:ext>
                </a:extLst>
              </a:tr>
              <a:tr h="365760">
                <a:tc>
                  <a:txBody>
                    <a:bodyPr/>
                    <a:lstStyle/>
                    <a:p>
                      <a:pPr algn="l"/>
                      <a:r>
                        <a:rPr sz="1200" b="0">
                          <a:solidFill>
                            <a:srgbClr val="16222F"/>
                          </a:solidFill>
                          <a:latin typeface="Calibri"/>
                        </a:rPr>
                        <a:t>ChatGPT-4o</a:t>
                      </a:r>
                    </a:p>
                  </a:txBody>
                  <a:tcPr marL="73152" marR="73152" marT="18288" marB="18288" anchor="ctr">
                    <a:solidFill>
                      <a:srgbClr val="FFFFFF"/>
                    </a:solidFill>
                  </a:tcPr>
                </a:tc>
                <a:tc>
                  <a:txBody>
                    <a:bodyPr/>
                    <a:lstStyle/>
                    <a:p>
                      <a:pPr algn="ctr"/>
                      <a:r>
                        <a:rPr sz="1200" b="0">
                          <a:solidFill>
                            <a:srgbClr val="16222F"/>
                          </a:solidFill>
                          <a:latin typeface="Consolas"/>
                        </a:rPr>
                        <a:t>9/9</a:t>
                      </a:r>
                    </a:p>
                  </a:txBody>
                  <a:tcPr marL="73152" marR="73152" marT="18288" marB="18288" anchor="ctr">
                    <a:solidFill>
                      <a:srgbClr val="FFFFFF"/>
                    </a:solidFill>
                  </a:tcPr>
                </a:tc>
                <a:tc>
                  <a:txBody>
                    <a:bodyPr/>
                    <a:lstStyle/>
                    <a:p>
                      <a:pPr algn="ctr"/>
                      <a:r>
                        <a:rPr sz="1200" b="0">
                          <a:solidFill>
                            <a:srgbClr val="16222F"/>
                          </a:solidFill>
                          <a:latin typeface="Consolas"/>
                        </a:rPr>
                        <a:t>5/5</a:t>
                      </a:r>
                    </a:p>
                  </a:txBody>
                  <a:tcPr marL="73152" marR="73152" marT="18288" marB="18288" anchor="ctr">
                    <a:solidFill>
                      <a:srgbClr val="FFFFFF"/>
                    </a:solidFill>
                  </a:tcPr>
                </a:tc>
                <a:tc>
                  <a:txBody>
                    <a:bodyPr/>
                    <a:lstStyle/>
                    <a:p>
                      <a:pPr algn="ctr"/>
                      <a:r>
                        <a:rPr sz="1200" b="1">
                          <a:solidFill>
                            <a:srgbClr val="D55500"/>
                          </a:solidFill>
                          <a:latin typeface="Consolas"/>
                        </a:rPr>
                        <a:t>4 of 9</a:t>
                      </a:r>
                    </a:p>
                  </a:txBody>
                  <a:tcPr marL="73152" marR="73152" marT="18288" marB="18288" anchor="ctr">
                    <a:solidFill>
                      <a:srgbClr val="FFFFFF"/>
                    </a:solidFill>
                  </a:tcPr>
                </a:tc>
                <a:tc>
                  <a:txBody>
                    <a:bodyPr/>
                    <a:lstStyle/>
                    <a:p>
                      <a:pPr algn="ctr"/>
                      <a:r>
                        <a:rPr sz="1200" b="1">
                          <a:solidFill>
                            <a:srgbClr val="D55500"/>
                          </a:solidFill>
                          <a:latin typeface="Consolas"/>
                        </a:rPr>
                        <a:t>made up</a:t>
                      </a:r>
                    </a:p>
                  </a:txBody>
                  <a:tcPr marL="73152" marR="73152" marT="18288" marB="18288" anchor="ctr">
                    <a:solidFill>
                      <a:srgbClr val="FFFFFF"/>
                    </a:solidFill>
                  </a:tcPr>
                </a:tc>
                <a:extLst>
                  <a:ext uri="{0D108BD9-81ED-4DB2-BD59-A6C34878D82A}">
                    <a16:rowId xmlns:a16="http://schemas.microsoft.com/office/drawing/2014/main" val="10003"/>
                  </a:ext>
                </a:extLst>
              </a:tr>
              <a:tr h="365760">
                <a:tc>
                  <a:txBody>
                    <a:bodyPr/>
                    <a:lstStyle/>
                    <a:p>
                      <a:pPr algn="l"/>
                      <a:r>
                        <a:rPr sz="1200" b="0">
                          <a:solidFill>
                            <a:srgbClr val="16222F"/>
                          </a:solidFill>
                          <a:latin typeface="Calibri"/>
                        </a:rPr>
                        <a:t>Perplexity</a:t>
                      </a:r>
                    </a:p>
                  </a:txBody>
                  <a:tcPr marL="73152" marR="73152" marT="18288" marB="18288" anchor="ctr">
                    <a:solidFill>
                      <a:srgbClr val="F4F6F9"/>
                    </a:solidFill>
                  </a:tcPr>
                </a:tc>
                <a:tc>
                  <a:txBody>
                    <a:bodyPr/>
                    <a:lstStyle/>
                    <a:p>
                      <a:pPr algn="ctr"/>
                      <a:r>
                        <a:rPr sz="1200" b="0">
                          <a:solidFill>
                            <a:srgbClr val="16222F"/>
                          </a:solidFill>
                          <a:latin typeface="Consolas"/>
                        </a:rPr>
                        <a:t>9/9</a:t>
                      </a:r>
                    </a:p>
                  </a:txBody>
                  <a:tcPr marL="73152" marR="73152" marT="18288" marB="18288" anchor="ctr">
                    <a:solidFill>
                      <a:srgbClr val="F4F6F9"/>
                    </a:solidFill>
                  </a:tcPr>
                </a:tc>
                <a:tc>
                  <a:txBody>
                    <a:bodyPr/>
                    <a:lstStyle/>
                    <a:p>
                      <a:pPr algn="ctr"/>
                      <a:r>
                        <a:rPr sz="1200" b="0">
                          <a:solidFill>
                            <a:srgbClr val="16222F"/>
                          </a:solidFill>
                          <a:latin typeface="Consolas"/>
                        </a:rPr>
                        <a:t>4/5</a:t>
                      </a:r>
                    </a:p>
                  </a:txBody>
                  <a:tcPr marL="73152" marR="73152" marT="18288" marB="18288" anchor="ctr">
                    <a:solidFill>
                      <a:srgbClr val="F4F6F9"/>
                    </a:solidFill>
                  </a:tcPr>
                </a:tc>
                <a:tc>
                  <a:txBody>
                    <a:bodyPr/>
                    <a:lstStyle/>
                    <a:p>
                      <a:pPr algn="ctr"/>
                      <a:r>
                        <a:rPr sz="1200" b="1">
                          <a:solidFill>
                            <a:srgbClr val="D55500"/>
                          </a:solidFill>
                          <a:latin typeface="Consolas"/>
                        </a:rPr>
                        <a:t>1 of 2</a:t>
                      </a:r>
                    </a:p>
                  </a:txBody>
                  <a:tcPr marL="73152" marR="73152" marT="18288" marB="18288" anchor="ctr">
                    <a:solidFill>
                      <a:srgbClr val="F4F6F9"/>
                    </a:solidFill>
                  </a:tcPr>
                </a:tc>
                <a:tc>
                  <a:txBody>
                    <a:bodyPr/>
                    <a:lstStyle/>
                    <a:p>
                      <a:pPr algn="ctr"/>
                      <a:r>
                        <a:rPr sz="1200" b="1">
                          <a:solidFill>
                            <a:srgbClr val="D55500"/>
                          </a:solidFill>
                          <a:latin typeface="Consolas"/>
                        </a:rPr>
                        <a:t>made up</a:t>
                      </a:r>
                    </a:p>
                  </a:txBody>
                  <a:tcPr marL="73152" marR="73152" marT="18288" marB="18288" anchor="ctr">
                    <a:solidFill>
                      <a:srgbClr val="F4F6F9"/>
                    </a:solidFill>
                  </a:tcPr>
                </a:tc>
                <a:extLst>
                  <a:ext uri="{0D108BD9-81ED-4DB2-BD59-A6C34878D82A}">
                    <a16:rowId xmlns:a16="http://schemas.microsoft.com/office/drawing/2014/main" val="10004"/>
                  </a:ext>
                </a:extLst>
              </a:tr>
              <a:tr h="365760">
                <a:tc>
                  <a:txBody>
                    <a:bodyPr/>
                    <a:lstStyle/>
                    <a:p>
                      <a:pPr algn="l"/>
                      <a:r>
                        <a:rPr sz="1200" b="0">
                          <a:solidFill>
                            <a:srgbClr val="16222F"/>
                          </a:solidFill>
                          <a:latin typeface="Calibri"/>
                        </a:rPr>
                        <a:t>Claude</a:t>
                      </a:r>
                    </a:p>
                  </a:txBody>
                  <a:tcPr marL="73152" marR="73152" marT="18288" marB="18288" anchor="ctr">
                    <a:solidFill>
                      <a:srgbClr val="FFFFFF"/>
                    </a:solidFill>
                  </a:tcPr>
                </a:tc>
                <a:tc>
                  <a:txBody>
                    <a:bodyPr/>
                    <a:lstStyle/>
                    <a:p>
                      <a:pPr algn="ctr"/>
                      <a:r>
                        <a:rPr sz="1200" b="0">
                          <a:solidFill>
                            <a:srgbClr val="16222F"/>
                          </a:solidFill>
                          <a:latin typeface="Consolas"/>
                        </a:rPr>
                        <a:t>9/9</a:t>
                      </a:r>
                    </a:p>
                  </a:txBody>
                  <a:tcPr marL="73152" marR="73152" marT="18288" marB="18288" anchor="ctr">
                    <a:solidFill>
                      <a:srgbClr val="FFFFFF"/>
                    </a:solidFill>
                  </a:tcPr>
                </a:tc>
                <a:tc>
                  <a:txBody>
                    <a:bodyPr/>
                    <a:lstStyle/>
                    <a:p>
                      <a:pPr algn="ctr"/>
                      <a:r>
                        <a:rPr sz="1200" b="0">
                          <a:solidFill>
                            <a:srgbClr val="16222F"/>
                          </a:solidFill>
                          <a:latin typeface="Consolas"/>
                        </a:rPr>
                        <a:t>5/5</a:t>
                      </a:r>
                    </a:p>
                  </a:txBody>
                  <a:tcPr marL="73152" marR="73152" marT="18288" marB="18288" anchor="ctr">
                    <a:solidFill>
                      <a:srgbClr val="FFFFFF"/>
                    </a:solidFill>
                  </a:tcPr>
                </a:tc>
                <a:tc>
                  <a:txBody>
                    <a:bodyPr/>
                    <a:lstStyle/>
                    <a:p>
                      <a:pPr algn="ctr"/>
                      <a:r>
                        <a:rPr sz="1200" b="1">
                          <a:solidFill>
                            <a:srgbClr val="D55500"/>
                          </a:solidFill>
                          <a:latin typeface="Consolas"/>
                        </a:rPr>
                        <a:t>4 of 10</a:t>
                      </a:r>
                    </a:p>
                  </a:txBody>
                  <a:tcPr marL="73152" marR="73152" marT="18288" marB="18288" anchor="ctr">
                    <a:solidFill>
                      <a:srgbClr val="FFFFFF"/>
                    </a:solidFill>
                  </a:tcPr>
                </a:tc>
                <a:tc>
                  <a:txBody>
                    <a:bodyPr/>
                    <a:lstStyle/>
                    <a:p>
                      <a:pPr algn="ctr"/>
                      <a:r>
                        <a:rPr sz="1200" b="1" dirty="0">
                          <a:solidFill>
                            <a:srgbClr val="D55500"/>
                          </a:solidFill>
                          <a:latin typeface="Consolas"/>
                        </a:rPr>
                        <a:t>made up</a:t>
                      </a:r>
                    </a:p>
                  </a:txBody>
                  <a:tcPr marL="73152" marR="73152"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7940040" y="2148840"/>
            <a:ext cx="3429000" cy="1923604"/>
          </a:xfrm>
          <a:prstGeom prst="rect">
            <a:avLst/>
          </a:prstGeom>
          <a:noFill/>
        </p:spPr>
        <p:txBody>
          <a:bodyPr wrap="square">
            <a:spAutoFit/>
          </a:bodyPr>
          <a:lstStyle/>
          <a:p>
            <a:pPr algn="l">
              <a:spcAft>
                <a:spcPts val="900"/>
              </a:spcAft>
            </a:pPr>
            <a:r>
              <a:rPr sz="1300" b="1" dirty="0">
                <a:solidFill>
                  <a:srgbClr val="56B4E9"/>
                </a:solidFill>
                <a:latin typeface="Calibri"/>
              </a:rPr>
              <a:t>On famous drugs, the LLMs are strong</a:t>
            </a:r>
            <a:r>
              <a:rPr lang="en-US" sz="1300" dirty="0">
                <a:solidFill>
                  <a:srgbClr val="EAF1F7"/>
                </a:solidFill>
                <a:latin typeface="Calibri"/>
              </a:rPr>
              <a:t>: </a:t>
            </a:r>
            <a:r>
              <a:rPr sz="1300" b="0" dirty="0">
                <a:solidFill>
                  <a:srgbClr val="EAF1F7"/>
                </a:solidFill>
                <a:latin typeface="Calibri"/>
              </a:rPr>
              <a:t> several match or beat us. We say so plainly.</a:t>
            </a:r>
          </a:p>
          <a:p>
            <a:pPr algn="l">
              <a:spcAft>
                <a:spcPts val="900"/>
              </a:spcAft>
            </a:pPr>
            <a:r>
              <a:rPr sz="1300" b="1" dirty="0">
                <a:solidFill>
                  <a:srgbClr val="D55500"/>
                </a:solidFill>
                <a:latin typeface="Calibri"/>
              </a:rPr>
              <a:t>But 45% of the specific evidence IDs they cited were fake or pointed to the wrong drug</a:t>
            </a:r>
            <a:r>
              <a:rPr lang="en-US" sz="1300" dirty="0">
                <a:solidFill>
                  <a:srgbClr val="EAF1F7"/>
                </a:solidFill>
                <a:latin typeface="Calibri"/>
              </a:rPr>
              <a:t>:</a:t>
            </a:r>
            <a:r>
              <a:rPr sz="1300" b="0" dirty="0">
                <a:solidFill>
                  <a:srgbClr val="EAF1F7"/>
                </a:solidFill>
                <a:latin typeface="Calibri"/>
              </a:rPr>
              <a:t> a cited 'rasagiline' ID was actually a steroid; a 'rivastigmine' ID was vitamin B6.</a:t>
            </a:r>
          </a:p>
          <a:p>
            <a:pPr algn="l">
              <a:spcAft>
                <a:spcPts val="0"/>
              </a:spcAft>
            </a:pPr>
            <a:r>
              <a:rPr sz="1300" b="1" dirty="0">
                <a:solidFill>
                  <a:srgbClr val="D55500"/>
                </a:solidFill>
                <a:latin typeface="Calibri"/>
              </a:rPr>
              <a:t>All four invented</a:t>
            </a:r>
            <a:r>
              <a:rPr sz="1300" b="0" dirty="0">
                <a:solidFill>
                  <a:srgbClr val="EAF1F7"/>
                </a:solidFill>
                <a:latin typeface="Calibri"/>
              </a:rPr>
              <a:t> a target and potency for an unpublished molecule  and disagreed.</a:t>
            </a:r>
          </a:p>
        </p:txBody>
      </p:sp>
      <p:sp>
        <p:nvSpPr>
          <p:cNvPr id="7" name="TextBox 6"/>
          <p:cNvSpPr txBox="1"/>
          <p:nvPr/>
        </p:nvSpPr>
        <p:spPr>
          <a:xfrm>
            <a:off x="822960" y="5806440"/>
            <a:ext cx="10607040" cy="822960"/>
          </a:xfrm>
          <a:prstGeom prst="rect">
            <a:avLst/>
          </a:prstGeom>
          <a:noFill/>
        </p:spPr>
        <p:txBody>
          <a:bodyPr wrap="square">
            <a:spAutoFit/>
          </a:bodyPr>
          <a:lstStyle/>
          <a:p>
            <a:pPr algn="l">
              <a:spcAft>
                <a:spcPts val="600"/>
              </a:spcAft>
            </a:pPr>
            <a:r>
              <a:rPr sz="1450" b="1">
                <a:solidFill>
                  <a:srgbClr val="FFFFFF"/>
                </a:solidFill>
                <a:latin typeface="Calibri"/>
              </a:rPr>
              <a:t>The point isn't 'LLMs are wrong.' </a:t>
            </a:r>
            <a:r>
              <a:rPr sz="1450" b="0">
                <a:solidFill>
                  <a:srgbClr val="EAF1F7"/>
                </a:solidFill>
                <a:latin typeface="Calibri"/>
              </a:rPr>
              <a:t>They can't be trusted for verifiable evidence or for genuinely new molecules — exactly where discovery happens. BrainSafe grounds every answer in a real measurement.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822960" y="608076"/>
            <a:ext cx="10515600" cy="365760"/>
          </a:xfrm>
          <a:prstGeom prst="rect">
            <a:avLst/>
          </a:prstGeom>
          <a:noFill/>
        </p:spPr>
        <p:txBody>
          <a:bodyPr wrap="square">
            <a:spAutoFit/>
          </a:bodyPr>
          <a:lstStyle/>
          <a:p>
            <a:pPr algn="l">
              <a:spcBef>
                <a:spcPts val="0"/>
              </a:spcBef>
              <a:spcAft>
                <a:spcPts val="0"/>
              </a:spcAft>
            </a:pPr>
            <a:r>
              <a:rPr sz="1200" b="1" i="0">
                <a:solidFill>
                  <a:srgbClr val="0072B2"/>
                </a:solidFill>
                <a:latin typeface="Consolas"/>
              </a:rPr>
              <a:t>13 · HOW BRAINSAFE IS DIFFERENT</a:t>
            </a:r>
          </a:p>
        </p:txBody>
      </p:sp>
      <p:sp>
        <p:nvSpPr>
          <p:cNvPr id="3" name="Rectangle 2"/>
          <p:cNvSpPr/>
          <p:nvPr/>
        </p:nvSpPr>
        <p:spPr>
          <a:xfrm>
            <a:off x="822960" y="566928"/>
            <a:ext cx="457200" cy="4114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868680"/>
            <a:ext cx="10515600" cy="1188720"/>
          </a:xfrm>
          <a:prstGeom prst="rect">
            <a:avLst/>
          </a:prstGeom>
          <a:noFill/>
        </p:spPr>
        <p:txBody>
          <a:bodyPr wrap="square">
            <a:spAutoFit/>
          </a:bodyPr>
          <a:lstStyle/>
          <a:p>
            <a:pPr algn="l">
              <a:spcBef>
                <a:spcPts val="0"/>
              </a:spcBef>
              <a:spcAft>
                <a:spcPts val="0"/>
              </a:spcAft>
            </a:pPr>
            <a:r>
              <a:rPr sz="3300" b="1" i="0">
                <a:solidFill>
                  <a:srgbClr val="16222F"/>
                </a:solidFill>
                <a:latin typeface="Georgia"/>
              </a:rPr>
              <a:t>Grounded and auditable, by design</a:t>
            </a:r>
          </a:p>
        </p:txBody>
      </p:sp>
      <p:graphicFrame>
        <p:nvGraphicFramePr>
          <p:cNvPr id="5" name="Table 4"/>
          <p:cNvGraphicFramePr>
            <a:graphicFrameLocks noGrp="1"/>
          </p:cNvGraphicFramePr>
          <p:nvPr/>
        </p:nvGraphicFramePr>
        <p:xfrm>
          <a:off x="822960" y="1828800"/>
          <a:ext cx="10607038" cy="3364992"/>
        </p:xfrm>
        <a:graphic>
          <a:graphicData uri="http://schemas.openxmlformats.org/drawingml/2006/table">
            <a:tbl>
              <a:tblPr>
                <a:tableStyleId>{5C22544A-7EE6-4342-B048-85BDC9FD1C3A}</a:tableStyleId>
              </a:tblPr>
              <a:tblGrid>
                <a:gridCol w="4296522">
                  <a:extLst>
                    <a:ext uri="{9D8B030D-6E8A-4147-A177-3AD203B41FA5}">
                      <a16:colId xmlns:a16="http://schemas.microsoft.com/office/drawing/2014/main" val="20000"/>
                    </a:ext>
                  </a:extLst>
                </a:gridCol>
                <a:gridCol w="2148261">
                  <a:extLst>
                    <a:ext uri="{9D8B030D-6E8A-4147-A177-3AD203B41FA5}">
                      <a16:colId xmlns:a16="http://schemas.microsoft.com/office/drawing/2014/main" val="20001"/>
                    </a:ext>
                  </a:extLst>
                </a:gridCol>
                <a:gridCol w="1879728">
                  <a:extLst>
                    <a:ext uri="{9D8B030D-6E8A-4147-A177-3AD203B41FA5}">
                      <a16:colId xmlns:a16="http://schemas.microsoft.com/office/drawing/2014/main" val="20002"/>
                    </a:ext>
                  </a:extLst>
                </a:gridCol>
                <a:gridCol w="2282527">
                  <a:extLst>
                    <a:ext uri="{9D8B030D-6E8A-4147-A177-3AD203B41FA5}">
                      <a16:colId xmlns:a16="http://schemas.microsoft.com/office/drawing/2014/main" val="20003"/>
                    </a:ext>
                  </a:extLst>
                </a:gridCol>
              </a:tblGrid>
              <a:tr h="420624">
                <a:tc>
                  <a:txBody>
                    <a:bodyPr/>
                    <a:lstStyle/>
                    <a:p>
                      <a:pPr algn="l"/>
                      <a:r>
                        <a:rPr sz="1000" b="1">
                          <a:solidFill>
                            <a:srgbClr val="5A6B7B"/>
                          </a:solidFill>
                          <a:latin typeface="Consolas"/>
                        </a:rPr>
                        <a:t>Capability</a:t>
                      </a:r>
                    </a:p>
                  </a:txBody>
                  <a:tcPr marL="73152" marR="73152" marT="18288" marB="18288" anchor="ctr">
                    <a:solidFill>
                      <a:srgbClr val="EEF2F6"/>
                    </a:solidFill>
                  </a:tcPr>
                </a:tc>
                <a:tc>
                  <a:txBody>
                    <a:bodyPr/>
                    <a:lstStyle/>
                    <a:p>
                      <a:pPr algn="ctr"/>
                      <a:r>
                        <a:rPr sz="1000" b="1">
                          <a:solidFill>
                            <a:srgbClr val="5A6B7B"/>
                          </a:solidFill>
                          <a:latin typeface="Consolas"/>
                        </a:rPr>
                        <a:t>BrainSafe AI</a:t>
                      </a:r>
                    </a:p>
                  </a:txBody>
                  <a:tcPr marL="73152" marR="73152" marT="18288" marB="18288" anchor="ctr">
                    <a:solidFill>
                      <a:srgbClr val="EEF2F6"/>
                    </a:solidFill>
                  </a:tcPr>
                </a:tc>
                <a:tc>
                  <a:txBody>
                    <a:bodyPr/>
                    <a:lstStyle/>
                    <a:p>
                      <a:pPr algn="ctr"/>
                      <a:r>
                        <a:rPr sz="1000" b="1">
                          <a:solidFill>
                            <a:srgbClr val="5A6B7B"/>
                          </a:solidFill>
                          <a:latin typeface="Consolas"/>
                        </a:rPr>
                        <a:t>General LLM</a:t>
                      </a:r>
                    </a:p>
                  </a:txBody>
                  <a:tcPr marL="73152" marR="73152" marT="18288" marB="18288" anchor="ctr">
                    <a:solidFill>
                      <a:srgbClr val="EEF2F6"/>
                    </a:solidFill>
                  </a:tcPr>
                </a:tc>
                <a:tc>
                  <a:txBody>
                    <a:bodyPr/>
                    <a:lstStyle/>
                    <a:p>
                      <a:pPr algn="ctr"/>
                      <a:r>
                        <a:rPr sz="1000" b="1">
                          <a:solidFill>
                            <a:srgbClr val="5A6B7B"/>
                          </a:solidFill>
                          <a:latin typeface="Consolas"/>
                        </a:rPr>
                        <a:t>Typical ADMET tool</a:t>
                      </a:r>
                    </a:p>
                  </a:txBody>
                  <a:tcPr marL="73152" marR="73152" marT="18288" marB="18288" anchor="ctr">
                    <a:solidFill>
                      <a:srgbClr val="EEF2F6"/>
                    </a:solidFill>
                  </a:tcPr>
                </a:tc>
                <a:extLst>
                  <a:ext uri="{0D108BD9-81ED-4DB2-BD59-A6C34878D82A}">
                    <a16:rowId xmlns:a16="http://schemas.microsoft.com/office/drawing/2014/main" val="10000"/>
                  </a:ext>
                </a:extLst>
              </a:tr>
              <a:tr h="420624">
                <a:tc>
                  <a:txBody>
                    <a:bodyPr/>
                    <a:lstStyle/>
                    <a:p>
                      <a:pPr algn="l"/>
                      <a:r>
                        <a:rPr sz="1200" b="0">
                          <a:solidFill>
                            <a:srgbClr val="16222F"/>
                          </a:solidFill>
                          <a:latin typeface="Calibri"/>
                        </a:rPr>
                        <a:t>Trained on measured bioactivity</a:t>
                      </a:r>
                    </a:p>
                  </a:txBody>
                  <a:tcPr marL="73152" marR="73152" marT="18288" marB="18288" anchor="ctr">
                    <a:solidFill>
                      <a:srgbClr val="FFFFFF"/>
                    </a:solidFill>
                  </a:tcPr>
                </a:tc>
                <a:tc>
                  <a:txBody>
                    <a:bodyPr/>
                    <a:lstStyle/>
                    <a:p>
                      <a:pPr algn="ctr"/>
                      <a:r>
                        <a:rPr sz="1200" b="1">
                          <a:solidFill>
                            <a:srgbClr val="009E73"/>
                          </a:solidFill>
                          <a:latin typeface="Consolas"/>
                        </a:rPr>
                        <a:t>yes — 64,474</a:t>
                      </a:r>
                    </a:p>
                  </a:txBody>
                  <a:tcPr marL="73152" marR="73152" marT="18288" marB="18288" anchor="ctr">
                    <a:solidFill>
                      <a:srgbClr val="FFFFFF"/>
                    </a:solidFill>
                  </a:tcPr>
                </a:tc>
                <a:tc>
                  <a:txBody>
                    <a:bodyPr/>
                    <a:lstStyle/>
                    <a:p>
                      <a:pPr algn="ctr"/>
                      <a:r>
                        <a:rPr sz="1200" b="0">
                          <a:solidFill>
                            <a:srgbClr val="16222F"/>
                          </a:solidFill>
                          <a:latin typeface="Consolas"/>
                        </a:rPr>
                        <a:t>no (text)</a:t>
                      </a:r>
                    </a:p>
                  </a:txBody>
                  <a:tcPr marL="73152" marR="73152" marT="18288" marB="18288" anchor="ctr">
                    <a:solidFill>
                      <a:srgbClr val="FFFFFF"/>
                    </a:solidFill>
                  </a:tcPr>
                </a:tc>
                <a:tc>
                  <a:txBody>
                    <a:bodyPr/>
                    <a:lstStyle/>
                    <a:p>
                      <a:pPr algn="ctr"/>
                      <a:r>
                        <a:rPr sz="1200" b="0">
                          <a:solidFill>
                            <a:srgbClr val="16222F"/>
                          </a:solidFill>
                          <a:latin typeface="Consolas"/>
                        </a:rPr>
                        <a:t>partly</a:t>
                      </a:r>
                    </a:p>
                  </a:txBody>
                  <a:tcPr marL="73152" marR="73152" marT="18288" marB="18288" anchor="ctr">
                    <a:solidFill>
                      <a:srgbClr val="FFFFFF"/>
                    </a:solidFill>
                  </a:tcPr>
                </a:tc>
                <a:extLst>
                  <a:ext uri="{0D108BD9-81ED-4DB2-BD59-A6C34878D82A}">
                    <a16:rowId xmlns:a16="http://schemas.microsoft.com/office/drawing/2014/main" val="10001"/>
                  </a:ext>
                </a:extLst>
              </a:tr>
              <a:tr h="420624">
                <a:tc>
                  <a:txBody>
                    <a:bodyPr/>
                    <a:lstStyle/>
                    <a:p>
                      <a:pPr algn="l"/>
                      <a:r>
                        <a:rPr sz="1200" b="0">
                          <a:solidFill>
                            <a:srgbClr val="16222F"/>
                          </a:solidFill>
                          <a:latin typeface="Calibri"/>
                        </a:rPr>
                        <a:t>Honest, calibrated probability</a:t>
                      </a:r>
                    </a:p>
                  </a:txBody>
                  <a:tcPr marL="73152" marR="73152" marT="18288" marB="18288" anchor="ctr">
                    <a:solidFill>
                      <a:srgbClr val="F4F6F9"/>
                    </a:solidFill>
                  </a:tcPr>
                </a:tc>
                <a:tc>
                  <a:txBody>
                    <a:bodyPr/>
                    <a:lstStyle/>
                    <a:p>
                      <a:pPr algn="ctr"/>
                      <a:r>
                        <a:rPr sz="1200" b="1">
                          <a:solidFill>
                            <a:srgbClr val="009E73"/>
                          </a:solidFill>
                          <a:latin typeface="Consolas"/>
                        </a:rPr>
                        <a:t>yes</a:t>
                      </a:r>
                    </a:p>
                  </a:txBody>
                  <a:tcPr marL="73152" marR="73152" marT="18288" marB="18288" anchor="ctr">
                    <a:solidFill>
                      <a:srgbClr val="F4F6F9"/>
                    </a:solidFill>
                  </a:tcPr>
                </a:tc>
                <a:tc>
                  <a:txBody>
                    <a:bodyPr/>
                    <a:lstStyle/>
                    <a:p>
                      <a:pPr algn="ctr"/>
                      <a:r>
                        <a:rPr sz="1200" b="0">
                          <a:solidFill>
                            <a:srgbClr val="16222F"/>
                          </a:solidFill>
                          <a:latin typeface="Consolas"/>
                        </a:rPr>
                        <a:t>no</a:t>
                      </a:r>
                    </a:p>
                  </a:txBody>
                  <a:tcPr marL="73152" marR="73152" marT="18288" marB="18288" anchor="ctr">
                    <a:solidFill>
                      <a:srgbClr val="F4F6F9"/>
                    </a:solidFill>
                  </a:tcPr>
                </a:tc>
                <a:tc>
                  <a:txBody>
                    <a:bodyPr/>
                    <a:lstStyle/>
                    <a:p>
                      <a:pPr algn="ctr"/>
                      <a:r>
                        <a:rPr sz="1200" b="0">
                          <a:solidFill>
                            <a:srgbClr val="16222F"/>
                          </a:solidFill>
                          <a:latin typeface="Consolas"/>
                        </a:rPr>
                        <a:t>rarely</a:t>
                      </a:r>
                    </a:p>
                  </a:txBody>
                  <a:tcPr marL="73152" marR="73152" marT="18288" marB="18288" anchor="ctr">
                    <a:solidFill>
                      <a:srgbClr val="F4F6F9"/>
                    </a:solidFill>
                  </a:tcPr>
                </a:tc>
                <a:extLst>
                  <a:ext uri="{0D108BD9-81ED-4DB2-BD59-A6C34878D82A}">
                    <a16:rowId xmlns:a16="http://schemas.microsoft.com/office/drawing/2014/main" val="10002"/>
                  </a:ext>
                </a:extLst>
              </a:tr>
              <a:tr h="420624">
                <a:tc>
                  <a:txBody>
                    <a:bodyPr/>
                    <a:lstStyle/>
                    <a:p>
                      <a:pPr algn="l"/>
                      <a:r>
                        <a:rPr sz="1200" b="0">
                          <a:solidFill>
                            <a:srgbClr val="16222F"/>
                          </a:solidFill>
                          <a:latin typeface="Calibri"/>
                        </a:rPr>
                        <a:t>Guaranteed confidence range</a:t>
                      </a:r>
                    </a:p>
                  </a:txBody>
                  <a:tcPr marL="73152" marR="73152" marT="18288" marB="18288" anchor="ctr">
                    <a:solidFill>
                      <a:srgbClr val="FFFFFF"/>
                    </a:solidFill>
                  </a:tcPr>
                </a:tc>
                <a:tc>
                  <a:txBody>
                    <a:bodyPr/>
                    <a:lstStyle/>
                    <a:p>
                      <a:pPr algn="ctr"/>
                      <a:r>
                        <a:rPr sz="1200" b="1">
                          <a:solidFill>
                            <a:srgbClr val="009E73"/>
                          </a:solidFill>
                          <a:latin typeface="Consolas"/>
                        </a:rPr>
                        <a:t>yes</a:t>
                      </a:r>
                    </a:p>
                  </a:txBody>
                  <a:tcPr marL="73152" marR="73152" marT="18288" marB="18288" anchor="ctr">
                    <a:solidFill>
                      <a:srgbClr val="FFFFFF"/>
                    </a:solidFill>
                  </a:tcPr>
                </a:tc>
                <a:tc>
                  <a:txBody>
                    <a:bodyPr/>
                    <a:lstStyle/>
                    <a:p>
                      <a:pPr algn="ctr"/>
                      <a:r>
                        <a:rPr sz="1200" b="0">
                          <a:solidFill>
                            <a:srgbClr val="16222F"/>
                          </a:solidFill>
                          <a:latin typeface="Consolas"/>
                        </a:rPr>
                        <a:t>no</a:t>
                      </a:r>
                    </a:p>
                  </a:txBody>
                  <a:tcPr marL="73152" marR="73152" marT="18288" marB="18288" anchor="ctr">
                    <a:solidFill>
                      <a:srgbClr val="FFFFFF"/>
                    </a:solidFill>
                  </a:tcPr>
                </a:tc>
                <a:tc>
                  <a:txBody>
                    <a:bodyPr/>
                    <a:lstStyle/>
                    <a:p>
                      <a:pPr algn="ctr"/>
                      <a:r>
                        <a:rPr sz="1200" b="0">
                          <a:solidFill>
                            <a:srgbClr val="16222F"/>
                          </a:solidFill>
                          <a:latin typeface="Consolas"/>
                        </a:rPr>
                        <a:t>no</a:t>
                      </a:r>
                    </a:p>
                  </a:txBody>
                  <a:tcPr marL="73152" marR="73152" marT="18288" marB="18288" anchor="ctr">
                    <a:solidFill>
                      <a:srgbClr val="FFFFFF"/>
                    </a:solidFill>
                  </a:tcPr>
                </a:tc>
                <a:extLst>
                  <a:ext uri="{0D108BD9-81ED-4DB2-BD59-A6C34878D82A}">
                    <a16:rowId xmlns:a16="http://schemas.microsoft.com/office/drawing/2014/main" val="10003"/>
                  </a:ext>
                </a:extLst>
              </a:tr>
              <a:tr h="420624">
                <a:tc>
                  <a:txBody>
                    <a:bodyPr/>
                    <a:lstStyle/>
                    <a:p>
                      <a:pPr algn="l"/>
                      <a:r>
                        <a:rPr sz="1200" b="0">
                          <a:solidFill>
                            <a:srgbClr val="16222F"/>
                          </a:solidFill>
                          <a:latin typeface="Calibri"/>
                        </a:rPr>
                        <a:t>Shows the real evidence</a:t>
                      </a:r>
                    </a:p>
                  </a:txBody>
                  <a:tcPr marL="73152" marR="73152" marT="18288" marB="18288" anchor="ctr">
                    <a:solidFill>
                      <a:srgbClr val="F4F6F9"/>
                    </a:solidFill>
                  </a:tcPr>
                </a:tc>
                <a:tc>
                  <a:txBody>
                    <a:bodyPr/>
                    <a:lstStyle/>
                    <a:p>
                      <a:pPr algn="ctr"/>
                      <a:r>
                        <a:rPr sz="1200" b="1">
                          <a:solidFill>
                            <a:srgbClr val="009E73"/>
                          </a:solidFill>
                          <a:latin typeface="Consolas"/>
                        </a:rPr>
                        <a:t>yes</a:t>
                      </a:r>
                    </a:p>
                  </a:txBody>
                  <a:tcPr marL="73152" marR="73152" marT="18288" marB="18288" anchor="ctr">
                    <a:solidFill>
                      <a:srgbClr val="F4F6F9"/>
                    </a:solidFill>
                  </a:tcPr>
                </a:tc>
                <a:tc>
                  <a:txBody>
                    <a:bodyPr/>
                    <a:lstStyle/>
                    <a:p>
                      <a:pPr algn="ctr"/>
                      <a:r>
                        <a:rPr sz="1200" b="1">
                          <a:solidFill>
                            <a:srgbClr val="D55500"/>
                          </a:solidFill>
                          <a:latin typeface="Consolas"/>
                        </a:rPr>
                        <a:t>no — invents</a:t>
                      </a:r>
                    </a:p>
                  </a:txBody>
                  <a:tcPr marL="73152" marR="73152" marT="18288" marB="18288" anchor="ctr">
                    <a:solidFill>
                      <a:srgbClr val="F4F6F9"/>
                    </a:solidFill>
                  </a:tcPr>
                </a:tc>
                <a:tc>
                  <a:txBody>
                    <a:bodyPr/>
                    <a:lstStyle/>
                    <a:p>
                      <a:pPr algn="ctr"/>
                      <a:r>
                        <a:rPr sz="1200" b="0">
                          <a:solidFill>
                            <a:srgbClr val="16222F"/>
                          </a:solidFill>
                          <a:latin typeface="Consolas"/>
                        </a:rPr>
                        <a:t>no</a:t>
                      </a:r>
                    </a:p>
                  </a:txBody>
                  <a:tcPr marL="73152" marR="73152" marT="18288" marB="18288" anchor="ctr">
                    <a:solidFill>
                      <a:srgbClr val="F4F6F9"/>
                    </a:solidFill>
                  </a:tcPr>
                </a:tc>
                <a:extLst>
                  <a:ext uri="{0D108BD9-81ED-4DB2-BD59-A6C34878D82A}">
                    <a16:rowId xmlns:a16="http://schemas.microsoft.com/office/drawing/2014/main" val="10004"/>
                  </a:ext>
                </a:extLst>
              </a:tr>
              <a:tr h="420624">
                <a:tc>
                  <a:txBody>
                    <a:bodyPr/>
                    <a:lstStyle/>
                    <a:p>
                      <a:pPr algn="l"/>
                      <a:r>
                        <a:rPr sz="1200" b="0">
                          <a:solidFill>
                            <a:srgbClr val="16222F"/>
                          </a:solidFill>
                          <a:latin typeface="Calibri"/>
                        </a:rPr>
                        <a:t>Warns when out of its depth</a:t>
                      </a:r>
                    </a:p>
                  </a:txBody>
                  <a:tcPr marL="73152" marR="73152" marT="18288" marB="18288" anchor="ctr">
                    <a:solidFill>
                      <a:srgbClr val="FFFFFF"/>
                    </a:solidFill>
                  </a:tcPr>
                </a:tc>
                <a:tc>
                  <a:txBody>
                    <a:bodyPr/>
                    <a:lstStyle/>
                    <a:p>
                      <a:pPr algn="ctr"/>
                      <a:r>
                        <a:rPr sz="1200" b="1">
                          <a:solidFill>
                            <a:srgbClr val="009E73"/>
                          </a:solidFill>
                          <a:latin typeface="Consolas"/>
                        </a:rPr>
                        <a:t>yes</a:t>
                      </a:r>
                    </a:p>
                  </a:txBody>
                  <a:tcPr marL="73152" marR="73152" marT="18288" marB="18288" anchor="ctr">
                    <a:solidFill>
                      <a:srgbClr val="FFFFFF"/>
                    </a:solidFill>
                  </a:tcPr>
                </a:tc>
                <a:tc>
                  <a:txBody>
                    <a:bodyPr/>
                    <a:lstStyle/>
                    <a:p>
                      <a:pPr algn="ctr"/>
                      <a:r>
                        <a:rPr sz="1200" b="0">
                          <a:solidFill>
                            <a:srgbClr val="16222F"/>
                          </a:solidFill>
                          <a:latin typeface="Consolas"/>
                        </a:rPr>
                        <a:t>no</a:t>
                      </a:r>
                    </a:p>
                  </a:txBody>
                  <a:tcPr marL="73152" marR="73152" marT="18288" marB="18288" anchor="ctr">
                    <a:solidFill>
                      <a:srgbClr val="FFFFFF"/>
                    </a:solidFill>
                  </a:tcPr>
                </a:tc>
                <a:tc>
                  <a:txBody>
                    <a:bodyPr/>
                    <a:lstStyle/>
                    <a:p>
                      <a:pPr algn="ctr"/>
                      <a:r>
                        <a:rPr sz="1200" b="0">
                          <a:solidFill>
                            <a:srgbClr val="16222F"/>
                          </a:solidFill>
                          <a:latin typeface="Consolas"/>
                        </a:rPr>
                        <a:t>sometimes</a:t>
                      </a:r>
                    </a:p>
                  </a:txBody>
                  <a:tcPr marL="73152" marR="73152" marT="18288" marB="18288" anchor="ctr">
                    <a:solidFill>
                      <a:srgbClr val="FFFFFF"/>
                    </a:solidFill>
                  </a:tcPr>
                </a:tc>
                <a:extLst>
                  <a:ext uri="{0D108BD9-81ED-4DB2-BD59-A6C34878D82A}">
                    <a16:rowId xmlns:a16="http://schemas.microsoft.com/office/drawing/2014/main" val="10005"/>
                  </a:ext>
                </a:extLst>
              </a:tr>
              <a:tr h="420624">
                <a:tc>
                  <a:txBody>
                    <a:bodyPr/>
                    <a:lstStyle/>
                    <a:p>
                      <a:pPr algn="l"/>
                      <a:r>
                        <a:rPr sz="1200" b="0">
                          <a:solidFill>
                            <a:srgbClr val="16222F"/>
                          </a:solidFill>
                          <a:latin typeface="Calibri"/>
                        </a:rPr>
                        <a:t>Brain-entry-gated disease view</a:t>
                      </a:r>
                    </a:p>
                  </a:txBody>
                  <a:tcPr marL="73152" marR="73152" marT="18288" marB="18288" anchor="ctr">
                    <a:solidFill>
                      <a:srgbClr val="F4F6F9"/>
                    </a:solidFill>
                  </a:tcPr>
                </a:tc>
                <a:tc>
                  <a:txBody>
                    <a:bodyPr/>
                    <a:lstStyle/>
                    <a:p>
                      <a:pPr algn="ctr"/>
                      <a:r>
                        <a:rPr sz="1200" b="1">
                          <a:solidFill>
                            <a:srgbClr val="009E73"/>
                          </a:solidFill>
                          <a:latin typeface="Consolas"/>
                        </a:rPr>
                        <a:t>yes</a:t>
                      </a:r>
                    </a:p>
                  </a:txBody>
                  <a:tcPr marL="73152" marR="73152" marT="18288" marB="18288" anchor="ctr">
                    <a:solidFill>
                      <a:srgbClr val="F4F6F9"/>
                    </a:solidFill>
                  </a:tcPr>
                </a:tc>
                <a:tc>
                  <a:txBody>
                    <a:bodyPr/>
                    <a:lstStyle/>
                    <a:p>
                      <a:pPr algn="ctr"/>
                      <a:r>
                        <a:rPr sz="1200" b="0">
                          <a:solidFill>
                            <a:srgbClr val="16222F"/>
                          </a:solidFill>
                          <a:latin typeface="Consolas"/>
                        </a:rPr>
                        <a:t>no</a:t>
                      </a:r>
                    </a:p>
                  </a:txBody>
                  <a:tcPr marL="73152" marR="73152" marT="18288" marB="18288" anchor="ctr">
                    <a:solidFill>
                      <a:srgbClr val="F4F6F9"/>
                    </a:solidFill>
                  </a:tcPr>
                </a:tc>
                <a:tc>
                  <a:txBody>
                    <a:bodyPr/>
                    <a:lstStyle/>
                    <a:p>
                      <a:pPr algn="ctr"/>
                      <a:r>
                        <a:rPr sz="1200" b="0">
                          <a:solidFill>
                            <a:srgbClr val="16222F"/>
                          </a:solidFill>
                          <a:latin typeface="Consolas"/>
                        </a:rPr>
                        <a:t>no</a:t>
                      </a:r>
                    </a:p>
                  </a:txBody>
                  <a:tcPr marL="73152" marR="73152" marT="18288" marB="18288" anchor="ctr">
                    <a:solidFill>
                      <a:srgbClr val="F4F6F9"/>
                    </a:solidFill>
                  </a:tcPr>
                </a:tc>
                <a:extLst>
                  <a:ext uri="{0D108BD9-81ED-4DB2-BD59-A6C34878D82A}">
                    <a16:rowId xmlns:a16="http://schemas.microsoft.com/office/drawing/2014/main" val="10006"/>
                  </a:ext>
                </a:extLst>
              </a:tr>
              <a:tr h="420624">
                <a:tc>
                  <a:txBody>
                    <a:bodyPr/>
                    <a:lstStyle/>
                    <a:p>
                      <a:pPr algn="l"/>
                      <a:r>
                        <a:rPr sz="1200" b="0">
                          <a:solidFill>
                            <a:srgbClr val="16222F"/>
                          </a:solidFill>
                          <a:latin typeface="Calibri"/>
                        </a:rPr>
                        <a:t>Same answer every time</a:t>
                      </a:r>
                    </a:p>
                  </a:txBody>
                  <a:tcPr marL="73152" marR="73152" marT="18288" marB="18288" anchor="ctr">
                    <a:solidFill>
                      <a:srgbClr val="FFFFFF"/>
                    </a:solidFill>
                  </a:tcPr>
                </a:tc>
                <a:tc>
                  <a:txBody>
                    <a:bodyPr/>
                    <a:lstStyle/>
                    <a:p>
                      <a:pPr algn="ctr"/>
                      <a:r>
                        <a:rPr sz="1200" b="1">
                          <a:solidFill>
                            <a:srgbClr val="009E73"/>
                          </a:solidFill>
                          <a:latin typeface="Consolas"/>
                        </a:rPr>
                        <a:t>yes</a:t>
                      </a:r>
                    </a:p>
                  </a:txBody>
                  <a:tcPr marL="73152" marR="73152" marT="18288" marB="18288" anchor="ctr">
                    <a:solidFill>
                      <a:srgbClr val="FFFFFF"/>
                    </a:solidFill>
                  </a:tcPr>
                </a:tc>
                <a:tc>
                  <a:txBody>
                    <a:bodyPr/>
                    <a:lstStyle/>
                    <a:p>
                      <a:pPr algn="ctr"/>
                      <a:r>
                        <a:rPr sz="1200" b="1">
                          <a:solidFill>
                            <a:srgbClr val="D55500"/>
                          </a:solidFill>
                          <a:latin typeface="Consolas"/>
                        </a:rPr>
                        <a:t>no</a:t>
                      </a:r>
                    </a:p>
                  </a:txBody>
                  <a:tcPr marL="73152" marR="73152" marT="18288" marB="18288" anchor="ctr">
                    <a:solidFill>
                      <a:srgbClr val="FFFFFF"/>
                    </a:solidFill>
                  </a:tcPr>
                </a:tc>
                <a:tc>
                  <a:txBody>
                    <a:bodyPr/>
                    <a:lstStyle/>
                    <a:p>
                      <a:pPr algn="ctr"/>
                      <a:r>
                        <a:rPr sz="1200" b="0">
                          <a:solidFill>
                            <a:srgbClr val="16222F"/>
                          </a:solidFill>
                          <a:latin typeface="Consolas"/>
                        </a:rPr>
                        <a:t>yes</a:t>
                      </a:r>
                    </a:p>
                  </a:txBody>
                  <a:tcPr marL="73152" marR="73152" marT="18288" marB="18288"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88060" y="663463"/>
            <a:ext cx="10515600" cy="365760"/>
          </a:xfrm>
          <a:prstGeom prst="rect">
            <a:avLst/>
          </a:prstGeom>
          <a:noFill/>
        </p:spPr>
        <p:txBody>
          <a:bodyPr wrap="square">
            <a:spAutoFit/>
          </a:bodyPr>
          <a:lstStyle/>
          <a:p>
            <a:pPr algn="l">
              <a:spcBef>
                <a:spcPts val="0"/>
              </a:spcBef>
              <a:spcAft>
                <a:spcPts val="0"/>
              </a:spcAft>
            </a:pPr>
            <a:r>
              <a:rPr sz="1200" b="1" i="0" dirty="0">
                <a:solidFill>
                  <a:srgbClr val="0072B2"/>
                </a:solidFill>
                <a:latin typeface="Consolas"/>
              </a:rPr>
              <a:t>14 · USES &amp; HONEST LIMITS</a:t>
            </a:r>
          </a:p>
        </p:txBody>
      </p:sp>
      <p:sp>
        <p:nvSpPr>
          <p:cNvPr id="3" name="Rectangle 2"/>
          <p:cNvSpPr/>
          <p:nvPr/>
        </p:nvSpPr>
        <p:spPr>
          <a:xfrm>
            <a:off x="822960" y="566928"/>
            <a:ext cx="457200" cy="4114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868680"/>
            <a:ext cx="10515600" cy="600164"/>
          </a:xfrm>
          <a:prstGeom prst="rect">
            <a:avLst/>
          </a:prstGeom>
          <a:noFill/>
        </p:spPr>
        <p:txBody>
          <a:bodyPr wrap="square">
            <a:spAutoFit/>
          </a:bodyPr>
          <a:lstStyle/>
          <a:p>
            <a:pPr algn="l">
              <a:spcBef>
                <a:spcPts val="0"/>
              </a:spcBef>
              <a:spcAft>
                <a:spcPts val="0"/>
              </a:spcAft>
            </a:pPr>
            <a:r>
              <a:rPr sz="3300" b="1" i="0" dirty="0">
                <a:solidFill>
                  <a:srgbClr val="16222F"/>
                </a:solidFill>
                <a:latin typeface="Georgia"/>
              </a:rPr>
              <a:t>A research triage engine</a:t>
            </a:r>
            <a:r>
              <a:rPr lang="en-US" sz="3300" b="1" i="0" dirty="0">
                <a:solidFill>
                  <a:srgbClr val="16222F"/>
                </a:solidFill>
                <a:latin typeface="Georgia"/>
              </a:rPr>
              <a:t>,</a:t>
            </a:r>
            <a:r>
              <a:rPr sz="3300" b="1" i="0" dirty="0">
                <a:solidFill>
                  <a:srgbClr val="16222F"/>
                </a:solidFill>
                <a:latin typeface="Georgia"/>
              </a:rPr>
              <a:t> not a clinical oracle</a:t>
            </a:r>
          </a:p>
        </p:txBody>
      </p:sp>
      <p:sp>
        <p:nvSpPr>
          <p:cNvPr id="5" name="Rounded Rectangle 4"/>
          <p:cNvSpPr/>
          <p:nvPr/>
        </p:nvSpPr>
        <p:spPr>
          <a:xfrm>
            <a:off x="822960" y="1874519"/>
            <a:ext cx="5257800" cy="3566160"/>
          </a:xfrm>
          <a:prstGeom prst="roundRect">
            <a:avLst>
              <a:gd name="adj" fmla="val 8000"/>
            </a:avLst>
          </a:prstGeom>
          <a:solidFill>
            <a:srgbClr val="FFFFFF"/>
          </a:solidFill>
          <a:ln w="12700">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1874519"/>
            <a:ext cx="5257800" cy="54864"/>
          </a:xfrm>
          <a:prstGeom prst="rect">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103120"/>
            <a:ext cx="4846320" cy="1672253"/>
          </a:xfrm>
          <a:prstGeom prst="rect">
            <a:avLst/>
          </a:prstGeom>
          <a:noFill/>
        </p:spPr>
        <p:txBody>
          <a:bodyPr wrap="square">
            <a:spAutoFit/>
          </a:bodyPr>
          <a:lstStyle/>
          <a:p>
            <a:pPr algn="l">
              <a:spcBef>
                <a:spcPts val="0"/>
              </a:spcBef>
              <a:spcAft>
                <a:spcPts val="800"/>
              </a:spcAft>
            </a:pPr>
            <a:r>
              <a:rPr sz="1600" b="1" i="0" dirty="0">
                <a:solidFill>
                  <a:srgbClr val="009E73"/>
                </a:solidFill>
                <a:latin typeface="Calibri"/>
              </a:rPr>
              <a:t>What it is good for</a:t>
            </a:r>
          </a:p>
          <a:p>
            <a:pPr algn="l">
              <a:spcAft>
                <a:spcPts val="900"/>
              </a:spcAft>
            </a:pPr>
            <a:r>
              <a:rPr sz="1300" b="1" dirty="0">
                <a:solidFill>
                  <a:srgbClr val="009E73"/>
                </a:solidFill>
                <a:latin typeface="Calibri"/>
              </a:rPr>
              <a:t>▪  </a:t>
            </a:r>
            <a:r>
              <a:rPr sz="1300" b="0" dirty="0">
                <a:solidFill>
                  <a:srgbClr val="16222F"/>
                </a:solidFill>
                <a:latin typeface="Calibri"/>
              </a:rPr>
              <a:t>Prioritizing which molecules to test next for brain conditions (natural products, flavonoids, repurposing).</a:t>
            </a:r>
          </a:p>
          <a:p>
            <a:pPr algn="l">
              <a:spcAft>
                <a:spcPts val="900"/>
              </a:spcAft>
            </a:pPr>
            <a:r>
              <a:rPr sz="1300" b="1" dirty="0">
                <a:solidFill>
                  <a:srgbClr val="009E73"/>
                </a:solidFill>
                <a:latin typeface="Calibri"/>
              </a:rPr>
              <a:t>▪  </a:t>
            </a:r>
            <a:r>
              <a:rPr sz="1300" b="0" dirty="0">
                <a:solidFill>
                  <a:srgbClr val="16222F"/>
                </a:solidFill>
                <a:latin typeface="Calibri"/>
              </a:rPr>
              <a:t>Early one-pass triage: brain entry + targets + safety + drug-likeness, with confidence and evidence.</a:t>
            </a:r>
          </a:p>
          <a:p>
            <a:pPr algn="l">
              <a:spcAft>
                <a:spcPts val="900"/>
              </a:spcAft>
            </a:pPr>
            <a:r>
              <a:rPr sz="1300" b="1" dirty="0">
                <a:solidFill>
                  <a:srgbClr val="009E73"/>
                </a:solidFill>
                <a:latin typeface="Calibri"/>
              </a:rPr>
              <a:t>▪  </a:t>
            </a:r>
            <a:r>
              <a:rPr sz="1300" b="0" dirty="0">
                <a:solidFill>
                  <a:srgbClr val="16222F"/>
                </a:solidFill>
                <a:latin typeface="Calibri"/>
              </a:rPr>
              <a:t>A transparent, reproducible companion to expert judgement.</a:t>
            </a:r>
          </a:p>
        </p:txBody>
      </p:sp>
      <p:sp>
        <p:nvSpPr>
          <p:cNvPr id="8" name="Rounded Rectangle 7"/>
          <p:cNvSpPr/>
          <p:nvPr/>
        </p:nvSpPr>
        <p:spPr>
          <a:xfrm>
            <a:off x="6263640" y="1874519"/>
            <a:ext cx="5120640" cy="3566160"/>
          </a:xfrm>
          <a:prstGeom prst="roundRect">
            <a:avLst>
              <a:gd name="adj" fmla="val 8000"/>
            </a:avLst>
          </a:prstGeom>
          <a:solidFill>
            <a:srgbClr val="FFFFFF"/>
          </a:solidFill>
          <a:ln w="12700">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63640" y="1874519"/>
            <a:ext cx="5120640" cy="54864"/>
          </a:xfrm>
          <a:prstGeom prst="rect">
            <a:avLst/>
          </a:prstGeom>
          <a:solidFill>
            <a:srgbClr val="D55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2103120"/>
            <a:ext cx="4709160" cy="2349361"/>
          </a:xfrm>
          <a:prstGeom prst="rect">
            <a:avLst/>
          </a:prstGeom>
          <a:noFill/>
        </p:spPr>
        <p:txBody>
          <a:bodyPr wrap="square">
            <a:spAutoFit/>
          </a:bodyPr>
          <a:lstStyle/>
          <a:p>
            <a:pPr algn="l">
              <a:spcBef>
                <a:spcPts val="0"/>
              </a:spcBef>
              <a:spcAft>
                <a:spcPts val="800"/>
              </a:spcAft>
            </a:pPr>
            <a:r>
              <a:rPr sz="1600" b="1" i="0" dirty="0">
                <a:solidFill>
                  <a:srgbClr val="D55500"/>
                </a:solidFill>
                <a:latin typeface="Calibri"/>
              </a:rPr>
              <a:t>What it does NOT claim</a:t>
            </a:r>
          </a:p>
          <a:p>
            <a:pPr algn="l">
              <a:spcAft>
                <a:spcPts val="800"/>
              </a:spcAft>
            </a:pPr>
            <a:r>
              <a:rPr sz="1300" b="1" dirty="0">
                <a:solidFill>
                  <a:srgbClr val="D55500"/>
                </a:solidFill>
                <a:latin typeface="Calibri"/>
              </a:rPr>
              <a:t>▪  </a:t>
            </a:r>
            <a:r>
              <a:rPr sz="1300" b="0" dirty="0">
                <a:solidFill>
                  <a:srgbClr val="16222F"/>
                </a:solidFill>
                <a:latin typeface="Calibri"/>
              </a:rPr>
              <a:t>Predicts whether a molecule engages a target</a:t>
            </a:r>
            <a:r>
              <a:rPr lang="en-US" sz="1300" b="0" dirty="0">
                <a:solidFill>
                  <a:srgbClr val="16222F"/>
                </a:solidFill>
                <a:latin typeface="Calibri"/>
              </a:rPr>
              <a:t>,</a:t>
            </a:r>
            <a:r>
              <a:rPr sz="1300" b="0" dirty="0">
                <a:solidFill>
                  <a:srgbClr val="16222F"/>
                </a:solidFill>
                <a:latin typeface="Calibri"/>
              </a:rPr>
              <a:t> not whether it activates or blocks it.</a:t>
            </a:r>
          </a:p>
          <a:p>
            <a:pPr algn="l">
              <a:spcAft>
                <a:spcPts val="800"/>
              </a:spcAft>
            </a:pPr>
            <a:r>
              <a:rPr sz="1300" b="1" dirty="0">
                <a:solidFill>
                  <a:srgbClr val="D55500"/>
                </a:solidFill>
                <a:latin typeface="Calibri"/>
              </a:rPr>
              <a:t>▪  </a:t>
            </a:r>
            <a:r>
              <a:rPr sz="1300" b="0" dirty="0">
                <a:solidFill>
                  <a:srgbClr val="16222F"/>
                </a:solidFill>
                <a:latin typeface="Calibri"/>
              </a:rPr>
              <a:t>Engagement is not the same as clinical benefit; the clinical layer is precedent, not proof.</a:t>
            </a:r>
          </a:p>
          <a:p>
            <a:pPr algn="l">
              <a:spcAft>
                <a:spcPts val="800"/>
              </a:spcAft>
            </a:pPr>
            <a:r>
              <a:rPr sz="1300" b="1" dirty="0">
                <a:solidFill>
                  <a:srgbClr val="D55500"/>
                </a:solidFill>
                <a:latin typeface="Calibri"/>
              </a:rPr>
              <a:t>▪  </a:t>
            </a:r>
            <a:r>
              <a:rPr sz="1300" b="0" dirty="0">
                <a:solidFill>
                  <a:srgbClr val="16222F"/>
                </a:solidFill>
                <a:latin typeface="Calibri"/>
              </a:rPr>
              <a:t>No wet-lab validation yet; weaker on very novel chemistry (flagged).</a:t>
            </a:r>
          </a:p>
          <a:p>
            <a:pPr algn="l">
              <a:spcAft>
                <a:spcPts val="800"/>
              </a:spcAft>
            </a:pPr>
            <a:r>
              <a:rPr sz="1300" b="1" dirty="0">
                <a:solidFill>
                  <a:srgbClr val="D55500"/>
                </a:solidFill>
                <a:latin typeface="Calibri"/>
              </a:rPr>
              <a:t>▪  </a:t>
            </a:r>
            <a:r>
              <a:rPr sz="1300" b="0" dirty="0">
                <a:solidFill>
                  <a:srgbClr val="16222F"/>
                </a:solidFill>
                <a:latin typeface="Calibri"/>
              </a:rPr>
              <a:t>One heart-safety target (</a:t>
            </a:r>
            <a:r>
              <a:rPr sz="1300" b="0" dirty="0" err="1">
                <a:solidFill>
                  <a:srgbClr val="16222F"/>
                </a:solidFill>
                <a:latin typeface="Calibri"/>
              </a:rPr>
              <a:t>hERG</a:t>
            </a:r>
            <a:r>
              <a:rPr sz="1300" b="0" dirty="0">
                <a:solidFill>
                  <a:srgbClr val="16222F"/>
                </a:solidFill>
                <a:latin typeface="Calibri"/>
              </a:rPr>
              <a:t>); other safety risks are out of scope.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56B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640080"/>
            <a:ext cx="10515600" cy="457200"/>
          </a:xfrm>
          <a:prstGeom prst="rect">
            <a:avLst/>
          </a:prstGeom>
          <a:noFill/>
        </p:spPr>
        <p:txBody>
          <a:bodyPr wrap="square">
            <a:spAutoFit/>
          </a:bodyPr>
          <a:lstStyle/>
          <a:p>
            <a:pPr algn="l">
              <a:spcAft>
                <a:spcPts val="600"/>
              </a:spcAft>
            </a:pPr>
            <a:r>
              <a:rPr sz="1300" b="1">
                <a:solidFill>
                  <a:srgbClr val="56B4E9"/>
                </a:solidFill>
                <a:latin typeface="Consolas"/>
              </a:rPr>
              <a:t>● </a:t>
            </a:r>
            <a:r>
              <a:rPr sz="1300" b="1">
                <a:solidFill>
                  <a:srgbClr val="EAF1F7"/>
                </a:solidFill>
                <a:latin typeface="Consolas"/>
              </a:rPr>
              <a:t>WHAT WE ACHIEVED</a:t>
            </a:r>
          </a:p>
        </p:txBody>
      </p:sp>
      <p:sp>
        <p:nvSpPr>
          <p:cNvPr id="4" name="TextBox 3"/>
          <p:cNvSpPr txBox="1"/>
          <p:nvPr/>
        </p:nvSpPr>
        <p:spPr>
          <a:xfrm>
            <a:off x="822960" y="1051560"/>
            <a:ext cx="10515600" cy="1188720"/>
          </a:xfrm>
          <a:prstGeom prst="rect">
            <a:avLst/>
          </a:prstGeom>
          <a:noFill/>
        </p:spPr>
        <p:txBody>
          <a:bodyPr wrap="square">
            <a:spAutoFit/>
          </a:bodyPr>
          <a:lstStyle/>
          <a:p>
            <a:pPr algn="l">
              <a:spcBef>
                <a:spcPts val="0"/>
              </a:spcBef>
              <a:spcAft>
                <a:spcPts val="0"/>
              </a:spcAft>
            </a:pPr>
            <a:r>
              <a:rPr sz="3000" b="1" i="0">
                <a:solidFill>
                  <a:srgbClr val="FFFFFF"/>
                </a:solidFill>
                <a:latin typeface="Georgia"/>
              </a:rPr>
              <a:t>A brain-effect predictor you can actually trust</a:t>
            </a:r>
          </a:p>
        </p:txBody>
      </p:sp>
      <p:sp>
        <p:nvSpPr>
          <p:cNvPr id="5" name="Rounded Rectangle 4"/>
          <p:cNvSpPr/>
          <p:nvPr/>
        </p:nvSpPr>
        <p:spPr>
          <a:xfrm>
            <a:off x="822960" y="2286000"/>
            <a:ext cx="2606040" cy="1463040"/>
          </a:xfrm>
          <a:prstGeom prst="roundRect">
            <a:avLst>
              <a:gd name="adj" fmla="val 8000"/>
            </a:avLst>
          </a:prstGeom>
          <a:solidFill>
            <a:srgbClr val="13273C"/>
          </a:solidFill>
          <a:ln w="12700">
            <a:solidFill>
              <a:srgbClr val="254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2423160"/>
            <a:ext cx="2286000" cy="1280160"/>
          </a:xfrm>
          <a:prstGeom prst="rect">
            <a:avLst/>
          </a:prstGeom>
          <a:noFill/>
        </p:spPr>
        <p:txBody>
          <a:bodyPr wrap="square">
            <a:spAutoFit/>
          </a:bodyPr>
          <a:lstStyle/>
          <a:p>
            <a:pPr algn="l">
              <a:spcBef>
                <a:spcPts val="0"/>
              </a:spcBef>
              <a:spcAft>
                <a:spcPts val="200"/>
              </a:spcAft>
            </a:pPr>
            <a:r>
              <a:rPr sz="2600" b="1" i="0">
                <a:solidFill>
                  <a:srgbClr val="56B4E9"/>
                </a:solidFill>
                <a:latin typeface="Consolas"/>
              </a:rPr>
              <a:t>64,474</a:t>
            </a:r>
          </a:p>
          <a:p>
            <a:pPr algn="l">
              <a:spcBef>
                <a:spcPts val="0"/>
              </a:spcBef>
              <a:spcAft>
                <a:spcPts val="0"/>
              </a:spcAft>
            </a:pPr>
            <a:r>
              <a:rPr sz="1150" b="0" i="0">
                <a:solidFill>
                  <a:srgbClr val="EAF1F7"/>
                </a:solidFill>
                <a:latin typeface="Calibri"/>
              </a:rPr>
              <a:t>measured records · 12 endpoints</a:t>
            </a:r>
          </a:p>
        </p:txBody>
      </p:sp>
      <p:sp>
        <p:nvSpPr>
          <p:cNvPr id="7" name="Rounded Rectangle 6"/>
          <p:cNvSpPr/>
          <p:nvPr/>
        </p:nvSpPr>
        <p:spPr>
          <a:xfrm>
            <a:off x="3584448" y="2286000"/>
            <a:ext cx="2606040" cy="1463040"/>
          </a:xfrm>
          <a:prstGeom prst="roundRect">
            <a:avLst>
              <a:gd name="adj" fmla="val 8000"/>
            </a:avLst>
          </a:prstGeom>
          <a:solidFill>
            <a:srgbClr val="13273C"/>
          </a:solidFill>
          <a:ln w="12700">
            <a:solidFill>
              <a:srgbClr val="254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767328" y="2423160"/>
            <a:ext cx="2286000" cy="1280160"/>
          </a:xfrm>
          <a:prstGeom prst="rect">
            <a:avLst/>
          </a:prstGeom>
          <a:noFill/>
        </p:spPr>
        <p:txBody>
          <a:bodyPr wrap="square">
            <a:spAutoFit/>
          </a:bodyPr>
          <a:lstStyle/>
          <a:p>
            <a:pPr algn="l">
              <a:spcBef>
                <a:spcPts val="0"/>
              </a:spcBef>
              <a:spcAft>
                <a:spcPts val="200"/>
              </a:spcAft>
            </a:pPr>
            <a:r>
              <a:rPr sz="2600" b="1" i="0">
                <a:solidFill>
                  <a:srgbClr val="56B4E9"/>
                </a:solidFill>
                <a:latin typeface="Consolas"/>
              </a:rPr>
              <a:t>4 exams</a:t>
            </a:r>
          </a:p>
          <a:p>
            <a:pPr algn="l">
              <a:spcBef>
                <a:spcPts val="0"/>
              </a:spcBef>
              <a:spcAft>
                <a:spcPts val="0"/>
              </a:spcAft>
            </a:pPr>
            <a:r>
              <a:rPr sz="1150" b="0" i="0">
                <a:solidFill>
                  <a:srgbClr val="EAF1F7"/>
                </a:solidFill>
                <a:latin typeface="Calibri"/>
              </a:rPr>
              <a:t>random → scaffold → cluster → temporal</a:t>
            </a:r>
          </a:p>
        </p:txBody>
      </p:sp>
      <p:sp>
        <p:nvSpPr>
          <p:cNvPr id="9" name="Rounded Rectangle 8"/>
          <p:cNvSpPr/>
          <p:nvPr/>
        </p:nvSpPr>
        <p:spPr>
          <a:xfrm>
            <a:off x="6345936" y="2286000"/>
            <a:ext cx="2606040" cy="1463040"/>
          </a:xfrm>
          <a:prstGeom prst="roundRect">
            <a:avLst>
              <a:gd name="adj" fmla="val 8000"/>
            </a:avLst>
          </a:prstGeom>
          <a:solidFill>
            <a:srgbClr val="13273C"/>
          </a:solidFill>
          <a:ln w="12700">
            <a:solidFill>
              <a:srgbClr val="254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28816" y="2423160"/>
            <a:ext cx="2286000" cy="1280160"/>
          </a:xfrm>
          <a:prstGeom prst="rect">
            <a:avLst/>
          </a:prstGeom>
          <a:noFill/>
        </p:spPr>
        <p:txBody>
          <a:bodyPr wrap="square">
            <a:spAutoFit/>
          </a:bodyPr>
          <a:lstStyle/>
          <a:p>
            <a:pPr algn="l">
              <a:spcBef>
                <a:spcPts val="0"/>
              </a:spcBef>
              <a:spcAft>
                <a:spcPts val="200"/>
              </a:spcAft>
            </a:pPr>
            <a:r>
              <a:rPr sz="2600" b="1" i="0">
                <a:solidFill>
                  <a:srgbClr val="56B4E9"/>
                </a:solidFill>
                <a:latin typeface="Consolas"/>
              </a:rPr>
              <a:t>~90%</a:t>
            </a:r>
          </a:p>
          <a:p>
            <a:pPr algn="l">
              <a:spcBef>
                <a:spcPts val="0"/>
              </a:spcBef>
              <a:spcAft>
                <a:spcPts val="0"/>
              </a:spcAft>
            </a:pPr>
            <a:r>
              <a:rPr sz="1150" b="0" i="0">
                <a:solidFill>
                  <a:srgbClr val="EAF1F7"/>
                </a:solidFill>
                <a:latin typeface="Calibri"/>
              </a:rPr>
              <a:t>confidence promise, kept</a:t>
            </a:r>
          </a:p>
        </p:txBody>
      </p:sp>
      <p:sp>
        <p:nvSpPr>
          <p:cNvPr id="11" name="Rounded Rectangle 10"/>
          <p:cNvSpPr/>
          <p:nvPr/>
        </p:nvSpPr>
        <p:spPr>
          <a:xfrm>
            <a:off x="9107424" y="2286000"/>
            <a:ext cx="2606040" cy="1463040"/>
          </a:xfrm>
          <a:prstGeom prst="roundRect">
            <a:avLst>
              <a:gd name="adj" fmla="val 8000"/>
            </a:avLst>
          </a:prstGeom>
          <a:solidFill>
            <a:srgbClr val="13273C"/>
          </a:solidFill>
          <a:ln w="12700">
            <a:solidFill>
              <a:srgbClr val="254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290303" y="2423160"/>
            <a:ext cx="2286000" cy="1280160"/>
          </a:xfrm>
          <a:prstGeom prst="rect">
            <a:avLst/>
          </a:prstGeom>
          <a:noFill/>
        </p:spPr>
        <p:txBody>
          <a:bodyPr wrap="square">
            <a:spAutoFit/>
          </a:bodyPr>
          <a:lstStyle/>
          <a:p>
            <a:pPr algn="l">
              <a:spcBef>
                <a:spcPts val="0"/>
              </a:spcBef>
              <a:spcAft>
                <a:spcPts val="200"/>
              </a:spcAft>
            </a:pPr>
            <a:r>
              <a:rPr sz="2600" b="1" i="0">
                <a:solidFill>
                  <a:srgbClr val="56B4E9"/>
                </a:solidFill>
                <a:latin typeface="Consolas"/>
              </a:rPr>
              <a:t>0</a:t>
            </a:r>
          </a:p>
          <a:p>
            <a:pPr algn="l">
              <a:spcBef>
                <a:spcPts val="0"/>
              </a:spcBef>
              <a:spcAft>
                <a:spcPts val="0"/>
              </a:spcAft>
            </a:pPr>
            <a:r>
              <a:rPr sz="1150" b="0" i="0">
                <a:solidFill>
                  <a:srgbClr val="EAF1F7"/>
                </a:solidFill>
                <a:latin typeface="Calibri"/>
              </a:rPr>
              <a:t>fabricated evidence items</a:t>
            </a:r>
          </a:p>
        </p:txBody>
      </p:sp>
      <p:sp>
        <p:nvSpPr>
          <p:cNvPr id="13" name="TextBox 12"/>
          <p:cNvSpPr txBox="1"/>
          <p:nvPr/>
        </p:nvSpPr>
        <p:spPr>
          <a:xfrm>
            <a:off x="822960" y="4114800"/>
            <a:ext cx="10424160" cy="1463040"/>
          </a:xfrm>
          <a:prstGeom prst="rect">
            <a:avLst/>
          </a:prstGeom>
          <a:noFill/>
        </p:spPr>
        <p:txBody>
          <a:bodyPr wrap="square">
            <a:spAutoFit/>
          </a:bodyPr>
          <a:lstStyle/>
          <a:p>
            <a:pPr algn="l">
              <a:spcBef>
                <a:spcPts val="0"/>
              </a:spcBef>
              <a:spcAft>
                <a:spcPts val="600"/>
              </a:spcAft>
            </a:pPr>
            <a:r>
              <a:rPr sz="1600" b="0" i="0">
                <a:solidFill>
                  <a:srgbClr val="EAF1F7"/>
                </a:solidFill>
                <a:latin typeface="Calibri"/>
              </a:rPr>
              <a:t>A calibrated, evidence-grounded, brain-entry-gated predictor built entirely on measured public data — state-of-the-art-grade on like-for-like tests, fully transparent on the hard ones, and every claim traceable to a real measurement.</a:t>
            </a:r>
          </a:p>
        </p:txBody>
      </p:sp>
      <p:sp>
        <p:nvSpPr>
          <p:cNvPr id="14" name="TextBox 13"/>
          <p:cNvSpPr txBox="1"/>
          <p:nvPr/>
        </p:nvSpPr>
        <p:spPr>
          <a:xfrm>
            <a:off x="822960" y="5852160"/>
            <a:ext cx="10515600" cy="548640"/>
          </a:xfrm>
          <a:prstGeom prst="rect">
            <a:avLst/>
          </a:prstGeom>
          <a:noFill/>
        </p:spPr>
        <p:txBody>
          <a:bodyPr wrap="square">
            <a:spAutoFit/>
          </a:bodyPr>
          <a:lstStyle/>
          <a:p>
            <a:pPr algn="l">
              <a:spcBef>
                <a:spcPts val="0"/>
              </a:spcBef>
              <a:spcAft>
                <a:spcPts val="600"/>
              </a:spcAft>
            </a:pPr>
            <a:r>
              <a:rPr sz="1250" b="1" i="0" dirty="0">
                <a:solidFill>
                  <a:srgbClr val="56B4E9"/>
                </a:solidFill>
                <a:latin typeface="Consolas"/>
              </a:rPr>
              <a:t>No fabrication · no assumption · reproducible from released scripts and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5316</Words>
  <Application>Microsoft Office PowerPoint</Application>
  <PresentationFormat>Widescreen</PresentationFormat>
  <Paragraphs>545</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Krishnasalini Gunanathan</cp:lastModifiedBy>
  <cp:revision>2</cp:revision>
  <dcterms:created xsi:type="dcterms:W3CDTF">2013-01-27T09:14:16Z</dcterms:created>
  <dcterms:modified xsi:type="dcterms:W3CDTF">2026-07-18T06:52:29Z</dcterms:modified>
  <cp:category/>
</cp:coreProperties>
</file>